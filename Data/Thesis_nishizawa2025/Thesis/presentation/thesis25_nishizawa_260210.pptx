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3"/>
  </p:notesMasterIdLst>
  <p:sldIdLst>
    <p:sldId id="256" r:id="rId2"/>
    <p:sldId id="334" r:id="rId3"/>
    <p:sldId id="258" r:id="rId4"/>
    <p:sldId id="259" r:id="rId5"/>
    <p:sldId id="261" r:id="rId6"/>
    <p:sldId id="262" r:id="rId7"/>
    <p:sldId id="272" r:id="rId8"/>
    <p:sldId id="265" r:id="rId9"/>
    <p:sldId id="294" r:id="rId10"/>
    <p:sldId id="278" r:id="rId11"/>
    <p:sldId id="283" r:id="rId12"/>
    <p:sldId id="284" r:id="rId13"/>
    <p:sldId id="271" r:id="rId14"/>
    <p:sldId id="296" r:id="rId15"/>
    <p:sldId id="293" r:id="rId16"/>
    <p:sldId id="264" r:id="rId17"/>
    <p:sldId id="287" r:id="rId18"/>
    <p:sldId id="288" r:id="rId19"/>
    <p:sldId id="295" r:id="rId20"/>
    <p:sldId id="269" r:id="rId21"/>
    <p:sldId id="298" r:id="rId22"/>
    <p:sldId id="274" r:id="rId23"/>
    <p:sldId id="332" r:id="rId24"/>
    <p:sldId id="310" r:id="rId25"/>
    <p:sldId id="328" r:id="rId26"/>
    <p:sldId id="299" r:id="rId27"/>
    <p:sldId id="316" r:id="rId28"/>
    <p:sldId id="317" r:id="rId29"/>
    <p:sldId id="319" r:id="rId30"/>
    <p:sldId id="323" r:id="rId31"/>
    <p:sldId id="331" r:id="rId32"/>
    <p:sldId id="268" r:id="rId33"/>
    <p:sldId id="257" r:id="rId34"/>
    <p:sldId id="333" r:id="rId35"/>
    <p:sldId id="282" r:id="rId36"/>
    <p:sldId id="260" r:id="rId37"/>
    <p:sldId id="281" r:id="rId38"/>
    <p:sldId id="280" r:id="rId39"/>
    <p:sldId id="285" r:id="rId40"/>
    <p:sldId id="286" r:id="rId41"/>
    <p:sldId id="297" r:id="rId42"/>
    <p:sldId id="275" r:id="rId43"/>
    <p:sldId id="312" r:id="rId44"/>
    <p:sldId id="314" r:id="rId45"/>
    <p:sldId id="311" r:id="rId46"/>
    <p:sldId id="327" r:id="rId47"/>
    <p:sldId id="276" r:id="rId48"/>
    <p:sldId id="315" r:id="rId49"/>
    <p:sldId id="303" r:id="rId50"/>
    <p:sldId id="324" r:id="rId51"/>
    <p:sldId id="325" r:id="rId52"/>
    <p:sldId id="326" r:id="rId53"/>
    <p:sldId id="307" r:id="rId54"/>
    <p:sldId id="308" r:id="rId55"/>
    <p:sldId id="320" r:id="rId56"/>
    <p:sldId id="322" r:id="rId57"/>
    <p:sldId id="321" r:id="rId58"/>
    <p:sldId id="313" r:id="rId59"/>
    <p:sldId id="300" r:id="rId60"/>
    <p:sldId id="304" r:id="rId61"/>
    <p:sldId id="309" r:id="rId62"/>
    <p:sldId id="266" r:id="rId63"/>
    <p:sldId id="263" r:id="rId64"/>
    <p:sldId id="279" r:id="rId65"/>
    <p:sldId id="277" r:id="rId66"/>
    <p:sldId id="270" r:id="rId67"/>
    <p:sldId id="290" r:id="rId68"/>
    <p:sldId id="289" r:id="rId69"/>
    <p:sldId id="292" r:id="rId70"/>
    <p:sldId id="329" r:id="rId71"/>
    <p:sldId id="330" r:id="rId7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 id="{ED8E0A0D-6245-4FE0-A5C7-A7828D8F1357}">
          <p14:sldIdLst>
            <p14:sldId id="256"/>
          </p14:sldIdLst>
        </p14:section>
        <p14:section name="概要" id="{B2883AA4-EB69-47D0-AD8A-3C192D1FB349}">
          <p14:sldIdLst>
            <p14:sldId id="334"/>
          </p14:sldIdLst>
        </p14:section>
        <p14:section name="背景" id="{30FD94BC-6A17-436C-B2F5-B8DCDB351CD6}">
          <p14:sldIdLst>
            <p14:sldId id="258"/>
          </p14:sldIdLst>
        </p14:section>
        <p14:section name="関連研究" id="{895F69D5-DB25-40B0-BB72-81F63BD7A435}">
          <p14:sldIdLst>
            <p14:sldId id="259"/>
          </p14:sldIdLst>
        </p14:section>
        <p14:section name="目的" id="{9556F2C2-7312-4F73-A758-DFDD8F4F5F4A}">
          <p14:sldIdLst>
            <p14:sldId id="261"/>
          </p14:sldIdLst>
        </p14:section>
        <p14:section name="手法説明" id="{498A53B2-FFF2-4D50-ABD8-B40CC13D77D6}">
          <p14:sldIdLst>
            <p14:sldId id="262"/>
            <p14:sldId id="272"/>
            <p14:sldId id="265"/>
            <p14:sldId id="294"/>
            <p14:sldId id="278"/>
            <p14:sldId id="283"/>
            <p14:sldId id="284"/>
            <p14:sldId id="271"/>
            <p14:sldId id="296"/>
          </p14:sldIdLst>
        </p14:section>
        <p14:section name="実験方法" id="{0012D2D4-8B10-49A5-A907-EC5C384A05A0}">
          <p14:sldIdLst>
            <p14:sldId id="293"/>
            <p14:sldId id="264"/>
            <p14:sldId id="287"/>
            <p14:sldId id="288"/>
            <p14:sldId id="295"/>
            <p14:sldId id="269"/>
          </p14:sldIdLst>
        </p14:section>
        <p14:section name="評価指標" id="{B3AB87A2-98EB-4037-9466-EFE7A5990DBB}">
          <p14:sldIdLst>
            <p14:sldId id="298"/>
            <p14:sldId id="274"/>
          </p14:sldIdLst>
        </p14:section>
        <p14:section name="実験結果" id="{3EFEBA3F-78BE-43A2-AE60-2CB68155D64F}">
          <p14:sldIdLst>
            <p14:sldId id="332"/>
            <p14:sldId id="310"/>
            <p14:sldId id="328"/>
            <p14:sldId id="299"/>
            <p14:sldId id="316"/>
            <p14:sldId id="317"/>
            <p14:sldId id="319"/>
            <p14:sldId id="323"/>
            <p14:sldId id="331"/>
          </p14:sldIdLst>
        </p14:section>
        <p14:section name="まとめ" id="{B38D2521-DC04-49DC-B819-41DCF5496952}">
          <p14:sldIdLst>
            <p14:sldId id="268"/>
            <p14:sldId id="257"/>
            <p14:sldId id="333"/>
            <p14:sldId id="282"/>
            <p14:sldId id="260"/>
            <p14:sldId id="281"/>
            <p14:sldId id="280"/>
            <p14:sldId id="285"/>
            <p14:sldId id="286"/>
            <p14:sldId id="297"/>
            <p14:sldId id="275"/>
            <p14:sldId id="312"/>
            <p14:sldId id="314"/>
            <p14:sldId id="311"/>
            <p14:sldId id="327"/>
            <p14:sldId id="276"/>
            <p14:sldId id="315"/>
            <p14:sldId id="303"/>
            <p14:sldId id="324"/>
            <p14:sldId id="325"/>
            <p14:sldId id="326"/>
            <p14:sldId id="307"/>
            <p14:sldId id="308"/>
            <p14:sldId id="320"/>
            <p14:sldId id="322"/>
            <p14:sldId id="321"/>
            <p14:sldId id="313"/>
            <p14:sldId id="300"/>
            <p14:sldId id="304"/>
            <p14:sldId id="309"/>
            <p14:sldId id="266"/>
            <p14:sldId id="263"/>
            <p14:sldId id="279"/>
            <p14:sldId id="277"/>
            <p14:sldId id="270"/>
            <p14:sldId id="290"/>
            <p14:sldId id="289"/>
            <p14:sldId id="292"/>
            <p14:sldId id="329"/>
            <p14:sldId id="33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264FF"/>
    <a:srgbClr val="FF96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3B27F0-9779-45FE-8019-05A475529B2A}" v="233" dt="2025-12-03T04:35:26.88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94" autoAdjust="0"/>
    <p:restoredTop sz="83333" autoAdjust="0"/>
  </p:normalViewPr>
  <p:slideViewPr>
    <p:cSldViewPr snapToGrid="0">
      <p:cViewPr varScale="1">
        <p:scale>
          <a:sx n="47" d="100"/>
          <a:sy n="47" d="100"/>
        </p:scale>
        <p:origin x="1588" y="44"/>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西澤　奏都" userId="90190134-b31f-4132-babe-1b85b6be4fb9" providerId="ADAL" clId="{26ABE16E-35F6-461B-9B45-4258BE2CE09B}"/>
    <pc:docChg chg="undo custSel addSld delSld modSld sldOrd modMainMaster addSection modSection">
      <pc:chgData name="西澤　奏都" userId="90190134-b31f-4132-babe-1b85b6be4fb9" providerId="ADAL" clId="{26ABE16E-35F6-461B-9B45-4258BE2CE09B}" dt="2025-12-03T04:58:16.805" v="5866" actId="255"/>
      <pc:docMkLst>
        <pc:docMk/>
      </pc:docMkLst>
      <pc:sldChg chg="modSp mod modNotesTx">
        <pc:chgData name="西澤　奏都" userId="90190134-b31f-4132-babe-1b85b6be4fb9" providerId="ADAL" clId="{26ABE16E-35F6-461B-9B45-4258BE2CE09B}" dt="2025-12-02T04:39:35.598" v="2915" actId="20577"/>
        <pc:sldMkLst>
          <pc:docMk/>
          <pc:sldMk cId="986110923" sldId="256"/>
        </pc:sldMkLst>
        <pc:spChg chg="mod">
          <ac:chgData name="西澤　奏都" userId="90190134-b31f-4132-babe-1b85b6be4fb9" providerId="ADAL" clId="{26ABE16E-35F6-461B-9B45-4258BE2CE09B}" dt="2025-12-02T02:39:45.515" v="2536" actId="3064"/>
          <ac:spMkLst>
            <pc:docMk/>
            <pc:sldMk cId="986110923" sldId="256"/>
            <ac:spMk id="2" creationId="{C98F8755-8367-8EA9-86ED-3B957B23FB6E}"/>
          </ac:spMkLst>
        </pc:spChg>
        <pc:spChg chg="mod">
          <ac:chgData name="西澤　奏都" userId="90190134-b31f-4132-babe-1b85b6be4fb9" providerId="ADAL" clId="{26ABE16E-35F6-461B-9B45-4258BE2CE09B}" dt="2025-12-02T04:31:29.297" v="2813" actId="20577"/>
          <ac:spMkLst>
            <pc:docMk/>
            <pc:sldMk cId="986110923" sldId="256"/>
            <ac:spMk id="3" creationId="{8B21F246-5842-52A6-4247-0F544B3D34D9}"/>
          </ac:spMkLst>
        </pc:spChg>
        <pc:spChg chg="mod">
          <ac:chgData name="西澤　奏都" userId="90190134-b31f-4132-babe-1b85b6be4fb9" providerId="ADAL" clId="{26ABE16E-35F6-461B-9B45-4258BE2CE09B}" dt="2025-12-02T03:13:10.715" v="2717" actId="14100"/>
          <ac:spMkLst>
            <pc:docMk/>
            <pc:sldMk cId="986110923" sldId="256"/>
            <ac:spMk id="4" creationId="{A90AC779-A65B-9B33-C2D1-AABA78C0CE55}"/>
          </ac:spMkLst>
        </pc:spChg>
        <pc:spChg chg="mod">
          <ac:chgData name="西澤　奏都" userId="90190134-b31f-4132-babe-1b85b6be4fb9" providerId="ADAL" clId="{26ABE16E-35F6-461B-9B45-4258BE2CE09B}" dt="2025-12-02T02:39:45.515" v="2536" actId="3064"/>
          <ac:spMkLst>
            <pc:docMk/>
            <pc:sldMk cId="986110923" sldId="256"/>
            <ac:spMk id="5" creationId="{53B5E0B1-57D8-8588-3764-5AC47252AC0A}"/>
          </ac:spMkLst>
        </pc:spChg>
      </pc:sldChg>
      <pc:sldChg chg="addSp delSp modSp mod chgLayout">
        <pc:chgData name="西澤　奏都" userId="90190134-b31f-4132-babe-1b85b6be4fb9" providerId="ADAL" clId="{26ABE16E-35F6-461B-9B45-4258BE2CE09B}" dt="2025-12-03T04:47:12.544" v="5786" actId="20577"/>
        <pc:sldMkLst>
          <pc:docMk/>
          <pc:sldMk cId="4181243136" sldId="257"/>
        </pc:sldMkLst>
        <pc:spChg chg="del">
          <ac:chgData name="西澤　奏都" userId="90190134-b31f-4132-babe-1b85b6be4fb9" providerId="ADAL" clId="{26ABE16E-35F6-461B-9B45-4258BE2CE09B}" dt="2025-12-02T02:30:04.677" v="2482" actId="478"/>
          <ac:spMkLst>
            <pc:docMk/>
            <pc:sldMk cId="4181243136" sldId="257"/>
            <ac:spMk id="4" creationId="{8B0897D3-33B9-486E-7686-AE12BE6E2862}"/>
          </ac:spMkLst>
        </pc:spChg>
        <pc:spChg chg="add del mod ord">
          <ac:chgData name="西澤　奏都" userId="90190134-b31f-4132-babe-1b85b6be4fb9" providerId="ADAL" clId="{26ABE16E-35F6-461B-9B45-4258BE2CE09B}" dt="2025-12-02T02:46:00.353" v="2591" actId="478"/>
          <ac:spMkLst>
            <pc:docMk/>
            <pc:sldMk cId="4181243136" sldId="257"/>
            <ac:spMk id="5" creationId="{B5F7CEBC-CB46-261F-E822-665F133629E4}"/>
          </ac:spMkLst>
        </pc:spChg>
        <pc:spChg chg="mod">
          <ac:chgData name="西澤　奏都" userId="90190134-b31f-4132-babe-1b85b6be4fb9" providerId="ADAL" clId="{26ABE16E-35F6-461B-9B45-4258BE2CE09B}" dt="2025-12-02T02:46:55.353" v="2597" actId="552"/>
          <ac:spMkLst>
            <pc:docMk/>
            <pc:sldMk cId="4181243136" sldId="257"/>
            <ac:spMk id="6" creationId="{FD1E64F2-55A3-717B-126F-86CED4734B76}"/>
          </ac:spMkLst>
        </pc:spChg>
        <pc:spChg chg="mod">
          <ac:chgData name="西澤　奏都" userId="90190134-b31f-4132-babe-1b85b6be4fb9" providerId="ADAL" clId="{26ABE16E-35F6-461B-9B45-4258BE2CE09B}" dt="2025-12-02T02:48:54.720" v="2600" actId="1076"/>
          <ac:spMkLst>
            <pc:docMk/>
            <pc:sldMk cId="4181243136" sldId="257"/>
            <ac:spMk id="8" creationId="{B1AEC452-8646-716B-8047-DDB51AA78E1E}"/>
          </ac:spMkLst>
        </pc:spChg>
        <pc:spChg chg="mod">
          <ac:chgData name="西澤　奏都" userId="90190134-b31f-4132-babe-1b85b6be4fb9" providerId="ADAL" clId="{26ABE16E-35F6-461B-9B45-4258BE2CE09B}" dt="2025-12-02T04:34:50.776" v="2857" actId="20577"/>
          <ac:spMkLst>
            <pc:docMk/>
            <pc:sldMk cId="4181243136" sldId="257"/>
            <ac:spMk id="10" creationId="{7D35D207-FF37-2162-A2A0-501DD833A315}"/>
          </ac:spMkLst>
        </pc:spChg>
        <pc:spChg chg="mod">
          <ac:chgData name="西澤　奏都" userId="90190134-b31f-4132-babe-1b85b6be4fb9" providerId="ADAL" clId="{26ABE16E-35F6-461B-9B45-4258BE2CE09B}" dt="2025-12-02T08:10:43.138" v="5430" actId="20577"/>
          <ac:spMkLst>
            <pc:docMk/>
            <pc:sldMk cId="4181243136" sldId="257"/>
            <ac:spMk id="11" creationId="{BFED1204-3A4C-EE2F-DB08-DEEF9C45D197}"/>
          </ac:spMkLst>
        </pc:spChg>
        <pc:spChg chg="mod">
          <ac:chgData name="西澤　奏都" userId="90190134-b31f-4132-babe-1b85b6be4fb9" providerId="ADAL" clId="{26ABE16E-35F6-461B-9B45-4258BE2CE09B}" dt="2025-12-02T02:47:47.296" v="2599" actId="465"/>
          <ac:spMkLst>
            <pc:docMk/>
            <pc:sldMk cId="4181243136" sldId="257"/>
            <ac:spMk id="13" creationId="{27405228-50CA-6CA0-63F0-B5E33EB24F14}"/>
          </ac:spMkLst>
        </pc:spChg>
        <pc:spChg chg="mod">
          <ac:chgData name="西澤　奏都" userId="90190134-b31f-4132-babe-1b85b6be4fb9" providerId="ADAL" clId="{26ABE16E-35F6-461B-9B45-4258BE2CE09B}" dt="2025-12-03T04:47:12.544" v="5786" actId="20577"/>
          <ac:spMkLst>
            <pc:docMk/>
            <pc:sldMk cId="4181243136" sldId="257"/>
            <ac:spMk id="19" creationId="{E5BADF25-87CD-48A6-0C85-576EDDDE1209}"/>
          </ac:spMkLst>
        </pc:spChg>
        <pc:spChg chg="mod ord">
          <ac:chgData name="西澤　奏都" userId="90190134-b31f-4132-babe-1b85b6be4fb9" providerId="ADAL" clId="{26ABE16E-35F6-461B-9B45-4258BE2CE09B}" dt="2025-12-02T02:39:58.635" v="2537" actId="3064"/>
          <ac:spMkLst>
            <pc:docMk/>
            <pc:sldMk cId="4181243136" sldId="257"/>
            <ac:spMk id="24" creationId="{018D5A31-E700-E183-830D-62D745CEDD78}"/>
          </ac:spMkLst>
        </pc:spChg>
        <pc:spChg chg="add del mod">
          <ac:chgData name="西澤　奏都" userId="90190134-b31f-4132-babe-1b85b6be4fb9" providerId="ADAL" clId="{26ABE16E-35F6-461B-9B45-4258BE2CE09B}" dt="2025-12-02T02:46:00.353" v="2591" actId="478"/>
          <ac:spMkLst>
            <pc:docMk/>
            <pc:sldMk cId="4181243136" sldId="257"/>
            <ac:spMk id="26" creationId="{05887B46-41AC-FA20-CDAB-AB61FCC37998}"/>
          </ac:spMkLst>
        </pc:spChg>
        <pc:picChg chg="add mod modCrop">
          <ac:chgData name="西澤　奏都" userId="90190134-b31f-4132-babe-1b85b6be4fb9" providerId="ADAL" clId="{26ABE16E-35F6-461B-9B45-4258BE2CE09B}" dt="2025-12-03T00:45:38.098" v="5466" actId="1076"/>
          <ac:picMkLst>
            <pc:docMk/>
            <pc:sldMk cId="4181243136" sldId="257"/>
            <ac:picMk id="3" creationId="{8B2B8B4E-3EF2-C124-472C-431232CE936A}"/>
          </ac:picMkLst>
        </pc:picChg>
        <pc:picChg chg="del mod">
          <ac:chgData name="西澤　奏都" userId="90190134-b31f-4132-babe-1b85b6be4fb9" providerId="ADAL" clId="{26ABE16E-35F6-461B-9B45-4258BE2CE09B}" dt="2025-12-02T01:33:44.113" v="2260" actId="478"/>
          <ac:picMkLst>
            <pc:docMk/>
            <pc:sldMk cId="4181243136" sldId="257"/>
            <ac:picMk id="21" creationId="{ECE6608A-DD16-8871-40B5-7B1BA66BCD94}"/>
          </ac:picMkLst>
        </pc:picChg>
        <pc:picChg chg="add del mod">
          <ac:chgData name="西澤　奏都" userId="90190134-b31f-4132-babe-1b85b6be4fb9" providerId="ADAL" clId="{26ABE16E-35F6-461B-9B45-4258BE2CE09B}" dt="2025-12-03T00:44:21.880" v="5456" actId="478"/>
          <ac:picMkLst>
            <pc:docMk/>
            <pc:sldMk cId="4181243136" sldId="257"/>
            <ac:picMk id="23" creationId="{8FF2CF5C-29C3-577B-5CDB-9D2C782EF051}"/>
          </ac:picMkLst>
        </pc:picChg>
      </pc:sldChg>
      <pc:sldChg chg="addSp delSp modSp mod chgLayout">
        <pc:chgData name="西澤　奏都" userId="90190134-b31f-4132-babe-1b85b6be4fb9" providerId="ADAL" clId="{26ABE16E-35F6-461B-9B45-4258BE2CE09B}" dt="2025-12-03T04:58:16.805" v="5866" actId="255"/>
        <pc:sldMkLst>
          <pc:docMk/>
          <pc:sldMk cId="2167068338" sldId="258"/>
        </pc:sldMkLst>
        <pc:spChg chg="del">
          <ac:chgData name="西澤　奏都" userId="90190134-b31f-4132-babe-1b85b6be4fb9" providerId="ADAL" clId="{26ABE16E-35F6-461B-9B45-4258BE2CE09B}" dt="2025-12-02T02:30:16.279" v="2484" actId="478"/>
          <ac:spMkLst>
            <pc:docMk/>
            <pc:sldMk cId="2167068338" sldId="258"/>
            <ac:spMk id="4" creationId="{41C573C8-345C-739E-E904-8E9AC87BAEE3}"/>
          </ac:spMkLst>
        </pc:spChg>
        <pc:spChg chg="mod ord">
          <ac:chgData name="西澤　奏都" userId="90190134-b31f-4132-babe-1b85b6be4fb9" providerId="ADAL" clId="{26ABE16E-35F6-461B-9B45-4258BE2CE09B}" dt="2025-12-02T02:40:13.481" v="2538"/>
          <ac:spMkLst>
            <pc:docMk/>
            <pc:sldMk cId="2167068338" sldId="258"/>
            <ac:spMk id="5" creationId="{FCA60367-8141-7D97-B868-8A0F8C0CC0CD}"/>
          </ac:spMkLst>
        </pc:spChg>
        <pc:spChg chg="mod">
          <ac:chgData name="西澤　奏都" userId="90190134-b31f-4132-babe-1b85b6be4fb9" providerId="ADAL" clId="{26ABE16E-35F6-461B-9B45-4258BE2CE09B}" dt="2025-12-02T04:38:28.527" v="2881" actId="1076"/>
          <ac:spMkLst>
            <pc:docMk/>
            <pc:sldMk cId="2167068338" sldId="258"/>
            <ac:spMk id="11" creationId="{BA9B0B7D-11A7-BA3B-6F3A-9A3B00F18751}"/>
          </ac:spMkLst>
        </pc:spChg>
        <pc:spChg chg="del mod">
          <ac:chgData name="西澤　奏都" userId="90190134-b31f-4132-babe-1b85b6be4fb9" providerId="ADAL" clId="{26ABE16E-35F6-461B-9B45-4258BE2CE09B}" dt="2025-12-02T02:51:20.699" v="2624" actId="478"/>
          <ac:spMkLst>
            <pc:docMk/>
            <pc:sldMk cId="2167068338" sldId="258"/>
            <ac:spMk id="12" creationId="{6FB44DBA-401F-D3A5-F775-1FA8F29EAFEC}"/>
          </ac:spMkLst>
        </pc:spChg>
        <pc:spChg chg="mod">
          <ac:chgData name="西澤　奏都" userId="90190134-b31f-4132-babe-1b85b6be4fb9" providerId="ADAL" clId="{26ABE16E-35F6-461B-9B45-4258BE2CE09B}" dt="2025-12-02T02:51:04.318" v="2623" actId="1076"/>
          <ac:spMkLst>
            <pc:docMk/>
            <pc:sldMk cId="2167068338" sldId="258"/>
            <ac:spMk id="14" creationId="{5DBC74B9-8FED-DA66-8566-89576A69F647}"/>
          </ac:spMkLst>
        </pc:spChg>
        <pc:spChg chg="mod">
          <ac:chgData name="西澤　奏都" userId="90190134-b31f-4132-babe-1b85b6be4fb9" providerId="ADAL" clId="{26ABE16E-35F6-461B-9B45-4258BE2CE09B}" dt="2025-12-02T02:40:13.481" v="2538"/>
          <ac:spMkLst>
            <pc:docMk/>
            <pc:sldMk cId="2167068338" sldId="258"/>
            <ac:spMk id="33" creationId="{29884E82-D955-854F-4705-9797A93782F2}"/>
          </ac:spMkLst>
        </pc:spChg>
        <pc:spChg chg="mod">
          <ac:chgData name="西澤　奏都" userId="90190134-b31f-4132-babe-1b85b6be4fb9" providerId="ADAL" clId="{26ABE16E-35F6-461B-9B45-4258BE2CE09B}" dt="2025-12-03T04:50:23.977" v="5838" actId="552"/>
          <ac:spMkLst>
            <pc:docMk/>
            <pc:sldMk cId="2167068338" sldId="258"/>
            <ac:spMk id="35" creationId="{7FF0BBE9-46D4-24FB-D652-C9F949F5DFBC}"/>
          </ac:spMkLst>
        </pc:spChg>
        <pc:spChg chg="mod">
          <ac:chgData name="西澤　奏都" userId="90190134-b31f-4132-babe-1b85b6be4fb9" providerId="ADAL" clId="{26ABE16E-35F6-461B-9B45-4258BE2CE09B}" dt="2025-12-02T05:32:23.696" v="3399" actId="1076"/>
          <ac:spMkLst>
            <pc:docMk/>
            <pc:sldMk cId="2167068338" sldId="258"/>
            <ac:spMk id="37" creationId="{C534F52E-5EB3-846F-2C22-714B48A26721}"/>
          </ac:spMkLst>
        </pc:spChg>
        <pc:spChg chg="mod">
          <ac:chgData name="西澤　奏都" userId="90190134-b31f-4132-babe-1b85b6be4fb9" providerId="ADAL" clId="{26ABE16E-35F6-461B-9B45-4258BE2CE09B}" dt="2025-12-02T05:32:28.677" v="3400" actId="1076"/>
          <ac:spMkLst>
            <pc:docMk/>
            <pc:sldMk cId="2167068338" sldId="258"/>
            <ac:spMk id="39" creationId="{EA1F4529-7A8E-56F7-2791-FEE0C8CFF6D9}"/>
          </ac:spMkLst>
        </pc:spChg>
        <pc:spChg chg="mod">
          <ac:chgData name="西澤　奏都" userId="90190134-b31f-4132-babe-1b85b6be4fb9" providerId="ADAL" clId="{26ABE16E-35F6-461B-9B45-4258BE2CE09B}" dt="2025-12-03T04:58:16.805" v="5866" actId="255"/>
          <ac:spMkLst>
            <pc:docMk/>
            <pc:sldMk cId="2167068338" sldId="258"/>
            <ac:spMk id="41" creationId="{BA005F72-192C-DB75-1753-88DD080A13FC}"/>
          </ac:spMkLst>
        </pc:spChg>
        <pc:spChg chg="mod">
          <ac:chgData name="西澤　奏都" userId="90190134-b31f-4132-babe-1b85b6be4fb9" providerId="ADAL" clId="{26ABE16E-35F6-461B-9B45-4258BE2CE09B}" dt="2025-12-02T05:32:02.287" v="3396" actId="1076"/>
          <ac:spMkLst>
            <pc:docMk/>
            <pc:sldMk cId="2167068338" sldId="258"/>
            <ac:spMk id="42" creationId="{E9529A08-B945-DCCD-57E9-FC3E649A294A}"/>
          </ac:spMkLst>
        </pc:spChg>
        <pc:spChg chg="mod ord">
          <ac:chgData name="西澤　奏都" userId="90190134-b31f-4132-babe-1b85b6be4fb9" providerId="ADAL" clId="{26ABE16E-35F6-461B-9B45-4258BE2CE09B}" dt="2025-12-02T02:40:13.481" v="2538"/>
          <ac:spMkLst>
            <pc:docMk/>
            <pc:sldMk cId="2167068338" sldId="258"/>
            <ac:spMk id="43" creationId="{02B33D19-3318-AEAB-7AFC-3F853C678A0C}"/>
          </ac:spMkLst>
        </pc:spChg>
        <pc:grpChg chg="mod">
          <ac:chgData name="西澤　奏都" userId="90190134-b31f-4132-babe-1b85b6be4fb9" providerId="ADAL" clId="{26ABE16E-35F6-461B-9B45-4258BE2CE09B}" dt="2025-12-02T02:50:22.919" v="2616" actId="1076"/>
          <ac:grpSpMkLst>
            <pc:docMk/>
            <pc:sldMk cId="2167068338" sldId="258"/>
            <ac:grpSpMk id="2" creationId="{CDA0FEBF-A58F-2E10-E1E5-8C65F45A79A9}"/>
          </ac:grpSpMkLst>
        </pc:grpChg>
        <pc:grpChg chg="del">
          <ac:chgData name="西澤　奏都" userId="90190134-b31f-4132-babe-1b85b6be4fb9" providerId="ADAL" clId="{26ABE16E-35F6-461B-9B45-4258BE2CE09B}" dt="2025-12-02T02:51:20.699" v="2624" actId="478"/>
          <ac:grpSpMkLst>
            <pc:docMk/>
            <pc:sldMk cId="2167068338" sldId="258"/>
            <ac:grpSpMk id="9" creationId="{5D0F6B38-DF18-33C6-8343-B2598E1DEED7}"/>
          </ac:grpSpMkLst>
        </pc:grpChg>
        <pc:grpChg chg="add mod">
          <ac:chgData name="西澤　奏都" userId="90190134-b31f-4132-babe-1b85b6be4fb9" providerId="ADAL" clId="{26ABE16E-35F6-461B-9B45-4258BE2CE09B}" dt="2025-12-02T05:32:28.677" v="3400" actId="1076"/>
          <ac:grpSpMkLst>
            <pc:docMk/>
            <pc:sldMk cId="2167068338" sldId="258"/>
            <ac:grpSpMk id="44" creationId="{DF99FC49-B20F-E14B-7E75-5EB4FE768438}"/>
          </ac:grpSpMkLst>
        </pc:grpChg>
        <pc:grpChg chg="add mod">
          <ac:chgData name="西澤　奏都" userId="90190134-b31f-4132-babe-1b85b6be4fb9" providerId="ADAL" clId="{26ABE16E-35F6-461B-9B45-4258BE2CE09B}" dt="2025-12-02T05:32:23.696" v="3399" actId="1076"/>
          <ac:grpSpMkLst>
            <pc:docMk/>
            <pc:sldMk cId="2167068338" sldId="258"/>
            <ac:grpSpMk id="45" creationId="{09B553EF-8076-A4E3-2260-D2C5324C60DE}"/>
          </ac:grpSpMkLst>
        </pc:grpChg>
        <pc:picChg chg="mod">
          <ac:chgData name="西澤　奏都" userId="90190134-b31f-4132-babe-1b85b6be4fb9" providerId="ADAL" clId="{26ABE16E-35F6-461B-9B45-4258BE2CE09B}" dt="2025-12-02T05:32:23.696" v="3399" actId="1076"/>
          <ac:picMkLst>
            <pc:docMk/>
            <pc:sldMk cId="2167068338" sldId="258"/>
            <ac:picMk id="1026" creationId="{DE324311-CA38-6CEF-8BFC-4D5A5D6385C3}"/>
          </ac:picMkLst>
        </pc:picChg>
        <pc:picChg chg="mod">
          <ac:chgData name="西澤　奏都" userId="90190134-b31f-4132-babe-1b85b6be4fb9" providerId="ADAL" clId="{26ABE16E-35F6-461B-9B45-4258BE2CE09B}" dt="2025-12-02T05:32:28.677" v="3400" actId="1076"/>
          <ac:picMkLst>
            <pc:docMk/>
            <pc:sldMk cId="2167068338" sldId="258"/>
            <ac:picMk id="1028" creationId="{529AEA85-A6FD-1BF3-B1F9-13DF80F68609}"/>
          </ac:picMkLst>
        </pc:picChg>
      </pc:sldChg>
      <pc:sldChg chg="addSp delSp modSp mod chgLayout modNotesTx">
        <pc:chgData name="西澤　奏都" userId="90190134-b31f-4132-babe-1b85b6be4fb9" providerId="ADAL" clId="{26ABE16E-35F6-461B-9B45-4258BE2CE09B}" dt="2025-12-03T04:50:54.413" v="5841" actId="20577"/>
        <pc:sldMkLst>
          <pc:docMk/>
          <pc:sldMk cId="1858305362" sldId="259"/>
        </pc:sldMkLst>
        <pc:spChg chg="add mod">
          <ac:chgData name="西澤　奏都" userId="90190134-b31f-4132-babe-1b85b6be4fb9" providerId="ADAL" clId="{26ABE16E-35F6-461B-9B45-4258BE2CE09B}" dt="2025-12-02T07:58:56.946" v="5375" actId="1076"/>
          <ac:spMkLst>
            <pc:docMk/>
            <pc:sldMk cId="1858305362" sldId="259"/>
            <ac:spMk id="3" creationId="{57CB6AC9-5FEA-0370-AD55-3B42B818FAFE}"/>
          </ac:spMkLst>
        </pc:spChg>
        <pc:spChg chg="del">
          <ac:chgData name="西澤　奏都" userId="90190134-b31f-4132-babe-1b85b6be4fb9" providerId="ADAL" clId="{26ABE16E-35F6-461B-9B45-4258BE2CE09B}" dt="2025-12-02T02:30:19.545" v="2485" actId="478"/>
          <ac:spMkLst>
            <pc:docMk/>
            <pc:sldMk cId="1858305362" sldId="259"/>
            <ac:spMk id="4" creationId="{AA9C7C6A-50D6-9577-A8B9-4C840543CEBC}"/>
          </ac:spMkLst>
        </pc:spChg>
        <pc:spChg chg="add mod">
          <ac:chgData name="西澤　奏都" userId="90190134-b31f-4132-babe-1b85b6be4fb9" providerId="ADAL" clId="{26ABE16E-35F6-461B-9B45-4258BE2CE09B}" dt="2025-12-02T07:59:31.907" v="5380" actId="1076"/>
          <ac:spMkLst>
            <pc:docMk/>
            <pc:sldMk cId="1858305362" sldId="259"/>
            <ac:spMk id="4" creationId="{E50497DB-12C6-2539-0CC2-95B5149D8A3B}"/>
          </ac:spMkLst>
        </pc:spChg>
        <pc:spChg chg="mod ord">
          <ac:chgData name="西澤　奏都" userId="90190134-b31f-4132-babe-1b85b6be4fb9" providerId="ADAL" clId="{26ABE16E-35F6-461B-9B45-4258BE2CE09B}" dt="2025-12-02T02:40:57.795" v="2541" actId="3064"/>
          <ac:spMkLst>
            <pc:docMk/>
            <pc:sldMk cId="1858305362" sldId="259"/>
            <ac:spMk id="5" creationId="{DAB51BEC-D50D-EAAC-04D5-7D9EAACC9502}"/>
          </ac:spMkLst>
        </pc:spChg>
        <pc:spChg chg="mod">
          <ac:chgData name="西澤　奏都" userId="90190134-b31f-4132-babe-1b85b6be4fb9" providerId="ADAL" clId="{26ABE16E-35F6-461B-9B45-4258BE2CE09B}" dt="2025-12-02T07:59:21.942" v="5379"/>
          <ac:spMkLst>
            <pc:docMk/>
            <pc:sldMk cId="1858305362" sldId="259"/>
            <ac:spMk id="7" creationId="{9120A803-9303-501D-7E37-5369802FEC2F}"/>
          </ac:spMkLst>
        </pc:spChg>
        <pc:spChg chg="mod">
          <ac:chgData name="西澤　奏都" userId="90190134-b31f-4132-babe-1b85b6be4fb9" providerId="ADAL" clId="{26ABE16E-35F6-461B-9B45-4258BE2CE09B}" dt="2025-12-02T07:59:21.942" v="5379"/>
          <ac:spMkLst>
            <pc:docMk/>
            <pc:sldMk cId="1858305362" sldId="259"/>
            <ac:spMk id="9" creationId="{ACE5030C-4D7B-7D91-C62A-6C3033211903}"/>
          </ac:spMkLst>
        </pc:spChg>
        <pc:spChg chg="mod">
          <ac:chgData name="西澤　奏都" userId="90190134-b31f-4132-babe-1b85b6be4fb9" providerId="ADAL" clId="{26ABE16E-35F6-461B-9B45-4258BE2CE09B}" dt="2025-12-02T07:59:21.942" v="5379"/>
          <ac:spMkLst>
            <pc:docMk/>
            <pc:sldMk cId="1858305362" sldId="259"/>
            <ac:spMk id="10" creationId="{6921201F-EDCB-1593-C5EE-4CCBF3399C33}"/>
          </ac:spMkLst>
        </pc:spChg>
        <pc:spChg chg="mod">
          <ac:chgData name="西澤　奏都" userId="90190134-b31f-4132-babe-1b85b6be4fb9" providerId="ADAL" clId="{26ABE16E-35F6-461B-9B45-4258BE2CE09B}" dt="2025-12-03T04:50:54.413" v="5841" actId="20577"/>
          <ac:spMkLst>
            <pc:docMk/>
            <pc:sldMk cId="1858305362" sldId="259"/>
            <ac:spMk id="13" creationId="{98FD8AC3-FF67-372D-F0E3-BB87B7E8DC12}"/>
          </ac:spMkLst>
        </pc:spChg>
        <pc:spChg chg="mod">
          <ac:chgData name="西澤　奏都" userId="90190134-b31f-4132-babe-1b85b6be4fb9" providerId="ADAL" clId="{26ABE16E-35F6-461B-9B45-4258BE2CE09B}" dt="2025-12-02T08:00:14.452" v="5385" actId="14100"/>
          <ac:spMkLst>
            <pc:docMk/>
            <pc:sldMk cId="1858305362" sldId="259"/>
            <ac:spMk id="15" creationId="{4B3F5643-5D11-F387-BE98-3EBDEB366932}"/>
          </ac:spMkLst>
        </pc:spChg>
        <pc:spChg chg="mod">
          <ac:chgData name="西澤　奏都" userId="90190134-b31f-4132-babe-1b85b6be4fb9" providerId="ADAL" clId="{26ABE16E-35F6-461B-9B45-4258BE2CE09B}" dt="2025-12-02T08:31:28.609" v="5455" actId="12789"/>
          <ac:spMkLst>
            <pc:docMk/>
            <pc:sldMk cId="1858305362" sldId="259"/>
            <ac:spMk id="17" creationId="{B6B6B215-4C83-67AC-0038-3AA34A511FA9}"/>
          </ac:spMkLst>
        </pc:spChg>
        <pc:spChg chg="del mod">
          <ac:chgData name="西澤　奏都" userId="90190134-b31f-4132-babe-1b85b6be4fb9" providerId="ADAL" clId="{26ABE16E-35F6-461B-9B45-4258BE2CE09B}" dt="2025-12-02T02:53:25.917" v="2634" actId="478"/>
          <ac:spMkLst>
            <pc:docMk/>
            <pc:sldMk cId="1858305362" sldId="259"/>
            <ac:spMk id="25" creationId="{32DE9DCD-7CB7-52DC-2B28-48B97EE12754}"/>
          </ac:spMkLst>
        </pc:spChg>
        <pc:spChg chg="mod">
          <ac:chgData name="西澤　奏都" userId="90190134-b31f-4132-babe-1b85b6be4fb9" providerId="ADAL" clId="{26ABE16E-35F6-461B-9B45-4258BE2CE09B}" dt="2025-12-02T07:57:03.591" v="5370" actId="1076"/>
          <ac:spMkLst>
            <pc:docMk/>
            <pc:sldMk cId="1858305362" sldId="259"/>
            <ac:spMk id="27" creationId="{303261F7-B14D-6566-8EF7-36AC2563847E}"/>
          </ac:spMkLst>
        </pc:spChg>
        <pc:spChg chg="mod ord">
          <ac:chgData name="西澤　奏都" userId="90190134-b31f-4132-babe-1b85b6be4fb9" providerId="ADAL" clId="{26ABE16E-35F6-461B-9B45-4258BE2CE09B}" dt="2025-12-02T02:40:57.795" v="2541" actId="3064"/>
          <ac:spMkLst>
            <pc:docMk/>
            <pc:sldMk cId="1858305362" sldId="259"/>
            <ac:spMk id="28" creationId="{969C18AA-7DF5-DB8D-06AC-131CA578590C}"/>
          </ac:spMkLst>
        </pc:spChg>
        <pc:spChg chg="add mod">
          <ac:chgData name="西澤　奏都" userId="90190134-b31f-4132-babe-1b85b6be4fb9" providerId="ADAL" clId="{26ABE16E-35F6-461B-9B45-4258BE2CE09B}" dt="2025-12-02T08:31:28.609" v="5455" actId="12789"/>
          <ac:spMkLst>
            <pc:docMk/>
            <pc:sldMk cId="1858305362" sldId="259"/>
            <ac:spMk id="29" creationId="{4E02A548-37E3-724D-361E-43B3925B4A05}"/>
          </ac:spMkLst>
        </pc:spChg>
        <pc:spChg chg="mod">
          <ac:chgData name="西澤　奏都" userId="90190134-b31f-4132-babe-1b85b6be4fb9" providerId="ADAL" clId="{26ABE16E-35F6-461B-9B45-4258BE2CE09B}" dt="2025-12-02T08:00:03.683" v="5383" actId="1076"/>
          <ac:spMkLst>
            <pc:docMk/>
            <pc:sldMk cId="1858305362" sldId="259"/>
            <ac:spMk id="33" creationId="{64C8E71A-AEF3-0A85-B679-E4FABDF3F2FD}"/>
          </ac:spMkLst>
        </pc:spChg>
        <pc:grpChg chg="add mod">
          <ac:chgData name="西澤　奏都" userId="90190134-b31f-4132-babe-1b85b6be4fb9" providerId="ADAL" clId="{26ABE16E-35F6-461B-9B45-4258BE2CE09B}" dt="2025-12-02T07:59:31.907" v="5380" actId="1076"/>
          <ac:grpSpMkLst>
            <pc:docMk/>
            <pc:sldMk cId="1858305362" sldId="259"/>
            <ac:grpSpMk id="6" creationId="{34467CFA-F004-0C38-397E-16C1B60DA1CD}"/>
          </ac:grpSpMkLst>
        </pc:grpChg>
        <pc:picChg chg="mod">
          <ac:chgData name="西澤　奏都" userId="90190134-b31f-4132-babe-1b85b6be4fb9" providerId="ADAL" clId="{26ABE16E-35F6-461B-9B45-4258BE2CE09B}" dt="2025-12-02T07:58:49.771" v="5374" actId="1076"/>
          <ac:picMkLst>
            <pc:docMk/>
            <pc:sldMk cId="1858305362" sldId="259"/>
            <ac:picMk id="8" creationId="{AF361D6E-94A6-12F3-CACA-E8A17AD07D21}"/>
          </ac:picMkLst>
        </pc:picChg>
      </pc:sldChg>
      <pc:sldChg chg="add">
        <pc:chgData name="西澤　奏都" userId="90190134-b31f-4132-babe-1b85b6be4fb9" providerId="ADAL" clId="{26ABE16E-35F6-461B-9B45-4258BE2CE09B}" dt="2025-12-02T06:14:29.349" v="4001"/>
        <pc:sldMkLst>
          <pc:docMk/>
          <pc:sldMk cId="848208223" sldId="260"/>
        </pc:sldMkLst>
      </pc:sldChg>
      <pc:sldChg chg="delSp modSp del mod ord modShow chgLayout">
        <pc:chgData name="西澤　奏都" userId="90190134-b31f-4132-babe-1b85b6be4fb9" providerId="ADAL" clId="{26ABE16E-35F6-461B-9B45-4258BE2CE09B}" dt="2025-12-02T06:14:25.303" v="4000" actId="2696"/>
        <pc:sldMkLst>
          <pc:docMk/>
          <pc:sldMk cId="1576992482" sldId="260"/>
        </pc:sldMkLst>
        <pc:spChg chg="del">
          <ac:chgData name="西澤　奏都" userId="90190134-b31f-4132-babe-1b85b6be4fb9" providerId="ADAL" clId="{26ABE16E-35F6-461B-9B45-4258BE2CE09B}" dt="2025-12-02T02:30:22.588" v="2486" actId="478"/>
          <ac:spMkLst>
            <pc:docMk/>
            <pc:sldMk cId="1576992482" sldId="260"/>
            <ac:spMk id="4" creationId="{25206DCC-4ABE-5311-3C58-62ED92583630}"/>
          </ac:spMkLst>
        </pc:spChg>
        <pc:spChg chg="mod ord">
          <ac:chgData name="西澤　奏都" userId="90190134-b31f-4132-babe-1b85b6be4fb9" providerId="ADAL" clId="{26ABE16E-35F6-461B-9B45-4258BE2CE09B}" dt="2025-12-02T02:41:06.054" v="2542" actId="3064"/>
          <ac:spMkLst>
            <pc:docMk/>
            <pc:sldMk cId="1576992482" sldId="260"/>
            <ac:spMk id="5" creationId="{9A7DE93A-B254-648D-B24D-95F644F8CEEA}"/>
          </ac:spMkLst>
        </pc:spChg>
        <pc:spChg chg="mod">
          <ac:chgData name="西澤　奏都" userId="90190134-b31f-4132-babe-1b85b6be4fb9" providerId="ADAL" clId="{26ABE16E-35F6-461B-9B45-4258BE2CE09B}" dt="2025-12-02T02:41:06.054" v="2542" actId="3064"/>
          <ac:spMkLst>
            <pc:docMk/>
            <pc:sldMk cId="1576992482" sldId="260"/>
            <ac:spMk id="6" creationId="{A1CB40EB-0F35-7FFE-8166-4903C18A5EFA}"/>
          </ac:spMkLst>
        </pc:spChg>
        <pc:spChg chg="mod">
          <ac:chgData name="西澤　奏都" userId="90190134-b31f-4132-babe-1b85b6be4fb9" providerId="ADAL" clId="{26ABE16E-35F6-461B-9B45-4258BE2CE09B}" dt="2025-12-02T02:41:06.054" v="2542" actId="3064"/>
          <ac:spMkLst>
            <pc:docMk/>
            <pc:sldMk cId="1576992482" sldId="260"/>
            <ac:spMk id="9" creationId="{0889F173-90E0-9978-4DFB-E7C3FB15F6B9}"/>
          </ac:spMkLst>
        </pc:spChg>
        <pc:spChg chg="mod">
          <ac:chgData name="西澤　奏都" userId="90190134-b31f-4132-babe-1b85b6be4fb9" providerId="ADAL" clId="{26ABE16E-35F6-461B-9B45-4258BE2CE09B}" dt="2025-12-02T02:41:06.054" v="2542" actId="3064"/>
          <ac:spMkLst>
            <pc:docMk/>
            <pc:sldMk cId="1576992482" sldId="260"/>
            <ac:spMk id="10" creationId="{6DC49C8C-4016-5EF6-B956-1B3862E8C90B}"/>
          </ac:spMkLst>
        </pc:spChg>
        <pc:spChg chg="del mod">
          <ac:chgData name="西澤　奏都" userId="90190134-b31f-4132-babe-1b85b6be4fb9" providerId="ADAL" clId="{26ABE16E-35F6-461B-9B45-4258BE2CE09B}" dt="2025-12-02T02:59:07.598" v="2662" actId="478"/>
          <ac:spMkLst>
            <pc:docMk/>
            <pc:sldMk cId="1576992482" sldId="260"/>
            <ac:spMk id="12" creationId="{34E3875C-1344-9E01-F34A-26E603FEC9D7}"/>
          </ac:spMkLst>
        </pc:spChg>
        <pc:spChg chg="mod">
          <ac:chgData name="西澤　奏都" userId="90190134-b31f-4132-babe-1b85b6be4fb9" providerId="ADAL" clId="{26ABE16E-35F6-461B-9B45-4258BE2CE09B}" dt="2025-12-02T05:17:57.210" v="3277" actId="20577"/>
          <ac:spMkLst>
            <pc:docMk/>
            <pc:sldMk cId="1576992482" sldId="260"/>
            <ac:spMk id="13" creationId="{64658847-B963-7609-6324-47B2C6FD7EEF}"/>
          </ac:spMkLst>
        </pc:spChg>
        <pc:spChg chg="mod">
          <ac:chgData name="西澤　奏都" userId="90190134-b31f-4132-babe-1b85b6be4fb9" providerId="ADAL" clId="{26ABE16E-35F6-461B-9B45-4258BE2CE09B}" dt="2025-12-02T02:59:39.899" v="2668" actId="1076"/>
          <ac:spMkLst>
            <pc:docMk/>
            <pc:sldMk cId="1576992482" sldId="260"/>
            <ac:spMk id="14" creationId="{DF7BD714-26CE-C9C1-7E1A-A97A6977A8AC}"/>
          </ac:spMkLst>
        </pc:spChg>
        <pc:spChg chg="mod">
          <ac:chgData name="西澤　奏都" userId="90190134-b31f-4132-babe-1b85b6be4fb9" providerId="ADAL" clId="{26ABE16E-35F6-461B-9B45-4258BE2CE09B}" dt="2025-12-02T02:58:46.149" v="2659" actId="14100"/>
          <ac:spMkLst>
            <pc:docMk/>
            <pc:sldMk cId="1576992482" sldId="260"/>
            <ac:spMk id="15" creationId="{C40A361A-2290-7B43-DD2A-915B21271644}"/>
          </ac:spMkLst>
        </pc:spChg>
        <pc:spChg chg="mod ord">
          <ac:chgData name="西澤　奏都" userId="90190134-b31f-4132-babe-1b85b6be4fb9" providerId="ADAL" clId="{26ABE16E-35F6-461B-9B45-4258BE2CE09B}" dt="2025-12-02T02:41:06.054" v="2542" actId="3064"/>
          <ac:spMkLst>
            <pc:docMk/>
            <pc:sldMk cId="1576992482" sldId="260"/>
            <ac:spMk id="16" creationId="{9342D85B-4EE6-2392-B9C3-62880DE91C99}"/>
          </ac:spMkLst>
        </pc:spChg>
        <pc:spChg chg="del mod">
          <ac:chgData name="西澤　奏都" userId="90190134-b31f-4132-babe-1b85b6be4fb9" providerId="ADAL" clId="{26ABE16E-35F6-461B-9B45-4258BE2CE09B}" dt="2025-12-02T02:58:09.590" v="2654" actId="478"/>
          <ac:spMkLst>
            <pc:docMk/>
            <pc:sldMk cId="1576992482" sldId="260"/>
            <ac:spMk id="25" creationId="{B87C23A2-BFAA-2282-B6A7-8E5B6258EDB5}"/>
          </ac:spMkLst>
        </pc:spChg>
        <pc:spChg chg="mod">
          <ac:chgData name="西澤　奏都" userId="90190134-b31f-4132-babe-1b85b6be4fb9" providerId="ADAL" clId="{26ABE16E-35F6-461B-9B45-4258BE2CE09B}" dt="2025-12-02T02:58:57.819" v="2660" actId="14100"/>
          <ac:spMkLst>
            <pc:docMk/>
            <pc:sldMk cId="1576992482" sldId="260"/>
            <ac:spMk id="27" creationId="{84400067-5B67-C9F3-4221-138FE2F8A26C}"/>
          </ac:spMkLst>
        </pc:spChg>
        <pc:spChg chg="mod">
          <ac:chgData name="西澤　奏都" userId="90190134-b31f-4132-babe-1b85b6be4fb9" providerId="ADAL" clId="{26ABE16E-35F6-461B-9B45-4258BE2CE09B}" dt="2025-12-02T05:17:53.258" v="3273" actId="20577"/>
          <ac:spMkLst>
            <pc:docMk/>
            <pc:sldMk cId="1576992482" sldId="260"/>
            <ac:spMk id="33" creationId="{EC0C3F4A-123B-BA1D-FF84-F781A36B6D8A}"/>
          </ac:spMkLst>
        </pc:spChg>
        <pc:grpChg chg="del">
          <ac:chgData name="西澤　奏都" userId="90190134-b31f-4132-babe-1b85b6be4fb9" providerId="ADAL" clId="{26ABE16E-35F6-461B-9B45-4258BE2CE09B}" dt="2025-12-02T02:59:07.598" v="2662" actId="478"/>
          <ac:grpSpMkLst>
            <pc:docMk/>
            <pc:sldMk cId="1576992482" sldId="260"/>
            <ac:grpSpMk id="11" creationId="{C7BA863F-CFD5-9151-1BCD-DEE038A6162C}"/>
          </ac:grpSpMkLst>
        </pc:grpChg>
        <pc:picChg chg="mod">
          <ac:chgData name="西澤　奏都" userId="90190134-b31f-4132-babe-1b85b6be4fb9" providerId="ADAL" clId="{26ABE16E-35F6-461B-9B45-4258BE2CE09B}" dt="2025-12-02T02:58:46.149" v="2659" actId="14100"/>
          <ac:picMkLst>
            <pc:docMk/>
            <pc:sldMk cId="1576992482" sldId="260"/>
            <ac:picMk id="3" creationId="{C6EF90E9-ECFC-C499-72ED-DC7E2227575B}"/>
          </ac:picMkLst>
        </pc:picChg>
      </pc:sldChg>
      <pc:sldChg chg="addSp delSp modSp mod chgLayout modNotesTx">
        <pc:chgData name="西澤　奏都" userId="90190134-b31f-4132-babe-1b85b6be4fb9" providerId="ADAL" clId="{26ABE16E-35F6-461B-9B45-4258BE2CE09B}" dt="2025-12-02T08:05:36.666" v="5399" actId="1076"/>
        <pc:sldMkLst>
          <pc:docMk/>
          <pc:sldMk cId="2886331720" sldId="261"/>
        </pc:sldMkLst>
        <pc:spChg chg="add del mod">
          <ac:chgData name="西澤　奏都" userId="90190134-b31f-4132-babe-1b85b6be4fb9" providerId="ADAL" clId="{26ABE16E-35F6-461B-9B45-4258BE2CE09B}" dt="2025-12-02T08:05:13.700" v="5393" actId="478"/>
          <ac:spMkLst>
            <pc:docMk/>
            <pc:sldMk cId="2886331720" sldId="261"/>
            <ac:spMk id="2" creationId="{B123F74B-26C2-0D0D-D965-0833C1266168}"/>
          </ac:spMkLst>
        </pc:spChg>
        <pc:spChg chg="mod">
          <ac:chgData name="西澤　奏都" userId="90190134-b31f-4132-babe-1b85b6be4fb9" providerId="ADAL" clId="{26ABE16E-35F6-461B-9B45-4258BE2CE09B}" dt="2025-12-02T05:14:22.870" v="3194"/>
          <ac:spMkLst>
            <pc:docMk/>
            <pc:sldMk cId="2886331720" sldId="261"/>
            <ac:spMk id="4" creationId="{1C77E04A-264D-CB81-F35A-4526183DB926}"/>
          </ac:spMkLst>
        </pc:spChg>
        <pc:spChg chg="del">
          <ac:chgData name="西澤　奏都" userId="90190134-b31f-4132-babe-1b85b6be4fb9" providerId="ADAL" clId="{26ABE16E-35F6-461B-9B45-4258BE2CE09B}" dt="2025-12-02T02:30:26.877" v="2487" actId="478"/>
          <ac:spMkLst>
            <pc:docMk/>
            <pc:sldMk cId="2886331720" sldId="261"/>
            <ac:spMk id="4" creationId="{83CA2749-8111-2D01-25D7-BCA27546A214}"/>
          </ac:spMkLst>
        </pc:spChg>
        <pc:spChg chg="mod ord">
          <ac:chgData name="西澤　奏都" userId="90190134-b31f-4132-babe-1b85b6be4fb9" providerId="ADAL" clId="{26ABE16E-35F6-461B-9B45-4258BE2CE09B}" dt="2025-12-02T02:41:44.520" v="2547" actId="3064"/>
          <ac:spMkLst>
            <pc:docMk/>
            <pc:sldMk cId="2886331720" sldId="261"/>
            <ac:spMk id="5" creationId="{4724C740-1A39-4DD8-953B-78252E956544}"/>
          </ac:spMkLst>
        </pc:spChg>
        <pc:spChg chg="mod">
          <ac:chgData name="西澤　奏都" userId="90190134-b31f-4132-babe-1b85b6be4fb9" providerId="ADAL" clId="{26ABE16E-35F6-461B-9B45-4258BE2CE09B}" dt="2025-12-02T05:14:22.870" v="3194"/>
          <ac:spMkLst>
            <pc:docMk/>
            <pc:sldMk cId="2886331720" sldId="261"/>
            <ac:spMk id="6" creationId="{9B416390-A369-6767-AACC-C7147B13D2AC}"/>
          </ac:spMkLst>
        </pc:spChg>
        <pc:spChg chg="mod">
          <ac:chgData name="西澤　奏都" userId="90190134-b31f-4132-babe-1b85b6be4fb9" providerId="ADAL" clId="{26ABE16E-35F6-461B-9B45-4258BE2CE09B}" dt="2025-12-02T05:14:22.870" v="3194"/>
          <ac:spMkLst>
            <pc:docMk/>
            <pc:sldMk cId="2886331720" sldId="261"/>
            <ac:spMk id="7" creationId="{8738EFA2-0AE1-57D8-15C1-4219290D521A}"/>
          </ac:spMkLst>
        </pc:spChg>
        <pc:spChg chg="mod">
          <ac:chgData name="西澤　奏都" userId="90190134-b31f-4132-babe-1b85b6be4fb9" providerId="ADAL" clId="{26ABE16E-35F6-461B-9B45-4258BE2CE09B}" dt="2025-12-02T06:04:04.740" v="3872" actId="1076"/>
          <ac:spMkLst>
            <pc:docMk/>
            <pc:sldMk cId="2886331720" sldId="261"/>
            <ac:spMk id="8" creationId="{58B89568-8AD2-2D9C-71ED-D8C781CD5AB0}"/>
          </ac:spMkLst>
        </pc:spChg>
        <pc:spChg chg="del mod">
          <ac:chgData name="西澤　奏都" userId="90190134-b31f-4132-babe-1b85b6be4fb9" providerId="ADAL" clId="{26ABE16E-35F6-461B-9B45-4258BE2CE09B}" dt="2025-12-02T03:00:12.649" v="2669" actId="478"/>
          <ac:spMkLst>
            <pc:docMk/>
            <pc:sldMk cId="2886331720" sldId="261"/>
            <ac:spMk id="17" creationId="{CF7DC5AA-6CC6-465E-A170-0D1F2C7CFF76}"/>
          </ac:spMkLst>
        </pc:spChg>
        <pc:spChg chg="mod">
          <ac:chgData name="西澤　奏都" userId="90190134-b31f-4132-babe-1b85b6be4fb9" providerId="ADAL" clId="{26ABE16E-35F6-461B-9B45-4258BE2CE09B}" dt="2025-12-02T06:04:04.740" v="3872" actId="1076"/>
          <ac:spMkLst>
            <pc:docMk/>
            <pc:sldMk cId="2886331720" sldId="261"/>
            <ac:spMk id="20" creationId="{3CE05ABB-458C-603B-FFCD-0133A1C960A2}"/>
          </ac:spMkLst>
        </pc:spChg>
        <pc:spChg chg="mod">
          <ac:chgData name="西澤　奏都" userId="90190134-b31f-4132-babe-1b85b6be4fb9" providerId="ADAL" clId="{26ABE16E-35F6-461B-9B45-4258BE2CE09B}" dt="2025-12-02T02:41:44.520" v="2547" actId="3064"/>
          <ac:spMkLst>
            <pc:docMk/>
            <pc:sldMk cId="2886331720" sldId="261"/>
            <ac:spMk id="22" creationId="{BB3FE10D-7A61-E54D-46D5-A10A11EB48FC}"/>
          </ac:spMkLst>
        </pc:spChg>
        <pc:spChg chg="mod">
          <ac:chgData name="西澤　奏都" userId="90190134-b31f-4132-babe-1b85b6be4fb9" providerId="ADAL" clId="{26ABE16E-35F6-461B-9B45-4258BE2CE09B}" dt="2025-12-02T02:41:44.520" v="2547" actId="3064"/>
          <ac:spMkLst>
            <pc:docMk/>
            <pc:sldMk cId="2886331720" sldId="261"/>
            <ac:spMk id="23" creationId="{EDC1638D-4D51-17E4-5A40-37387387E1D1}"/>
          </ac:spMkLst>
        </pc:spChg>
        <pc:spChg chg="mod">
          <ac:chgData name="西澤　奏都" userId="90190134-b31f-4132-babe-1b85b6be4fb9" providerId="ADAL" clId="{26ABE16E-35F6-461B-9B45-4258BE2CE09B}" dt="2025-12-02T02:41:44.520" v="2547" actId="3064"/>
          <ac:spMkLst>
            <pc:docMk/>
            <pc:sldMk cId="2886331720" sldId="261"/>
            <ac:spMk id="26" creationId="{895CB797-D63A-8F9C-7496-2815FC73D1DC}"/>
          </ac:spMkLst>
        </pc:spChg>
        <pc:spChg chg="mod">
          <ac:chgData name="西澤　奏都" userId="90190134-b31f-4132-babe-1b85b6be4fb9" providerId="ADAL" clId="{26ABE16E-35F6-461B-9B45-4258BE2CE09B}" dt="2025-12-02T02:41:44.520" v="2547" actId="3064"/>
          <ac:spMkLst>
            <pc:docMk/>
            <pc:sldMk cId="2886331720" sldId="261"/>
            <ac:spMk id="28" creationId="{3FAC8002-CC96-F0F3-926A-43A3BFA7AE95}"/>
          </ac:spMkLst>
        </pc:spChg>
        <pc:spChg chg="del">
          <ac:chgData name="西澤　奏都" userId="90190134-b31f-4132-babe-1b85b6be4fb9" providerId="ADAL" clId="{26ABE16E-35F6-461B-9B45-4258BE2CE09B}" dt="2025-12-02T01:01:00.627" v="1849" actId="478"/>
          <ac:spMkLst>
            <pc:docMk/>
            <pc:sldMk cId="2886331720" sldId="261"/>
            <ac:spMk id="29" creationId="{0AD07782-882D-EDA8-1390-611CAF3C576A}"/>
          </ac:spMkLst>
        </pc:spChg>
        <pc:spChg chg="mod ord">
          <ac:chgData name="西澤　奏都" userId="90190134-b31f-4132-babe-1b85b6be4fb9" providerId="ADAL" clId="{26ABE16E-35F6-461B-9B45-4258BE2CE09B}" dt="2025-12-02T02:41:44.520" v="2547" actId="3064"/>
          <ac:spMkLst>
            <pc:docMk/>
            <pc:sldMk cId="2886331720" sldId="261"/>
            <ac:spMk id="31" creationId="{CE55CB7C-3CDC-61C2-AA48-880C064187CF}"/>
          </ac:spMkLst>
        </pc:spChg>
        <pc:spChg chg="add mod">
          <ac:chgData name="西澤　奏都" userId="90190134-b31f-4132-babe-1b85b6be4fb9" providerId="ADAL" clId="{26ABE16E-35F6-461B-9B45-4258BE2CE09B}" dt="2025-12-02T06:03:52.620" v="3871" actId="20577"/>
          <ac:spMkLst>
            <pc:docMk/>
            <pc:sldMk cId="2886331720" sldId="261"/>
            <ac:spMk id="32" creationId="{0A32CED8-1448-DB9A-B473-5AB7D7C6C9B3}"/>
          </ac:spMkLst>
        </pc:spChg>
        <pc:spChg chg="add mod">
          <ac:chgData name="西澤　奏都" userId="90190134-b31f-4132-babe-1b85b6be4fb9" providerId="ADAL" clId="{26ABE16E-35F6-461B-9B45-4258BE2CE09B}" dt="2025-12-02T07:28:19.048" v="5185" actId="1076"/>
          <ac:spMkLst>
            <pc:docMk/>
            <pc:sldMk cId="2886331720" sldId="261"/>
            <ac:spMk id="34" creationId="{B8432C60-D497-1D71-C1B9-EE7398935589}"/>
          </ac:spMkLst>
        </pc:spChg>
        <pc:grpChg chg="add del mod">
          <ac:chgData name="西澤　奏都" userId="90190134-b31f-4132-babe-1b85b6be4fb9" providerId="ADAL" clId="{26ABE16E-35F6-461B-9B45-4258BE2CE09B}" dt="2025-12-02T08:05:13.700" v="5393" actId="478"/>
          <ac:grpSpMkLst>
            <pc:docMk/>
            <pc:sldMk cId="2886331720" sldId="261"/>
            <ac:grpSpMk id="3" creationId="{259ECA73-76FC-A2B2-8BCC-699C42616C55}"/>
          </ac:grpSpMkLst>
        </pc:grpChg>
        <pc:grpChg chg="del">
          <ac:chgData name="西澤　奏都" userId="90190134-b31f-4132-babe-1b85b6be4fb9" providerId="ADAL" clId="{26ABE16E-35F6-461B-9B45-4258BE2CE09B}" dt="2025-12-02T03:00:12.649" v="2669" actId="478"/>
          <ac:grpSpMkLst>
            <pc:docMk/>
            <pc:sldMk cId="2886331720" sldId="261"/>
            <ac:grpSpMk id="21" creationId="{037AE860-0EB1-FF26-2CB4-A113AE60863F}"/>
          </ac:grpSpMkLst>
        </pc:grpChg>
        <pc:picChg chg="add mod">
          <ac:chgData name="西澤　奏都" userId="90190134-b31f-4132-babe-1b85b6be4fb9" providerId="ADAL" clId="{26ABE16E-35F6-461B-9B45-4258BE2CE09B}" dt="2025-12-02T08:05:36.666" v="5399" actId="1076"/>
          <ac:picMkLst>
            <pc:docMk/>
            <pc:sldMk cId="2886331720" sldId="261"/>
            <ac:picMk id="9" creationId="{04417F47-945B-583B-0539-5081BAAA1224}"/>
          </ac:picMkLst>
        </pc:picChg>
        <pc:picChg chg="del">
          <ac:chgData name="西澤　奏都" userId="90190134-b31f-4132-babe-1b85b6be4fb9" providerId="ADAL" clId="{26ABE16E-35F6-461B-9B45-4258BE2CE09B}" dt="2025-12-02T01:35:30.573" v="2272" actId="478"/>
          <ac:picMkLst>
            <pc:docMk/>
            <pc:sldMk cId="2886331720" sldId="261"/>
            <ac:picMk id="18" creationId="{DAD2F194-F5B7-71CC-3869-AE07E055B5D8}"/>
          </ac:picMkLst>
        </pc:picChg>
        <pc:picChg chg="add del mod">
          <ac:chgData name="西澤　奏都" userId="90190134-b31f-4132-babe-1b85b6be4fb9" providerId="ADAL" clId="{26ABE16E-35F6-461B-9B45-4258BE2CE09B}" dt="2025-12-02T05:13:49.395" v="3188" actId="478"/>
          <ac:picMkLst>
            <pc:docMk/>
            <pc:sldMk cId="2886331720" sldId="261"/>
            <ac:picMk id="30" creationId="{E7498A06-EFD2-5CA6-7BA7-7874868F89A2}"/>
          </ac:picMkLst>
        </pc:picChg>
      </pc:sldChg>
      <pc:sldChg chg="addSp delSp modSp mod chgLayout">
        <pc:chgData name="西澤　奏都" userId="90190134-b31f-4132-babe-1b85b6be4fb9" providerId="ADAL" clId="{26ABE16E-35F6-461B-9B45-4258BE2CE09B}" dt="2025-12-02T06:15:26.900" v="4022" actId="20577"/>
        <pc:sldMkLst>
          <pc:docMk/>
          <pc:sldMk cId="2557704008" sldId="262"/>
        </pc:sldMkLst>
        <pc:spChg chg="del">
          <ac:chgData name="西澤　奏都" userId="90190134-b31f-4132-babe-1b85b6be4fb9" providerId="ADAL" clId="{26ABE16E-35F6-461B-9B45-4258BE2CE09B}" dt="2025-12-02T02:30:29.924" v="2488" actId="478"/>
          <ac:spMkLst>
            <pc:docMk/>
            <pc:sldMk cId="2557704008" sldId="262"/>
            <ac:spMk id="4" creationId="{65550290-12ED-7BD8-7C46-023173A4A674}"/>
          </ac:spMkLst>
        </pc:spChg>
        <pc:spChg chg="mod ord">
          <ac:chgData name="西澤　奏都" userId="90190134-b31f-4132-babe-1b85b6be4fb9" providerId="ADAL" clId="{26ABE16E-35F6-461B-9B45-4258BE2CE09B}" dt="2025-12-02T02:41:57.648" v="2548" actId="3064"/>
          <ac:spMkLst>
            <pc:docMk/>
            <pc:sldMk cId="2557704008" sldId="262"/>
            <ac:spMk id="5" creationId="{2DCFA1C0-1DE6-4C2E-F6BF-E0AA190BFCA9}"/>
          </ac:spMkLst>
        </pc:spChg>
        <pc:spChg chg="mod">
          <ac:chgData name="西澤　奏都" userId="90190134-b31f-4132-babe-1b85b6be4fb9" providerId="ADAL" clId="{26ABE16E-35F6-461B-9B45-4258BE2CE09B}" dt="2025-12-02T06:15:26.900" v="4022" actId="20577"/>
          <ac:spMkLst>
            <pc:docMk/>
            <pc:sldMk cId="2557704008" sldId="262"/>
            <ac:spMk id="8" creationId="{28F46A0A-406A-1E0F-0F32-E6AEB277E36B}"/>
          </ac:spMkLst>
        </pc:spChg>
        <pc:spChg chg="mod ord">
          <ac:chgData name="西澤　奏都" userId="90190134-b31f-4132-babe-1b85b6be4fb9" providerId="ADAL" clId="{26ABE16E-35F6-461B-9B45-4258BE2CE09B}" dt="2025-12-02T02:41:57.648" v="2548" actId="3064"/>
          <ac:spMkLst>
            <pc:docMk/>
            <pc:sldMk cId="2557704008" sldId="262"/>
            <ac:spMk id="12" creationId="{BA1364F7-BD5A-C8F4-55F7-F77B4CBEA82C}"/>
          </ac:spMkLst>
        </pc:spChg>
        <pc:picChg chg="del mod">
          <ac:chgData name="西澤　奏都" userId="90190134-b31f-4132-babe-1b85b6be4fb9" providerId="ADAL" clId="{26ABE16E-35F6-461B-9B45-4258BE2CE09B}" dt="2025-12-02T01:36:09.851" v="2277" actId="478"/>
          <ac:picMkLst>
            <pc:docMk/>
            <pc:sldMk cId="2557704008" sldId="262"/>
            <ac:picMk id="6" creationId="{7CB0379C-EBA4-21B6-0CCC-08B42D2403EF}"/>
          </ac:picMkLst>
        </pc:picChg>
        <pc:picChg chg="add mod">
          <ac:chgData name="西澤　奏都" userId="90190134-b31f-4132-babe-1b85b6be4fb9" providerId="ADAL" clId="{26ABE16E-35F6-461B-9B45-4258BE2CE09B}" dt="2025-12-02T05:29:01.624" v="3374" actId="1076"/>
          <ac:picMkLst>
            <pc:docMk/>
            <pc:sldMk cId="2557704008" sldId="262"/>
            <ac:picMk id="11" creationId="{DFB4B872-6D32-A26F-4900-51933AEBC289}"/>
          </ac:picMkLst>
        </pc:picChg>
      </pc:sldChg>
      <pc:sldChg chg="delSp modSp mod chgLayout">
        <pc:chgData name="西澤　奏都" userId="90190134-b31f-4132-babe-1b85b6be4fb9" providerId="ADAL" clId="{26ABE16E-35F6-461B-9B45-4258BE2CE09B}" dt="2025-12-03T00:52:54.224" v="5476" actId="20577"/>
        <pc:sldMkLst>
          <pc:docMk/>
          <pc:sldMk cId="674048463" sldId="263"/>
        </pc:sldMkLst>
        <pc:spChg chg="del">
          <ac:chgData name="西澤　奏都" userId="90190134-b31f-4132-babe-1b85b6be4fb9" providerId="ADAL" clId="{26ABE16E-35F6-461B-9B45-4258BE2CE09B}" dt="2025-12-02T02:36:05.051" v="2527" actId="478"/>
          <ac:spMkLst>
            <pc:docMk/>
            <pc:sldMk cId="674048463" sldId="263"/>
            <ac:spMk id="4" creationId="{1FCE7F37-849D-6B1B-C306-4D117F49E836}"/>
          </ac:spMkLst>
        </pc:spChg>
        <pc:spChg chg="mod ord">
          <ac:chgData name="西澤　奏都" userId="90190134-b31f-4132-babe-1b85b6be4fb9" providerId="ADAL" clId="{26ABE16E-35F6-461B-9B45-4258BE2CE09B}" dt="2025-12-02T04:36:54.672" v="2870" actId="20577"/>
          <ac:spMkLst>
            <pc:docMk/>
            <pc:sldMk cId="674048463" sldId="263"/>
            <ac:spMk id="5" creationId="{6E47273E-5655-8BF1-C5A2-25C22ADDEFBB}"/>
          </ac:spMkLst>
        </pc:spChg>
        <pc:spChg chg="mod">
          <ac:chgData name="西澤　奏都" userId="90190134-b31f-4132-babe-1b85b6be4fb9" providerId="ADAL" clId="{26ABE16E-35F6-461B-9B45-4258BE2CE09B}" dt="2025-12-03T00:52:54.224" v="5476" actId="20577"/>
          <ac:spMkLst>
            <pc:docMk/>
            <pc:sldMk cId="674048463" sldId="263"/>
            <ac:spMk id="15" creationId="{ECDC8C3F-28EE-D686-E902-80FC076D7DF6}"/>
          </ac:spMkLst>
        </pc:spChg>
        <pc:spChg chg="mod ord">
          <ac:chgData name="西澤　奏都" userId="90190134-b31f-4132-babe-1b85b6be4fb9" providerId="ADAL" clId="{26ABE16E-35F6-461B-9B45-4258BE2CE09B}" dt="2025-12-02T02:38:50.455" v="2534" actId="700"/>
          <ac:spMkLst>
            <pc:docMk/>
            <pc:sldMk cId="674048463" sldId="263"/>
            <ac:spMk id="18" creationId="{9632588F-5EBA-4B1F-82A9-105DA0357EF3}"/>
          </ac:spMkLst>
        </pc:spChg>
        <pc:graphicFrameChg chg="mod modGraphic">
          <ac:chgData name="西澤　奏都" userId="90190134-b31f-4132-babe-1b85b6be4fb9" providerId="ADAL" clId="{26ABE16E-35F6-461B-9B45-4258BE2CE09B}" dt="2025-12-02T05:54:42.418" v="3861" actId="20577"/>
          <ac:graphicFrameMkLst>
            <pc:docMk/>
            <pc:sldMk cId="674048463" sldId="263"/>
            <ac:graphicFrameMk id="17" creationId="{49202055-6B2C-54A7-8F60-17F6F05293D6}"/>
          </ac:graphicFrameMkLst>
        </pc:graphicFrameChg>
      </pc:sldChg>
      <pc:sldChg chg="addSp delSp modSp mod modAnim chgLayout modNotesTx">
        <pc:chgData name="西澤　奏都" userId="90190134-b31f-4132-babe-1b85b6be4fb9" providerId="ADAL" clId="{26ABE16E-35F6-461B-9B45-4258BE2CE09B}" dt="2025-12-03T04:33:11.757" v="5558" actId="20577"/>
        <pc:sldMkLst>
          <pc:docMk/>
          <pc:sldMk cId="4289761129" sldId="264"/>
        </pc:sldMkLst>
        <pc:spChg chg="del">
          <ac:chgData name="西澤　奏都" userId="90190134-b31f-4132-babe-1b85b6be4fb9" providerId="ADAL" clId="{26ABE16E-35F6-461B-9B45-4258BE2CE09B}" dt="2025-12-02T02:35:45.782" v="2523" actId="478"/>
          <ac:spMkLst>
            <pc:docMk/>
            <pc:sldMk cId="4289761129" sldId="264"/>
            <ac:spMk id="4" creationId="{F453ACC9-D432-D4D5-BD02-25E61440E7CF}"/>
          </ac:spMkLst>
        </pc:spChg>
        <pc:spChg chg="mod ord">
          <ac:chgData name="西澤　奏都" userId="90190134-b31f-4132-babe-1b85b6be4fb9" providerId="ADAL" clId="{26ABE16E-35F6-461B-9B45-4258BE2CE09B}" dt="2025-12-02T02:43:12.023" v="2552" actId="3064"/>
          <ac:spMkLst>
            <pc:docMk/>
            <pc:sldMk cId="4289761129" sldId="264"/>
            <ac:spMk id="5" creationId="{637D8056-863B-D8D6-F345-D4782DDFF7D3}"/>
          </ac:spMkLst>
        </pc:spChg>
        <pc:spChg chg="mod">
          <ac:chgData name="西澤　奏都" userId="90190134-b31f-4132-babe-1b85b6be4fb9" providerId="ADAL" clId="{26ABE16E-35F6-461B-9B45-4258BE2CE09B}" dt="2025-12-02T02:43:12.023" v="2552" actId="3064"/>
          <ac:spMkLst>
            <pc:docMk/>
            <pc:sldMk cId="4289761129" sldId="264"/>
            <ac:spMk id="7" creationId="{CF459990-2348-400A-7762-58FFA235C7BF}"/>
          </ac:spMkLst>
        </pc:spChg>
        <pc:spChg chg="del mod">
          <ac:chgData name="西澤　奏都" userId="90190134-b31f-4132-babe-1b85b6be4fb9" providerId="ADAL" clId="{26ABE16E-35F6-461B-9B45-4258BE2CE09B}" dt="2025-12-02T03:04:38.810" v="2697" actId="478"/>
          <ac:spMkLst>
            <pc:docMk/>
            <pc:sldMk cId="4289761129" sldId="264"/>
            <ac:spMk id="8" creationId="{411407D3-C027-653D-E094-802FF30FB8DD}"/>
          </ac:spMkLst>
        </pc:spChg>
        <pc:spChg chg="mod">
          <ac:chgData name="西澤　奏都" userId="90190134-b31f-4132-babe-1b85b6be4fb9" providerId="ADAL" clId="{26ABE16E-35F6-461B-9B45-4258BE2CE09B}" dt="2025-12-02T03:05:01.680" v="2701" actId="1076"/>
          <ac:spMkLst>
            <pc:docMk/>
            <pc:sldMk cId="4289761129" sldId="264"/>
            <ac:spMk id="9" creationId="{2B76B0A2-4496-2C11-6EE0-7200663FE487}"/>
          </ac:spMkLst>
        </pc:spChg>
        <pc:spChg chg="mod ord">
          <ac:chgData name="西澤　奏都" userId="90190134-b31f-4132-babe-1b85b6be4fb9" providerId="ADAL" clId="{26ABE16E-35F6-461B-9B45-4258BE2CE09B}" dt="2025-12-02T02:43:12.023" v="2552" actId="3064"/>
          <ac:spMkLst>
            <pc:docMk/>
            <pc:sldMk cId="4289761129" sldId="264"/>
            <ac:spMk id="12" creationId="{34761849-8C3B-411E-8726-D78A464724EF}"/>
          </ac:spMkLst>
        </pc:spChg>
        <pc:picChg chg="add mod">
          <ac:chgData name="西澤　奏都" userId="90190134-b31f-4132-babe-1b85b6be4fb9" providerId="ADAL" clId="{26ABE16E-35F6-461B-9B45-4258BE2CE09B}" dt="2025-12-03T04:28:57.778" v="5529" actId="1076"/>
          <ac:picMkLst>
            <pc:docMk/>
            <pc:sldMk cId="4289761129" sldId="264"/>
            <ac:picMk id="2" creationId="{51A1D76F-F20E-DFC7-0B08-F6D1F0DE3D13}"/>
          </ac:picMkLst>
        </pc:picChg>
        <pc:picChg chg="del">
          <ac:chgData name="西澤　奏都" userId="90190134-b31f-4132-babe-1b85b6be4fb9" providerId="ADAL" clId="{26ABE16E-35F6-461B-9B45-4258BE2CE09B}" dt="2025-12-02T00:58:31.147" v="1844" actId="478"/>
          <ac:picMkLst>
            <pc:docMk/>
            <pc:sldMk cId="4289761129" sldId="264"/>
            <ac:picMk id="6" creationId="{38727F32-C640-76E6-3E78-634ED799C8F7}"/>
          </ac:picMkLst>
        </pc:picChg>
        <pc:picChg chg="add del mod">
          <ac:chgData name="西澤　奏都" userId="90190134-b31f-4132-babe-1b85b6be4fb9" providerId="ADAL" clId="{26ABE16E-35F6-461B-9B45-4258BE2CE09B}" dt="2025-12-02T03:11:09.954" v="2703" actId="478"/>
          <ac:picMkLst>
            <pc:docMk/>
            <pc:sldMk cId="4289761129" sldId="264"/>
            <ac:picMk id="11" creationId="{DC1CD49B-6C3A-211A-982C-8561574093EA}"/>
          </ac:picMkLst>
        </pc:picChg>
        <pc:picChg chg="add del mod modCrop">
          <ac:chgData name="西澤　奏都" userId="90190134-b31f-4132-babe-1b85b6be4fb9" providerId="ADAL" clId="{26ABE16E-35F6-461B-9B45-4258BE2CE09B}" dt="2025-12-03T04:26:35.630" v="5525" actId="478"/>
          <ac:picMkLst>
            <pc:docMk/>
            <pc:sldMk cId="4289761129" sldId="264"/>
            <ac:picMk id="14" creationId="{458673CA-7E28-6A97-A6ED-C77B0F9FFB8B}"/>
          </ac:picMkLst>
        </pc:picChg>
      </pc:sldChg>
      <pc:sldChg chg="addSp delSp modSp mod chgLayout modNotesTx">
        <pc:chgData name="西澤　奏都" userId="90190134-b31f-4132-babe-1b85b6be4fb9" providerId="ADAL" clId="{26ABE16E-35F6-461B-9B45-4258BE2CE09B}" dt="2025-12-03T04:54:47.869" v="5864" actId="1036"/>
        <pc:sldMkLst>
          <pc:docMk/>
          <pc:sldMk cId="2489902333" sldId="265"/>
        </pc:sldMkLst>
        <pc:spChg chg="del">
          <ac:chgData name="西澤　奏都" userId="90190134-b31f-4132-babe-1b85b6be4fb9" providerId="ADAL" clId="{26ABE16E-35F6-461B-9B45-4258BE2CE09B}" dt="2025-12-02T02:36:02.693" v="2526" actId="478"/>
          <ac:spMkLst>
            <pc:docMk/>
            <pc:sldMk cId="2489902333" sldId="265"/>
            <ac:spMk id="4" creationId="{4EDDA20D-CDBA-7A80-3CE7-CF0DF340A627}"/>
          </ac:spMkLst>
        </pc:spChg>
        <pc:spChg chg="mod ord">
          <ac:chgData name="西澤　奏都" userId="90190134-b31f-4132-babe-1b85b6be4fb9" providerId="ADAL" clId="{26ABE16E-35F6-461B-9B45-4258BE2CE09B}" dt="2025-12-02T02:43:02.830" v="2551" actId="3064"/>
          <ac:spMkLst>
            <pc:docMk/>
            <pc:sldMk cId="2489902333" sldId="265"/>
            <ac:spMk id="5" creationId="{4D940D86-BCB4-D011-D408-4599B1264E70}"/>
          </ac:spMkLst>
        </pc:spChg>
        <pc:spChg chg="mod">
          <ac:chgData name="西澤　奏都" userId="90190134-b31f-4132-babe-1b85b6be4fb9" providerId="ADAL" clId="{26ABE16E-35F6-461B-9B45-4258BE2CE09B}" dt="2025-12-03T04:54:47.869" v="5864" actId="1036"/>
          <ac:spMkLst>
            <pc:docMk/>
            <pc:sldMk cId="2489902333" sldId="265"/>
            <ac:spMk id="8" creationId="{621EF1F5-3BBF-6FB7-8311-64FB58E9897B}"/>
          </ac:spMkLst>
        </pc:spChg>
        <pc:spChg chg="mod">
          <ac:chgData name="西澤　奏都" userId="90190134-b31f-4132-babe-1b85b6be4fb9" providerId="ADAL" clId="{26ABE16E-35F6-461B-9B45-4258BE2CE09B}" dt="2025-12-03T04:54:47.869" v="5864" actId="1036"/>
          <ac:spMkLst>
            <pc:docMk/>
            <pc:sldMk cId="2489902333" sldId="265"/>
            <ac:spMk id="10" creationId="{915DAA42-6F24-BCD8-B52F-29BABA81D2E7}"/>
          </ac:spMkLst>
        </pc:spChg>
        <pc:spChg chg="mod">
          <ac:chgData name="西澤　奏都" userId="90190134-b31f-4132-babe-1b85b6be4fb9" providerId="ADAL" clId="{26ABE16E-35F6-461B-9B45-4258BE2CE09B}" dt="2025-12-03T04:54:47.869" v="5864" actId="1036"/>
          <ac:spMkLst>
            <pc:docMk/>
            <pc:sldMk cId="2489902333" sldId="265"/>
            <ac:spMk id="11" creationId="{7F5079D6-2137-EF2D-2496-55DAE51F90FE}"/>
          </ac:spMkLst>
        </pc:spChg>
        <pc:spChg chg="del mod">
          <ac:chgData name="西澤　奏都" userId="90190134-b31f-4132-babe-1b85b6be4fb9" providerId="ADAL" clId="{26ABE16E-35F6-461B-9B45-4258BE2CE09B}" dt="2025-12-02T03:02:07.792" v="2681" actId="478"/>
          <ac:spMkLst>
            <pc:docMk/>
            <pc:sldMk cId="2489902333" sldId="265"/>
            <ac:spMk id="12" creationId="{F4864876-A2EC-49CC-78A3-6212DC41E748}"/>
          </ac:spMkLst>
        </pc:spChg>
        <pc:spChg chg="mod">
          <ac:chgData name="西澤　奏都" userId="90190134-b31f-4132-babe-1b85b6be4fb9" providerId="ADAL" clId="{26ABE16E-35F6-461B-9B45-4258BE2CE09B}" dt="2025-12-03T04:54:47.869" v="5864" actId="1036"/>
          <ac:spMkLst>
            <pc:docMk/>
            <pc:sldMk cId="2489902333" sldId="265"/>
            <ac:spMk id="15" creationId="{AAB2B86B-B534-C4EF-3775-FBBEF0B66620}"/>
          </ac:spMkLst>
        </pc:spChg>
        <pc:spChg chg="mod">
          <ac:chgData name="西澤　奏都" userId="90190134-b31f-4132-babe-1b85b6be4fb9" providerId="ADAL" clId="{26ABE16E-35F6-461B-9B45-4258BE2CE09B}" dt="2025-12-03T04:54:47.869" v="5864" actId="1036"/>
          <ac:spMkLst>
            <pc:docMk/>
            <pc:sldMk cId="2489902333" sldId="265"/>
            <ac:spMk id="18" creationId="{DFF79A9D-5A83-30A3-9503-888EF5B00A34}"/>
          </ac:spMkLst>
        </pc:spChg>
        <pc:spChg chg="mod">
          <ac:chgData name="西澤　奏都" userId="90190134-b31f-4132-babe-1b85b6be4fb9" providerId="ADAL" clId="{26ABE16E-35F6-461B-9B45-4258BE2CE09B}" dt="2025-12-03T04:54:47.869" v="5864" actId="1036"/>
          <ac:spMkLst>
            <pc:docMk/>
            <pc:sldMk cId="2489902333" sldId="265"/>
            <ac:spMk id="19" creationId="{104E7EE2-4755-34DF-714D-AE0B145BAB1F}"/>
          </ac:spMkLst>
        </pc:spChg>
        <pc:spChg chg="del mod">
          <ac:chgData name="西澤　奏都" userId="90190134-b31f-4132-babe-1b85b6be4fb9" providerId="ADAL" clId="{26ABE16E-35F6-461B-9B45-4258BE2CE09B}" dt="2025-12-02T03:02:58.919" v="2688" actId="478"/>
          <ac:spMkLst>
            <pc:docMk/>
            <pc:sldMk cId="2489902333" sldId="265"/>
            <ac:spMk id="22" creationId="{528B4B6A-8B5D-75A1-9FD2-A9F4E3ADCFDF}"/>
          </ac:spMkLst>
        </pc:spChg>
        <pc:spChg chg="mod">
          <ac:chgData name="西澤　奏都" userId="90190134-b31f-4132-babe-1b85b6be4fb9" providerId="ADAL" clId="{26ABE16E-35F6-461B-9B45-4258BE2CE09B}" dt="2025-12-03T04:54:47.869" v="5864" actId="1036"/>
          <ac:spMkLst>
            <pc:docMk/>
            <pc:sldMk cId="2489902333" sldId="265"/>
            <ac:spMk id="24" creationId="{E02BB9F8-BFC2-D48A-DEDB-CB1D7EA74EFF}"/>
          </ac:spMkLst>
        </pc:spChg>
        <pc:spChg chg="mod">
          <ac:chgData name="西澤　奏都" userId="90190134-b31f-4132-babe-1b85b6be4fb9" providerId="ADAL" clId="{26ABE16E-35F6-461B-9B45-4258BE2CE09B}" dt="2025-12-03T04:54:47.869" v="5864" actId="1036"/>
          <ac:spMkLst>
            <pc:docMk/>
            <pc:sldMk cId="2489902333" sldId="265"/>
            <ac:spMk id="25" creationId="{3D2AA555-B0DF-5E6A-1670-60DDD82D081C}"/>
          </ac:spMkLst>
        </pc:spChg>
        <pc:spChg chg="add del mod">
          <ac:chgData name="西澤　奏都" userId="90190134-b31f-4132-babe-1b85b6be4fb9" providerId="ADAL" clId="{26ABE16E-35F6-461B-9B45-4258BE2CE09B}" dt="2025-12-02T05:43:12.149" v="3692" actId="478"/>
          <ac:spMkLst>
            <pc:docMk/>
            <pc:sldMk cId="2489902333" sldId="265"/>
            <ac:spMk id="27" creationId="{77F307D1-3741-A2C4-FFBB-72632FA843C8}"/>
          </ac:spMkLst>
        </pc:spChg>
        <pc:spChg chg="mod ord">
          <ac:chgData name="西澤　奏都" userId="90190134-b31f-4132-babe-1b85b6be4fb9" providerId="ADAL" clId="{26ABE16E-35F6-461B-9B45-4258BE2CE09B}" dt="2025-12-02T02:38:50.455" v="2534" actId="700"/>
          <ac:spMkLst>
            <pc:docMk/>
            <pc:sldMk cId="2489902333" sldId="265"/>
            <ac:spMk id="28" creationId="{42E3C430-C609-B4F2-9ECE-8C3172CD0E7B}"/>
          </ac:spMkLst>
        </pc:spChg>
        <pc:picChg chg="mod">
          <ac:chgData name="西澤　奏都" userId="90190134-b31f-4132-babe-1b85b6be4fb9" providerId="ADAL" clId="{26ABE16E-35F6-461B-9B45-4258BE2CE09B}" dt="2025-12-03T04:54:47.869" v="5864" actId="1036"/>
          <ac:picMkLst>
            <pc:docMk/>
            <pc:sldMk cId="2489902333" sldId="265"/>
            <ac:picMk id="3" creationId="{D00FDD9F-F945-B55B-774B-2B65938A5E91}"/>
          </ac:picMkLst>
        </pc:picChg>
        <pc:picChg chg="mod">
          <ac:chgData name="西澤　奏都" userId="90190134-b31f-4132-babe-1b85b6be4fb9" providerId="ADAL" clId="{26ABE16E-35F6-461B-9B45-4258BE2CE09B}" dt="2025-12-03T04:54:47.869" v="5864" actId="1036"/>
          <ac:picMkLst>
            <pc:docMk/>
            <pc:sldMk cId="2489902333" sldId="265"/>
            <ac:picMk id="6" creationId="{9C6F0F0C-B0B1-4EE6-DF12-75D24C30D6B9}"/>
          </ac:picMkLst>
        </pc:picChg>
      </pc:sldChg>
      <pc:sldChg chg="delSp modSp add mod ord modShow chgLayout modNotesTx">
        <pc:chgData name="西澤　奏都" userId="90190134-b31f-4132-babe-1b85b6be4fb9" providerId="ADAL" clId="{26ABE16E-35F6-461B-9B45-4258BE2CE09B}" dt="2025-12-02T03:31:52.392" v="2756"/>
        <pc:sldMkLst>
          <pc:docMk/>
          <pc:sldMk cId="2015994742" sldId="266"/>
        </pc:sldMkLst>
        <pc:spChg chg="mod ord">
          <ac:chgData name="西澤　奏都" userId="90190134-b31f-4132-babe-1b85b6be4fb9" providerId="ADAL" clId="{26ABE16E-35F6-461B-9B45-4258BE2CE09B}" dt="2025-12-02T02:43:20.576" v="2553" actId="3064"/>
          <ac:spMkLst>
            <pc:docMk/>
            <pc:sldMk cId="2015994742" sldId="266"/>
            <ac:spMk id="2" creationId="{C6A13F19-53C2-6137-E582-4D7FEB541365}"/>
          </ac:spMkLst>
        </pc:spChg>
        <pc:spChg chg="del">
          <ac:chgData name="西澤　奏都" userId="90190134-b31f-4132-babe-1b85b6be4fb9" providerId="ADAL" clId="{26ABE16E-35F6-461B-9B45-4258BE2CE09B}" dt="2025-12-02T02:36:48.940" v="2528" actId="478"/>
          <ac:spMkLst>
            <pc:docMk/>
            <pc:sldMk cId="2015994742" sldId="266"/>
            <ac:spMk id="4" creationId="{563ECB63-A66C-81FA-20B9-129F96C75E0D}"/>
          </ac:spMkLst>
        </pc:spChg>
        <pc:spChg chg="mod ord">
          <ac:chgData name="西澤　奏都" userId="90190134-b31f-4132-babe-1b85b6be4fb9" providerId="ADAL" clId="{26ABE16E-35F6-461B-9B45-4258BE2CE09B}" dt="2025-12-02T02:43:20.576" v="2553" actId="3064"/>
          <ac:spMkLst>
            <pc:docMk/>
            <pc:sldMk cId="2015994742" sldId="266"/>
            <ac:spMk id="5" creationId="{C7C72EDF-B2F9-0CA7-BDA8-F4742B41210C}"/>
          </ac:spMkLst>
        </pc:spChg>
        <pc:spChg chg="mod">
          <ac:chgData name="西澤　奏都" userId="90190134-b31f-4132-babe-1b85b6be4fb9" providerId="ADAL" clId="{26ABE16E-35F6-461B-9B45-4258BE2CE09B}" dt="2025-12-02T02:43:20.576" v="2553" actId="3064"/>
          <ac:spMkLst>
            <pc:docMk/>
            <pc:sldMk cId="2015994742" sldId="266"/>
            <ac:spMk id="15" creationId="{5995AF16-80BC-C7C2-699B-95403914DD85}"/>
          </ac:spMkLst>
        </pc:spChg>
      </pc:sldChg>
      <pc:sldChg chg="addSp delSp modSp add del mod chgLayout">
        <pc:chgData name="西澤　奏都" userId="90190134-b31f-4132-babe-1b85b6be4fb9" providerId="ADAL" clId="{26ABE16E-35F6-461B-9B45-4258BE2CE09B}" dt="2025-12-02T06:12:22.299" v="3971" actId="47"/>
        <pc:sldMkLst>
          <pc:docMk/>
          <pc:sldMk cId="320097555" sldId="267"/>
        </pc:sldMkLst>
        <pc:spChg chg="del">
          <ac:chgData name="西澤　奏都" userId="90190134-b31f-4132-babe-1b85b6be4fb9" providerId="ADAL" clId="{26ABE16E-35F6-461B-9B45-4258BE2CE09B}" dt="2025-12-02T02:35:49.721" v="2524" actId="478"/>
          <ac:spMkLst>
            <pc:docMk/>
            <pc:sldMk cId="320097555" sldId="267"/>
            <ac:spMk id="4" creationId="{93B7D035-220E-6F50-E300-C5E16B79FDD9}"/>
          </ac:spMkLst>
        </pc:spChg>
        <pc:spChg chg="mod ord">
          <ac:chgData name="西澤　奏都" userId="90190134-b31f-4132-babe-1b85b6be4fb9" providerId="ADAL" clId="{26ABE16E-35F6-461B-9B45-4258BE2CE09B}" dt="2025-12-02T02:43:54.811" v="2556" actId="3064"/>
          <ac:spMkLst>
            <pc:docMk/>
            <pc:sldMk cId="320097555" sldId="267"/>
            <ac:spMk id="5" creationId="{7BF8712A-6E9C-9B8A-603C-57EA2E5D9975}"/>
          </ac:spMkLst>
        </pc:spChg>
        <pc:spChg chg="mod ord">
          <ac:chgData name="西澤　奏都" userId="90190134-b31f-4132-babe-1b85b6be4fb9" providerId="ADAL" clId="{26ABE16E-35F6-461B-9B45-4258BE2CE09B}" dt="2025-12-02T02:38:50.455" v="2534" actId="700"/>
          <ac:spMkLst>
            <pc:docMk/>
            <pc:sldMk cId="320097555" sldId="267"/>
            <ac:spMk id="9" creationId="{82384F65-51AF-2E87-6482-B6652D118112}"/>
          </ac:spMkLst>
        </pc:spChg>
        <pc:spChg chg="mod">
          <ac:chgData name="西澤　奏都" userId="90190134-b31f-4132-babe-1b85b6be4fb9" providerId="ADAL" clId="{26ABE16E-35F6-461B-9B45-4258BE2CE09B}" dt="2025-12-02T06:09:08.918" v="3928" actId="20577"/>
          <ac:spMkLst>
            <pc:docMk/>
            <pc:sldMk cId="320097555" sldId="267"/>
            <ac:spMk id="15" creationId="{BBDCB03C-BEA2-3CD7-22C8-F56B9DEFA975}"/>
          </ac:spMkLst>
        </pc:spChg>
        <pc:graphicFrameChg chg="add mod modGraphic">
          <ac:chgData name="西澤　奏都" userId="90190134-b31f-4132-babe-1b85b6be4fb9" providerId="ADAL" clId="{26ABE16E-35F6-461B-9B45-4258BE2CE09B}" dt="2025-12-02T04:56:55.082" v="3013" actId="1076"/>
          <ac:graphicFrameMkLst>
            <pc:docMk/>
            <pc:sldMk cId="320097555" sldId="267"/>
            <ac:graphicFrameMk id="2" creationId="{FF3E9007-AAA6-DA85-0314-FC8974199EB2}"/>
          </ac:graphicFrameMkLst>
        </pc:graphicFrameChg>
        <pc:graphicFrameChg chg="add mod modGraphic">
          <ac:chgData name="西澤　奏都" userId="90190134-b31f-4132-babe-1b85b6be4fb9" providerId="ADAL" clId="{26ABE16E-35F6-461B-9B45-4258BE2CE09B}" dt="2025-12-02T06:09:10.600" v="3929" actId="14734"/>
          <ac:graphicFrameMkLst>
            <pc:docMk/>
            <pc:sldMk cId="320097555" sldId="267"/>
            <ac:graphicFrameMk id="4" creationId="{CFCCCC18-838F-1301-FD85-A30AB25F35A5}"/>
          </ac:graphicFrameMkLst>
        </pc:graphicFrameChg>
        <pc:graphicFrameChg chg="add mod modGraphic">
          <ac:chgData name="西澤　奏都" userId="90190134-b31f-4132-babe-1b85b6be4fb9" providerId="ADAL" clId="{26ABE16E-35F6-461B-9B45-4258BE2CE09B}" dt="2025-12-02T06:09:52.512" v="3935" actId="1076"/>
          <ac:graphicFrameMkLst>
            <pc:docMk/>
            <pc:sldMk cId="320097555" sldId="267"/>
            <ac:graphicFrameMk id="7" creationId="{BFF3FA0A-30F1-065E-DFDB-46B29FE4805F}"/>
          </ac:graphicFrameMkLst>
        </pc:graphicFrameChg>
      </pc:sldChg>
      <pc:sldChg chg="addSp delSp modSp add mod chgLayout modNotesTx">
        <pc:chgData name="西澤　奏都" userId="90190134-b31f-4132-babe-1b85b6be4fb9" providerId="ADAL" clId="{26ABE16E-35F6-461B-9B45-4258BE2CE09B}" dt="2025-12-03T04:46:46.215" v="5782" actId="14100"/>
        <pc:sldMkLst>
          <pc:docMk/>
          <pc:sldMk cId="4028662927" sldId="268"/>
        </pc:sldMkLst>
        <pc:spChg chg="add mod">
          <ac:chgData name="西澤　奏都" userId="90190134-b31f-4132-babe-1b85b6be4fb9" providerId="ADAL" clId="{26ABE16E-35F6-461B-9B45-4258BE2CE09B}" dt="2025-12-03T04:46:34.016" v="5780" actId="1076"/>
          <ac:spMkLst>
            <pc:docMk/>
            <pc:sldMk cId="4028662927" sldId="268"/>
            <ac:spMk id="2" creationId="{FF82EDE1-3624-117F-3165-F475C421E895}"/>
          </ac:spMkLst>
        </pc:spChg>
        <pc:spChg chg="mod">
          <ac:chgData name="西澤　奏都" userId="90190134-b31f-4132-babe-1b85b6be4fb9" providerId="ADAL" clId="{26ABE16E-35F6-461B-9B45-4258BE2CE09B}" dt="2025-12-02T02:44:02.452" v="2557"/>
          <ac:spMkLst>
            <pc:docMk/>
            <pc:sldMk cId="4028662927" sldId="268"/>
            <ac:spMk id="3" creationId="{F9547E2E-ABCB-0B7B-D735-44872D708926}"/>
          </ac:spMkLst>
        </pc:spChg>
        <pc:spChg chg="del">
          <ac:chgData name="西澤　奏都" userId="90190134-b31f-4132-babe-1b85b6be4fb9" providerId="ADAL" clId="{26ABE16E-35F6-461B-9B45-4258BE2CE09B}" dt="2025-12-02T02:35:56.319" v="2525" actId="478"/>
          <ac:spMkLst>
            <pc:docMk/>
            <pc:sldMk cId="4028662927" sldId="268"/>
            <ac:spMk id="4" creationId="{896BD7D4-AA92-0FCF-9765-18F1D64E5F3D}"/>
          </ac:spMkLst>
        </pc:spChg>
        <pc:spChg chg="mod ord">
          <ac:chgData name="西澤　奏都" userId="90190134-b31f-4132-babe-1b85b6be4fb9" providerId="ADAL" clId="{26ABE16E-35F6-461B-9B45-4258BE2CE09B}" dt="2025-12-02T02:44:02.452" v="2557"/>
          <ac:spMkLst>
            <pc:docMk/>
            <pc:sldMk cId="4028662927" sldId="268"/>
            <ac:spMk id="5" creationId="{3E09D3CF-2A0F-2BAE-BAAB-27E3D93D0CDE}"/>
          </ac:spMkLst>
        </pc:spChg>
        <pc:spChg chg="add mod">
          <ac:chgData name="西澤　奏都" userId="90190134-b31f-4132-babe-1b85b6be4fb9" providerId="ADAL" clId="{26ABE16E-35F6-461B-9B45-4258BE2CE09B}" dt="2025-12-03T04:46:34.016" v="5780" actId="1076"/>
          <ac:spMkLst>
            <pc:docMk/>
            <pc:sldMk cId="4028662927" sldId="268"/>
            <ac:spMk id="6" creationId="{CD48D51C-554C-7EED-EC8C-A189025BB653}"/>
          </ac:spMkLst>
        </pc:spChg>
        <pc:spChg chg="add mod">
          <ac:chgData name="西澤　奏都" userId="90190134-b31f-4132-babe-1b85b6be4fb9" providerId="ADAL" clId="{26ABE16E-35F6-461B-9B45-4258BE2CE09B}" dt="2025-12-03T04:46:34.016" v="5780" actId="1076"/>
          <ac:spMkLst>
            <pc:docMk/>
            <pc:sldMk cId="4028662927" sldId="268"/>
            <ac:spMk id="8" creationId="{7848C61F-E2CA-1E7F-D717-FBEC15CF7D45}"/>
          </ac:spMkLst>
        </pc:spChg>
        <pc:spChg chg="add mod">
          <ac:chgData name="西澤　奏都" userId="90190134-b31f-4132-babe-1b85b6be4fb9" providerId="ADAL" clId="{26ABE16E-35F6-461B-9B45-4258BE2CE09B}" dt="2025-12-03T04:46:34.016" v="5780" actId="1076"/>
          <ac:spMkLst>
            <pc:docMk/>
            <pc:sldMk cId="4028662927" sldId="268"/>
            <ac:spMk id="10" creationId="{D0A29BD8-D440-F872-4DC7-7D37D43B13CF}"/>
          </ac:spMkLst>
        </pc:spChg>
        <pc:spChg chg="add mod">
          <ac:chgData name="西澤　奏都" userId="90190134-b31f-4132-babe-1b85b6be4fb9" providerId="ADAL" clId="{26ABE16E-35F6-461B-9B45-4258BE2CE09B}" dt="2025-12-03T04:46:34.016" v="5780" actId="1076"/>
          <ac:spMkLst>
            <pc:docMk/>
            <pc:sldMk cId="4028662927" sldId="268"/>
            <ac:spMk id="12" creationId="{75CFB208-EE1D-37B9-641F-12CE83DE4A58}"/>
          </ac:spMkLst>
        </pc:spChg>
        <pc:spChg chg="add mod">
          <ac:chgData name="西澤　奏都" userId="90190134-b31f-4132-babe-1b85b6be4fb9" providerId="ADAL" clId="{26ABE16E-35F6-461B-9B45-4258BE2CE09B}" dt="2025-12-03T04:46:34.016" v="5780" actId="1076"/>
          <ac:spMkLst>
            <pc:docMk/>
            <pc:sldMk cId="4028662927" sldId="268"/>
            <ac:spMk id="14" creationId="{409E5F8A-FB94-1CE5-0F16-47419A7D6354}"/>
          </ac:spMkLst>
        </pc:spChg>
        <pc:spChg chg="mod ord">
          <ac:chgData name="西澤　奏都" userId="90190134-b31f-4132-babe-1b85b6be4fb9" providerId="ADAL" clId="{26ABE16E-35F6-461B-9B45-4258BE2CE09B}" dt="2025-12-02T02:44:02.452" v="2557"/>
          <ac:spMkLst>
            <pc:docMk/>
            <pc:sldMk cId="4028662927" sldId="268"/>
            <ac:spMk id="17" creationId="{0F2D5E15-D016-559D-159E-0170F14473EE}"/>
          </ac:spMkLst>
        </pc:spChg>
        <pc:picChg chg="add mod">
          <ac:chgData name="西澤　奏都" userId="90190134-b31f-4132-babe-1b85b6be4fb9" providerId="ADAL" clId="{26ABE16E-35F6-461B-9B45-4258BE2CE09B}" dt="2025-12-03T04:46:46.215" v="5782" actId="14100"/>
          <ac:picMkLst>
            <pc:docMk/>
            <pc:sldMk cId="4028662927" sldId="268"/>
            <ac:picMk id="4" creationId="{F2503487-B68E-7DC0-25D5-D56B8FBB8E72}"/>
          </ac:picMkLst>
        </pc:picChg>
        <pc:picChg chg="add del mod">
          <ac:chgData name="西澤　奏都" userId="90190134-b31f-4132-babe-1b85b6be4fb9" providerId="ADAL" clId="{26ABE16E-35F6-461B-9B45-4258BE2CE09B}" dt="2025-12-03T00:46:10.538" v="5467" actId="478"/>
          <ac:picMkLst>
            <pc:docMk/>
            <pc:sldMk cId="4028662927" sldId="268"/>
            <ac:picMk id="16" creationId="{C6CF09BD-FCEF-92B6-2206-F4EAE0098ABB}"/>
          </ac:picMkLst>
        </pc:picChg>
      </pc:sldChg>
      <pc:sldChg chg="addSp delSp modSp add mod chgLayout modNotesTx">
        <pc:chgData name="西澤　奏都" userId="90190134-b31f-4132-babe-1b85b6be4fb9" providerId="ADAL" clId="{26ABE16E-35F6-461B-9B45-4258BE2CE09B}" dt="2025-12-03T04:45:43.948" v="5777" actId="20577"/>
        <pc:sldMkLst>
          <pc:docMk/>
          <pc:sldMk cId="3970910045" sldId="269"/>
        </pc:sldMkLst>
        <pc:spChg chg="add mod ord">
          <ac:chgData name="西澤　奏都" userId="90190134-b31f-4132-babe-1b85b6be4fb9" providerId="ADAL" clId="{26ABE16E-35F6-461B-9B45-4258BE2CE09B}" dt="2025-12-02T03:15:22.567" v="2730" actId="14100"/>
          <ac:spMkLst>
            <pc:docMk/>
            <pc:sldMk cId="3970910045" sldId="269"/>
            <ac:spMk id="2" creationId="{566F958B-2E15-81F6-8EF6-4626DC34CD88}"/>
          </ac:spMkLst>
        </pc:spChg>
        <pc:spChg chg="add mod">
          <ac:chgData name="西澤　奏都" userId="90190134-b31f-4132-babe-1b85b6be4fb9" providerId="ADAL" clId="{26ABE16E-35F6-461B-9B45-4258BE2CE09B}" dt="2025-12-02T03:15:32.834" v="2732" actId="14100"/>
          <ac:spMkLst>
            <pc:docMk/>
            <pc:sldMk cId="3970910045" sldId="269"/>
            <ac:spMk id="3" creationId="{669A3136-E899-3611-CD86-9AA7CB712B6D}"/>
          </ac:spMkLst>
        </pc:spChg>
        <pc:spChg chg="del">
          <ac:chgData name="西澤　奏都" userId="90190134-b31f-4132-babe-1b85b6be4fb9" providerId="ADAL" clId="{26ABE16E-35F6-461B-9B45-4258BE2CE09B}" dt="2025-12-02T02:32:19.369" v="2491" actId="478"/>
          <ac:spMkLst>
            <pc:docMk/>
            <pc:sldMk cId="3970910045" sldId="269"/>
            <ac:spMk id="4" creationId="{9C9B3B57-59AE-2136-DB1B-2A4EE414047E}"/>
          </ac:spMkLst>
        </pc:spChg>
        <pc:spChg chg="mod ord">
          <ac:chgData name="西澤　奏都" userId="90190134-b31f-4132-babe-1b85b6be4fb9" providerId="ADAL" clId="{26ABE16E-35F6-461B-9B45-4258BE2CE09B}" dt="2025-12-02T02:38:50.455" v="2534" actId="700"/>
          <ac:spMkLst>
            <pc:docMk/>
            <pc:sldMk cId="3970910045" sldId="269"/>
            <ac:spMk id="5" creationId="{AFC5F3D9-23F5-81F1-609C-0B185A4C7D92}"/>
          </ac:spMkLst>
        </pc:spChg>
        <pc:spChg chg="add mod ord">
          <ac:chgData name="西澤　奏都" userId="90190134-b31f-4132-babe-1b85b6be4fb9" providerId="ADAL" clId="{26ABE16E-35F6-461B-9B45-4258BE2CE09B}" dt="2025-12-02T02:43:28.574" v="2554"/>
          <ac:spMkLst>
            <pc:docMk/>
            <pc:sldMk cId="3970910045" sldId="269"/>
            <ac:spMk id="6" creationId="{2D3126C7-4DB9-CB38-EA9E-6BBFC3A71B51}"/>
          </ac:spMkLst>
        </pc:spChg>
        <pc:spChg chg="add del mod">
          <ac:chgData name="西澤　奏都" userId="90190134-b31f-4132-babe-1b85b6be4fb9" providerId="ADAL" clId="{26ABE16E-35F6-461B-9B45-4258BE2CE09B}" dt="2025-12-02T04:51:29.775" v="2976" actId="478"/>
          <ac:spMkLst>
            <pc:docMk/>
            <pc:sldMk cId="3970910045" sldId="269"/>
            <ac:spMk id="7" creationId="{73B4A83F-84F4-6ED2-9EC5-6AC5A7D6CE03}"/>
          </ac:spMkLst>
        </pc:spChg>
        <pc:spChg chg="add mod">
          <ac:chgData name="西澤　奏都" userId="90190134-b31f-4132-babe-1b85b6be4fb9" providerId="ADAL" clId="{26ABE16E-35F6-461B-9B45-4258BE2CE09B}" dt="2025-12-02T08:27:41.369" v="5449" actId="1076"/>
          <ac:spMkLst>
            <pc:docMk/>
            <pc:sldMk cId="3970910045" sldId="269"/>
            <ac:spMk id="8" creationId="{E485757E-EBB1-F7D1-11BD-96FD755C0C86}"/>
          </ac:spMkLst>
        </pc:spChg>
        <pc:spChg chg="add mod ord">
          <ac:chgData name="西澤　奏都" userId="90190134-b31f-4132-babe-1b85b6be4fb9" providerId="ADAL" clId="{26ABE16E-35F6-461B-9B45-4258BE2CE09B}" dt="2025-12-02T04:50:54.832" v="2957" actId="20577"/>
          <ac:spMkLst>
            <pc:docMk/>
            <pc:sldMk cId="3970910045" sldId="269"/>
            <ac:spMk id="9" creationId="{7C3FEF93-1F6F-740A-8639-C3E7E318ACAA}"/>
          </ac:spMkLst>
        </pc:spChg>
        <pc:spChg chg="add mod">
          <ac:chgData name="西澤　奏都" userId="90190134-b31f-4132-babe-1b85b6be4fb9" providerId="ADAL" clId="{26ABE16E-35F6-461B-9B45-4258BE2CE09B}" dt="2025-12-02T04:51:40.517" v="2977" actId="1076"/>
          <ac:spMkLst>
            <pc:docMk/>
            <pc:sldMk cId="3970910045" sldId="269"/>
            <ac:spMk id="11" creationId="{C72EB8AC-5996-0E92-36D0-90B567CC0A5D}"/>
          </ac:spMkLst>
        </pc:spChg>
        <pc:spChg chg="mod">
          <ac:chgData name="西澤　奏都" userId="90190134-b31f-4132-babe-1b85b6be4fb9" providerId="ADAL" clId="{26ABE16E-35F6-461B-9B45-4258BE2CE09B}" dt="2025-12-03T04:45:43.948" v="5777" actId="20577"/>
          <ac:spMkLst>
            <pc:docMk/>
            <pc:sldMk cId="3970910045" sldId="269"/>
            <ac:spMk id="15" creationId="{37FCE1B9-8821-CA71-975A-939FBEA52A4B}"/>
          </ac:spMkLst>
        </pc:spChg>
        <pc:spChg chg="add mod">
          <ac:chgData name="西澤　奏都" userId="90190134-b31f-4132-babe-1b85b6be4fb9" providerId="ADAL" clId="{26ABE16E-35F6-461B-9B45-4258BE2CE09B}" dt="2025-12-02T02:31:20.188" v="2489" actId="12789"/>
          <ac:spMkLst>
            <pc:docMk/>
            <pc:sldMk cId="3970910045" sldId="269"/>
            <ac:spMk id="16" creationId="{75D3133D-2945-D879-62C3-0CA6541F613B}"/>
          </ac:spMkLst>
        </pc:spChg>
        <pc:spChg chg="add mod">
          <ac:chgData name="西澤　奏都" userId="90190134-b31f-4132-babe-1b85b6be4fb9" providerId="ADAL" clId="{26ABE16E-35F6-461B-9B45-4258BE2CE09B}" dt="2025-12-02T06:12:48.378" v="3973" actId="12789"/>
          <ac:spMkLst>
            <pc:docMk/>
            <pc:sldMk cId="3970910045" sldId="269"/>
            <ac:spMk id="18" creationId="{75DC4EA2-E87A-DDD9-E4DD-976C69DD3DAA}"/>
          </ac:spMkLst>
        </pc:spChg>
        <pc:spChg chg="add mod">
          <ac:chgData name="西澤　奏都" userId="90190134-b31f-4132-babe-1b85b6be4fb9" providerId="ADAL" clId="{26ABE16E-35F6-461B-9B45-4258BE2CE09B}" dt="2025-12-02T03:22:32.380" v="2754" actId="12789"/>
          <ac:spMkLst>
            <pc:docMk/>
            <pc:sldMk cId="3970910045" sldId="269"/>
            <ac:spMk id="20" creationId="{1246A1C4-BE45-B9C3-3D86-547F46A69C7D}"/>
          </ac:spMkLst>
        </pc:spChg>
        <pc:spChg chg="add mod">
          <ac:chgData name="西澤　奏都" userId="90190134-b31f-4132-babe-1b85b6be4fb9" providerId="ADAL" clId="{26ABE16E-35F6-461B-9B45-4258BE2CE09B}" dt="2025-12-02T03:22:32.380" v="2754" actId="12789"/>
          <ac:spMkLst>
            <pc:docMk/>
            <pc:sldMk cId="3970910045" sldId="269"/>
            <ac:spMk id="22" creationId="{D6119CFE-38DD-F6D9-ED22-D6B3B535A8DC}"/>
          </ac:spMkLst>
        </pc:spChg>
        <pc:spChg chg="add mod">
          <ac:chgData name="西澤　奏都" userId="90190134-b31f-4132-babe-1b85b6be4fb9" providerId="ADAL" clId="{26ABE16E-35F6-461B-9B45-4258BE2CE09B}" dt="2025-12-02T02:43:28.574" v="2554"/>
          <ac:spMkLst>
            <pc:docMk/>
            <pc:sldMk cId="3970910045" sldId="269"/>
            <ac:spMk id="26" creationId="{30CC4EFE-7A90-1818-8F73-F0520CF5B279}"/>
          </ac:spMkLst>
        </pc:spChg>
        <pc:spChg chg="add mod">
          <ac:chgData name="西澤　奏都" userId="90190134-b31f-4132-babe-1b85b6be4fb9" providerId="ADAL" clId="{26ABE16E-35F6-461B-9B45-4258BE2CE09B}" dt="2025-12-02T02:32:03.542" v="2490" actId="12789"/>
          <ac:spMkLst>
            <pc:docMk/>
            <pc:sldMk cId="3970910045" sldId="269"/>
            <ac:spMk id="27" creationId="{CEB72CB0-22B3-CEFA-0281-B1FDEF143B61}"/>
          </ac:spMkLst>
        </pc:spChg>
        <pc:spChg chg="add mod">
          <ac:chgData name="西澤　奏都" userId="90190134-b31f-4132-babe-1b85b6be4fb9" providerId="ADAL" clId="{26ABE16E-35F6-461B-9B45-4258BE2CE09B}" dt="2025-12-02T03:22:32.380" v="2754" actId="12789"/>
          <ac:spMkLst>
            <pc:docMk/>
            <pc:sldMk cId="3970910045" sldId="269"/>
            <ac:spMk id="29" creationId="{43CA1A26-20E3-CDDB-F4E2-294E1E439A73}"/>
          </ac:spMkLst>
        </pc:spChg>
        <pc:spChg chg="add mod">
          <ac:chgData name="西澤　奏都" userId="90190134-b31f-4132-babe-1b85b6be4fb9" providerId="ADAL" clId="{26ABE16E-35F6-461B-9B45-4258BE2CE09B}" dt="2025-12-02T03:22:32.380" v="2754" actId="12789"/>
          <ac:spMkLst>
            <pc:docMk/>
            <pc:sldMk cId="3970910045" sldId="269"/>
            <ac:spMk id="31" creationId="{8BAA9C4C-CE7C-61BB-961D-67FD2219597A}"/>
          </ac:spMkLst>
        </pc:spChg>
        <pc:spChg chg="add mod">
          <ac:chgData name="西澤　奏都" userId="90190134-b31f-4132-babe-1b85b6be4fb9" providerId="ADAL" clId="{26ABE16E-35F6-461B-9B45-4258BE2CE09B}" dt="2025-12-02T03:22:32.380" v="2754" actId="12789"/>
          <ac:spMkLst>
            <pc:docMk/>
            <pc:sldMk cId="3970910045" sldId="269"/>
            <ac:spMk id="33" creationId="{BF8F69FD-9F5B-81F5-5366-75CEB8FBCF49}"/>
          </ac:spMkLst>
        </pc:spChg>
        <pc:spChg chg="add mod">
          <ac:chgData name="西澤　奏都" userId="90190134-b31f-4132-babe-1b85b6be4fb9" providerId="ADAL" clId="{26ABE16E-35F6-461B-9B45-4258BE2CE09B}" dt="2025-12-02T06:12:48.378" v="3973" actId="12789"/>
          <ac:spMkLst>
            <pc:docMk/>
            <pc:sldMk cId="3970910045" sldId="269"/>
            <ac:spMk id="35" creationId="{4CE7B7B6-1D81-5346-8CCA-F851E0C1910D}"/>
          </ac:spMkLst>
        </pc:spChg>
        <pc:spChg chg="mod ord">
          <ac:chgData name="西澤　奏都" userId="90190134-b31f-4132-babe-1b85b6be4fb9" providerId="ADAL" clId="{26ABE16E-35F6-461B-9B45-4258BE2CE09B}" dt="2025-12-02T02:43:28.574" v="2554"/>
          <ac:spMkLst>
            <pc:docMk/>
            <pc:sldMk cId="3970910045" sldId="269"/>
            <ac:spMk id="36" creationId="{4E4CDE93-55ED-9DFC-AC14-A7064FF1FCD8}"/>
          </ac:spMkLst>
        </pc:spChg>
        <pc:picChg chg="add mod">
          <ac:chgData name="西澤　奏都" userId="90190134-b31f-4132-babe-1b85b6be4fb9" providerId="ADAL" clId="{26ABE16E-35F6-461B-9B45-4258BE2CE09B}" dt="2025-12-02T02:31:20.188" v="2489" actId="12789"/>
          <ac:picMkLst>
            <pc:docMk/>
            <pc:sldMk cId="3970910045" sldId="269"/>
            <ac:picMk id="12" creationId="{254E6056-E282-578F-A79E-301E0AA92F5F}"/>
          </ac:picMkLst>
        </pc:picChg>
        <pc:picChg chg="add mod">
          <ac:chgData name="西澤　奏都" userId="90190134-b31f-4132-babe-1b85b6be4fb9" providerId="ADAL" clId="{26ABE16E-35F6-461B-9B45-4258BE2CE09B}" dt="2025-12-02T02:31:20.188" v="2489" actId="12789"/>
          <ac:picMkLst>
            <pc:docMk/>
            <pc:sldMk cId="3970910045" sldId="269"/>
            <ac:picMk id="14" creationId="{B45E6604-DB74-8533-D3D5-117893552ABF}"/>
          </ac:picMkLst>
        </pc:picChg>
        <pc:picChg chg="add mod">
          <ac:chgData name="西澤　奏都" userId="90190134-b31f-4132-babe-1b85b6be4fb9" providerId="ADAL" clId="{26ABE16E-35F6-461B-9B45-4258BE2CE09B}" dt="2025-12-02T02:32:03.542" v="2490" actId="12789"/>
          <ac:picMkLst>
            <pc:docMk/>
            <pc:sldMk cId="3970910045" sldId="269"/>
            <ac:picMk id="23" creationId="{22B1D52B-2DE8-B54B-CF72-C3007092DA8A}"/>
          </ac:picMkLst>
        </pc:picChg>
        <pc:picChg chg="add mod">
          <ac:chgData name="西澤　奏都" userId="90190134-b31f-4132-babe-1b85b6be4fb9" providerId="ADAL" clId="{26ABE16E-35F6-461B-9B45-4258BE2CE09B}" dt="2025-12-02T02:32:03.542" v="2490" actId="12789"/>
          <ac:picMkLst>
            <pc:docMk/>
            <pc:sldMk cId="3970910045" sldId="269"/>
            <ac:picMk id="24" creationId="{F4461501-E628-F48E-4417-6E1338ABCB75}"/>
          </ac:picMkLst>
        </pc:picChg>
        <pc:picChg chg="add mod">
          <ac:chgData name="西澤　奏都" userId="90190134-b31f-4132-babe-1b85b6be4fb9" providerId="ADAL" clId="{26ABE16E-35F6-461B-9B45-4258BE2CE09B}" dt="2025-12-02T02:32:03.542" v="2490" actId="12789"/>
          <ac:picMkLst>
            <pc:docMk/>
            <pc:sldMk cId="3970910045" sldId="269"/>
            <ac:picMk id="25" creationId="{2F3AD956-C77E-36FB-D0E5-1432B34DD696}"/>
          </ac:picMkLst>
        </pc:picChg>
      </pc:sldChg>
      <pc:sldChg chg="modSp new del mod">
        <pc:chgData name="西澤　奏都" userId="90190134-b31f-4132-babe-1b85b6be4fb9" providerId="ADAL" clId="{26ABE16E-35F6-461B-9B45-4258BE2CE09B}" dt="2025-12-02T02:30:12.848" v="2483" actId="47"/>
        <pc:sldMkLst>
          <pc:docMk/>
          <pc:sldMk cId="1859555151" sldId="270"/>
        </pc:sldMkLst>
        <pc:spChg chg="mod">
          <ac:chgData name="西澤　奏都" userId="90190134-b31f-4132-babe-1b85b6be4fb9" providerId="ADAL" clId="{26ABE16E-35F6-461B-9B45-4258BE2CE09B}" dt="2025-12-02T02:29:33.257" v="2480" actId="1076"/>
          <ac:spMkLst>
            <pc:docMk/>
            <pc:sldMk cId="1859555151" sldId="270"/>
            <ac:spMk id="3" creationId="{C95138B3-124E-54A3-7473-6D64A44DC852}"/>
          </ac:spMkLst>
        </pc:spChg>
      </pc:sldChg>
      <pc:sldChg chg="add mod modShow">
        <pc:chgData name="西澤　奏都" userId="90190134-b31f-4132-babe-1b85b6be4fb9" providerId="ADAL" clId="{26ABE16E-35F6-461B-9B45-4258BE2CE09B}" dt="2025-12-02T04:56:13.245" v="3006" actId="729"/>
        <pc:sldMkLst>
          <pc:docMk/>
          <pc:sldMk cId="3605732547" sldId="270"/>
        </pc:sldMkLst>
      </pc:sldChg>
      <pc:sldChg chg="addSp delSp modSp add mod modNotesTx">
        <pc:chgData name="西澤　奏都" userId="90190134-b31f-4132-babe-1b85b6be4fb9" providerId="ADAL" clId="{26ABE16E-35F6-461B-9B45-4258BE2CE09B}" dt="2025-12-03T04:33:43.827" v="5574" actId="14100"/>
        <pc:sldMkLst>
          <pc:docMk/>
          <pc:sldMk cId="1399092548" sldId="271"/>
        </pc:sldMkLst>
        <pc:spChg chg="del">
          <ac:chgData name="西澤　奏都" userId="90190134-b31f-4132-babe-1b85b6be4fb9" providerId="ADAL" clId="{26ABE16E-35F6-461B-9B45-4258BE2CE09B}" dt="2025-12-02T05:40:28.814" v="3577" actId="478"/>
          <ac:spMkLst>
            <pc:docMk/>
            <pc:sldMk cId="1399092548" sldId="271"/>
            <ac:spMk id="3" creationId="{3BE55F8B-9FC6-4C1D-AB99-C84A4DC5A7EB}"/>
          </ac:spMkLst>
        </pc:spChg>
        <pc:spChg chg="mod">
          <ac:chgData name="西澤　奏都" userId="90190134-b31f-4132-babe-1b85b6be4fb9" providerId="ADAL" clId="{26ABE16E-35F6-461B-9B45-4258BE2CE09B}" dt="2025-12-02T05:40:13.394" v="3576" actId="20577"/>
          <ac:spMkLst>
            <pc:docMk/>
            <pc:sldMk cId="1399092548" sldId="271"/>
            <ac:spMk id="5" creationId="{70453A65-1811-9232-4E70-0BD661E904FE}"/>
          </ac:spMkLst>
        </pc:spChg>
        <pc:spChg chg="del">
          <ac:chgData name="西澤　奏都" userId="90190134-b31f-4132-babe-1b85b6be4fb9" providerId="ADAL" clId="{26ABE16E-35F6-461B-9B45-4258BE2CE09B}" dt="2025-12-02T05:40:28.814" v="3577" actId="478"/>
          <ac:spMkLst>
            <pc:docMk/>
            <pc:sldMk cId="1399092548" sldId="271"/>
            <ac:spMk id="6" creationId="{15A9B9C7-BAE1-8D60-9364-A3E9D940F791}"/>
          </ac:spMkLst>
        </pc:spChg>
        <pc:spChg chg="add del mod">
          <ac:chgData name="西澤　奏都" userId="90190134-b31f-4132-babe-1b85b6be4fb9" providerId="ADAL" clId="{26ABE16E-35F6-461B-9B45-4258BE2CE09B}" dt="2025-12-02T07:00:17.218" v="4966" actId="478"/>
          <ac:spMkLst>
            <pc:docMk/>
            <pc:sldMk cId="1399092548" sldId="271"/>
            <ac:spMk id="7" creationId="{10471D7B-47A0-A731-CA46-7C5307B32E65}"/>
          </ac:spMkLst>
        </pc:spChg>
        <pc:spChg chg="add mod">
          <ac:chgData name="西澤　奏都" userId="90190134-b31f-4132-babe-1b85b6be4fb9" providerId="ADAL" clId="{26ABE16E-35F6-461B-9B45-4258BE2CE09B}" dt="2025-12-03T04:33:43.827" v="5574" actId="14100"/>
          <ac:spMkLst>
            <pc:docMk/>
            <pc:sldMk cId="1399092548" sldId="271"/>
            <ac:spMk id="10" creationId="{03E371B0-07D1-9925-DD16-4C734233273A}"/>
          </ac:spMkLst>
        </pc:spChg>
        <pc:spChg chg="del">
          <ac:chgData name="西澤　奏都" userId="90190134-b31f-4132-babe-1b85b6be4fb9" providerId="ADAL" clId="{26ABE16E-35F6-461B-9B45-4258BE2CE09B}" dt="2025-12-02T05:40:28.814" v="3577" actId="478"/>
          <ac:spMkLst>
            <pc:docMk/>
            <pc:sldMk cId="1399092548" sldId="271"/>
            <ac:spMk id="11" creationId="{527783EA-4A49-B36E-48ED-1E7B71498C84}"/>
          </ac:spMkLst>
        </pc:spChg>
        <pc:spChg chg="mod">
          <ac:chgData name="西澤　奏都" userId="90190134-b31f-4132-babe-1b85b6be4fb9" providerId="ADAL" clId="{26ABE16E-35F6-461B-9B45-4258BE2CE09B}" dt="2025-12-02T07:33:47.046" v="5211" actId="20577"/>
          <ac:spMkLst>
            <pc:docMk/>
            <pc:sldMk cId="1399092548" sldId="271"/>
            <ac:spMk id="15" creationId="{0B3C23F2-AF37-7994-0000-DB15587A780E}"/>
          </ac:spMkLst>
        </pc:spChg>
        <pc:spChg chg="del">
          <ac:chgData name="西澤　奏都" userId="90190134-b31f-4132-babe-1b85b6be4fb9" providerId="ADAL" clId="{26ABE16E-35F6-461B-9B45-4258BE2CE09B}" dt="2025-12-02T05:40:28.814" v="3577" actId="478"/>
          <ac:spMkLst>
            <pc:docMk/>
            <pc:sldMk cId="1399092548" sldId="271"/>
            <ac:spMk id="16" creationId="{94C168BC-5D9D-EA07-1ADF-B6B741964530}"/>
          </ac:spMkLst>
        </pc:spChg>
        <pc:spChg chg="add del mod">
          <ac:chgData name="西澤　奏都" userId="90190134-b31f-4132-babe-1b85b6be4fb9" providerId="ADAL" clId="{26ABE16E-35F6-461B-9B45-4258BE2CE09B}" dt="2025-12-02T07:00:09.608" v="4964" actId="478"/>
          <ac:spMkLst>
            <pc:docMk/>
            <pc:sldMk cId="1399092548" sldId="271"/>
            <ac:spMk id="17" creationId="{B87B5CEE-9D89-E8AE-64E5-FE0A3254AF6F}"/>
          </ac:spMkLst>
        </pc:spChg>
        <pc:spChg chg="del">
          <ac:chgData name="西澤　奏都" userId="90190134-b31f-4132-babe-1b85b6be4fb9" providerId="ADAL" clId="{26ABE16E-35F6-461B-9B45-4258BE2CE09B}" dt="2025-12-02T05:40:28.814" v="3577" actId="478"/>
          <ac:spMkLst>
            <pc:docMk/>
            <pc:sldMk cId="1399092548" sldId="271"/>
            <ac:spMk id="20" creationId="{6023B61A-09F5-C928-5CEA-80F4CDF61EDA}"/>
          </ac:spMkLst>
        </pc:spChg>
        <pc:spChg chg="add del mod">
          <ac:chgData name="西澤　奏都" userId="90190134-b31f-4132-babe-1b85b6be4fb9" providerId="ADAL" clId="{26ABE16E-35F6-461B-9B45-4258BE2CE09B}" dt="2025-12-02T07:00:09.608" v="4964" actId="478"/>
          <ac:spMkLst>
            <pc:docMk/>
            <pc:sldMk cId="1399092548" sldId="271"/>
            <ac:spMk id="21" creationId="{8B5AFB21-D7B4-5BC1-49B9-CC6822BA8F66}"/>
          </ac:spMkLst>
        </pc:spChg>
        <pc:spChg chg="del">
          <ac:chgData name="西澤　奏都" userId="90190134-b31f-4132-babe-1b85b6be4fb9" providerId="ADAL" clId="{26ABE16E-35F6-461B-9B45-4258BE2CE09B}" dt="2025-12-02T05:40:28.814" v="3577" actId="478"/>
          <ac:spMkLst>
            <pc:docMk/>
            <pc:sldMk cId="1399092548" sldId="271"/>
            <ac:spMk id="22" creationId="{93CF3A25-BB3D-F385-37E7-194DD261C0CC}"/>
          </ac:spMkLst>
        </pc:spChg>
        <pc:spChg chg="del">
          <ac:chgData name="西澤　奏都" userId="90190134-b31f-4132-babe-1b85b6be4fb9" providerId="ADAL" clId="{26ABE16E-35F6-461B-9B45-4258BE2CE09B}" dt="2025-12-02T05:40:28.814" v="3577" actId="478"/>
          <ac:spMkLst>
            <pc:docMk/>
            <pc:sldMk cId="1399092548" sldId="271"/>
            <ac:spMk id="26" creationId="{38007E12-21BC-CB63-2D94-47E3BB8329BE}"/>
          </ac:spMkLst>
        </pc:spChg>
        <pc:spChg chg="del">
          <ac:chgData name="西澤　奏都" userId="90190134-b31f-4132-babe-1b85b6be4fb9" providerId="ADAL" clId="{26ABE16E-35F6-461B-9B45-4258BE2CE09B}" dt="2025-12-02T05:40:28.814" v="3577" actId="478"/>
          <ac:spMkLst>
            <pc:docMk/>
            <pc:sldMk cId="1399092548" sldId="271"/>
            <ac:spMk id="27" creationId="{52D6E524-52B0-4706-905C-AC93C2A8460A}"/>
          </ac:spMkLst>
        </pc:spChg>
        <pc:spChg chg="add del mod">
          <ac:chgData name="西澤　奏都" userId="90190134-b31f-4132-babe-1b85b6be4fb9" providerId="ADAL" clId="{26ABE16E-35F6-461B-9B45-4258BE2CE09B}" dt="2025-12-02T07:00:13.650" v="4965" actId="478"/>
          <ac:spMkLst>
            <pc:docMk/>
            <pc:sldMk cId="1399092548" sldId="271"/>
            <ac:spMk id="30" creationId="{B71E0806-8423-2CCB-A6E5-051EF0F5331B}"/>
          </ac:spMkLst>
        </pc:spChg>
        <pc:spChg chg="del">
          <ac:chgData name="西澤　奏都" userId="90190134-b31f-4132-babe-1b85b6be4fb9" providerId="ADAL" clId="{26ABE16E-35F6-461B-9B45-4258BE2CE09B}" dt="2025-12-02T05:40:28.814" v="3577" actId="478"/>
          <ac:spMkLst>
            <pc:docMk/>
            <pc:sldMk cId="1399092548" sldId="271"/>
            <ac:spMk id="31" creationId="{32F40711-F82F-1404-2C10-57C75BEE266A}"/>
          </ac:spMkLst>
        </pc:spChg>
        <pc:spChg chg="del">
          <ac:chgData name="西澤　奏都" userId="90190134-b31f-4132-babe-1b85b6be4fb9" providerId="ADAL" clId="{26ABE16E-35F6-461B-9B45-4258BE2CE09B}" dt="2025-12-02T05:40:28.814" v="3577" actId="478"/>
          <ac:spMkLst>
            <pc:docMk/>
            <pc:sldMk cId="1399092548" sldId="271"/>
            <ac:spMk id="35" creationId="{A664122D-7026-0A3F-20E3-23CAE86E5F17}"/>
          </ac:spMkLst>
        </pc:spChg>
        <pc:graphicFrameChg chg="add del mod modGraphic">
          <ac:chgData name="西澤　奏都" userId="90190134-b31f-4132-babe-1b85b6be4fb9" providerId="ADAL" clId="{26ABE16E-35F6-461B-9B45-4258BE2CE09B}" dt="2025-12-02T07:00:59.009" v="4976" actId="3680"/>
          <ac:graphicFrameMkLst>
            <pc:docMk/>
            <pc:sldMk cId="1399092548" sldId="271"/>
            <ac:graphicFrameMk id="37" creationId="{53B2C9FC-4B43-55A7-8DF6-F74793C677D0}"/>
          </ac:graphicFrameMkLst>
        </pc:graphicFrameChg>
        <pc:graphicFrameChg chg="add mod modGraphic">
          <ac:chgData name="西澤　奏都" userId="90190134-b31f-4132-babe-1b85b6be4fb9" providerId="ADAL" clId="{26ABE16E-35F6-461B-9B45-4258BE2CE09B}" dt="2025-12-02T07:54:50.206" v="5364" actId="207"/>
          <ac:graphicFrameMkLst>
            <pc:docMk/>
            <pc:sldMk cId="1399092548" sldId="271"/>
            <ac:graphicFrameMk id="38" creationId="{E801366B-E102-EE88-1395-914023A87AC8}"/>
          </ac:graphicFrameMkLst>
        </pc:graphicFrameChg>
        <pc:picChg chg="add mod">
          <ac:chgData name="西澤　奏都" userId="90190134-b31f-4132-babe-1b85b6be4fb9" providerId="ADAL" clId="{26ABE16E-35F6-461B-9B45-4258BE2CE09B}" dt="2025-12-02T07:00:03.610" v="4956" actId="1076"/>
          <ac:picMkLst>
            <pc:docMk/>
            <pc:sldMk cId="1399092548" sldId="271"/>
            <ac:picMk id="32" creationId="{11225945-87CF-CF91-CF20-FB23F62A6CD1}"/>
          </ac:picMkLst>
        </pc:picChg>
        <pc:picChg chg="add mod">
          <ac:chgData name="西澤　奏都" userId="90190134-b31f-4132-babe-1b85b6be4fb9" providerId="ADAL" clId="{26ABE16E-35F6-461B-9B45-4258BE2CE09B}" dt="2025-12-02T07:00:01.530" v="4949" actId="1076"/>
          <ac:picMkLst>
            <pc:docMk/>
            <pc:sldMk cId="1399092548" sldId="271"/>
            <ac:picMk id="34" creationId="{BC5E268A-B403-54DF-8C35-6DF0FEF675DA}"/>
          </ac:picMkLst>
        </pc:picChg>
        <pc:picChg chg="add mod">
          <ac:chgData name="西澤　奏都" userId="90190134-b31f-4132-babe-1b85b6be4fb9" providerId="ADAL" clId="{26ABE16E-35F6-461B-9B45-4258BE2CE09B}" dt="2025-12-02T08:06:51.053" v="5400" actId="1076"/>
          <ac:picMkLst>
            <pc:docMk/>
            <pc:sldMk cId="1399092548" sldId="271"/>
            <ac:picMk id="39" creationId="{8FFA897E-4273-89C5-41A0-CFF479650867}"/>
          </ac:picMkLst>
        </pc:picChg>
        <pc:picChg chg="add mod">
          <ac:chgData name="西澤　奏都" userId="90190134-b31f-4132-babe-1b85b6be4fb9" providerId="ADAL" clId="{26ABE16E-35F6-461B-9B45-4258BE2CE09B}" dt="2025-12-02T07:21:36.634" v="5172" actId="1076"/>
          <ac:picMkLst>
            <pc:docMk/>
            <pc:sldMk cId="1399092548" sldId="271"/>
            <ac:picMk id="40" creationId="{AD700141-D35B-BB07-BA30-3806ACFDC394}"/>
          </ac:picMkLst>
        </pc:picChg>
        <pc:picChg chg="add mod">
          <ac:chgData name="西澤　奏都" userId="90190134-b31f-4132-babe-1b85b6be4fb9" providerId="ADAL" clId="{26ABE16E-35F6-461B-9B45-4258BE2CE09B}" dt="2025-12-02T07:21:41.741" v="5173" actId="1076"/>
          <ac:picMkLst>
            <pc:docMk/>
            <pc:sldMk cId="1399092548" sldId="271"/>
            <ac:picMk id="41" creationId="{23ECEFC5-B3B3-C3D7-9B49-87F38EA643EA}"/>
          </ac:picMkLst>
        </pc:picChg>
      </pc:sldChg>
      <pc:sldChg chg="addSp delSp modSp add mod">
        <pc:chgData name="西澤　奏都" userId="90190134-b31f-4132-babe-1b85b6be4fb9" providerId="ADAL" clId="{26ABE16E-35F6-461B-9B45-4258BE2CE09B}" dt="2025-12-03T04:40:57.510" v="5722" actId="14100"/>
        <pc:sldMkLst>
          <pc:docMk/>
          <pc:sldMk cId="1249547940" sldId="272"/>
        </pc:sldMkLst>
        <pc:spChg chg="add mod">
          <ac:chgData name="西澤　奏都" userId="90190134-b31f-4132-babe-1b85b6be4fb9" providerId="ADAL" clId="{26ABE16E-35F6-461B-9B45-4258BE2CE09B}" dt="2025-12-02T06:39:03.593" v="4492" actId="1076"/>
          <ac:spMkLst>
            <pc:docMk/>
            <pc:sldMk cId="1249547940" sldId="272"/>
            <ac:spMk id="4" creationId="{C369DFDB-0185-4760-7E5F-990C0A0C076D}"/>
          </ac:spMkLst>
        </pc:spChg>
        <pc:spChg chg="mod">
          <ac:chgData name="西澤　奏都" userId="90190134-b31f-4132-babe-1b85b6be4fb9" providerId="ADAL" clId="{26ABE16E-35F6-461B-9B45-4258BE2CE09B}" dt="2025-12-02T05:46:25.335" v="3746" actId="20577"/>
          <ac:spMkLst>
            <pc:docMk/>
            <pc:sldMk cId="1249547940" sldId="272"/>
            <ac:spMk id="5" creationId="{83550D71-B29F-2D3B-95CF-D8063CAEA59B}"/>
          </ac:spMkLst>
        </pc:spChg>
        <pc:spChg chg="mod">
          <ac:chgData name="西澤　奏都" userId="90190134-b31f-4132-babe-1b85b6be4fb9" providerId="ADAL" clId="{26ABE16E-35F6-461B-9B45-4258BE2CE09B}" dt="2025-12-03T04:37:14.941" v="5606" actId="255"/>
          <ac:spMkLst>
            <pc:docMk/>
            <pc:sldMk cId="1249547940" sldId="272"/>
            <ac:spMk id="8" creationId="{44796DDE-B2DD-5FCE-F897-8B69D2CB19FC}"/>
          </ac:spMkLst>
        </pc:spChg>
        <pc:spChg chg="add mod">
          <ac:chgData name="西澤　奏都" userId="90190134-b31f-4132-babe-1b85b6be4fb9" providerId="ADAL" clId="{26ABE16E-35F6-461B-9B45-4258BE2CE09B}" dt="2025-12-02T06:39:03.593" v="4492" actId="1076"/>
          <ac:spMkLst>
            <pc:docMk/>
            <pc:sldMk cId="1249547940" sldId="272"/>
            <ac:spMk id="10" creationId="{C441BAB5-48F4-EDEA-467B-4FD252510A9A}"/>
          </ac:spMkLst>
        </pc:spChg>
        <pc:spChg chg="add mod">
          <ac:chgData name="西澤　奏都" userId="90190134-b31f-4132-babe-1b85b6be4fb9" providerId="ADAL" clId="{26ABE16E-35F6-461B-9B45-4258BE2CE09B}" dt="2025-12-02T06:34:07.821" v="4401" actId="1076"/>
          <ac:spMkLst>
            <pc:docMk/>
            <pc:sldMk cId="1249547940" sldId="272"/>
            <ac:spMk id="14" creationId="{6362A129-7EB9-5C99-ED59-FE2E079B56D5}"/>
          </ac:spMkLst>
        </pc:spChg>
        <pc:spChg chg="add mod">
          <ac:chgData name="西澤　奏都" userId="90190134-b31f-4132-babe-1b85b6be4fb9" providerId="ADAL" clId="{26ABE16E-35F6-461B-9B45-4258BE2CE09B}" dt="2025-12-02T06:34:07.821" v="4401" actId="1076"/>
          <ac:spMkLst>
            <pc:docMk/>
            <pc:sldMk cId="1249547940" sldId="272"/>
            <ac:spMk id="16" creationId="{849318EF-4F07-49B2-88B4-4DC72848B981}"/>
          </ac:spMkLst>
        </pc:spChg>
        <pc:spChg chg="add mod">
          <ac:chgData name="西澤　奏都" userId="90190134-b31f-4132-babe-1b85b6be4fb9" providerId="ADAL" clId="{26ABE16E-35F6-461B-9B45-4258BE2CE09B}" dt="2025-12-02T06:34:05.671" v="4400"/>
          <ac:spMkLst>
            <pc:docMk/>
            <pc:sldMk cId="1249547940" sldId="272"/>
            <ac:spMk id="17" creationId="{C92E582B-CB0E-0040-919E-749EA24B83A7}"/>
          </ac:spMkLst>
        </pc:spChg>
        <pc:spChg chg="add mod">
          <ac:chgData name="西澤　奏都" userId="90190134-b31f-4132-babe-1b85b6be4fb9" providerId="ADAL" clId="{26ABE16E-35F6-461B-9B45-4258BE2CE09B}" dt="2025-12-02T06:34:05.671" v="4400"/>
          <ac:spMkLst>
            <pc:docMk/>
            <pc:sldMk cId="1249547940" sldId="272"/>
            <ac:spMk id="19" creationId="{F55F87E7-D07A-7B96-4333-156BDDB13DE8}"/>
          </ac:spMkLst>
        </pc:spChg>
        <pc:spChg chg="add mod">
          <ac:chgData name="西澤　奏都" userId="90190134-b31f-4132-babe-1b85b6be4fb9" providerId="ADAL" clId="{26ABE16E-35F6-461B-9B45-4258BE2CE09B}" dt="2025-12-02T06:39:03.593" v="4492" actId="1076"/>
          <ac:spMkLst>
            <pc:docMk/>
            <pc:sldMk cId="1249547940" sldId="272"/>
            <ac:spMk id="20" creationId="{26738C0E-049C-1155-247E-09986A42CDFB}"/>
          </ac:spMkLst>
        </pc:spChg>
        <pc:spChg chg="add mod">
          <ac:chgData name="西澤　奏都" userId="90190134-b31f-4132-babe-1b85b6be4fb9" providerId="ADAL" clId="{26ABE16E-35F6-461B-9B45-4258BE2CE09B}" dt="2025-12-02T06:36:35.464" v="4420"/>
          <ac:spMkLst>
            <pc:docMk/>
            <pc:sldMk cId="1249547940" sldId="272"/>
            <ac:spMk id="21" creationId="{5FCA6C75-1059-F302-DEE8-DBF55EA7279B}"/>
          </ac:spMkLst>
        </pc:spChg>
        <pc:spChg chg="add mod">
          <ac:chgData name="西澤　奏都" userId="90190134-b31f-4132-babe-1b85b6be4fb9" providerId="ADAL" clId="{26ABE16E-35F6-461B-9B45-4258BE2CE09B}" dt="2025-12-02T06:36:35.464" v="4420"/>
          <ac:spMkLst>
            <pc:docMk/>
            <pc:sldMk cId="1249547940" sldId="272"/>
            <ac:spMk id="23" creationId="{1CA37A8D-6E9A-B88A-AD0F-EC67D50529A9}"/>
          </ac:spMkLst>
        </pc:spChg>
        <pc:spChg chg="add mod">
          <ac:chgData name="西澤　奏都" userId="90190134-b31f-4132-babe-1b85b6be4fb9" providerId="ADAL" clId="{26ABE16E-35F6-461B-9B45-4258BE2CE09B}" dt="2025-12-02T06:39:03.593" v="4492" actId="1076"/>
          <ac:spMkLst>
            <pc:docMk/>
            <pc:sldMk cId="1249547940" sldId="272"/>
            <ac:spMk id="25" creationId="{0463FC62-F94F-CD28-D5E3-2F8DBFDC484B}"/>
          </ac:spMkLst>
        </pc:spChg>
        <pc:spChg chg="add mod">
          <ac:chgData name="西澤　奏都" userId="90190134-b31f-4132-babe-1b85b6be4fb9" providerId="ADAL" clId="{26ABE16E-35F6-461B-9B45-4258BE2CE09B}" dt="2025-12-02T06:39:03.593" v="4492" actId="1076"/>
          <ac:spMkLst>
            <pc:docMk/>
            <pc:sldMk cId="1249547940" sldId="272"/>
            <ac:spMk id="27" creationId="{A4A44177-D632-B8B3-A9D3-F3314B80D1A6}"/>
          </ac:spMkLst>
        </pc:spChg>
        <pc:spChg chg="add mod">
          <ac:chgData name="西澤　奏都" userId="90190134-b31f-4132-babe-1b85b6be4fb9" providerId="ADAL" clId="{26ABE16E-35F6-461B-9B45-4258BE2CE09B}" dt="2025-12-02T06:44:35.852" v="4722" actId="164"/>
          <ac:spMkLst>
            <pc:docMk/>
            <pc:sldMk cId="1249547940" sldId="272"/>
            <ac:spMk id="29" creationId="{82328E40-4517-407B-4E5B-BC1F15B7467E}"/>
          </ac:spMkLst>
        </pc:spChg>
        <pc:spChg chg="add mod">
          <ac:chgData name="西澤　奏都" userId="90190134-b31f-4132-babe-1b85b6be4fb9" providerId="ADAL" clId="{26ABE16E-35F6-461B-9B45-4258BE2CE09B}" dt="2025-12-02T06:41:20.470" v="4607" actId="20577"/>
          <ac:spMkLst>
            <pc:docMk/>
            <pc:sldMk cId="1249547940" sldId="272"/>
            <ac:spMk id="30" creationId="{651276F9-211B-09EA-1747-CAB41BB6E624}"/>
          </ac:spMkLst>
        </pc:spChg>
        <pc:spChg chg="add mod">
          <ac:chgData name="西澤　奏都" userId="90190134-b31f-4132-babe-1b85b6be4fb9" providerId="ADAL" clId="{26ABE16E-35F6-461B-9B45-4258BE2CE09B}" dt="2025-12-02T06:44:35.852" v="4722" actId="164"/>
          <ac:spMkLst>
            <pc:docMk/>
            <pc:sldMk cId="1249547940" sldId="272"/>
            <ac:spMk id="31" creationId="{33DBB7CD-C4B6-8FE5-23F2-14D41C187117}"/>
          </ac:spMkLst>
        </pc:spChg>
        <pc:spChg chg="add mod">
          <ac:chgData name="西澤　奏都" userId="90190134-b31f-4132-babe-1b85b6be4fb9" providerId="ADAL" clId="{26ABE16E-35F6-461B-9B45-4258BE2CE09B}" dt="2025-12-02T06:44:35.852" v="4722" actId="164"/>
          <ac:spMkLst>
            <pc:docMk/>
            <pc:sldMk cId="1249547940" sldId="272"/>
            <ac:spMk id="32" creationId="{FD489771-AD4B-3219-48C0-B68C86AA3923}"/>
          </ac:spMkLst>
        </pc:spChg>
        <pc:spChg chg="add mod">
          <ac:chgData name="西澤　奏都" userId="90190134-b31f-4132-babe-1b85b6be4fb9" providerId="ADAL" clId="{26ABE16E-35F6-461B-9B45-4258BE2CE09B}" dt="2025-12-02T06:39:36.322" v="4510" actId="20577"/>
          <ac:spMkLst>
            <pc:docMk/>
            <pc:sldMk cId="1249547940" sldId="272"/>
            <ac:spMk id="33" creationId="{1F0DFE6E-2C35-3819-DBEF-864DEA25169A}"/>
          </ac:spMkLst>
        </pc:spChg>
        <pc:spChg chg="add mod">
          <ac:chgData name="西澤　奏都" userId="90190134-b31f-4132-babe-1b85b6be4fb9" providerId="ADAL" clId="{26ABE16E-35F6-461B-9B45-4258BE2CE09B}" dt="2025-12-02T06:39:41.079" v="4522" actId="20577"/>
          <ac:spMkLst>
            <pc:docMk/>
            <pc:sldMk cId="1249547940" sldId="272"/>
            <ac:spMk id="34" creationId="{C6D5A963-E87D-F9BD-E79A-46346079D22A}"/>
          </ac:spMkLst>
        </pc:spChg>
        <pc:spChg chg="add mod">
          <ac:chgData name="西澤　奏都" userId="90190134-b31f-4132-babe-1b85b6be4fb9" providerId="ADAL" clId="{26ABE16E-35F6-461B-9B45-4258BE2CE09B}" dt="2025-12-02T06:44:35.852" v="4722" actId="164"/>
          <ac:spMkLst>
            <pc:docMk/>
            <pc:sldMk cId="1249547940" sldId="272"/>
            <ac:spMk id="35" creationId="{1E04679C-FDE4-07F4-C304-2B21470D4AAC}"/>
          </ac:spMkLst>
        </pc:spChg>
        <pc:spChg chg="add mod">
          <ac:chgData name="西澤　奏都" userId="90190134-b31f-4132-babe-1b85b6be4fb9" providerId="ADAL" clId="{26ABE16E-35F6-461B-9B45-4258BE2CE09B}" dt="2025-12-02T06:42:58.520" v="4654" actId="207"/>
          <ac:spMkLst>
            <pc:docMk/>
            <pc:sldMk cId="1249547940" sldId="272"/>
            <ac:spMk id="36" creationId="{2B5990C7-46B4-48F2-E7E1-52167817632B}"/>
          </ac:spMkLst>
        </pc:spChg>
        <pc:spChg chg="add mod">
          <ac:chgData name="西澤　奏都" userId="90190134-b31f-4132-babe-1b85b6be4fb9" providerId="ADAL" clId="{26ABE16E-35F6-461B-9B45-4258BE2CE09B}" dt="2025-12-02T06:44:35.852" v="4722" actId="164"/>
          <ac:spMkLst>
            <pc:docMk/>
            <pc:sldMk cId="1249547940" sldId="272"/>
            <ac:spMk id="37" creationId="{C4C1854F-C6CF-C119-2F8D-98A05FA9F6D8}"/>
          </ac:spMkLst>
        </pc:spChg>
        <pc:spChg chg="add mod">
          <ac:chgData name="西澤　奏都" userId="90190134-b31f-4132-babe-1b85b6be4fb9" providerId="ADAL" clId="{26ABE16E-35F6-461B-9B45-4258BE2CE09B}" dt="2025-12-02T06:44:35.852" v="4722" actId="164"/>
          <ac:spMkLst>
            <pc:docMk/>
            <pc:sldMk cId="1249547940" sldId="272"/>
            <ac:spMk id="38" creationId="{0C1F0A30-24A3-E37B-CC11-119E2FD3EF02}"/>
          </ac:spMkLst>
        </pc:spChg>
        <pc:spChg chg="add mod">
          <ac:chgData name="西澤　奏都" userId="90190134-b31f-4132-babe-1b85b6be4fb9" providerId="ADAL" clId="{26ABE16E-35F6-461B-9B45-4258BE2CE09B}" dt="2025-12-02T06:44:35.852" v="4722" actId="164"/>
          <ac:spMkLst>
            <pc:docMk/>
            <pc:sldMk cId="1249547940" sldId="272"/>
            <ac:spMk id="39" creationId="{8E6B5688-FC3F-9197-57F1-1FCBECE8BCEC}"/>
          </ac:spMkLst>
        </pc:spChg>
        <pc:spChg chg="add mod">
          <ac:chgData name="西澤　奏都" userId="90190134-b31f-4132-babe-1b85b6be4fb9" providerId="ADAL" clId="{26ABE16E-35F6-461B-9B45-4258BE2CE09B}" dt="2025-12-03T04:13:22.679" v="5501" actId="20577"/>
          <ac:spMkLst>
            <pc:docMk/>
            <pc:sldMk cId="1249547940" sldId="272"/>
            <ac:spMk id="40" creationId="{8F32B30F-BC14-F569-C62B-2F727FBE53A1}"/>
          </ac:spMkLst>
        </pc:spChg>
        <pc:spChg chg="add mod">
          <ac:chgData name="西澤　奏都" userId="90190134-b31f-4132-babe-1b85b6be4fb9" providerId="ADAL" clId="{26ABE16E-35F6-461B-9B45-4258BE2CE09B}" dt="2025-12-02T06:41:13.718" v="4604" actId="1076"/>
          <ac:spMkLst>
            <pc:docMk/>
            <pc:sldMk cId="1249547940" sldId="272"/>
            <ac:spMk id="41" creationId="{D76F6EF3-9C3A-BB4C-7092-CA6D012F8BAF}"/>
          </ac:spMkLst>
        </pc:spChg>
        <pc:spChg chg="add mod">
          <ac:chgData name="西澤　奏都" userId="90190134-b31f-4132-babe-1b85b6be4fb9" providerId="ADAL" clId="{26ABE16E-35F6-461B-9B45-4258BE2CE09B}" dt="2025-12-02T06:44:35.852" v="4722" actId="164"/>
          <ac:spMkLst>
            <pc:docMk/>
            <pc:sldMk cId="1249547940" sldId="272"/>
            <ac:spMk id="42" creationId="{549F3886-4BFD-07BF-8FA4-2D76FF73AEB0}"/>
          </ac:spMkLst>
        </pc:spChg>
        <pc:spChg chg="add mod">
          <ac:chgData name="西澤　奏都" userId="90190134-b31f-4132-babe-1b85b6be4fb9" providerId="ADAL" clId="{26ABE16E-35F6-461B-9B45-4258BE2CE09B}" dt="2025-12-02T06:44:35.852" v="4722" actId="164"/>
          <ac:spMkLst>
            <pc:docMk/>
            <pc:sldMk cId="1249547940" sldId="272"/>
            <ac:spMk id="43" creationId="{C71C1B2C-EE97-01BF-3CED-41940BE9F6FE}"/>
          </ac:spMkLst>
        </pc:spChg>
        <pc:spChg chg="add mod">
          <ac:chgData name="西澤　奏都" userId="90190134-b31f-4132-babe-1b85b6be4fb9" providerId="ADAL" clId="{26ABE16E-35F6-461B-9B45-4258BE2CE09B}" dt="2025-12-02T06:44:21.454" v="4721" actId="207"/>
          <ac:spMkLst>
            <pc:docMk/>
            <pc:sldMk cId="1249547940" sldId="272"/>
            <ac:spMk id="44" creationId="{9913F5A2-61AF-F03D-6DE9-86DFBE95075B}"/>
          </ac:spMkLst>
        </pc:spChg>
        <pc:spChg chg="add mod">
          <ac:chgData name="西澤　奏都" userId="90190134-b31f-4132-babe-1b85b6be4fb9" providerId="ADAL" clId="{26ABE16E-35F6-461B-9B45-4258BE2CE09B}" dt="2025-12-02T06:43:35.406" v="4700" actId="20577"/>
          <ac:spMkLst>
            <pc:docMk/>
            <pc:sldMk cId="1249547940" sldId="272"/>
            <ac:spMk id="45" creationId="{7D266389-AA28-6257-D3EF-6B2928D8C520}"/>
          </ac:spMkLst>
        </pc:spChg>
        <pc:spChg chg="add mod">
          <ac:chgData name="西澤　奏都" userId="90190134-b31f-4132-babe-1b85b6be4fb9" providerId="ADAL" clId="{26ABE16E-35F6-461B-9B45-4258BE2CE09B}" dt="2025-12-02T06:43:40.760" v="4712" actId="20577"/>
          <ac:spMkLst>
            <pc:docMk/>
            <pc:sldMk cId="1249547940" sldId="272"/>
            <ac:spMk id="46" creationId="{5D3A5BD0-6802-A2A2-7B48-61A092FEEAC6}"/>
          </ac:spMkLst>
        </pc:spChg>
        <pc:spChg chg="add mod">
          <ac:chgData name="西澤　奏都" userId="90190134-b31f-4132-babe-1b85b6be4fb9" providerId="ADAL" clId="{26ABE16E-35F6-461B-9B45-4258BE2CE09B}" dt="2025-12-02T06:44:35.852" v="4722" actId="164"/>
          <ac:spMkLst>
            <pc:docMk/>
            <pc:sldMk cId="1249547940" sldId="272"/>
            <ac:spMk id="47" creationId="{17A496BF-FC26-CB47-963E-547CD5AF2E5A}"/>
          </ac:spMkLst>
        </pc:spChg>
        <pc:spChg chg="add mod">
          <ac:chgData name="西澤　奏都" userId="90190134-b31f-4132-babe-1b85b6be4fb9" providerId="ADAL" clId="{26ABE16E-35F6-461B-9B45-4258BE2CE09B}" dt="2025-12-03T04:37:04.261" v="5605" actId="552"/>
          <ac:spMkLst>
            <pc:docMk/>
            <pc:sldMk cId="1249547940" sldId="272"/>
            <ac:spMk id="51" creationId="{85EEB004-4A15-1AC5-7CA9-50260B5345BE}"/>
          </ac:spMkLst>
        </pc:spChg>
        <pc:spChg chg="add mod">
          <ac:chgData name="西澤　奏都" userId="90190134-b31f-4132-babe-1b85b6be4fb9" providerId="ADAL" clId="{26ABE16E-35F6-461B-9B45-4258BE2CE09B}" dt="2025-12-03T04:40:57.510" v="5722" actId="14100"/>
          <ac:spMkLst>
            <pc:docMk/>
            <pc:sldMk cId="1249547940" sldId="272"/>
            <ac:spMk id="53" creationId="{31C3514E-B39A-8E3D-B14E-ED7B6D9015C2}"/>
          </ac:spMkLst>
        </pc:spChg>
        <pc:spChg chg="add mod">
          <ac:chgData name="西澤　奏都" userId="90190134-b31f-4132-babe-1b85b6be4fb9" providerId="ADAL" clId="{26ABE16E-35F6-461B-9B45-4258BE2CE09B}" dt="2025-12-03T04:40:14.923" v="5707" actId="255"/>
          <ac:spMkLst>
            <pc:docMk/>
            <pc:sldMk cId="1249547940" sldId="272"/>
            <ac:spMk id="55" creationId="{CD635783-009E-ED0A-A7EB-8D1B639C2B8C}"/>
          </ac:spMkLst>
        </pc:spChg>
        <pc:grpChg chg="mod">
          <ac:chgData name="西澤　奏都" userId="90190134-b31f-4132-babe-1b85b6be4fb9" providerId="ADAL" clId="{26ABE16E-35F6-461B-9B45-4258BE2CE09B}" dt="2025-12-03T04:34:06.059" v="5575" actId="1076"/>
          <ac:grpSpMkLst>
            <pc:docMk/>
            <pc:sldMk cId="1249547940" sldId="272"/>
            <ac:grpSpMk id="48" creationId="{C51723AA-368D-959E-20F4-0D1F57200D04}"/>
          </ac:grpSpMkLst>
        </pc:grpChg>
        <pc:graphicFrameChg chg="add del mod modGraphic">
          <ac:chgData name="西澤　奏都" userId="90190134-b31f-4132-babe-1b85b6be4fb9" providerId="ADAL" clId="{26ABE16E-35F6-461B-9B45-4258BE2CE09B}" dt="2025-12-02T06:31:19.202" v="4378" actId="478"/>
          <ac:graphicFrameMkLst>
            <pc:docMk/>
            <pc:sldMk cId="1249547940" sldId="272"/>
            <ac:graphicFrameMk id="2" creationId="{3085192D-B281-2935-C11C-1704B13E3BFE}"/>
          </ac:graphicFrameMkLst>
        </pc:graphicFrameChg>
        <pc:picChg chg="del">
          <ac:chgData name="西澤　奏都" userId="90190134-b31f-4132-babe-1b85b6be4fb9" providerId="ADAL" clId="{26ABE16E-35F6-461B-9B45-4258BE2CE09B}" dt="2025-12-02T06:15:31.481" v="4023" actId="478"/>
          <ac:picMkLst>
            <pc:docMk/>
            <pc:sldMk cId="1249547940" sldId="272"/>
            <ac:picMk id="11" creationId="{74036F66-9B20-85FE-85F8-10FF59786333}"/>
          </ac:picMkLst>
        </pc:picChg>
        <pc:picChg chg="add mod">
          <ac:chgData name="西澤　奏都" userId="90190134-b31f-4132-babe-1b85b6be4fb9" providerId="ADAL" clId="{26ABE16E-35F6-461B-9B45-4258BE2CE09B}" dt="2025-12-03T04:38:35.539" v="5633" actId="1076"/>
          <ac:picMkLst>
            <pc:docMk/>
            <pc:sldMk cId="1249547940" sldId="272"/>
            <ac:picMk id="49" creationId="{EC3C386A-0F59-9977-3EEC-57F944DC11B2}"/>
          </ac:picMkLst>
        </pc:picChg>
        <pc:cxnChg chg="add del mod">
          <ac:chgData name="西澤　奏都" userId="90190134-b31f-4132-babe-1b85b6be4fb9" providerId="ADAL" clId="{26ABE16E-35F6-461B-9B45-4258BE2CE09B}" dt="2025-12-02T06:34:33.976" v="4406" actId="478"/>
          <ac:cxnSpMkLst>
            <pc:docMk/>
            <pc:sldMk cId="1249547940" sldId="272"/>
            <ac:cxnSpMk id="7" creationId="{A692D895-3C2B-3A44-5E0D-B70C37AE8746}"/>
          </ac:cxnSpMkLst>
        </pc:cxnChg>
        <pc:cxnChg chg="add mod">
          <ac:chgData name="西澤　奏都" userId="90190134-b31f-4132-babe-1b85b6be4fb9" providerId="ADAL" clId="{26ABE16E-35F6-461B-9B45-4258BE2CE09B}" dt="2025-12-02T06:34:07.821" v="4401" actId="1076"/>
          <ac:cxnSpMkLst>
            <pc:docMk/>
            <pc:sldMk cId="1249547940" sldId="272"/>
            <ac:cxnSpMk id="15" creationId="{212A36BD-6C74-AFC6-FBD9-C668AF755DB7}"/>
          </ac:cxnSpMkLst>
        </pc:cxnChg>
        <pc:cxnChg chg="add mod">
          <ac:chgData name="西澤　奏都" userId="90190134-b31f-4132-babe-1b85b6be4fb9" providerId="ADAL" clId="{26ABE16E-35F6-461B-9B45-4258BE2CE09B}" dt="2025-12-02T06:34:05.671" v="4400"/>
          <ac:cxnSpMkLst>
            <pc:docMk/>
            <pc:sldMk cId="1249547940" sldId="272"/>
            <ac:cxnSpMk id="18" creationId="{D7E4BDBA-57A3-A08F-F866-C650CF8726E5}"/>
          </ac:cxnSpMkLst>
        </pc:cxnChg>
        <pc:cxnChg chg="add mod">
          <ac:chgData name="西澤　奏都" userId="90190134-b31f-4132-babe-1b85b6be4fb9" providerId="ADAL" clId="{26ABE16E-35F6-461B-9B45-4258BE2CE09B}" dt="2025-12-02T06:36:35.464" v="4420"/>
          <ac:cxnSpMkLst>
            <pc:docMk/>
            <pc:sldMk cId="1249547940" sldId="272"/>
            <ac:cxnSpMk id="22" creationId="{2E78BB02-B246-00F2-A970-FE51F065ADDD}"/>
          </ac:cxnSpMkLst>
        </pc:cxnChg>
      </pc:sldChg>
      <pc:sldChg chg="addSp delSp modSp add del mod ord">
        <pc:chgData name="西澤　奏都" userId="90190134-b31f-4132-babe-1b85b6be4fb9" providerId="ADAL" clId="{26ABE16E-35F6-461B-9B45-4258BE2CE09B}" dt="2025-12-02T07:27:08.182" v="5182" actId="47"/>
        <pc:sldMkLst>
          <pc:docMk/>
          <pc:sldMk cId="716512665" sldId="273"/>
        </pc:sldMkLst>
        <pc:spChg chg="del">
          <ac:chgData name="西澤　奏都" userId="90190134-b31f-4132-babe-1b85b6be4fb9" providerId="ADAL" clId="{26ABE16E-35F6-461B-9B45-4258BE2CE09B}" dt="2025-12-02T05:57:18.405" v="3864" actId="478"/>
          <ac:spMkLst>
            <pc:docMk/>
            <pc:sldMk cId="716512665" sldId="273"/>
            <ac:spMk id="2" creationId="{737DE885-CD98-0A82-CE6D-394EFE24D77D}"/>
          </ac:spMkLst>
        </pc:spChg>
        <pc:spChg chg="mod">
          <ac:chgData name="西澤　奏都" userId="90190134-b31f-4132-babe-1b85b6be4fb9" providerId="ADAL" clId="{26ABE16E-35F6-461B-9B45-4258BE2CE09B}" dt="2025-12-02T05:57:12.040" v="3863" actId="20577"/>
          <ac:spMkLst>
            <pc:docMk/>
            <pc:sldMk cId="716512665" sldId="273"/>
            <ac:spMk id="20" creationId="{E00EDC2A-1746-F9D0-55BC-539C39739CFE}"/>
          </ac:spMkLst>
        </pc:spChg>
        <pc:grpChg chg="del">
          <ac:chgData name="西澤　奏都" userId="90190134-b31f-4132-babe-1b85b6be4fb9" providerId="ADAL" clId="{26ABE16E-35F6-461B-9B45-4258BE2CE09B}" dt="2025-12-02T05:57:18.405" v="3864" actId="478"/>
          <ac:grpSpMkLst>
            <pc:docMk/>
            <pc:sldMk cId="716512665" sldId="273"/>
            <ac:grpSpMk id="3" creationId="{1F90D3AF-D29F-F2BD-1D69-566B87F725C7}"/>
          </ac:grpSpMkLst>
        </pc:grpChg>
        <pc:picChg chg="add mod">
          <ac:chgData name="西澤　奏都" userId="90190134-b31f-4132-babe-1b85b6be4fb9" providerId="ADAL" clId="{26ABE16E-35F6-461B-9B45-4258BE2CE09B}" dt="2025-12-02T05:57:37.511" v="3867" actId="1076"/>
          <ac:picMkLst>
            <pc:docMk/>
            <pc:sldMk cId="716512665" sldId="273"/>
            <ac:picMk id="9" creationId="{9534569A-A3E7-ED82-2B3C-B0246385A7EF}"/>
          </ac:picMkLst>
        </pc:picChg>
      </pc:sldChg>
      <pc:sldChg chg="delSp modSp add mod">
        <pc:chgData name="西澤　奏都" userId="90190134-b31f-4132-babe-1b85b6be4fb9" providerId="ADAL" clId="{26ABE16E-35F6-461B-9B45-4258BE2CE09B}" dt="2025-12-02T06:12:15.655" v="3970" actId="1076"/>
        <pc:sldMkLst>
          <pc:docMk/>
          <pc:sldMk cId="2614177067" sldId="274"/>
        </pc:sldMkLst>
        <pc:graphicFrameChg chg="del">
          <ac:chgData name="西澤　奏都" userId="90190134-b31f-4132-babe-1b85b6be4fb9" providerId="ADAL" clId="{26ABE16E-35F6-461B-9B45-4258BE2CE09B}" dt="2025-12-02T06:10:29.516" v="3938" actId="478"/>
          <ac:graphicFrameMkLst>
            <pc:docMk/>
            <pc:sldMk cId="2614177067" sldId="274"/>
            <ac:graphicFrameMk id="4" creationId="{516BBCE3-AF94-B7D4-D39B-8FEA45468E54}"/>
          </ac:graphicFrameMkLst>
        </pc:graphicFrameChg>
        <pc:graphicFrameChg chg="mod modGraphic">
          <ac:chgData name="西澤　奏都" userId="90190134-b31f-4132-babe-1b85b6be4fb9" providerId="ADAL" clId="{26ABE16E-35F6-461B-9B45-4258BE2CE09B}" dt="2025-12-02T06:12:15.655" v="3970" actId="1076"/>
          <ac:graphicFrameMkLst>
            <pc:docMk/>
            <pc:sldMk cId="2614177067" sldId="274"/>
            <ac:graphicFrameMk id="7" creationId="{08EC102C-69B5-06B0-8627-F50951FE6F83}"/>
          </ac:graphicFrameMkLst>
        </pc:graphicFrameChg>
      </pc:sldChg>
      <pc:sldMasterChg chg="modSp mod modSldLayout">
        <pc:chgData name="西澤　奏都" userId="90190134-b31f-4132-babe-1b85b6be4fb9" providerId="ADAL" clId="{26ABE16E-35F6-461B-9B45-4258BE2CE09B}" dt="2025-12-02T02:57:42.424" v="2652" actId="14100"/>
        <pc:sldMasterMkLst>
          <pc:docMk/>
          <pc:sldMasterMk cId="931509387" sldId="2147483660"/>
        </pc:sldMasterMkLst>
        <pc:spChg chg="mod">
          <ac:chgData name="西澤　奏都" userId="90190134-b31f-4132-babe-1b85b6be4fb9" providerId="ADAL" clId="{26ABE16E-35F6-461B-9B45-4258BE2CE09B}" dt="2025-12-02T02:19:58.969" v="2426" actId="1076"/>
          <ac:spMkLst>
            <pc:docMk/>
            <pc:sldMasterMk cId="931509387" sldId="2147483660"/>
            <ac:spMk id="6" creationId="{00000000-0000-0000-0000-000000000000}"/>
          </ac:spMkLst>
        </pc:spChg>
        <pc:sldLayoutChg chg="modSp mod">
          <pc:chgData name="西澤　奏都" userId="90190134-b31f-4132-babe-1b85b6be4fb9" providerId="ADAL" clId="{26ABE16E-35F6-461B-9B45-4258BE2CE09B}" dt="2025-12-02T02:17:05.540" v="2421" actId="1076"/>
          <pc:sldLayoutMkLst>
            <pc:docMk/>
            <pc:sldMasterMk cId="931509387" sldId="2147483660"/>
            <pc:sldLayoutMk cId="1470319128" sldId="2147483661"/>
          </pc:sldLayoutMkLst>
          <pc:spChg chg="mod">
            <ac:chgData name="西澤　奏都" userId="90190134-b31f-4132-babe-1b85b6be4fb9" providerId="ADAL" clId="{26ABE16E-35F6-461B-9B45-4258BE2CE09B}" dt="2025-12-02T02:17:05.540" v="2421" actId="1076"/>
            <ac:spMkLst>
              <pc:docMk/>
              <pc:sldMasterMk cId="931509387" sldId="2147483660"/>
              <pc:sldLayoutMk cId="1470319128" sldId="2147483661"/>
              <ac:spMk id="6" creationId="{00000000-0000-0000-0000-000000000000}"/>
            </ac:spMkLst>
          </pc:spChg>
        </pc:sldLayoutChg>
        <pc:sldLayoutChg chg="modSp mod">
          <pc:chgData name="西澤　奏都" userId="90190134-b31f-4132-babe-1b85b6be4fb9" providerId="ADAL" clId="{26ABE16E-35F6-461B-9B45-4258BE2CE09B}" dt="2025-12-02T02:20:53.567" v="2427" actId="1076"/>
          <pc:sldLayoutMkLst>
            <pc:docMk/>
            <pc:sldMasterMk cId="931509387" sldId="2147483660"/>
            <pc:sldLayoutMk cId="331062203" sldId="2147483662"/>
          </pc:sldLayoutMkLst>
          <pc:spChg chg="mod">
            <ac:chgData name="西澤　奏都" userId="90190134-b31f-4132-babe-1b85b6be4fb9" providerId="ADAL" clId="{26ABE16E-35F6-461B-9B45-4258BE2CE09B}" dt="2025-12-02T02:20:53.567" v="2427" actId="1076"/>
            <ac:spMkLst>
              <pc:docMk/>
              <pc:sldMasterMk cId="931509387" sldId="2147483660"/>
              <pc:sldLayoutMk cId="331062203" sldId="2147483662"/>
              <ac:spMk id="6" creationId="{00000000-0000-0000-0000-000000000000}"/>
            </ac:spMkLst>
          </pc:spChg>
        </pc:sldLayoutChg>
        <pc:sldLayoutChg chg="modSp mod">
          <pc:chgData name="西澤　奏都" userId="90190134-b31f-4132-babe-1b85b6be4fb9" providerId="ADAL" clId="{26ABE16E-35F6-461B-9B45-4258BE2CE09B}" dt="2025-12-02T02:21:06.507" v="2428" actId="1076"/>
          <pc:sldLayoutMkLst>
            <pc:docMk/>
            <pc:sldMasterMk cId="931509387" sldId="2147483660"/>
            <pc:sldLayoutMk cId="3727069122" sldId="2147483663"/>
          </pc:sldLayoutMkLst>
          <pc:spChg chg="mod">
            <ac:chgData name="西澤　奏都" userId="90190134-b31f-4132-babe-1b85b6be4fb9" providerId="ADAL" clId="{26ABE16E-35F6-461B-9B45-4258BE2CE09B}" dt="2025-12-02T02:21:06.507" v="2428" actId="1076"/>
            <ac:spMkLst>
              <pc:docMk/>
              <pc:sldMasterMk cId="931509387" sldId="2147483660"/>
              <pc:sldLayoutMk cId="3727069122" sldId="2147483663"/>
              <ac:spMk id="6" creationId="{00000000-0000-0000-0000-000000000000}"/>
            </ac:spMkLst>
          </pc:spChg>
        </pc:sldLayoutChg>
        <pc:sldLayoutChg chg="modSp mod">
          <pc:chgData name="西澤　奏都" userId="90190134-b31f-4132-babe-1b85b6be4fb9" providerId="ADAL" clId="{26ABE16E-35F6-461B-9B45-4258BE2CE09B}" dt="2025-12-02T02:18:23.409" v="2424" actId="1076"/>
          <pc:sldLayoutMkLst>
            <pc:docMk/>
            <pc:sldMasterMk cId="931509387" sldId="2147483660"/>
            <pc:sldLayoutMk cId="635332093" sldId="2147483664"/>
          </pc:sldLayoutMkLst>
          <pc:spChg chg="mod">
            <ac:chgData name="西澤　奏都" userId="90190134-b31f-4132-babe-1b85b6be4fb9" providerId="ADAL" clId="{26ABE16E-35F6-461B-9B45-4258BE2CE09B}" dt="2025-12-02T02:18:23.409" v="2424" actId="1076"/>
            <ac:spMkLst>
              <pc:docMk/>
              <pc:sldMasterMk cId="931509387" sldId="2147483660"/>
              <pc:sldLayoutMk cId="635332093" sldId="2147483664"/>
              <ac:spMk id="7" creationId="{00000000-0000-0000-0000-000000000000}"/>
            </ac:spMkLst>
          </pc:spChg>
        </pc:sldLayoutChg>
        <pc:sldLayoutChg chg="addSp modSp mod">
          <pc:chgData name="西澤　奏都" userId="90190134-b31f-4132-babe-1b85b6be4fb9" providerId="ADAL" clId="{26ABE16E-35F6-461B-9B45-4258BE2CE09B}" dt="2025-12-02T02:57:42.424" v="2652" actId="14100"/>
          <pc:sldLayoutMkLst>
            <pc:docMk/>
            <pc:sldMasterMk cId="931509387" sldId="2147483660"/>
            <pc:sldLayoutMk cId="627392271" sldId="2147483666"/>
          </pc:sldLayoutMkLst>
          <pc:spChg chg="mod ord">
            <ac:chgData name="西澤　奏都" userId="90190134-b31f-4132-babe-1b85b6be4fb9" providerId="ADAL" clId="{26ABE16E-35F6-461B-9B45-4258BE2CE09B}" dt="2025-12-02T02:39:05.572" v="2535" actId="1076"/>
            <ac:spMkLst>
              <pc:docMk/>
              <pc:sldMasterMk cId="931509387" sldId="2147483660"/>
              <pc:sldLayoutMk cId="627392271" sldId="2147483666"/>
              <ac:spMk id="2" creationId="{00000000-0000-0000-0000-000000000000}"/>
            </ac:spMkLst>
          </pc:spChg>
          <pc:spChg chg="mod">
            <ac:chgData name="西澤　奏都" userId="90190134-b31f-4132-babe-1b85b6be4fb9" providerId="ADAL" clId="{26ABE16E-35F6-461B-9B45-4258BE2CE09B}" dt="2025-12-02T02:26:25.977" v="2464" actId="403"/>
            <ac:spMkLst>
              <pc:docMk/>
              <pc:sldMasterMk cId="931509387" sldId="2147483660"/>
              <pc:sldLayoutMk cId="627392271" sldId="2147483666"/>
              <ac:spMk id="5" creationId="{00000000-0000-0000-0000-000000000000}"/>
            </ac:spMkLst>
          </pc:spChg>
          <pc:spChg chg="add mod ord">
            <ac:chgData name="西澤　奏都" userId="90190134-b31f-4132-babe-1b85b6be4fb9" providerId="ADAL" clId="{26ABE16E-35F6-461B-9B45-4258BE2CE09B}" dt="2025-12-02T02:57:42.424" v="2652" actId="14100"/>
            <ac:spMkLst>
              <pc:docMk/>
              <pc:sldMasterMk cId="931509387" sldId="2147483660"/>
              <pc:sldLayoutMk cId="627392271" sldId="2147483666"/>
              <ac:spMk id="6" creationId="{284BCB7E-AC97-022E-DE8D-21A05037CD20}"/>
            </ac:spMkLst>
          </pc:spChg>
          <pc:spChg chg="add mod ord">
            <ac:chgData name="西澤　奏都" userId="90190134-b31f-4132-babe-1b85b6be4fb9" providerId="ADAL" clId="{26ABE16E-35F6-461B-9B45-4258BE2CE09B}" dt="2025-12-02T02:26:36.348" v="2466" actId="14100"/>
            <ac:spMkLst>
              <pc:docMk/>
              <pc:sldMasterMk cId="931509387" sldId="2147483660"/>
              <pc:sldLayoutMk cId="627392271" sldId="2147483666"/>
              <ac:spMk id="7" creationId="{6918CEDF-EAAC-BEF8-DBCD-FEE9E6EF54A7}"/>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585F43-A3F0-40B1-8B30-79926A888A87}" type="datetimeFigureOut">
              <a:rPr kumimoji="1" lang="ja-JP" altLang="en-US" smtClean="0"/>
              <a:t>2026/2/6</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514B32-4E6E-49F5-AF84-F2E30A6572B6}" type="slidenum">
              <a:rPr kumimoji="1" lang="ja-JP" altLang="en-US" smtClean="0"/>
              <a:t>‹#›</a:t>
            </a:fld>
            <a:endParaRPr kumimoji="1" lang="ja-JP" altLang="en-US"/>
          </a:p>
        </p:txBody>
      </p:sp>
    </p:spTree>
    <p:extLst>
      <p:ext uri="{BB962C8B-B14F-4D97-AF65-F5344CB8AC3E}">
        <p14:creationId xmlns:p14="http://schemas.microsoft.com/office/powerpoint/2010/main" val="281738113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1</a:t>
            </a:fld>
            <a:endParaRPr kumimoji="1" lang="ja-JP" altLang="en-US"/>
          </a:p>
        </p:txBody>
      </p:sp>
    </p:spTree>
    <p:extLst>
      <p:ext uri="{BB962C8B-B14F-4D97-AF65-F5344CB8AC3E}">
        <p14:creationId xmlns:p14="http://schemas.microsoft.com/office/powerpoint/2010/main" val="1776817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88379-7CD9-5184-D819-81503F9DBE5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AB1A09D-E4BC-9549-05EB-2311E374DA6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CB89040-E302-C576-9F4F-591026D73F7C}"/>
              </a:ext>
            </a:extLst>
          </p:cNvPr>
          <p:cNvSpPr>
            <a:spLocks noGrp="1"/>
          </p:cNvSpPr>
          <p:nvPr>
            <p:ph type="body" idx="1"/>
          </p:nvPr>
        </p:nvSpPr>
        <p:spPr/>
        <p:txBody>
          <a:bodyPr/>
          <a:lstStyle/>
          <a:p>
            <a:r>
              <a:rPr kumimoji="1" lang="ja-JP" altLang="en-US" dirty="0"/>
              <a:t>結果</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B20D083E-9591-5723-CA25-A0CEAAEE07CB}"/>
              </a:ext>
            </a:extLst>
          </p:cNvPr>
          <p:cNvSpPr>
            <a:spLocks noGrp="1"/>
          </p:cNvSpPr>
          <p:nvPr>
            <p:ph type="sldNum" sz="quarter" idx="5"/>
          </p:nvPr>
        </p:nvSpPr>
        <p:spPr/>
        <p:txBody>
          <a:bodyPr/>
          <a:lstStyle/>
          <a:p>
            <a:fld id="{A5514B32-4E6E-49F5-AF84-F2E30A6572B6}" type="slidenum">
              <a:rPr kumimoji="1" lang="ja-JP" altLang="en-US" smtClean="0"/>
              <a:t>2</a:t>
            </a:fld>
            <a:endParaRPr kumimoji="1" lang="ja-JP" altLang="en-US"/>
          </a:p>
        </p:txBody>
      </p:sp>
    </p:spTree>
    <p:extLst>
      <p:ext uri="{BB962C8B-B14F-4D97-AF65-F5344CB8AC3E}">
        <p14:creationId xmlns:p14="http://schemas.microsoft.com/office/powerpoint/2010/main" val="2277219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近年</a:t>
            </a:r>
            <a:r>
              <a:rPr lang="en-US" altLang="ja-JP" dirty="0"/>
              <a:t>LLM</a:t>
            </a:r>
            <a:r>
              <a:rPr lang="ja-JP" altLang="en-US" dirty="0"/>
              <a:t>を用いた</a:t>
            </a:r>
            <a:r>
              <a:rPr lang="en-US" altLang="ja-JP" dirty="0"/>
              <a:t>AI</a:t>
            </a:r>
            <a:r>
              <a:rPr lang="ja-JP" altLang="en-US" dirty="0"/>
              <a:t>は広く普及されている</a:t>
            </a:r>
            <a:br>
              <a:rPr lang="en-US" altLang="ja-JP" dirty="0"/>
            </a:br>
            <a:br>
              <a:rPr lang="en-US" altLang="ja-JP" dirty="0"/>
            </a:br>
            <a:r>
              <a:rPr lang="en-US" altLang="ja-JP" dirty="0"/>
              <a:t>4</a:t>
            </a:r>
            <a:r>
              <a:rPr lang="ja-JP" altLang="en-US" dirty="0"/>
              <a:t>割とは</a:t>
            </a:r>
            <a:r>
              <a:rPr lang="en-US" altLang="ja-JP" dirty="0"/>
              <a:t>LLM</a:t>
            </a:r>
            <a:r>
              <a:rPr lang="ja-JP" altLang="en-US" dirty="0"/>
              <a:t>がユーザの意図、指示、または文脈を正しく解釈・反映できないことによる不満</a:t>
            </a:r>
            <a:endParaRPr lang="en-US" altLang="ja-JP" dirty="0"/>
          </a:p>
          <a:p>
            <a:endParaRPr lang="en-US" altLang="ja-JP" dirty="0"/>
          </a:p>
          <a:p>
            <a:r>
              <a:rPr lang="ja-JP" altLang="en-US" dirty="0"/>
              <a:t>再生成の繰り返しや事実確認に時間を取られ，トータルの作業時間が「</a:t>
            </a:r>
            <a:r>
              <a:rPr lang="en-US" altLang="ja-JP" dirty="0"/>
              <a:t>LLM</a:t>
            </a:r>
            <a:r>
              <a:rPr lang="ja-JP" altLang="en-US" dirty="0"/>
              <a:t>を使わない場合」よりも長くなる逆転現象</a:t>
            </a:r>
            <a:br>
              <a:rPr lang="en-US" altLang="ja-JP" dirty="0"/>
            </a:br>
            <a:endParaRPr kumimoji="1" lang="ja-JP" altLang="en-US" dirty="0"/>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3</a:t>
            </a:fld>
            <a:endParaRPr kumimoji="1" lang="ja-JP" altLang="en-US"/>
          </a:p>
        </p:txBody>
      </p:sp>
    </p:spTree>
    <p:extLst>
      <p:ext uri="{BB962C8B-B14F-4D97-AF65-F5344CB8AC3E}">
        <p14:creationId xmlns:p14="http://schemas.microsoft.com/office/powerpoint/2010/main" val="3225981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エスターウッド</a:t>
            </a:r>
            <a:br>
              <a:rPr lang="en-US" altLang="ja-JP" dirty="0"/>
            </a:br>
            <a:r>
              <a:rPr lang="ja-JP" altLang="en-US" dirty="0"/>
              <a:t>マーテル</a:t>
            </a:r>
            <a:br>
              <a:rPr lang="en-US" altLang="ja-JP" dirty="0"/>
            </a:br>
            <a:r>
              <a:rPr lang="ja-JP" altLang="en-US" dirty="0"/>
              <a:t>一度不信感を持たれた対象はネガティブな印象の完全な払拭は難しい</a:t>
            </a:r>
            <a:endParaRPr lang="en-US" altLang="ja-JP" dirty="0"/>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4</a:t>
            </a:fld>
            <a:endParaRPr kumimoji="1" lang="ja-JP" altLang="en-US"/>
          </a:p>
        </p:txBody>
      </p:sp>
    </p:spTree>
    <p:extLst>
      <p:ext uri="{BB962C8B-B14F-4D97-AF65-F5344CB8AC3E}">
        <p14:creationId xmlns:p14="http://schemas.microsoft.com/office/powerpoint/2010/main" val="1124956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本研究では，不信感を持たれた対象そのものを切り替えることにより，</a:t>
            </a:r>
            <a:r>
              <a:rPr lang="en-US" altLang="ja-JP" dirty="0"/>
              <a:t>LLM</a:t>
            </a:r>
            <a:r>
              <a:rPr lang="ja-JP" altLang="en-US" dirty="0"/>
              <a:t>のネガティブな印象のリセットを目的とする</a:t>
            </a:r>
            <a:br>
              <a:rPr lang="en-US" altLang="ja-JP" dirty="0"/>
            </a:br>
            <a:br>
              <a:rPr lang="en-US" altLang="ja-JP" dirty="0"/>
            </a:br>
            <a:endParaRPr kumimoji="1" lang="ja-JP" altLang="en-US" dirty="0"/>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5</a:t>
            </a:fld>
            <a:endParaRPr kumimoji="1" lang="ja-JP" altLang="en-US"/>
          </a:p>
        </p:txBody>
      </p:sp>
    </p:spTree>
    <p:extLst>
      <p:ext uri="{BB962C8B-B14F-4D97-AF65-F5344CB8AC3E}">
        <p14:creationId xmlns:p14="http://schemas.microsoft.com/office/powerpoint/2010/main" val="1408333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dirty="0"/>
              <a:t>軽く</a:t>
            </a:r>
            <a:r>
              <a:rPr kumimoji="1" lang="en-US" altLang="ja-JP" dirty="0"/>
              <a:t>]</a:t>
            </a:r>
            <a:endParaRPr kumimoji="1" lang="ja-JP" altLang="en-US" dirty="0"/>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6</a:t>
            </a:fld>
            <a:endParaRPr kumimoji="1" lang="ja-JP" altLang="en-US"/>
          </a:p>
        </p:txBody>
      </p:sp>
    </p:spTree>
    <p:extLst>
      <p:ext uri="{BB962C8B-B14F-4D97-AF65-F5344CB8AC3E}">
        <p14:creationId xmlns:p14="http://schemas.microsoft.com/office/powerpoint/2010/main" val="1069157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15552-98D5-AB56-96A9-CFDE4A09034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951A27-D283-AB7C-3C11-AA13AE9F1A3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8F719C7-02AC-5560-C061-E8A906B0BB71}"/>
              </a:ext>
            </a:extLst>
          </p:cNvPr>
          <p:cNvSpPr>
            <a:spLocks noGrp="1"/>
          </p:cNvSpPr>
          <p:nvPr>
            <p:ph type="body" idx="1"/>
          </p:nvPr>
        </p:nvSpPr>
        <p:spPr/>
        <p:txBody>
          <a:bodyPr/>
          <a:lstStyle/>
          <a:p>
            <a:r>
              <a:rPr lang="en-US" altLang="ja-JP" b="0" dirty="0"/>
              <a:t>[</a:t>
            </a:r>
            <a:r>
              <a:rPr lang="ja-JP" altLang="en-US" b="0" dirty="0"/>
              <a:t>軽く</a:t>
            </a:r>
            <a:r>
              <a:rPr lang="en-US" altLang="ja-JP" b="0" dirty="0"/>
              <a:t>]</a:t>
            </a:r>
          </a:p>
          <a:p>
            <a:r>
              <a:rPr lang="ja-JP" altLang="en-US" b="0" dirty="0"/>
              <a:t>ラディサヴリェヴィッチ</a:t>
            </a:r>
            <a:br>
              <a:rPr kumimoji="1" lang="en-US" altLang="ja-JP" dirty="0"/>
            </a:br>
            <a:r>
              <a:rPr kumimoji="1" lang="ja-JP" altLang="en-US" dirty="0"/>
              <a:t>エネルギーの方向：</a:t>
            </a:r>
            <a:r>
              <a:rPr kumimoji="1" lang="en-US" altLang="ja-JP" dirty="0"/>
              <a:t>E</a:t>
            </a:r>
            <a:r>
              <a:rPr kumimoji="1" lang="ja-JP" altLang="en-US" dirty="0"/>
              <a:t>は</a:t>
            </a:r>
            <a:r>
              <a:rPr lang="ja-JP" altLang="en-US" dirty="0"/>
              <a:t>外界にエネルギー源を求める．</a:t>
            </a:r>
            <a:r>
              <a:rPr lang="en-US" altLang="ja-JP" dirty="0"/>
              <a:t>I</a:t>
            </a:r>
            <a:r>
              <a:rPr lang="ja-JP" altLang="en-US" dirty="0"/>
              <a:t>は内界にエネルギーを求める．</a:t>
            </a:r>
            <a:endParaRPr kumimoji="1" lang="en-US" altLang="ja-JP" dirty="0"/>
          </a:p>
          <a:p>
            <a:r>
              <a:rPr kumimoji="1" lang="ja-JP" altLang="en-US" dirty="0"/>
              <a:t>情報収集方法：</a:t>
            </a:r>
            <a:r>
              <a:rPr kumimoji="1" lang="en-US" altLang="ja-JP" dirty="0"/>
              <a:t>S</a:t>
            </a:r>
            <a:r>
              <a:rPr kumimoji="1" lang="ja-JP" altLang="en-US" dirty="0"/>
              <a:t>は具体的で実際的なことや事実．</a:t>
            </a:r>
            <a:r>
              <a:rPr kumimoji="1" lang="en-US" altLang="ja-JP" dirty="0"/>
              <a:t>N</a:t>
            </a:r>
            <a:r>
              <a:rPr kumimoji="1" lang="ja-JP" altLang="en-US" dirty="0"/>
              <a:t>は比喩的なものやアイデアや可能性を関連付ける．</a:t>
            </a:r>
            <a:endParaRPr kumimoji="1" lang="en-US" altLang="ja-JP" dirty="0"/>
          </a:p>
          <a:p>
            <a:r>
              <a:rPr kumimoji="1" lang="ja-JP" altLang="en-US" dirty="0"/>
              <a:t>判断方法：</a:t>
            </a:r>
            <a:r>
              <a:rPr kumimoji="1" lang="en-US" altLang="ja-JP" dirty="0"/>
              <a:t>T</a:t>
            </a:r>
            <a:r>
              <a:rPr kumimoji="1" lang="ja-JP" altLang="en-US" dirty="0"/>
              <a:t>は経験を論理で捉える．</a:t>
            </a:r>
            <a:r>
              <a:rPr kumimoji="1" lang="en-US" altLang="ja-JP" dirty="0"/>
              <a:t>F</a:t>
            </a:r>
            <a:r>
              <a:rPr kumimoji="1" lang="ja-JP" altLang="en-US" dirty="0"/>
              <a:t>は経験を好き嫌いで捉える．</a:t>
            </a:r>
            <a:endParaRPr kumimoji="1" lang="en-US" altLang="ja-JP" dirty="0"/>
          </a:p>
          <a:p>
            <a:r>
              <a:rPr kumimoji="1" lang="ja-JP" altLang="en-US" dirty="0"/>
              <a:t>生活様式：</a:t>
            </a:r>
            <a:r>
              <a:rPr kumimoji="1" lang="en-US" altLang="ja-JP" dirty="0"/>
              <a:t>J</a:t>
            </a:r>
            <a:r>
              <a:rPr kumimoji="1" lang="ja-JP" altLang="en-US" dirty="0"/>
              <a:t>は物事を決めたり，順を追って話をする傾向．</a:t>
            </a:r>
            <a:r>
              <a:rPr kumimoji="1" lang="en-US" altLang="ja-JP" dirty="0"/>
              <a:t>P</a:t>
            </a:r>
            <a:r>
              <a:rPr kumimoji="1" lang="ja-JP" altLang="en-US" dirty="0"/>
              <a:t>はその場で対応したり，臨機応変とする傾向</a:t>
            </a:r>
          </a:p>
        </p:txBody>
      </p:sp>
      <p:sp>
        <p:nvSpPr>
          <p:cNvPr id="4" name="スライド番号プレースホルダー 3">
            <a:extLst>
              <a:ext uri="{FF2B5EF4-FFF2-40B4-BE49-F238E27FC236}">
                <a16:creationId xmlns:a16="http://schemas.microsoft.com/office/drawing/2014/main" id="{8A77669F-BDF2-3E03-76BB-466AE1C80814}"/>
              </a:ext>
            </a:extLst>
          </p:cNvPr>
          <p:cNvSpPr>
            <a:spLocks noGrp="1"/>
          </p:cNvSpPr>
          <p:nvPr>
            <p:ph type="sldNum" sz="quarter" idx="5"/>
          </p:nvPr>
        </p:nvSpPr>
        <p:spPr/>
        <p:txBody>
          <a:bodyPr/>
          <a:lstStyle/>
          <a:p>
            <a:fld id="{A5514B32-4E6E-49F5-AF84-F2E30A6572B6}" type="slidenum">
              <a:rPr kumimoji="1" lang="ja-JP" altLang="en-US" smtClean="0"/>
              <a:t>7</a:t>
            </a:fld>
            <a:endParaRPr kumimoji="1" lang="ja-JP" altLang="en-US"/>
          </a:p>
        </p:txBody>
      </p:sp>
    </p:spTree>
    <p:extLst>
      <p:ext uri="{BB962C8B-B14F-4D97-AF65-F5344CB8AC3E}">
        <p14:creationId xmlns:p14="http://schemas.microsoft.com/office/powerpoint/2010/main" val="3819412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B97B4-7FFC-FD31-32E6-EC6AFA6A254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893426B-6BDC-1514-403B-DFBD0930233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972B7A-D76E-6C4E-ADD1-38AE5251806D}"/>
              </a:ext>
            </a:extLst>
          </p:cNvPr>
          <p:cNvSpPr>
            <a:spLocks noGrp="1"/>
          </p:cNvSpPr>
          <p:nvPr>
            <p:ph type="body" idx="1"/>
          </p:nvPr>
        </p:nvSpPr>
        <p:spPr/>
        <p:txBody>
          <a:bodyPr/>
          <a:lstStyle/>
          <a:p>
            <a:r>
              <a:rPr kumimoji="1" lang="en-US" altLang="ja-JP" dirty="0"/>
              <a:t>[</a:t>
            </a:r>
            <a:r>
              <a:rPr kumimoji="1" lang="ja-JP" altLang="en-US" dirty="0"/>
              <a:t>軽く</a:t>
            </a:r>
            <a:r>
              <a:rPr kumimoji="1" lang="en-US" altLang="ja-JP" dirty="0"/>
              <a:t>]</a:t>
            </a:r>
          </a:p>
          <a:p>
            <a:r>
              <a:rPr kumimoji="1" lang="en-US" altLang="ja-JP" dirty="0"/>
              <a:t>ISTJ</a:t>
            </a:r>
            <a:r>
              <a:rPr kumimoji="1" lang="ja-JP" altLang="en-US" dirty="0"/>
              <a:t>と</a:t>
            </a:r>
            <a:r>
              <a:rPr kumimoji="1" lang="en-US" altLang="ja-JP" dirty="0"/>
              <a:t>ENFP</a:t>
            </a:r>
            <a:r>
              <a:rPr kumimoji="1" lang="ja-JP" altLang="en-US" dirty="0"/>
              <a:t>はすべてが対極</a:t>
            </a:r>
            <a:br>
              <a:rPr kumimoji="1" lang="en-US" altLang="ja-JP" dirty="0"/>
            </a:br>
            <a:r>
              <a:rPr kumimoji="1" lang="ja-JP" altLang="en-US" dirty="0"/>
              <a:t>対話時の口調や言葉遣いに明確な変化が生じる期待</a:t>
            </a:r>
            <a:endParaRPr kumimoji="1" lang="en-US" altLang="ja-JP" dirty="0"/>
          </a:p>
          <a:p>
            <a:endParaRPr kumimoji="1" lang="en-US" altLang="ja-JP" dirty="0"/>
          </a:p>
          <a:p>
            <a:endParaRPr kumimoji="1" lang="en-US" altLang="ja-JP" dirty="0"/>
          </a:p>
          <a:p>
            <a:r>
              <a:rPr kumimoji="1" lang="ja-JP" altLang="en-US" dirty="0"/>
              <a:t>イラスト</a:t>
            </a:r>
            <a:r>
              <a:rPr kumimoji="1" lang="en-US" altLang="ja-JP" dirty="0"/>
              <a:t>:</a:t>
            </a:r>
            <a:r>
              <a:rPr kumimoji="1" lang="en-US" altLang="ja-JP" dirty="0" err="1"/>
              <a:t>p_oniku</a:t>
            </a:r>
            <a:r>
              <a:rPr kumimoji="1" lang="en-US" altLang="ja-JP" dirty="0"/>
              <a:t>_</a:t>
            </a:r>
            <a:endParaRPr kumimoji="1" lang="ja-JP" altLang="en-US" dirty="0"/>
          </a:p>
        </p:txBody>
      </p:sp>
      <p:sp>
        <p:nvSpPr>
          <p:cNvPr id="4" name="スライド番号プレースホルダー 3">
            <a:extLst>
              <a:ext uri="{FF2B5EF4-FFF2-40B4-BE49-F238E27FC236}">
                <a16:creationId xmlns:a16="http://schemas.microsoft.com/office/drawing/2014/main" id="{DC1AE152-13FF-EB9A-6640-7628A18C2F04}"/>
              </a:ext>
            </a:extLst>
          </p:cNvPr>
          <p:cNvSpPr>
            <a:spLocks noGrp="1"/>
          </p:cNvSpPr>
          <p:nvPr>
            <p:ph type="sldNum" sz="quarter" idx="5"/>
          </p:nvPr>
        </p:nvSpPr>
        <p:spPr/>
        <p:txBody>
          <a:bodyPr/>
          <a:lstStyle/>
          <a:p>
            <a:fld id="{A5514B32-4E6E-49F5-AF84-F2E30A6572B6}" type="slidenum">
              <a:rPr kumimoji="1" lang="ja-JP" altLang="en-US" smtClean="0"/>
              <a:t>8</a:t>
            </a:fld>
            <a:endParaRPr kumimoji="1" lang="ja-JP" altLang="en-US"/>
          </a:p>
        </p:txBody>
      </p:sp>
    </p:spTree>
    <p:extLst>
      <p:ext uri="{BB962C8B-B14F-4D97-AF65-F5344CB8AC3E}">
        <p14:creationId xmlns:p14="http://schemas.microsoft.com/office/powerpoint/2010/main" val="25041357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今回作成した</a:t>
            </a:r>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9</a:t>
            </a:fld>
            <a:endParaRPr kumimoji="1" lang="ja-JP" altLang="en-US"/>
          </a:p>
        </p:txBody>
      </p:sp>
    </p:spTree>
    <p:extLst>
      <p:ext uri="{BB962C8B-B14F-4D97-AF65-F5344CB8AC3E}">
        <p14:creationId xmlns:p14="http://schemas.microsoft.com/office/powerpoint/2010/main" val="1615102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33387-1B9A-FEF8-B309-9E0238439B0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EC47A7D-C33B-461C-55F6-803365721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217050-3490-A832-622F-F209C20C728E}"/>
              </a:ext>
            </a:extLst>
          </p:cNvPr>
          <p:cNvSpPr>
            <a:spLocks noGrp="1"/>
          </p:cNvSpPr>
          <p:nvPr>
            <p:ph type="body" idx="1"/>
          </p:nvPr>
        </p:nvSpPr>
        <p:spPr/>
        <p:txBody>
          <a:bodyPr/>
          <a:lstStyle/>
          <a:p>
            <a:r>
              <a:rPr kumimoji="1" lang="en-US" altLang="ja-JP" dirty="0"/>
              <a:t>[</a:t>
            </a:r>
            <a:r>
              <a:rPr kumimoji="1" lang="ja-JP" altLang="en-US" dirty="0"/>
              <a:t>軽く</a:t>
            </a:r>
            <a:r>
              <a:rPr kumimoji="1" lang="en-US" altLang="ja-JP" dirty="0"/>
              <a:t>]</a:t>
            </a:r>
          </a:p>
          <a:p>
            <a:endParaRPr kumimoji="1" lang="ja-JP" altLang="en-US" dirty="0"/>
          </a:p>
        </p:txBody>
      </p:sp>
      <p:sp>
        <p:nvSpPr>
          <p:cNvPr id="4" name="スライド番号プレースホルダー 3">
            <a:extLst>
              <a:ext uri="{FF2B5EF4-FFF2-40B4-BE49-F238E27FC236}">
                <a16:creationId xmlns:a16="http://schemas.microsoft.com/office/drawing/2014/main" id="{122EBA75-347B-0879-FB33-E02B639C484C}"/>
              </a:ext>
            </a:extLst>
          </p:cNvPr>
          <p:cNvSpPr>
            <a:spLocks noGrp="1"/>
          </p:cNvSpPr>
          <p:nvPr>
            <p:ph type="sldNum" sz="quarter" idx="5"/>
          </p:nvPr>
        </p:nvSpPr>
        <p:spPr/>
        <p:txBody>
          <a:bodyPr/>
          <a:lstStyle/>
          <a:p>
            <a:fld id="{A5514B32-4E6E-49F5-AF84-F2E30A6572B6}" type="slidenum">
              <a:rPr kumimoji="1" lang="ja-JP" altLang="en-US" smtClean="0"/>
              <a:t>10</a:t>
            </a:fld>
            <a:endParaRPr kumimoji="1" lang="ja-JP" altLang="en-US"/>
          </a:p>
        </p:txBody>
      </p:sp>
    </p:spTree>
    <p:extLst>
      <p:ext uri="{BB962C8B-B14F-4D97-AF65-F5344CB8AC3E}">
        <p14:creationId xmlns:p14="http://schemas.microsoft.com/office/powerpoint/2010/main" val="1735507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CBD5C-A71C-DBFF-2F46-A953319211E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7689C8B-8F9A-9379-F0AA-97EEA7F93E9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93DDD3C-5028-BF41-34BA-FBAC536FE44A}"/>
              </a:ext>
            </a:extLst>
          </p:cNvPr>
          <p:cNvSpPr>
            <a:spLocks noGrp="1"/>
          </p:cNvSpPr>
          <p:nvPr>
            <p:ph type="body" idx="1"/>
          </p:nvPr>
        </p:nvSpPr>
        <p:spPr/>
        <p:txBody>
          <a:bodyPr/>
          <a:lstStyle/>
          <a:p>
            <a:r>
              <a:rPr kumimoji="1" lang="en-US" altLang="ja-JP" dirty="0"/>
              <a:t>[</a:t>
            </a:r>
            <a:r>
              <a:rPr kumimoji="1" lang="ja-JP" altLang="en-US" dirty="0"/>
              <a:t>軽く</a:t>
            </a:r>
            <a:r>
              <a:rPr kumimoji="1" lang="en-US" altLang="ja-JP" dirty="0"/>
              <a:t>]</a:t>
            </a:r>
          </a:p>
          <a:p>
            <a:r>
              <a:rPr kumimoji="1" lang="ja-JP" altLang="en-US" dirty="0"/>
              <a:t>プロンプトの和訳途中まで</a:t>
            </a:r>
          </a:p>
        </p:txBody>
      </p:sp>
      <p:sp>
        <p:nvSpPr>
          <p:cNvPr id="4" name="スライド番号プレースホルダー 3">
            <a:extLst>
              <a:ext uri="{FF2B5EF4-FFF2-40B4-BE49-F238E27FC236}">
                <a16:creationId xmlns:a16="http://schemas.microsoft.com/office/drawing/2014/main" id="{7C41EFB0-BC91-A9C0-5502-4407A222E836}"/>
              </a:ext>
            </a:extLst>
          </p:cNvPr>
          <p:cNvSpPr>
            <a:spLocks noGrp="1"/>
          </p:cNvSpPr>
          <p:nvPr>
            <p:ph type="sldNum" sz="quarter" idx="5"/>
          </p:nvPr>
        </p:nvSpPr>
        <p:spPr/>
        <p:txBody>
          <a:bodyPr/>
          <a:lstStyle/>
          <a:p>
            <a:fld id="{A5514B32-4E6E-49F5-AF84-F2E30A6572B6}" type="slidenum">
              <a:rPr kumimoji="1" lang="ja-JP" altLang="en-US" smtClean="0"/>
              <a:t>11</a:t>
            </a:fld>
            <a:endParaRPr kumimoji="1" lang="ja-JP" altLang="en-US"/>
          </a:p>
        </p:txBody>
      </p:sp>
    </p:spTree>
    <p:extLst>
      <p:ext uri="{BB962C8B-B14F-4D97-AF65-F5344CB8AC3E}">
        <p14:creationId xmlns:p14="http://schemas.microsoft.com/office/powerpoint/2010/main" val="2615666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C22C2-6AEA-8B6F-51D6-FBAAC7EAE1E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490EC70-B669-357E-C69B-D1FD642E25A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A307265-1AEC-655E-AED2-216E2CA04151}"/>
              </a:ext>
            </a:extLst>
          </p:cNvPr>
          <p:cNvSpPr>
            <a:spLocks noGrp="1"/>
          </p:cNvSpPr>
          <p:nvPr>
            <p:ph type="body" idx="1"/>
          </p:nvPr>
        </p:nvSpPr>
        <p:spPr/>
        <p:txBody>
          <a:bodyPr/>
          <a:lstStyle/>
          <a:p>
            <a:r>
              <a:rPr kumimoji="1" lang="en-US" altLang="ja-JP" dirty="0"/>
              <a:t>[</a:t>
            </a:r>
            <a:r>
              <a:rPr kumimoji="1" lang="ja-JP" altLang="en-US" dirty="0"/>
              <a:t>軽く</a:t>
            </a:r>
            <a:r>
              <a:rPr kumimoji="1" lang="en-US" altLang="ja-JP" dirty="0"/>
              <a:t>]</a:t>
            </a:r>
          </a:p>
          <a:p>
            <a:r>
              <a:rPr kumimoji="1" lang="ja-JP" altLang="en-US" dirty="0"/>
              <a:t>プロンプトの和訳途中まで</a:t>
            </a:r>
            <a:br>
              <a:rPr kumimoji="1" lang="en-US" altLang="ja-JP" dirty="0"/>
            </a:br>
            <a:r>
              <a:rPr kumimoji="1" lang="ja-JP" altLang="en-US" dirty="0"/>
              <a:t>⇩</a:t>
            </a:r>
            <a:br>
              <a:rPr kumimoji="1" lang="en-US" altLang="ja-JP" dirty="0"/>
            </a:br>
            <a:r>
              <a:rPr kumimoji="1" lang="ja-JP" altLang="en-US" dirty="0"/>
              <a:t>要約を比較：</a:t>
            </a:r>
            <a:r>
              <a:rPr kumimoji="1" lang="en-US" altLang="ja-JP" dirty="0"/>
              <a:t>2</a:t>
            </a:r>
            <a:r>
              <a:rPr kumimoji="1" lang="ja-JP" altLang="en-US" dirty="0"/>
              <a:t>番の比較</a:t>
            </a:r>
          </a:p>
        </p:txBody>
      </p:sp>
      <p:sp>
        <p:nvSpPr>
          <p:cNvPr id="4" name="スライド番号プレースホルダー 3">
            <a:extLst>
              <a:ext uri="{FF2B5EF4-FFF2-40B4-BE49-F238E27FC236}">
                <a16:creationId xmlns:a16="http://schemas.microsoft.com/office/drawing/2014/main" id="{025E76E8-8AB5-68D4-93F6-DC2626146753}"/>
              </a:ext>
            </a:extLst>
          </p:cNvPr>
          <p:cNvSpPr>
            <a:spLocks noGrp="1"/>
          </p:cNvSpPr>
          <p:nvPr>
            <p:ph type="sldNum" sz="quarter" idx="5"/>
          </p:nvPr>
        </p:nvSpPr>
        <p:spPr/>
        <p:txBody>
          <a:bodyPr/>
          <a:lstStyle/>
          <a:p>
            <a:fld id="{A5514B32-4E6E-49F5-AF84-F2E30A6572B6}" type="slidenum">
              <a:rPr kumimoji="1" lang="ja-JP" altLang="en-US" smtClean="0"/>
              <a:t>12</a:t>
            </a:fld>
            <a:endParaRPr kumimoji="1" lang="ja-JP" altLang="en-US"/>
          </a:p>
        </p:txBody>
      </p:sp>
    </p:spTree>
    <p:extLst>
      <p:ext uri="{BB962C8B-B14F-4D97-AF65-F5344CB8AC3E}">
        <p14:creationId xmlns:p14="http://schemas.microsoft.com/office/powerpoint/2010/main" val="10125696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2DEC6-4CF5-0525-0561-C770576F93B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2FC59F-EDFD-8C98-B742-8EE37B1EB60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A6D3045-EB70-3FE2-C57A-93DFC0376858}"/>
              </a:ext>
            </a:extLst>
          </p:cNvPr>
          <p:cNvSpPr>
            <a:spLocks noGrp="1"/>
          </p:cNvSpPr>
          <p:nvPr>
            <p:ph type="body" idx="1"/>
          </p:nvPr>
        </p:nvSpPr>
        <p:spPr/>
        <p:txBody>
          <a:bodyPr/>
          <a:lstStyle/>
          <a:p>
            <a:r>
              <a:rPr kumimoji="1" lang="en-US" altLang="ja-JP" dirty="0"/>
              <a:t>[</a:t>
            </a:r>
            <a:r>
              <a:rPr kumimoji="1" lang="ja-JP" altLang="en-US" dirty="0"/>
              <a:t>変換前の文章</a:t>
            </a:r>
            <a:r>
              <a:rPr kumimoji="1" lang="en-US" altLang="ja-JP" dirty="0"/>
              <a:t>]</a:t>
            </a:r>
            <a:r>
              <a:rPr kumimoji="1" lang="ja-JP" altLang="en-US" dirty="0"/>
              <a:t>には実際の文章を入力する</a:t>
            </a:r>
            <a:endParaRPr kumimoji="1" lang="en-US" altLang="ja-JP" dirty="0"/>
          </a:p>
          <a:p>
            <a:r>
              <a:rPr kumimoji="1" lang="ja-JP" altLang="en-US" dirty="0"/>
              <a:t>　</a:t>
            </a:r>
            <a:endParaRPr kumimoji="1" lang="en-US" altLang="ja-JP" dirty="0"/>
          </a:p>
          <a:p>
            <a:r>
              <a:rPr kumimoji="1" lang="ja-JP" altLang="en-US" dirty="0"/>
              <a:t>実験で提示する内容は実際には人格を付与した</a:t>
            </a:r>
            <a:r>
              <a:rPr kumimoji="1" lang="en-US" altLang="ja-JP" dirty="0"/>
              <a:t>LLM</a:t>
            </a:r>
            <a:r>
              <a:rPr kumimoji="1" lang="ja-JP" altLang="en-US" dirty="0"/>
              <a:t>に</a:t>
            </a:r>
          </a:p>
        </p:txBody>
      </p:sp>
      <p:sp>
        <p:nvSpPr>
          <p:cNvPr id="4" name="スライド番号プレースホルダー 3">
            <a:extLst>
              <a:ext uri="{FF2B5EF4-FFF2-40B4-BE49-F238E27FC236}">
                <a16:creationId xmlns:a16="http://schemas.microsoft.com/office/drawing/2014/main" id="{04079A83-27ED-A881-3BEE-F9A456DE4C8D}"/>
              </a:ext>
            </a:extLst>
          </p:cNvPr>
          <p:cNvSpPr>
            <a:spLocks noGrp="1"/>
          </p:cNvSpPr>
          <p:nvPr>
            <p:ph type="sldNum" sz="quarter" idx="5"/>
          </p:nvPr>
        </p:nvSpPr>
        <p:spPr/>
        <p:txBody>
          <a:bodyPr/>
          <a:lstStyle/>
          <a:p>
            <a:fld id="{A5514B32-4E6E-49F5-AF84-F2E30A6572B6}" type="slidenum">
              <a:rPr kumimoji="1" lang="ja-JP" altLang="en-US" smtClean="0"/>
              <a:t>13</a:t>
            </a:fld>
            <a:endParaRPr kumimoji="1" lang="ja-JP" altLang="en-US"/>
          </a:p>
        </p:txBody>
      </p:sp>
    </p:spTree>
    <p:extLst>
      <p:ext uri="{BB962C8B-B14F-4D97-AF65-F5344CB8AC3E}">
        <p14:creationId xmlns:p14="http://schemas.microsoft.com/office/powerpoint/2010/main" val="607062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14</a:t>
            </a:fld>
            <a:endParaRPr kumimoji="1" lang="ja-JP" altLang="en-US"/>
          </a:p>
        </p:txBody>
      </p:sp>
    </p:spTree>
    <p:extLst>
      <p:ext uri="{BB962C8B-B14F-4D97-AF65-F5344CB8AC3E}">
        <p14:creationId xmlns:p14="http://schemas.microsoft.com/office/powerpoint/2010/main" val="41568222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828F2-E17A-E841-35E5-A4E94A3F24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AE11BCE-2297-4FE2-C769-1FBFDD4A35F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A75381A-5676-8DC2-B5D0-3DC651E3DC03}"/>
              </a:ext>
            </a:extLst>
          </p:cNvPr>
          <p:cNvSpPr>
            <a:spLocks noGrp="1"/>
          </p:cNvSpPr>
          <p:nvPr>
            <p:ph type="body" idx="1"/>
          </p:nvPr>
        </p:nvSpPr>
        <p:spPr/>
        <p:txBody>
          <a:bodyPr/>
          <a:lstStyle/>
          <a:p>
            <a:r>
              <a:rPr kumimoji="1" lang="ja-JP" altLang="en-US" dirty="0"/>
              <a:t>状況設定：切り替え後も失敗する</a:t>
            </a:r>
            <a:endParaRPr kumimoji="1" lang="en-US" altLang="ja-JP" dirty="0"/>
          </a:p>
        </p:txBody>
      </p:sp>
      <p:sp>
        <p:nvSpPr>
          <p:cNvPr id="4" name="スライド番号プレースホルダー 3">
            <a:extLst>
              <a:ext uri="{FF2B5EF4-FFF2-40B4-BE49-F238E27FC236}">
                <a16:creationId xmlns:a16="http://schemas.microsoft.com/office/drawing/2014/main" id="{DAF281B2-335E-D2BB-917A-5490FB23381C}"/>
              </a:ext>
            </a:extLst>
          </p:cNvPr>
          <p:cNvSpPr>
            <a:spLocks noGrp="1"/>
          </p:cNvSpPr>
          <p:nvPr>
            <p:ph type="sldNum" sz="quarter" idx="5"/>
          </p:nvPr>
        </p:nvSpPr>
        <p:spPr/>
        <p:txBody>
          <a:bodyPr/>
          <a:lstStyle/>
          <a:p>
            <a:fld id="{A5514B32-4E6E-49F5-AF84-F2E30A6572B6}" type="slidenum">
              <a:rPr kumimoji="1" lang="ja-JP" altLang="en-US" smtClean="0"/>
              <a:t>15</a:t>
            </a:fld>
            <a:endParaRPr kumimoji="1" lang="ja-JP" altLang="en-US"/>
          </a:p>
        </p:txBody>
      </p:sp>
    </p:spTree>
    <p:extLst>
      <p:ext uri="{BB962C8B-B14F-4D97-AF65-F5344CB8AC3E}">
        <p14:creationId xmlns:p14="http://schemas.microsoft.com/office/powerpoint/2010/main" val="2078585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1A19F-6F75-8893-B296-92B9BDB82E1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A4B272D-6198-079E-A26A-F8CDA886966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F3E577A-65E5-33B6-2759-F09CBA48FC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latin typeface="+mn-lt"/>
                <a:ea typeface="+mn-ea"/>
                <a:cs typeface="+mn-cs"/>
              </a:rPr>
              <a:t>指示したとおりに画像を生成してくれない</a:t>
            </a:r>
            <a:endParaRPr kumimoji="1" lang="en-US" altLang="ja-JP"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latin typeface="+mn-lt"/>
                <a:ea typeface="+mn-ea"/>
                <a:cs typeface="+mn-cs"/>
              </a:rPr>
              <a:t>事前に設定した対話内容が流れる</a:t>
            </a:r>
            <a:endParaRPr kumimoji="1" lang="en-US" altLang="ja-JP" dirty="0"/>
          </a:p>
          <a:p>
            <a:r>
              <a:rPr kumimoji="1" lang="en-US" altLang="ja-JP" dirty="0"/>
              <a:t>INFJ</a:t>
            </a:r>
            <a:r>
              <a:rPr kumimoji="1" lang="ja-JP" altLang="en-US" dirty="0"/>
              <a:t>から</a:t>
            </a:r>
            <a:r>
              <a:rPr kumimoji="1" lang="en-US" altLang="ja-JP" dirty="0"/>
              <a:t>ESTP</a:t>
            </a:r>
          </a:p>
          <a:p>
            <a:br>
              <a:rPr kumimoji="1" lang="en-US" altLang="ja-JP" dirty="0"/>
            </a:br>
            <a:br>
              <a:rPr kumimoji="1" lang="en-US" altLang="ja-JP" dirty="0"/>
            </a:br>
            <a:r>
              <a:rPr kumimoji="1" lang="ja-JP" altLang="en-US" dirty="0"/>
              <a:t>目的が不信感を抱いた対象を切り替え，</a:t>
            </a:r>
            <a:r>
              <a:rPr kumimoji="1" lang="en-US" altLang="ja-JP" dirty="0"/>
              <a:t>LLM</a:t>
            </a:r>
            <a:r>
              <a:rPr kumimoji="1" lang="ja-JP" altLang="en-US" dirty="0"/>
              <a:t>へのネガティブな印象のリセットなので目的には達成できるが</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1C1CB356-F802-DC0F-A4B8-92C174F94283}"/>
              </a:ext>
            </a:extLst>
          </p:cNvPr>
          <p:cNvSpPr>
            <a:spLocks noGrp="1"/>
          </p:cNvSpPr>
          <p:nvPr>
            <p:ph type="sldNum" sz="quarter" idx="5"/>
          </p:nvPr>
        </p:nvSpPr>
        <p:spPr/>
        <p:txBody>
          <a:bodyPr/>
          <a:lstStyle/>
          <a:p>
            <a:fld id="{A5514B32-4E6E-49F5-AF84-F2E30A6572B6}" type="slidenum">
              <a:rPr kumimoji="1" lang="ja-JP" altLang="en-US" smtClean="0"/>
              <a:t>16</a:t>
            </a:fld>
            <a:endParaRPr kumimoji="1" lang="ja-JP" altLang="en-US"/>
          </a:p>
        </p:txBody>
      </p:sp>
    </p:spTree>
    <p:extLst>
      <p:ext uri="{BB962C8B-B14F-4D97-AF65-F5344CB8AC3E}">
        <p14:creationId xmlns:p14="http://schemas.microsoft.com/office/powerpoint/2010/main" val="19404138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17</a:t>
            </a:fld>
            <a:endParaRPr kumimoji="1" lang="ja-JP" altLang="en-US"/>
          </a:p>
        </p:txBody>
      </p:sp>
    </p:spTree>
    <p:extLst>
      <p:ext uri="{BB962C8B-B14F-4D97-AF65-F5344CB8AC3E}">
        <p14:creationId xmlns:p14="http://schemas.microsoft.com/office/powerpoint/2010/main" val="26243343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人格をチャット新規作成しても人格を変更しない「人格固定水準」</a:t>
            </a:r>
            <a:endParaRPr kumimoji="1" lang="en-US" altLang="ja-JP" dirty="0"/>
          </a:p>
          <a:p>
            <a:r>
              <a:rPr kumimoji="1" lang="ja-JP" altLang="en-US" dirty="0"/>
              <a:t>人格を切り替える「人格切り替え水準」</a:t>
            </a:r>
            <a:endParaRPr kumimoji="1" lang="en-US" altLang="ja-JP" dirty="0"/>
          </a:p>
          <a:p>
            <a:r>
              <a:rPr kumimoji="1" lang="ja-JP" altLang="en-US" dirty="0"/>
              <a:t>対話開始時に名乗る「名乗りあり水準」</a:t>
            </a:r>
            <a:endParaRPr kumimoji="1" lang="en-US" altLang="ja-JP" dirty="0"/>
          </a:p>
          <a:p>
            <a:r>
              <a:rPr kumimoji="1" lang="ja-JP" altLang="en-US" dirty="0"/>
              <a:t>名乗らない「名乗りなし水準」</a:t>
            </a:r>
            <a:endParaRPr kumimoji="1" lang="en-US" altLang="ja-JP" dirty="0"/>
          </a:p>
          <a:p>
            <a:endParaRPr kumimoji="1" lang="en-US" altLang="ja-JP" dirty="0"/>
          </a:p>
          <a:p>
            <a:r>
              <a:rPr kumimoji="1" lang="ja-JP" altLang="en-US" dirty="0"/>
              <a:t>要因によって口調やアイコンの色が変わる</a:t>
            </a:r>
            <a:endParaRPr kumimoji="1" lang="en-US" altLang="ja-JP" dirty="0"/>
          </a:p>
          <a:p>
            <a:r>
              <a:rPr kumimoji="1" lang="ja-JP" altLang="en-US" dirty="0"/>
              <a:t>人格と口調の変化</a:t>
            </a:r>
            <a:endParaRPr kumimoji="1" lang="en-US" altLang="ja-JP" dirty="0"/>
          </a:p>
          <a:p>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18</a:t>
            </a:fld>
            <a:endParaRPr kumimoji="1" lang="ja-JP" altLang="en-US"/>
          </a:p>
        </p:txBody>
      </p:sp>
    </p:spTree>
    <p:extLst>
      <p:ext uri="{BB962C8B-B14F-4D97-AF65-F5344CB8AC3E}">
        <p14:creationId xmlns:p14="http://schemas.microsoft.com/office/powerpoint/2010/main" val="13450544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口調だけでは気づきにくい可能性があるため，名乗りをした．普通の</a:t>
            </a:r>
            <a:r>
              <a:rPr kumimoji="1" lang="en-US" altLang="ja-JP" dirty="0"/>
              <a:t>LLM</a:t>
            </a:r>
            <a:r>
              <a:rPr kumimoji="1" lang="ja-JP" altLang="en-US" dirty="0"/>
              <a:t>ではそういう事をしないのでその調査を</a:t>
            </a:r>
            <a:endParaRPr kumimoji="1" lang="en-US" altLang="ja-JP" dirty="0"/>
          </a:p>
          <a:p>
            <a:endParaRPr kumimoji="1" lang="en-US" altLang="ja-JP" dirty="0"/>
          </a:p>
          <a:p>
            <a:r>
              <a:rPr kumimoji="1" lang="ja-JP" altLang="en-US" dirty="0"/>
              <a:t>修士研究：名前だけを変える調査</a:t>
            </a:r>
            <a:endParaRPr kumimoji="1" lang="en-US" altLang="ja-JP" dirty="0"/>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19</a:t>
            </a:fld>
            <a:endParaRPr kumimoji="1" lang="ja-JP" altLang="en-US"/>
          </a:p>
        </p:txBody>
      </p:sp>
    </p:spTree>
    <p:extLst>
      <p:ext uri="{BB962C8B-B14F-4D97-AF65-F5344CB8AC3E}">
        <p14:creationId xmlns:p14="http://schemas.microsoft.com/office/powerpoint/2010/main" val="31775547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03A72-9B01-1731-43B6-3A93A645F48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0C9F3A1-021E-706E-430E-9A0BE5227D0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EA30AE3-E098-8336-D7C9-006D921F6B52}"/>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EC690710-F43E-6EAC-3283-2AF0931523FC}"/>
              </a:ext>
            </a:extLst>
          </p:cNvPr>
          <p:cNvSpPr>
            <a:spLocks noGrp="1"/>
          </p:cNvSpPr>
          <p:nvPr>
            <p:ph type="sldNum" sz="quarter" idx="5"/>
          </p:nvPr>
        </p:nvSpPr>
        <p:spPr/>
        <p:txBody>
          <a:bodyPr/>
          <a:lstStyle/>
          <a:p>
            <a:fld id="{A5514B32-4E6E-49F5-AF84-F2E30A6572B6}" type="slidenum">
              <a:rPr kumimoji="1" lang="ja-JP" altLang="en-US" smtClean="0"/>
              <a:t>20</a:t>
            </a:fld>
            <a:endParaRPr kumimoji="1" lang="ja-JP" altLang="en-US"/>
          </a:p>
        </p:txBody>
      </p:sp>
    </p:spTree>
    <p:extLst>
      <p:ext uri="{BB962C8B-B14F-4D97-AF65-F5344CB8AC3E}">
        <p14:creationId xmlns:p14="http://schemas.microsoft.com/office/powerpoint/2010/main" val="3862412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A4A66-881F-A200-8A10-48E7BE6EEB3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2A39CE8-A5B6-8EC6-2D79-6C208DB756C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319BD4A-A059-4314-6F27-17B36F6D099F}"/>
              </a:ext>
            </a:extLst>
          </p:cNvPr>
          <p:cNvSpPr>
            <a:spLocks noGrp="1"/>
          </p:cNvSpPr>
          <p:nvPr>
            <p:ph type="body" idx="1"/>
          </p:nvPr>
        </p:nvSpPr>
        <p:spPr/>
        <p:txBody>
          <a:bodyPr/>
          <a:lstStyle/>
          <a:p>
            <a:r>
              <a:rPr kumimoji="1" lang="en-US" altLang="ja-JP" dirty="0"/>
              <a:t>7:30</a:t>
            </a:r>
          </a:p>
          <a:p>
            <a:r>
              <a:rPr kumimoji="1" lang="ja-JP" altLang="en-US" dirty="0"/>
              <a:t>説明する</a:t>
            </a:r>
            <a:endParaRPr kumimoji="1" lang="en-US" altLang="ja-JP" dirty="0"/>
          </a:p>
          <a:p>
            <a:r>
              <a:rPr kumimoji="1" lang="ja-JP" altLang="en-US" dirty="0"/>
              <a:t>人格が切り替わったことを参加者が知覚したか確認する質問</a:t>
            </a:r>
            <a:endParaRPr kumimoji="1" lang="en-US" altLang="ja-JP" dirty="0"/>
          </a:p>
        </p:txBody>
      </p:sp>
      <p:sp>
        <p:nvSpPr>
          <p:cNvPr id="4" name="スライド番号プレースホルダー 3">
            <a:extLst>
              <a:ext uri="{FF2B5EF4-FFF2-40B4-BE49-F238E27FC236}">
                <a16:creationId xmlns:a16="http://schemas.microsoft.com/office/drawing/2014/main" id="{2972F9F5-531F-BD3D-CFDB-1754DD31D604}"/>
              </a:ext>
            </a:extLst>
          </p:cNvPr>
          <p:cNvSpPr>
            <a:spLocks noGrp="1"/>
          </p:cNvSpPr>
          <p:nvPr>
            <p:ph type="sldNum" sz="quarter" idx="5"/>
          </p:nvPr>
        </p:nvSpPr>
        <p:spPr/>
        <p:txBody>
          <a:bodyPr/>
          <a:lstStyle/>
          <a:p>
            <a:fld id="{A5514B32-4E6E-49F5-AF84-F2E30A6572B6}" type="slidenum">
              <a:rPr kumimoji="1" lang="ja-JP" altLang="en-US" smtClean="0"/>
              <a:t>21</a:t>
            </a:fld>
            <a:endParaRPr kumimoji="1" lang="ja-JP" altLang="en-US"/>
          </a:p>
        </p:txBody>
      </p:sp>
    </p:spTree>
    <p:extLst>
      <p:ext uri="{BB962C8B-B14F-4D97-AF65-F5344CB8AC3E}">
        <p14:creationId xmlns:p14="http://schemas.microsoft.com/office/powerpoint/2010/main" val="31698783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851D8-DC7A-95F1-765E-335D61C03D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DC4A71A-91B1-165F-7430-1C45601215C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391DF6B-2840-119F-3005-00A75A89F836}"/>
              </a:ext>
            </a:extLst>
          </p:cNvPr>
          <p:cNvSpPr>
            <a:spLocks noGrp="1"/>
          </p:cNvSpPr>
          <p:nvPr>
            <p:ph type="body" idx="1"/>
          </p:nvPr>
        </p:nvSpPr>
        <p:spPr/>
        <p:txBody>
          <a:bodyPr/>
          <a:lstStyle/>
          <a:p>
            <a:r>
              <a:rPr kumimoji="1" lang="ja-JP" altLang="en-US" dirty="0"/>
              <a:t>フィトリアーニ</a:t>
            </a:r>
            <a:endParaRPr kumimoji="1" lang="en-US" altLang="ja-JP" dirty="0"/>
          </a:p>
        </p:txBody>
      </p:sp>
      <p:sp>
        <p:nvSpPr>
          <p:cNvPr id="4" name="スライド番号プレースホルダー 3">
            <a:extLst>
              <a:ext uri="{FF2B5EF4-FFF2-40B4-BE49-F238E27FC236}">
                <a16:creationId xmlns:a16="http://schemas.microsoft.com/office/drawing/2014/main" id="{971A323B-1BA3-189D-1B3B-6B3457F3B679}"/>
              </a:ext>
            </a:extLst>
          </p:cNvPr>
          <p:cNvSpPr>
            <a:spLocks noGrp="1"/>
          </p:cNvSpPr>
          <p:nvPr>
            <p:ph type="sldNum" sz="quarter" idx="5"/>
          </p:nvPr>
        </p:nvSpPr>
        <p:spPr/>
        <p:txBody>
          <a:bodyPr/>
          <a:lstStyle/>
          <a:p>
            <a:fld id="{A5514B32-4E6E-49F5-AF84-F2E30A6572B6}" type="slidenum">
              <a:rPr kumimoji="1" lang="ja-JP" altLang="en-US" smtClean="0"/>
              <a:t>22</a:t>
            </a:fld>
            <a:endParaRPr kumimoji="1" lang="ja-JP" altLang="en-US"/>
          </a:p>
        </p:txBody>
      </p:sp>
    </p:spTree>
    <p:extLst>
      <p:ext uri="{BB962C8B-B14F-4D97-AF65-F5344CB8AC3E}">
        <p14:creationId xmlns:p14="http://schemas.microsoft.com/office/powerpoint/2010/main" val="8649262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B4F6F-F9C0-2B27-A5E9-DA1A3F9D26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3DA98A-7DFC-6008-BA6B-05CF18F64E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561D50B-47C3-08A6-B35F-D998458668A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dirty="0">
                <a:solidFill>
                  <a:srgbClr val="C00000"/>
                </a:solidFill>
              </a:rPr>
              <a:t>・条件ごとの人数を先に提示</a:t>
            </a:r>
            <a:endParaRPr lang="en-US" altLang="ja-JP" sz="1200" b="0" dirty="0"/>
          </a:p>
          <a:p>
            <a:endParaRPr lang="en-US" altLang="ja-JP" sz="1200" b="0" dirty="0"/>
          </a:p>
          <a:p>
            <a:r>
              <a:rPr lang="ja-JP" altLang="en-US" sz="1200" b="0" dirty="0"/>
              <a:t>・名乗りあり水準の方がなし水準と比較して意図した実験設定と項目の</a:t>
            </a:r>
            <a:r>
              <a:rPr lang="ja-JP" altLang="en-US" sz="1200" b="0" dirty="0">
                <a:solidFill>
                  <a:srgbClr val="C00000"/>
                </a:solidFill>
              </a:rPr>
              <a:t>回答率が高い</a:t>
            </a:r>
            <a:endParaRPr lang="en-US" altLang="ja-JP" sz="1200" b="0" dirty="0">
              <a:solidFill>
                <a:srgbClr val="C00000"/>
              </a:solidFill>
            </a:endParaRPr>
          </a:p>
          <a:p>
            <a:endParaRPr lang="en-US" altLang="ja-JP" sz="1200" b="0" dirty="0">
              <a:solidFill>
                <a:srgbClr val="C00000"/>
              </a:solidFill>
            </a:endParaRPr>
          </a:p>
          <a:p>
            <a:r>
              <a:rPr lang="ja-JP" altLang="en-US" sz="1200" b="0" dirty="0">
                <a:solidFill>
                  <a:srgbClr val="C00000"/>
                </a:solidFill>
              </a:rPr>
              <a:t>・参加者にある程度ちゃんと伝わったかを言う</a:t>
            </a:r>
            <a:endParaRPr lang="en-US" altLang="ja-JP" sz="1200" b="0" dirty="0">
              <a:solidFill>
                <a:srgbClr val="C00000"/>
              </a:solidFill>
            </a:endParaRPr>
          </a:p>
          <a:p>
            <a:endParaRPr kumimoji="1" lang="ja-JP" altLang="en-US" dirty="0"/>
          </a:p>
        </p:txBody>
      </p:sp>
      <p:sp>
        <p:nvSpPr>
          <p:cNvPr id="4" name="スライド番号プレースホルダー 3">
            <a:extLst>
              <a:ext uri="{FF2B5EF4-FFF2-40B4-BE49-F238E27FC236}">
                <a16:creationId xmlns:a16="http://schemas.microsoft.com/office/drawing/2014/main" id="{72B38427-E6D1-E80F-20B5-96B7FCD8D61F}"/>
              </a:ext>
            </a:extLst>
          </p:cNvPr>
          <p:cNvSpPr>
            <a:spLocks noGrp="1"/>
          </p:cNvSpPr>
          <p:nvPr>
            <p:ph type="sldNum" sz="quarter" idx="5"/>
          </p:nvPr>
        </p:nvSpPr>
        <p:spPr/>
        <p:txBody>
          <a:bodyPr/>
          <a:lstStyle/>
          <a:p>
            <a:fld id="{A5514B32-4E6E-49F5-AF84-F2E30A6572B6}" type="slidenum">
              <a:rPr kumimoji="1" lang="ja-JP" altLang="en-US" smtClean="0"/>
              <a:t>23</a:t>
            </a:fld>
            <a:endParaRPr kumimoji="1" lang="ja-JP" altLang="en-US"/>
          </a:p>
        </p:txBody>
      </p:sp>
    </p:spTree>
    <p:extLst>
      <p:ext uri="{BB962C8B-B14F-4D97-AF65-F5344CB8AC3E}">
        <p14:creationId xmlns:p14="http://schemas.microsoft.com/office/powerpoint/2010/main" val="11887177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F8B6E-F1B3-D317-618A-3352DDAD10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FB06145-B357-A98A-20CC-4ABE30CCCFC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3BA12D6-3836-9DAD-0126-928A41B74AAF}"/>
              </a:ext>
            </a:extLst>
          </p:cNvPr>
          <p:cNvSpPr>
            <a:spLocks noGrp="1"/>
          </p:cNvSpPr>
          <p:nvPr>
            <p:ph type="body" idx="1"/>
          </p:nvPr>
        </p:nvSpPr>
        <p:spPr/>
        <p:txBody>
          <a:bodyPr/>
          <a:lstStyle/>
          <a:p>
            <a:r>
              <a:rPr kumimoji="1" lang="ja-JP" altLang="en-US" dirty="0"/>
              <a:t>赤文字のところで有意であった</a:t>
            </a:r>
            <a:endParaRPr kumimoji="1" lang="en-US" altLang="ja-JP" dirty="0"/>
          </a:p>
          <a:p>
            <a:endParaRPr kumimoji="1" lang="en-US" altLang="ja-JP" dirty="0"/>
          </a:p>
          <a:p>
            <a:r>
              <a:rPr kumimoji="1" lang="ja-JP" altLang="en-US" dirty="0"/>
              <a:t>ゆっくりいう</a:t>
            </a:r>
            <a:endParaRPr kumimoji="1" lang="en-US" altLang="ja-JP" dirty="0"/>
          </a:p>
        </p:txBody>
      </p:sp>
      <p:sp>
        <p:nvSpPr>
          <p:cNvPr id="4" name="スライド番号プレースホルダー 3">
            <a:extLst>
              <a:ext uri="{FF2B5EF4-FFF2-40B4-BE49-F238E27FC236}">
                <a16:creationId xmlns:a16="http://schemas.microsoft.com/office/drawing/2014/main" id="{6022160F-5D7F-0ACB-7ECA-9F025D1D24F0}"/>
              </a:ext>
            </a:extLst>
          </p:cNvPr>
          <p:cNvSpPr>
            <a:spLocks noGrp="1"/>
          </p:cNvSpPr>
          <p:nvPr>
            <p:ph type="sldNum" sz="quarter" idx="5"/>
          </p:nvPr>
        </p:nvSpPr>
        <p:spPr/>
        <p:txBody>
          <a:bodyPr/>
          <a:lstStyle/>
          <a:p>
            <a:fld id="{A5514B32-4E6E-49F5-AF84-F2E30A6572B6}" type="slidenum">
              <a:rPr kumimoji="1" lang="ja-JP" altLang="en-US" smtClean="0"/>
              <a:t>24</a:t>
            </a:fld>
            <a:endParaRPr kumimoji="1" lang="ja-JP" altLang="en-US"/>
          </a:p>
        </p:txBody>
      </p:sp>
    </p:spTree>
    <p:extLst>
      <p:ext uri="{BB962C8B-B14F-4D97-AF65-F5344CB8AC3E}">
        <p14:creationId xmlns:p14="http://schemas.microsoft.com/office/powerpoint/2010/main" val="21481294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A6F49-E3E7-D015-1E67-5811479AD7B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0B25D37-7F90-7CB0-CFBE-051F4E47A44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6315C67-F5E3-9983-A57B-B58D3BD2D151}"/>
              </a:ext>
            </a:extLst>
          </p:cNvPr>
          <p:cNvSpPr>
            <a:spLocks noGrp="1"/>
          </p:cNvSpPr>
          <p:nvPr>
            <p:ph type="body" idx="1"/>
          </p:nvPr>
        </p:nvSpPr>
        <p:spPr/>
        <p:txBody>
          <a:bodyPr/>
          <a:lstStyle/>
          <a:p>
            <a:r>
              <a:rPr kumimoji="1" lang="en-US" altLang="ja-JP" dirty="0"/>
              <a:t>Q4,Q5,Q8</a:t>
            </a:r>
            <a:r>
              <a:rPr kumimoji="1" lang="ja-JP" altLang="en-US" dirty="0"/>
              <a:t>の作業をうまく行う，や好感が持てる，将来また利用したいと思うで中間値を超えていないから参加者は</a:t>
            </a:r>
            <a:r>
              <a:rPr kumimoji="1" lang="en-US" altLang="ja-JP" dirty="0"/>
              <a:t>LLM</a:t>
            </a:r>
            <a:r>
              <a:rPr kumimoji="1" lang="ja-JP" altLang="en-US" dirty="0"/>
              <a:t>を役に立たないと認識した可能性</a:t>
            </a:r>
            <a:endParaRPr kumimoji="1" lang="en-US" altLang="ja-JP" dirty="0"/>
          </a:p>
        </p:txBody>
      </p:sp>
      <p:sp>
        <p:nvSpPr>
          <p:cNvPr id="4" name="スライド番号プレースホルダー 3">
            <a:extLst>
              <a:ext uri="{FF2B5EF4-FFF2-40B4-BE49-F238E27FC236}">
                <a16:creationId xmlns:a16="http://schemas.microsoft.com/office/drawing/2014/main" id="{8FA82A80-A319-900A-9597-AAB9A68A7DD1}"/>
              </a:ext>
            </a:extLst>
          </p:cNvPr>
          <p:cNvSpPr>
            <a:spLocks noGrp="1"/>
          </p:cNvSpPr>
          <p:nvPr>
            <p:ph type="sldNum" sz="quarter" idx="5"/>
          </p:nvPr>
        </p:nvSpPr>
        <p:spPr/>
        <p:txBody>
          <a:bodyPr/>
          <a:lstStyle/>
          <a:p>
            <a:fld id="{A5514B32-4E6E-49F5-AF84-F2E30A6572B6}" type="slidenum">
              <a:rPr kumimoji="1" lang="ja-JP" altLang="en-US" smtClean="0"/>
              <a:t>25</a:t>
            </a:fld>
            <a:endParaRPr kumimoji="1" lang="ja-JP" altLang="en-US"/>
          </a:p>
        </p:txBody>
      </p:sp>
    </p:spTree>
    <p:extLst>
      <p:ext uri="{BB962C8B-B14F-4D97-AF65-F5344CB8AC3E}">
        <p14:creationId xmlns:p14="http://schemas.microsoft.com/office/powerpoint/2010/main" val="7936044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人格設定要因の主効果が有意</a:t>
            </a:r>
            <a:endParaRPr kumimoji="1" lang="en-US" altLang="ja-JP" dirty="0"/>
          </a:p>
          <a:p>
            <a:r>
              <a:rPr kumimoji="1" lang="ja-JP" altLang="en-US" dirty="0"/>
              <a:t>人格を切り替えた方が独自の個性があると思われる</a:t>
            </a:r>
            <a:endParaRPr kumimoji="1" lang="en-US" altLang="ja-JP" dirty="0"/>
          </a:p>
          <a:p>
            <a:r>
              <a:rPr lang="ja-JP" altLang="en-US" sz="1200" b="0" dirty="0"/>
              <a:t>人格の変化による</a:t>
            </a:r>
            <a:r>
              <a:rPr lang="ja-JP" altLang="en-US" sz="1200" b="0" dirty="0">
                <a:solidFill>
                  <a:srgbClr val="C00000"/>
                </a:solidFill>
              </a:rPr>
              <a:t>対比が特徴を際立たせ</a:t>
            </a:r>
            <a:r>
              <a:rPr lang="ja-JP" altLang="en-US" sz="1200" b="0" dirty="0"/>
              <a:t>個性をより強く知覚させた可能性</a:t>
            </a:r>
          </a:p>
          <a:p>
            <a:br>
              <a:rPr kumimoji="1" lang="en-US" altLang="ja-JP" dirty="0"/>
            </a:br>
            <a:endParaRPr kumimoji="1" lang="ja-JP" altLang="en-US" dirty="0"/>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26</a:t>
            </a:fld>
            <a:endParaRPr kumimoji="1" lang="ja-JP" altLang="en-US"/>
          </a:p>
        </p:txBody>
      </p:sp>
    </p:spTree>
    <p:extLst>
      <p:ext uri="{BB962C8B-B14F-4D97-AF65-F5344CB8AC3E}">
        <p14:creationId xmlns:p14="http://schemas.microsoft.com/office/powerpoint/2010/main" val="39368942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AEBFD-EE6C-F7C1-B1A9-B3530DA1ACC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070E6F7-6FBB-2C4F-7D0E-DB33C79FC9B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7378DDC-73A0-22F2-F5B3-9E35E5123620}"/>
              </a:ext>
            </a:extLst>
          </p:cNvPr>
          <p:cNvSpPr>
            <a:spLocks noGrp="1"/>
          </p:cNvSpPr>
          <p:nvPr>
            <p:ph type="body" idx="1"/>
          </p:nvPr>
        </p:nvSpPr>
        <p:spPr/>
        <p:txBody>
          <a:bodyPr/>
          <a:lstStyle/>
          <a:p>
            <a:r>
              <a:rPr kumimoji="1" lang="ja-JP" altLang="en-US" dirty="0"/>
              <a:t>交互作用が有意</a:t>
            </a:r>
            <a:endParaRPr kumimoji="1" lang="en-US" altLang="ja-JP" dirty="0"/>
          </a:p>
          <a:p>
            <a:r>
              <a:rPr kumimoji="1" lang="ja-JP" altLang="en-US" dirty="0"/>
              <a:t>名乗りをしないときに人格を切り替えた方が「言動を見ていて楽しい」が低い結果</a:t>
            </a:r>
            <a:endParaRPr kumimoji="1" lang="en-US" altLang="ja-JP" dirty="0"/>
          </a:p>
          <a:p>
            <a:r>
              <a:rPr kumimoji="1" lang="ja-JP" altLang="en-US" dirty="0"/>
              <a:t>名乗ると礼儀正しいのに，名乗りなしでは礼儀の正しさが感じられず，人格切り替え後のタメ口が馴れ馴れしさとしてネガティブに作用する可能性</a:t>
            </a:r>
            <a:endParaRPr kumimoji="1" lang="en-US" altLang="ja-JP" dirty="0"/>
          </a:p>
        </p:txBody>
      </p:sp>
      <p:sp>
        <p:nvSpPr>
          <p:cNvPr id="4" name="スライド番号プレースホルダー 3">
            <a:extLst>
              <a:ext uri="{FF2B5EF4-FFF2-40B4-BE49-F238E27FC236}">
                <a16:creationId xmlns:a16="http://schemas.microsoft.com/office/drawing/2014/main" id="{9538209A-5D77-CD13-8662-0E49016B79BC}"/>
              </a:ext>
            </a:extLst>
          </p:cNvPr>
          <p:cNvSpPr>
            <a:spLocks noGrp="1"/>
          </p:cNvSpPr>
          <p:nvPr>
            <p:ph type="sldNum" sz="quarter" idx="5"/>
          </p:nvPr>
        </p:nvSpPr>
        <p:spPr/>
        <p:txBody>
          <a:bodyPr/>
          <a:lstStyle/>
          <a:p>
            <a:fld id="{A5514B32-4E6E-49F5-AF84-F2E30A6572B6}" type="slidenum">
              <a:rPr kumimoji="1" lang="ja-JP" altLang="en-US" smtClean="0"/>
              <a:t>27</a:t>
            </a:fld>
            <a:endParaRPr kumimoji="1" lang="ja-JP" altLang="en-US"/>
          </a:p>
        </p:txBody>
      </p:sp>
    </p:spTree>
    <p:extLst>
      <p:ext uri="{BB962C8B-B14F-4D97-AF65-F5344CB8AC3E}">
        <p14:creationId xmlns:p14="http://schemas.microsoft.com/office/powerpoint/2010/main" val="19517368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EA327-BB3C-C46C-5293-0616AE28C4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7F93D7-7FFA-4D4F-B39B-C50ED3CA7DB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99BA8B2-889B-613C-2F5A-B2B92B881C5F}"/>
              </a:ext>
            </a:extLst>
          </p:cNvPr>
          <p:cNvSpPr>
            <a:spLocks noGrp="1"/>
          </p:cNvSpPr>
          <p:nvPr>
            <p:ph type="body" idx="1"/>
          </p:nvPr>
        </p:nvSpPr>
        <p:spPr/>
        <p:txBody>
          <a:bodyPr/>
          <a:lstStyle/>
          <a:p>
            <a:r>
              <a:rPr kumimoji="1" lang="ja-JP" altLang="en-US" dirty="0"/>
              <a:t>交互作用が有意</a:t>
            </a:r>
            <a:endParaRPr kumimoji="1" lang="en-US" altLang="ja-JP" dirty="0"/>
          </a:p>
          <a:p>
            <a:r>
              <a:rPr kumimoji="1" lang="ja-JP" altLang="en-US" dirty="0"/>
              <a:t>人格を固定した時に，名乗りなしの方が平均値が高い結果</a:t>
            </a:r>
            <a:endParaRPr kumimoji="1" lang="en-US" altLang="ja-JP" dirty="0"/>
          </a:p>
          <a:p>
            <a:endParaRPr kumimoji="1" lang="en-US" altLang="ja-JP" dirty="0"/>
          </a:p>
          <a:p>
            <a:r>
              <a:rPr kumimoji="1" lang="ja-JP" altLang="en-US" dirty="0"/>
              <a:t>名乗らないと正体が分からない，人格固定さっきのやつと同じだから</a:t>
            </a:r>
            <a:endParaRPr kumimoji="1" lang="en-US" altLang="ja-JP" dirty="0"/>
          </a:p>
          <a:p>
            <a:r>
              <a:rPr kumimoji="1" lang="ja-JP" altLang="en-US" dirty="0"/>
              <a:t>識別が難しく</a:t>
            </a:r>
            <a:endParaRPr kumimoji="1" lang="en-US" altLang="ja-JP" dirty="0"/>
          </a:p>
          <a:p>
            <a:endParaRPr kumimoji="1" lang="en-US" altLang="ja-JP" dirty="0"/>
          </a:p>
          <a:p>
            <a:r>
              <a:rPr kumimoji="1" lang="ja-JP" altLang="en-US" dirty="0"/>
              <a:t>変化に気づきにくい変化だから，判断できないから注意深く見よう</a:t>
            </a:r>
            <a:endParaRPr kumimoji="1" lang="en-US" altLang="ja-JP" dirty="0"/>
          </a:p>
          <a:p>
            <a:r>
              <a:rPr kumimoji="1" lang="ja-JP" altLang="en-US" dirty="0"/>
              <a:t>人格が固定されていることで切り替えの変化に気づかず，先ほどの設定と変わらないチャットであるからユーザは疑問に感じ注意深く見ようとする可能性</a:t>
            </a:r>
            <a:endParaRPr kumimoji="1" lang="en-US" altLang="ja-JP" dirty="0"/>
          </a:p>
          <a:p>
            <a:endParaRPr kumimoji="1" lang="en-US" altLang="ja-JP" dirty="0"/>
          </a:p>
          <a:p>
            <a:r>
              <a:rPr kumimoji="1" lang="ja-JP" altLang="en-US" dirty="0"/>
              <a:t>・変化が分かりにくく，違いを探すために注意を促した可能性</a:t>
            </a:r>
          </a:p>
        </p:txBody>
      </p:sp>
      <p:sp>
        <p:nvSpPr>
          <p:cNvPr id="4" name="スライド番号プレースホルダー 3">
            <a:extLst>
              <a:ext uri="{FF2B5EF4-FFF2-40B4-BE49-F238E27FC236}">
                <a16:creationId xmlns:a16="http://schemas.microsoft.com/office/drawing/2014/main" id="{2456F927-0EB9-A926-9519-79DE9F6322C0}"/>
              </a:ext>
            </a:extLst>
          </p:cNvPr>
          <p:cNvSpPr>
            <a:spLocks noGrp="1"/>
          </p:cNvSpPr>
          <p:nvPr>
            <p:ph type="sldNum" sz="quarter" idx="5"/>
          </p:nvPr>
        </p:nvSpPr>
        <p:spPr/>
        <p:txBody>
          <a:bodyPr/>
          <a:lstStyle/>
          <a:p>
            <a:fld id="{A5514B32-4E6E-49F5-AF84-F2E30A6572B6}" type="slidenum">
              <a:rPr kumimoji="1" lang="ja-JP" altLang="en-US" smtClean="0"/>
              <a:t>28</a:t>
            </a:fld>
            <a:endParaRPr kumimoji="1" lang="ja-JP" altLang="en-US"/>
          </a:p>
        </p:txBody>
      </p:sp>
    </p:spTree>
    <p:extLst>
      <p:ext uri="{BB962C8B-B14F-4D97-AF65-F5344CB8AC3E}">
        <p14:creationId xmlns:p14="http://schemas.microsoft.com/office/powerpoint/2010/main" val="263848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925E7-161A-DFAF-F7C6-AD29BB4420B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EBFCEA5-57A0-AB5D-0F0A-76E155A93C8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E4D1E2F-EE10-F4DA-8107-7D023B900483}"/>
              </a:ext>
            </a:extLst>
          </p:cNvPr>
          <p:cNvSpPr>
            <a:spLocks noGrp="1"/>
          </p:cNvSpPr>
          <p:nvPr>
            <p:ph type="body" idx="1"/>
          </p:nvPr>
        </p:nvSpPr>
        <p:spPr/>
        <p:txBody>
          <a:bodyPr/>
          <a:lstStyle/>
          <a:p>
            <a:r>
              <a:rPr kumimoji="1" lang="ja-JP" altLang="en-US" dirty="0"/>
              <a:t>交互作用が有意</a:t>
            </a:r>
            <a:endParaRPr kumimoji="1" lang="en-US" altLang="ja-JP" dirty="0"/>
          </a:p>
          <a:p>
            <a:r>
              <a:rPr kumimoji="1" lang="ja-JP" altLang="en-US" dirty="0"/>
              <a:t>人格固定で名乗りをした方が低い</a:t>
            </a:r>
            <a:endParaRPr kumimoji="1" lang="en-US" altLang="ja-JP" dirty="0"/>
          </a:p>
          <a:p>
            <a:endParaRPr kumimoji="1" lang="en-US" altLang="ja-JP" dirty="0"/>
          </a:p>
          <a:p>
            <a:r>
              <a:rPr kumimoji="1" lang="ja-JP" altLang="en-US" dirty="0"/>
              <a:t>固定であると感情の起伏がないように感じた</a:t>
            </a:r>
            <a:endParaRPr kumimoji="1" lang="en-US" altLang="ja-JP" dirty="0"/>
          </a:p>
          <a:p>
            <a:r>
              <a:rPr kumimoji="1" lang="ja-JP" altLang="en-US" dirty="0"/>
              <a:t>同じ名前を言ってることに無機質に感じる→機械的な応答</a:t>
            </a:r>
            <a:endParaRPr kumimoji="1" lang="en-US" altLang="ja-JP" dirty="0"/>
          </a:p>
          <a:p>
            <a:endParaRPr kumimoji="1" lang="en-US" altLang="ja-JP" dirty="0"/>
          </a:p>
          <a:p>
            <a:r>
              <a:rPr kumimoji="1" lang="ja-JP" altLang="en-US" dirty="0"/>
              <a:t>人格固定して名乗るという同じ名前を言ってることに無機質に感じ，機械的な応答だと思い，感情の知覚を阻害する可能性</a:t>
            </a:r>
            <a:endParaRPr kumimoji="1" lang="en-US" altLang="ja-JP" dirty="0"/>
          </a:p>
          <a:p>
            <a:endParaRPr kumimoji="1" lang="en-US" altLang="ja-JP" dirty="0"/>
          </a:p>
          <a:p>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0DDA7079-5306-5426-8D2D-BB23FDF8B2B3}"/>
              </a:ext>
            </a:extLst>
          </p:cNvPr>
          <p:cNvSpPr>
            <a:spLocks noGrp="1"/>
          </p:cNvSpPr>
          <p:nvPr>
            <p:ph type="sldNum" sz="quarter" idx="5"/>
          </p:nvPr>
        </p:nvSpPr>
        <p:spPr/>
        <p:txBody>
          <a:bodyPr/>
          <a:lstStyle/>
          <a:p>
            <a:fld id="{A5514B32-4E6E-49F5-AF84-F2E30A6572B6}" type="slidenum">
              <a:rPr kumimoji="1" lang="ja-JP" altLang="en-US" smtClean="0"/>
              <a:t>29</a:t>
            </a:fld>
            <a:endParaRPr kumimoji="1" lang="ja-JP" altLang="en-US"/>
          </a:p>
        </p:txBody>
      </p:sp>
    </p:spTree>
    <p:extLst>
      <p:ext uri="{BB962C8B-B14F-4D97-AF65-F5344CB8AC3E}">
        <p14:creationId xmlns:p14="http://schemas.microsoft.com/office/powerpoint/2010/main" val="21947169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0EA0B-837A-C6DB-CD00-E3DD9FE280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BB740D-89E3-931B-2119-AF6113E79A0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7D5E59A-F012-74EC-0745-E7453CA26ADC}"/>
              </a:ext>
            </a:extLst>
          </p:cNvPr>
          <p:cNvSpPr>
            <a:spLocks noGrp="1"/>
          </p:cNvSpPr>
          <p:nvPr>
            <p:ph type="body" idx="1"/>
          </p:nvPr>
        </p:nvSpPr>
        <p:spPr/>
        <p:txBody>
          <a:bodyPr/>
          <a:lstStyle/>
          <a:p>
            <a:r>
              <a:rPr kumimoji="1" lang="ja-JP" altLang="en-US" dirty="0"/>
              <a:t>有意差が認められた質問において</a:t>
            </a:r>
            <a:endParaRPr kumimoji="1" lang="en-US" altLang="ja-JP" dirty="0"/>
          </a:p>
          <a:p>
            <a:endParaRPr kumimoji="1" lang="en-US" altLang="ja-JP" dirty="0"/>
          </a:p>
          <a:p>
            <a:r>
              <a:rPr kumimoji="1" lang="ja-JP" altLang="en-US" dirty="0"/>
              <a:t>どういう条件のときにこういうことが言える</a:t>
            </a:r>
            <a:endParaRPr kumimoji="1" lang="en-US" altLang="ja-JP" dirty="0"/>
          </a:p>
          <a:p>
            <a:endParaRPr kumimoji="1" lang="en-US" altLang="ja-JP" dirty="0"/>
          </a:p>
          <a:p>
            <a:r>
              <a:rPr kumimoji="1" lang="ja-JP" altLang="en-US" dirty="0"/>
              <a:t>信頼の回復につなげる</a:t>
            </a:r>
            <a:endParaRPr kumimoji="1" lang="en-US" altLang="ja-JP" dirty="0"/>
          </a:p>
        </p:txBody>
      </p:sp>
      <p:sp>
        <p:nvSpPr>
          <p:cNvPr id="4" name="スライド番号プレースホルダー 3">
            <a:extLst>
              <a:ext uri="{FF2B5EF4-FFF2-40B4-BE49-F238E27FC236}">
                <a16:creationId xmlns:a16="http://schemas.microsoft.com/office/drawing/2014/main" id="{90328AAF-F105-68A2-5D09-2A2563E74A24}"/>
              </a:ext>
            </a:extLst>
          </p:cNvPr>
          <p:cNvSpPr>
            <a:spLocks noGrp="1"/>
          </p:cNvSpPr>
          <p:nvPr>
            <p:ph type="sldNum" sz="quarter" idx="5"/>
          </p:nvPr>
        </p:nvSpPr>
        <p:spPr/>
        <p:txBody>
          <a:bodyPr/>
          <a:lstStyle/>
          <a:p>
            <a:fld id="{A5514B32-4E6E-49F5-AF84-F2E30A6572B6}" type="slidenum">
              <a:rPr kumimoji="1" lang="ja-JP" altLang="en-US" smtClean="0"/>
              <a:t>30</a:t>
            </a:fld>
            <a:endParaRPr kumimoji="1" lang="ja-JP" altLang="en-US"/>
          </a:p>
        </p:txBody>
      </p:sp>
    </p:spTree>
    <p:extLst>
      <p:ext uri="{BB962C8B-B14F-4D97-AF65-F5344CB8AC3E}">
        <p14:creationId xmlns:p14="http://schemas.microsoft.com/office/powerpoint/2010/main" val="5802972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65734-5C72-2A2B-E967-14956CA4373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C2F28A-5083-58A4-65F9-A75FD1CAF78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0BE74A1-8A66-521D-35AF-182D1AEA07BE}"/>
              </a:ext>
            </a:extLst>
          </p:cNvPr>
          <p:cNvSpPr>
            <a:spLocks noGrp="1"/>
          </p:cNvSpPr>
          <p:nvPr>
            <p:ph type="body" idx="1"/>
          </p:nvPr>
        </p:nvSpPr>
        <p:spPr/>
        <p:txBody>
          <a:bodyPr/>
          <a:lstStyle/>
          <a:p>
            <a:r>
              <a:rPr kumimoji="1" lang="en-US" altLang="ja-JP" dirty="0"/>
              <a:t>2</a:t>
            </a:r>
            <a:r>
              <a:rPr kumimoji="1" lang="ja-JP" altLang="en-US" dirty="0"/>
              <a:t>つぐらいにする</a:t>
            </a:r>
            <a:endParaRPr kumimoji="1" lang="en-US" altLang="ja-JP" dirty="0"/>
          </a:p>
          <a:p>
            <a:endParaRPr kumimoji="1" lang="en-US" altLang="ja-JP" dirty="0"/>
          </a:p>
          <a:p>
            <a:r>
              <a:rPr kumimoji="1" lang="en-US" altLang="ja-JP" dirty="0"/>
              <a:t>2.3.4</a:t>
            </a:r>
            <a:r>
              <a:rPr kumimoji="1" lang="ja-JP" altLang="en-US" dirty="0"/>
              <a:t>を「人格設定について」としてまとめる</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9BB13A88-D07C-FFAF-00AA-7817BB4C9DA6}"/>
              </a:ext>
            </a:extLst>
          </p:cNvPr>
          <p:cNvSpPr>
            <a:spLocks noGrp="1"/>
          </p:cNvSpPr>
          <p:nvPr>
            <p:ph type="sldNum" sz="quarter" idx="5"/>
          </p:nvPr>
        </p:nvSpPr>
        <p:spPr/>
        <p:txBody>
          <a:bodyPr/>
          <a:lstStyle/>
          <a:p>
            <a:fld id="{A5514B32-4E6E-49F5-AF84-F2E30A6572B6}" type="slidenum">
              <a:rPr kumimoji="1" lang="ja-JP" altLang="en-US" smtClean="0"/>
              <a:t>31</a:t>
            </a:fld>
            <a:endParaRPr kumimoji="1" lang="ja-JP" altLang="en-US"/>
          </a:p>
        </p:txBody>
      </p:sp>
    </p:spTree>
    <p:extLst>
      <p:ext uri="{BB962C8B-B14F-4D97-AF65-F5344CB8AC3E}">
        <p14:creationId xmlns:p14="http://schemas.microsoft.com/office/powerpoint/2010/main" val="7868998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550DA-F764-658A-643D-029C8B0D24E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536E2C4-D84C-F6AB-2FBE-44EEB1F8D3F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7648E47-DF34-3930-CC19-38C4F0CB5333}"/>
              </a:ext>
            </a:extLst>
          </p:cNvPr>
          <p:cNvSpPr>
            <a:spLocks noGrp="1"/>
          </p:cNvSpPr>
          <p:nvPr>
            <p:ph type="body" idx="1"/>
          </p:nvPr>
        </p:nvSpPr>
        <p:spPr/>
        <p:txBody>
          <a:bodyPr/>
          <a:lstStyle/>
          <a:p>
            <a:r>
              <a:rPr kumimoji="1" lang="ja-JP" altLang="en-US" dirty="0"/>
              <a:t>実験という項目を入れる</a:t>
            </a:r>
            <a:endParaRPr kumimoji="1" lang="en-US" altLang="ja-JP" dirty="0"/>
          </a:p>
        </p:txBody>
      </p:sp>
      <p:sp>
        <p:nvSpPr>
          <p:cNvPr id="4" name="スライド番号プレースホルダー 3">
            <a:extLst>
              <a:ext uri="{FF2B5EF4-FFF2-40B4-BE49-F238E27FC236}">
                <a16:creationId xmlns:a16="http://schemas.microsoft.com/office/drawing/2014/main" id="{FBE40509-CD3F-4110-8F51-0BAE77230D1C}"/>
              </a:ext>
            </a:extLst>
          </p:cNvPr>
          <p:cNvSpPr>
            <a:spLocks noGrp="1"/>
          </p:cNvSpPr>
          <p:nvPr>
            <p:ph type="sldNum" sz="quarter" idx="5"/>
          </p:nvPr>
        </p:nvSpPr>
        <p:spPr/>
        <p:txBody>
          <a:bodyPr/>
          <a:lstStyle/>
          <a:p>
            <a:fld id="{A5514B32-4E6E-49F5-AF84-F2E30A6572B6}" type="slidenum">
              <a:rPr kumimoji="1" lang="ja-JP" altLang="en-US" smtClean="0"/>
              <a:t>32</a:t>
            </a:fld>
            <a:endParaRPr kumimoji="1" lang="ja-JP" altLang="en-US"/>
          </a:p>
        </p:txBody>
      </p:sp>
    </p:spTree>
    <p:extLst>
      <p:ext uri="{BB962C8B-B14F-4D97-AF65-F5344CB8AC3E}">
        <p14:creationId xmlns:p14="http://schemas.microsoft.com/office/powerpoint/2010/main" val="1536542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1:00</a:t>
            </a:r>
          </a:p>
          <a:p>
            <a:r>
              <a:rPr kumimoji="1" lang="ja-JP" altLang="en-US" dirty="0"/>
              <a:t>目的</a:t>
            </a:r>
            <a:endParaRPr kumimoji="1" lang="en-US" altLang="ja-JP" dirty="0"/>
          </a:p>
          <a:p>
            <a:r>
              <a:rPr kumimoji="1" lang="ja-JP" altLang="en-US" dirty="0"/>
              <a:t>⇩</a:t>
            </a:r>
            <a:endParaRPr kumimoji="1" lang="en-US" altLang="ja-JP" dirty="0"/>
          </a:p>
          <a:p>
            <a:r>
              <a:rPr kumimoji="1" lang="ja-JP" altLang="en-US" dirty="0"/>
              <a:t>方法：動画の人格切り替わりの様子説明</a:t>
            </a:r>
            <a:endParaRPr kumimoji="1" lang="en-US" altLang="ja-JP" dirty="0"/>
          </a:p>
          <a:p>
            <a:r>
              <a:rPr kumimoji="1" lang="ja-JP" altLang="en-US" dirty="0"/>
              <a:t>⇩</a:t>
            </a:r>
            <a:endParaRPr kumimoji="1" lang="en-US" altLang="ja-JP" dirty="0"/>
          </a:p>
          <a:p>
            <a:r>
              <a:rPr kumimoji="1" lang="ja-JP" altLang="en-US" dirty="0"/>
              <a:t>実験方法</a:t>
            </a:r>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33</a:t>
            </a:fld>
            <a:endParaRPr kumimoji="1" lang="ja-JP" altLang="en-US"/>
          </a:p>
        </p:txBody>
      </p:sp>
    </p:spTree>
    <p:extLst>
      <p:ext uri="{BB962C8B-B14F-4D97-AF65-F5344CB8AC3E}">
        <p14:creationId xmlns:p14="http://schemas.microsoft.com/office/powerpoint/2010/main" val="33532958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E4410-2718-7CE0-5DA2-6C705FFBF5D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11079E-6B8A-8FE4-C453-BC728D5B256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CCC4F26-0019-B119-9C69-46F41AB1FB26}"/>
              </a:ext>
            </a:extLst>
          </p:cNvPr>
          <p:cNvSpPr>
            <a:spLocks noGrp="1"/>
          </p:cNvSpPr>
          <p:nvPr>
            <p:ph type="body" idx="1"/>
          </p:nvPr>
        </p:nvSpPr>
        <p:spPr/>
        <p:txBody>
          <a:bodyPr/>
          <a:lstStyle/>
          <a:p>
            <a:r>
              <a:rPr kumimoji="1" lang="ja-JP" altLang="en-US" dirty="0"/>
              <a:t>結果</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0A52B4A8-D9E7-BD2B-F6C3-2D52ACB60F63}"/>
              </a:ext>
            </a:extLst>
          </p:cNvPr>
          <p:cNvSpPr>
            <a:spLocks noGrp="1"/>
          </p:cNvSpPr>
          <p:nvPr>
            <p:ph type="sldNum" sz="quarter" idx="5"/>
          </p:nvPr>
        </p:nvSpPr>
        <p:spPr/>
        <p:txBody>
          <a:bodyPr/>
          <a:lstStyle/>
          <a:p>
            <a:fld id="{A5514B32-4E6E-49F5-AF84-F2E30A6572B6}" type="slidenum">
              <a:rPr kumimoji="1" lang="ja-JP" altLang="en-US" smtClean="0"/>
              <a:t>34</a:t>
            </a:fld>
            <a:endParaRPr kumimoji="1" lang="ja-JP" altLang="en-US"/>
          </a:p>
        </p:txBody>
      </p:sp>
    </p:spTree>
    <p:extLst>
      <p:ext uri="{BB962C8B-B14F-4D97-AF65-F5344CB8AC3E}">
        <p14:creationId xmlns:p14="http://schemas.microsoft.com/office/powerpoint/2010/main" val="41204678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A3613-9620-6E1A-C2F6-92C5A20162B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EAA547-8D74-9B7A-8EE4-8A4EA0965DA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0AB100A-11F4-B2D4-4188-914310218F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CB5623B-875E-B00C-38A4-59E31A7C699E}"/>
              </a:ext>
            </a:extLst>
          </p:cNvPr>
          <p:cNvSpPr>
            <a:spLocks noGrp="1"/>
          </p:cNvSpPr>
          <p:nvPr>
            <p:ph type="sldNum" sz="quarter" idx="5"/>
          </p:nvPr>
        </p:nvSpPr>
        <p:spPr/>
        <p:txBody>
          <a:bodyPr/>
          <a:lstStyle/>
          <a:p>
            <a:fld id="{A5514B32-4E6E-49F5-AF84-F2E30A6572B6}" type="slidenum">
              <a:rPr kumimoji="1" lang="ja-JP" altLang="en-US" smtClean="0"/>
              <a:t>35</a:t>
            </a:fld>
            <a:endParaRPr kumimoji="1" lang="ja-JP" altLang="en-US"/>
          </a:p>
        </p:txBody>
      </p:sp>
    </p:spTree>
    <p:extLst>
      <p:ext uri="{BB962C8B-B14F-4D97-AF65-F5344CB8AC3E}">
        <p14:creationId xmlns:p14="http://schemas.microsoft.com/office/powerpoint/2010/main" val="11127804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36</a:t>
            </a:fld>
            <a:endParaRPr kumimoji="1" lang="ja-JP" altLang="en-US"/>
          </a:p>
        </p:txBody>
      </p:sp>
    </p:spTree>
    <p:extLst>
      <p:ext uri="{BB962C8B-B14F-4D97-AF65-F5344CB8AC3E}">
        <p14:creationId xmlns:p14="http://schemas.microsoft.com/office/powerpoint/2010/main" val="3724984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EF09E-AC6C-0523-A898-C52FD05FAEA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FC7E591-4B03-FA26-8D18-3EF0976CF4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4916C30-CA19-0CDC-B883-F0FD1D5D38A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10A27EC-0F88-B773-C7C1-92D49EB95299}"/>
              </a:ext>
            </a:extLst>
          </p:cNvPr>
          <p:cNvSpPr>
            <a:spLocks noGrp="1"/>
          </p:cNvSpPr>
          <p:nvPr>
            <p:ph type="sldNum" sz="quarter" idx="5"/>
          </p:nvPr>
        </p:nvSpPr>
        <p:spPr/>
        <p:txBody>
          <a:bodyPr/>
          <a:lstStyle/>
          <a:p>
            <a:fld id="{A5514B32-4E6E-49F5-AF84-F2E30A6572B6}" type="slidenum">
              <a:rPr kumimoji="1" lang="ja-JP" altLang="en-US" smtClean="0"/>
              <a:t>37</a:t>
            </a:fld>
            <a:endParaRPr kumimoji="1" lang="ja-JP" altLang="en-US"/>
          </a:p>
        </p:txBody>
      </p:sp>
    </p:spTree>
    <p:extLst>
      <p:ext uri="{BB962C8B-B14F-4D97-AF65-F5344CB8AC3E}">
        <p14:creationId xmlns:p14="http://schemas.microsoft.com/office/powerpoint/2010/main" val="29251853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EC3C2-552D-72DC-3400-8988588D94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D848F3-161C-B7AC-D39F-71578A51EFC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DD9870F-60E0-3182-EFB1-C77AD65C2DBF}"/>
              </a:ext>
            </a:extLst>
          </p:cNvPr>
          <p:cNvSpPr>
            <a:spLocks noGrp="1"/>
          </p:cNvSpPr>
          <p:nvPr>
            <p:ph type="body" idx="1"/>
          </p:nvPr>
        </p:nvSpPr>
        <p:spPr/>
        <p:txBody>
          <a:bodyPr/>
          <a:lstStyle/>
          <a:p>
            <a:r>
              <a:rPr kumimoji="1" lang="ja-JP" altLang="en-US" dirty="0"/>
              <a:t>要約の説明</a:t>
            </a:r>
            <a:br>
              <a:rPr kumimoji="1" lang="en-US" altLang="ja-JP" dirty="0"/>
            </a:br>
            <a:r>
              <a:rPr kumimoji="1" lang="ja-JP" altLang="en-US" dirty="0"/>
              <a:t>⇩</a:t>
            </a:r>
            <a:br>
              <a:rPr kumimoji="1" lang="en-US" altLang="ja-JP" dirty="0"/>
            </a:br>
            <a:r>
              <a:rPr kumimoji="1" lang="ja-JP" altLang="en-US" dirty="0"/>
              <a:t>要約を比較：</a:t>
            </a:r>
            <a:r>
              <a:rPr kumimoji="1" lang="en-US" altLang="ja-JP" dirty="0"/>
              <a:t>2</a:t>
            </a:r>
            <a:r>
              <a:rPr kumimoji="1" lang="ja-JP" altLang="en-US" dirty="0"/>
              <a:t>番の比較</a:t>
            </a:r>
          </a:p>
        </p:txBody>
      </p:sp>
      <p:sp>
        <p:nvSpPr>
          <p:cNvPr id="4" name="スライド番号プレースホルダー 3">
            <a:extLst>
              <a:ext uri="{FF2B5EF4-FFF2-40B4-BE49-F238E27FC236}">
                <a16:creationId xmlns:a16="http://schemas.microsoft.com/office/drawing/2014/main" id="{BCA09BDB-7F41-7F38-DDB2-7A2C73849DBF}"/>
              </a:ext>
            </a:extLst>
          </p:cNvPr>
          <p:cNvSpPr>
            <a:spLocks noGrp="1"/>
          </p:cNvSpPr>
          <p:nvPr>
            <p:ph type="sldNum" sz="quarter" idx="5"/>
          </p:nvPr>
        </p:nvSpPr>
        <p:spPr/>
        <p:txBody>
          <a:bodyPr/>
          <a:lstStyle/>
          <a:p>
            <a:fld id="{A5514B32-4E6E-49F5-AF84-F2E30A6572B6}" type="slidenum">
              <a:rPr kumimoji="1" lang="ja-JP" altLang="en-US" smtClean="0"/>
              <a:t>38</a:t>
            </a:fld>
            <a:endParaRPr kumimoji="1" lang="ja-JP" altLang="en-US"/>
          </a:p>
        </p:txBody>
      </p:sp>
    </p:spTree>
    <p:extLst>
      <p:ext uri="{BB962C8B-B14F-4D97-AF65-F5344CB8AC3E}">
        <p14:creationId xmlns:p14="http://schemas.microsoft.com/office/powerpoint/2010/main" val="25317118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20940-1577-CB4F-D07F-3E2B2622995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986B2D5-030F-0BF2-CB86-B3DFF3C91C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7F84E7E-5EE4-F03B-839C-279D2C374B66}"/>
              </a:ext>
            </a:extLst>
          </p:cNvPr>
          <p:cNvSpPr>
            <a:spLocks noGrp="1"/>
          </p:cNvSpPr>
          <p:nvPr>
            <p:ph type="body" idx="1"/>
          </p:nvPr>
        </p:nvSpPr>
        <p:spPr/>
        <p:txBody>
          <a:bodyPr/>
          <a:lstStyle/>
          <a:p>
            <a:r>
              <a:rPr kumimoji="1" lang="ja-JP" altLang="en-US" dirty="0"/>
              <a:t>要約の説明</a:t>
            </a:r>
          </a:p>
        </p:txBody>
      </p:sp>
      <p:sp>
        <p:nvSpPr>
          <p:cNvPr id="4" name="スライド番号プレースホルダー 3">
            <a:extLst>
              <a:ext uri="{FF2B5EF4-FFF2-40B4-BE49-F238E27FC236}">
                <a16:creationId xmlns:a16="http://schemas.microsoft.com/office/drawing/2014/main" id="{8C18E8F5-AC25-FD23-9778-CDF1D19C7315}"/>
              </a:ext>
            </a:extLst>
          </p:cNvPr>
          <p:cNvSpPr>
            <a:spLocks noGrp="1"/>
          </p:cNvSpPr>
          <p:nvPr>
            <p:ph type="sldNum" sz="quarter" idx="5"/>
          </p:nvPr>
        </p:nvSpPr>
        <p:spPr/>
        <p:txBody>
          <a:bodyPr/>
          <a:lstStyle/>
          <a:p>
            <a:fld id="{A5514B32-4E6E-49F5-AF84-F2E30A6572B6}" type="slidenum">
              <a:rPr kumimoji="1" lang="ja-JP" altLang="en-US" smtClean="0"/>
              <a:t>39</a:t>
            </a:fld>
            <a:endParaRPr kumimoji="1" lang="ja-JP" altLang="en-US"/>
          </a:p>
        </p:txBody>
      </p:sp>
    </p:spTree>
    <p:extLst>
      <p:ext uri="{BB962C8B-B14F-4D97-AF65-F5344CB8AC3E}">
        <p14:creationId xmlns:p14="http://schemas.microsoft.com/office/powerpoint/2010/main" val="17723501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675DE-8487-EF67-43FB-03813C5125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19D18A3-61E6-6E5D-99F6-1CCC3F129CF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BC5BDEE-6831-DA41-0A4B-378986FCDA5E}"/>
              </a:ext>
            </a:extLst>
          </p:cNvPr>
          <p:cNvSpPr>
            <a:spLocks noGrp="1"/>
          </p:cNvSpPr>
          <p:nvPr>
            <p:ph type="body" idx="1"/>
          </p:nvPr>
        </p:nvSpPr>
        <p:spPr/>
        <p:txBody>
          <a:bodyPr/>
          <a:lstStyle/>
          <a:p>
            <a:r>
              <a:rPr kumimoji="1" lang="ja-JP" altLang="en-US" dirty="0"/>
              <a:t>要約の説明</a:t>
            </a:r>
            <a:br>
              <a:rPr kumimoji="1" lang="en-US" altLang="ja-JP" dirty="0"/>
            </a:br>
            <a:r>
              <a:rPr kumimoji="1" lang="ja-JP" altLang="en-US" dirty="0"/>
              <a:t>⇩</a:t>
            </a:r>
            <a:br>
              <a:rPr kumimoji="1" lang="en-US" altLang="ja-JP" dirty="0"/>
            </a:br>
            <a:r>
              <a:rPr kumimoji="1" lang="ja-JP" altLang="en-US" dirty="0"/>
              <a:t>要約を比較：</a:t>
            </a:r>
            <a:r>
              <a:rPr kumimoji="1" lang="en-US" altLang="ja-JP" dirty="0"/>
              <a:t>2</a:t>
            </a:r>
            <a:r>
              <a:rPr kumimoji="1" lang="ja-JP" altLang="en-US" dirty="0"/>
              <a:t>番の比較</a:t>
            </a:r>
          </a:p>
        </p:txBody>
      </p:sp>
      <p:sp>
        <p:nvSpPr>
          <p:cNvPr id="4" name="スライド番号プレースホルダー 3">
            <a:extLst>
              <a:ext uri="{FF2B5EF4-FFF2-40B4-BE49-F238E27FC236}">
                <a16:creationId xmlns:a16="http://schemas.microsoft.com/office/drawing/2014/main" id="{B98F750D-5233-C241-322C-9F7652426D66}"/>
              </a:ext>
            </a:extLst>
          </p:cNvPr>
          <p:cNvSpPr>
            <a:spLocks noGrp="1"/>
          </p:cNvSpPr>
          <p:nvPr>
            <p:ph type="sldNum" sz="quarter" idx="5"/>
          </p:nvPr>
        </p:nvSpPr>
        <p:spPr/>
        <p:txBody>
          <a:bodyPr/>
          <a:lstStyle/>
          <a:p>
            <a:fld id="{A5514B32-4E6E-49F5-AF84-F2E30A6572B6}" type="slidenum">
              <a:rPr kumimoji="1" lang="ja-JP" altLang="en-US" smtClean="0"/>
              <a:t>40</a:t>
            </a:fld>
            <a:endParaRPr kumimoji="1" lang="ja-JP" altLang="en-US"/>
          </a:p>
        </p:txBody>
      </p:sp>
    </p:spTree>
    <p:extLst>
      <p:ext uri="{BB962C8B-B14F-4D97-AF65-F5344CB8AC3E}">
        <p14:creationId xmlns:p14="http://schemas.microsoft.com/office/powerpoint/2010/main" val="17111883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44F0A-D092-F224-500F-6A723927A5C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5013921-EA81-E73D-E9B5-52D97BFBF19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0060F11-168A-8A6A-F63E-1187314B415C}"/>
              </a:ext>
            </a:extLst>
          </p:cNvPr>
          <p:cNvSpPr>
            <a:spLocks noGrp="1"/>
          </p:cNvSpPr>
          <p:nvPr>
            <p:ph type="body" idx="1"/>
          </p:nvPr>
        </p:nvSpPr>
        <p:spPr/>
        <p:txBody>
          <a:bodyPr/>
          <a:lstStyle/>
          <a:p>
            <a:r>
              <a:rPr kumimoji="1" lang="en-US" altLang="ja-JP" dirty="0"/>
              <a:t>7:30~8:30</a:t>
            </a:r>
            <a:br>
              <a:rPr kumimoji="1" lang="en-US" altLang="ja-JP" dirty="0"/>
            </a:br>
            <a:r>
              <a:rPr kumimoji="1" lang="ja-JP" altLang="en-US" dirty="0"/>
              <a:t>ここからは和文プロンプト</a:t>
            </a:r>
            <a:br>
              <a:rPr kumimoji="1" lang="en-US" altLang="ja-JP" dirty="0"/>
            </a:br>
            <a:r>
              <a:rPr kumimoji="1" lang="en-US" altLang="ja-JP" dirty="0"/>
              <a:t>[</a:t>
            </a:r>
            <a:r>
              <a:rPr kumimoji="1" lang="ja-JP" altLang="en-US" dirty="0"/>
              <a:t>変換前の文章</a:t>
            </a:r>
            <a:r>
              <a:rPr kumimoji="1" lang="en-US" altLang="ja-JP" dirty="0"/>
              <a:t>]</a:t>
            </a:r>
            <a:r>
              <a:rPr kumimoji="1" lang="ja-JP" altLang="en-US" dirty="0"/>
              <a:t>には実際の文章を入力する</a:t>
            </a:r>
            <a:endParaRPr kumimoji="1" lang="en-US" altLang="ja-JP" dirty="0"/>
          </a:p>
          <a:p>
            <a:r>
              <a:rPr kumimoji="1" lang="ja-JP" altLang="en-US" dirty="0"/>
              <a:t>　</a:t>
            </a:r>
            <a:endParaRPr kumimoji="1" lang="en-US" altLang="ja-JP" dirty="0"/>
          </a:p>
          <a:p>
            <a:r>
              <a:rPr kumimoji="1" lang="ja-JP" altLang="en-US" dirty="0"/>
              <a:t>実験で提示する内容は実際には人格を付与した</a:t>
            </a:r>
            <a:r>
              <a:rPr kumimoji="1" lang="en-US" altLang="ja-JP" dirty="0"/>
              <a:t>LLM</a:t>
            </a:r>
            <a:r>
              <a:rPr kumimoji="1" lang="ja-JP" altLang="en-US" dirty="0"/>
              <a:t>に</a:t>
            </a:r>
          </a:p>
        </p:txBody>
      </p:sp>
      <p:sp>
        <p:nvSpPr>
          <p:cNvPr id="4" name="スライド番号プレースホルダー 3">
            <a:extLst>
              <a:ext uri="{FF2B5EF4-FFF2-40B4-BE49-F238E27FC236}">
                <a16:creationId xmlns:a16="http://schemas.microsoft.com/office/drawing/2014/main" id="{25AC2DBA-B817-149F-F672-EE221E8CA827}"/>
              </a:ext>
            </a:extLst>
          </p:cNvPr>
          <p:cNvSpPr>
            <a:spLocks noGrp="1"/>
          </p:cNvSpPr>
          <p:nvPr>
            <p:ph type="sldNum" sz="quarter" idx="5"/>
          </p:nvPr>
        </p:nvSpPr>
        <p:spPr/>
        <p:txBody>
          <a:bodyPr/>
          <a:lstStyle/>
          <a:p>
            <a:fld id="{A5514B32-4E6E-49F5-AF84-F2E30A6572B6}" type="slidenum">
              <a:rPr kumimoji="1" lang="ja-JP" altLang="en-US" smtClean="0"/>
              <a:t>41</a:t>
            </a:fld>
            <a:endParaRPr kumimoji="1" lang="ja-JP" altLang="en-US"/>
          </a:p>
        </p:txBody>
      </p:sp>
    </p:spTree>
    <p:extLst>
      <p:ext uri="{BB962C8B-B14F-4D97-AF65-F5344CB8AC3E}">
        <p14:creationId xmlns:p14="http://schemas.microsoft.com/office/powerpoint/2010/main" val="32957294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ED409-6E8C-72E7-F60F-D5BCBECEA70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324E7B1-D97B-EE9C-7D2A-99BA7A51EB7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E747A8F-8BD4-BF5D-C9D0-DC3947E5B69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73068AD-21AB-9622-986A-7CDDF54B8DC8}"/>
              </a:ext>
            </a:extLst>
          </p:cNvPr>
          <p:cNvSpPr>
            <a:spLocks noGrp="1"/>
          </p:cNvSpPr>
          <p:nvPr>
            <p:ph type="sldNum" sz="quarter" idx="5"/>
          </p:nvPr>
        </p:nvSpPr>
        <p:spPr/>
        <p:txBody>
          <a:bodyPr/>
          <a:lstStyle/>
          <a:p>
            <a:fld id="{A5514B32-4E6E-49F5-AF84-F2E30A6572B6}" type="slidenum">
              <a:rPr kumimoji="1" lang="ja-JP" altLang="en-US" smtClean="0"/>
              <a:t>42</a:t>
            </a:fld>
            <a:endParaRPr kumimoji="1" lang="ja-JP" altLang="en-US"/>
          </a:p>
        </p:txBody>
      </p:sp>
    </p:spTree>
    <p:extLst>
      <p:ext uri="{BB962C8B-B14F-4D97-AF65-F5344CB8AC3E}">
        <p14:creationId xmlns:p14="http://schemas.microsoft.com/office/powerpoint/2010/main" val="29753601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953CB-A9F1-844B-5A15-92DB905B144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469161-4977-DAAB-66B1-608A13E202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28E9480-D82E-DC2A-05C1-96C8495C7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2773BBF-B1C3-731E-30CD-B2369E85A41F}"/>
              </a:ext>
            </a:extLst>
          </p:cNvPr>
          <p:cNvSpPr>
            <a:spLocks noGrp="1"/>
          </p:cNvSpPr>
          <p:nvPr>
            <p:ph type="sldNum" sz="quarter" idx="5"/>
          </p:nvPr>
        </p:nvSpPr>
        <p:spPr/>
        <p:txBody>
          <a:bodyPr/>
          <a:lstStyle/>
          <a:p>
            <a:fld id="{A5514B32-4E6E-49F5-AF84-F2E30A6572B6}" type="slidenum">
              <a:rPr kumimoji="1" lang="ja-JP" altLang="en-US" smtClean="0"/>
              <a:t>43</a:t>
            </a:fld>
            <a:endParaRPr kumimoji="1" lang="ja-JP" altLang="en-US"/>
          </a:p>
        </p:txBody>
      </p:sp>
    </p:spTree>
    <p:extLst>
      <p:ext uri="{BB962C8B-B14F-4D97-AF65-F5344CB8AC3E}">
        <p14:creationId xmlns:p14="http://schemas.microsoft.com/office/powerpoint/2010/main" val="41466334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A31D5-CFEB-1303-416F-03675FE3B4B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43FDF9-41FF-EC34-96F5-7FC55512B51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0A3A4AB-DC67-4F8A-C265-170DAC08577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69234EE-A330-CFE0-D1F1-77B15A1B7CBA}"/>
              </a:ext>
            </a:extLst>
          </p:cNvPr>
          <p:cNvSpPr>
            <a:spLocks noGrp="1"/>
          </p:cNvSpPr>
          <p:nvPr>
            <p:ph type="sldNum" sz="quarter" idx="5"/>
          </p:nvPr>
        </p:nvSpPr>
        <p:spPr/>
        <p:txBody>
          <a:bodyPr/>
          <a:lstStyle/>
          <a:p>
            <a:fld id="{A5514B32-4E6E-49F5-AF84-F2E30A6572B6}" type="slidenum">
              <a:rPr kumimoji="1" lang="ja-JP" altLang="en-US" smtClean="0"/>
              <a:t>44</a:t>
            </a:fld>
            <a:endParaRPr kumimoji="1" lang="ja-JP" altLang="en-US"/>
          </a:p>
        </p:txBody>
      </p:sp>
    </p:spTree>
    <p:extLst>
      <p:ext uri="{BB962C8B-B14F-4D97-AF65-F5344CB8AC3E}">
        <p14:creationId xmlns:p14="http://schemas.microsoft.com/office/powerpoint/2010/main" val="3450412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P24</a:t>
            </a:r>
            <a:r>
              <a:rPr kumimoji="1" lang="ja-JP" altLang="en-US" dirty="0"/>
              <a:t>に吹き出しを付けて、説明する</a:t>
            </a:r>
            <a:endParaRPr kumimoji="1" lang="en-US" altLang="ja-JP" dirty="0"/>
          </a:p>
          <a:p>
            <a:endParaRPr kumimoji="1" lang="en-US" altLang="ja-JP" dirty="0"/>
          </a:p>
          <a:p>
            <a:r>
              <a:rPr kumimoji="1" lang="ja-JP" altLang="en-US" dirty="0"/>
              <a:t>「あるあるだと思った」みたいなコメントも入れる</a:t>
            </a:r>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45</a:t>
            </a:fld>
            <a:endParaRPr kumimoji="1" lang="ja-JP" altLang="en-US"/>
          </a:p>
        </p:txBody>
      </p:sp>
    </p:spTree>
    <p:extLst>
      <p:ext uri="{BB962C8B-B14F-4D97-AF65-F5344CB8AC3E}">
        <p14:creationId xmlns:p14="http://schemas.microsoft.com/office/powerpoint/2010/main" val="38218402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BF8D-FBA1-ACD5-88A9-A773F04A35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DBAADA-017C-6F57-70ED-115B122CED8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B01CB85-746B-6DDE-9049-9278229D3437}"/>
              </a:ext>
            </a:extLst>
          </p:cNvPr>
          <p:cNvSpPr>
            <a:spLocks noGrp="1"/>
          </p:cNvSpPr>
          <p:nvPr>
            <p:ph type="body" idx="1"/>
          </p:nvPr>
        </p:nvSpPr>
        <p:spPr/>
        <p:txBody>
          <a:bodyPr/>
          <a:lstStyle/>
          <a:p>
            <a:r>
              <a:rPr kumimoji="1" lang="en-US" altLang="ja-JP" dirty="0"/>
              <a:t>P24</a:t>
            </a:r>
            <a:r>
              <a:rPr kumimoji="1" lang="ja-JP" altLang="en-US" dirty="0"/>
              <a:t>に吹き出しを付けて、説明する</a:t>
            </a:r>
            <a:endParaRPr kumimoji="1" lang="en-US" altLang="ja-JP" dirty="0"/>
          </a:p>
          <a:p>
            <a:endParaRPr kumimoji="1" lang="en-US" altLang="ja-JP" dirty="0"/>
          </a:p>
          <a:p>
            <a:r>
              <a:rPr kumimoji="1" lang="ja-JP" altLang="en-US" dirty="0"/>
              <a:t>「あるあるだと思った」みたいなコメントも入れる</a:t>
            </a:r>
          </a:p>
        </p:txBody>
      </p:sp>
      <p:sp>
        <p:nvSpPr>
          <p:cNvPr id="4" name="スライド番号プレースホルダー 3">
            <a:extLst>
              <a:ext uri="{FF2B5EF4-FFF2-40B4-BE49-F238E27FC236}">
                <a16:creationId xmlns:a16="http://schemas.microsoft.com/office/drawing/2014/main" id="{330D52B6-1A63-CFD3-B731-B304A73D8B39}"/>
              </a:ext>
            </a:extLst>
          </p:cNvPr>
          <p:cNvSpPr>
            <a:spLocks noGrp="1"/>
          </p:cNvSpPr>
          <p:nvPr>
            <p:ph type="sldNum" sz="quarter" idx="5"/>
          </p:nvPr>
        </p:nvSpPr>
        <p:spPr/>
        <p:txBody>
          <a:bodyPr/>
          <a:lstStyle/>
          <a:p>
            <a:fld id="{A5514B32-4E6E-49F5-AF84-F2E30A6572B6}" type="slidenum">
              <a:rPr kumimoji="1" lang="ja-JP" altLang="en-US" smtClean="0"/>
              <a:t>46</a:t>
            </a:fld>
            <a:endParaRPr kumimoji="1" lang="ja-JP" altLang="en-US"/>
          </a:p>
        </p:txBody>
      </p:sp>
    </p:spTree>
    <p:extLst>
      <p:ext uri="{BB962C8B-B14F-4D97-AF65-F5344CB8AC3E}">
        <p14:creationId xmlns:p14="http://schemas.microsoft.com/office/powerpoint/2010/main" val="34206550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6F442-AD9D-B369-49E1-65BDECF84C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814288B-6B00-51E0-3F90-9BC511C70DD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72D53C2-D0DC-19E4-0166-C867EAFC6FD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7C908AF-A059-238E-878C-FD74D1BDF830}"/>
              </a:ext>
            </a:extLst>
          </p:cNvPr>
          <p:cNvSpPr>
            <a:spLocks noGrp="1"/>
          </p:cNvSpPr>
          <p:nvPr>
            <p:ph type="sldNum" sz="quarter" idx="5"/>
          </p:nvPr>
        </p:nvSpPr>
        <p:spPr/>
        <p:txBody>
          <a:bodyPr/>
          <a:lstStyle/>
          <a:p>
            <a:fld id="{A5514B32-4E6E-49F5-AF84-F2E30A6572B6}" type="slidenum">
              <a:rPr kumimoji="1" lang="ja-JP" altLang="en-US" smtClean="0"/>
              <a:t>47</a:t>
            </a:fld>
            <a:endParaRPr kumimoji="1" lang="ja-JP" altLang="en-US"/>
          </a:p>
        </p:txBody>
      </p:sp>
    </p:spTree>
    <p:extLst>
      <p:ext uri="{BB962C8B-B14F-4D97-AF65-F5344CB8AC3E}">
        <p14:creationId xmlns:p14="http://schemas.microsoft.com/office/powerpoint/2010/main" val="42645643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34605-0450-AB6B-1C1D-85DA1EBDCAF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09D96CA-D867-F8E8-8303-1FEDE85D43A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85F006-C002-CDAF-4F99-7199038E842D}"/>
              </a:ext>
            </a:extLst>
          </p:cNvPr>
          <p:cNvSpPr>
            <a:spLocks noGrp="1"/>
          </p:cNvSpPr>
          <p:nvPr>
            <p:ph type="body" idx="1"/>
          </p:nvPr>
        </p:nvSpPr>
        <p:spPr/>
        <p:txBody>
          <a:bodyPr/>
          <a:lstStyle/>
          <a:p>
            <a:r>
              <a:rPr kumimoji="1" lang="ja-JP" altLang="en-US" dirty="0"/>
              <a:t>吹き出し</a:t>
            </a:r>
          </a:p>
        </p:txBody>
      </p:sp>
      <p:sp>
        <p:nvSpPr>
          <p:cNvPr id="4" name="スライド番号プレースホルダー 3">
            <a:extLst>
              <a:ext uri="{FF2B5EF4-FFF2-40B4-BE49-F238E27FC236}">
                <a16:creationId xmlns:a16="http://schemas.microsoft.com/office/drawing/2014/main" id="{CE757DB8-CDA3-2AD3-9F60-8A18134B5F4C}"/>
              </a:ext>
            </a:extLst>
          </p:cNvPr>
          <p:cNvSpPr>
            <a:spLocks noGrp="1"/>
          </p:cNvSpPr>
          <p:nvPr>
            <p:ph type="sldNum" sz="quarter" idx="5"/>
          </p:nvPr>
        </p:nvSpPr>
        <p:spPr/>
        <p:txBody>
          <a:bodyPr/>
          <a:lstStyle/>
          <a:p>
            <a:fld id="{A5514B32-4E6E-49F5-AF84-F2E30A6572B6}" type="slidenum">
              <a:rPr kumimoji="1" lang="ja-JP" altLang="en-US" smtClean="0"/>
              <a:t>48</a:t>
            </a:fld>
            <a:endParaRPr kumimoji="1" lang="ja-JP" altLang="en-US"/>
          </a:p>
        </p:txBody>
      </p:sp>
    </p:spTree>
    <p:extLst>
      <p:ext uri="{BB962C8B-B14F-4D97-AF65-F5344CB8AC3E}">
        <p14:creationId xmlns:p14="http://schemas.microsoft.com/office/powerpoint/2010/main" val="99234588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48C65-63D3-9C3D-344E-DCCD602DED9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20B90C6-59CC-DCE0-5159-9528AB4A3E9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A2D091-102E-60D9-5624-8673809F21E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F5E2432-6CE2-1765-EDB2-2CC551236169}"/>
              </a:ext>
            </a:extLst>
          </p:cNvPr>
          <p:cNvSpPr>
            <a:spLocks noGrp="1"/>
          </p:cNvSpPr>
          <p:nvPr>
            <p:ph type="sldNum" sz="quarter" idx="5"/>
          </p:nvPr>
        </p:nvSpPr>
        <p:spPr/>
        <p:txBody>
          <a:bodyPr/>
          <a:lstStyle/>
          <a:p>
            <a:fld id="{A5514B32-4E6E-49F5-AF84-F2E30A6572B6}" type="slidenum">
              <a:rPr kumimoji="1" lang="ja-JP" altLang="en-US" smtClean="0"/>
              <a:t>49</a:t>
            </a:fld>
            <a:endParaRPr kumimoji="1" lang="ja-JP" altLang="en-US"/>
          </a:p>
        </p:txBody>
      </p:sp>
    </p:spTree>
    <p:extLst>
      <p:ext uri="{BB962C8B-B14F-4D97-AF65-F5344CB8AC3E}">
        <p14:creationId xmlns:p14="http://schemas.microsoft.com/office/powerpoint/2010/main" val="27230645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C97F8-6682-2B18-B440-2CE939AD879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682B7B7-CFBC-1972-02F1-1376B9B074D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180483F-6923-49E4-E0F1-861AFD946832}"/>
              </a:ext>
            </a:extLst>
          </p:cNvPr>
          <p:cNvSpPr>
            <a:spLocks noGrp="1"/>
          </p:cNvSpPr>
          <p:nvPr>
            <p:ph type="body" idx="1"/>
          </p:nvPr>
        </p:nvSpPr>
        <p:spPr/>
        <p:txBody>
          <a:bodyPr/>
          <a:lstStyle/>
          <a:p>
            <a:br>
              <a:rPr kumimoji="1" lang="en-US" altLang="ja-JP" dirty="0"/>
            </a:br>
            <a:r>
              <a:rPr kumimoji="1" lang="ja-JP" altLang="en-US" dirty="0"/>
              <a:t>名乗りなしの時にだけの理由も</a:t>
            </a:r>
            <a:endParaRPr kumimoji="1" lang="en-US" altLang="ja-JP" dirty="0"/>
          </a:p>
          <a:p>
            <a:endParaRPr kumimoji="1" lang="en-US" altLang="ja-JP" dirty="0"/>
          </a:p>
          <a:p>
            <a:r>
              <a:rPr kumimoji="1" lang="ja-JP" altLang="en-US" dirty="0"/>
              <a:t>名乗ると礼儀正しいのに</a:t>
            </a:r>
          </a:p>
        </p:txBody>
      </p:sp>
      <p:sp>
        <p:nvSpPr>
          <p:cNvPr id="4" name="スライド番号プレースホルダー 3">
            <a:extLst>
              <a:ext uri="{FF2B5EF4-FFF2-40B4-BE49-F238E27FC236}">
                <a16:creationId xmlns:a16="http://schemas.microsoft.com/office/drawing/2014/main" id="{6A53F699-3B50-23EF-C31E-71033072BD2E}"/>
              </a:ext>
            </a:extLst>
          </p:cNvPr>
          <p:cNvSpPr>
            <a:spLocks noGrp="1"/>
          </p:cNvSpPr>
          <p:nvPr>
            <p:ph type="sldNum" sz="quarter" idx="5"/>
          </p:nvPr>
        </p:nvSpPr>
        <p:spPr/>
        <p:txBody>
          <a:bodyPr/>
          <a:lstStyle/>
          <a:p>
            <a:fld id="{A5514B32-4E6E-49F5-AF84-F2E30A6572B6}" type="slidenum">
              <a:rPr kumimoji="1" lang="ja-JP" altLang="en-US" smtClean="0"/>
              <a:t>50</a:t>
            </a:fld>
            <a:endParaRPr kumimoji="1" lang="ja-JP" altLang="en-US"/>
          </a:p>
        </p:txBody>
      </p:sp>
    </p:spTree>
    <p:extLst>
      <p:ext uri="{BB962C8B-B14F-4D97-AF65-F5344CB8AC3E}">
        <p14:creationId xmlns:p14="http://schemas.microsoft.com/office/powerpoint/2010/main" val="186112044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2CF86-FB71-629C-74A2-0814D89B3E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8E1318A-0672-73E6-54CA-029F0F5E5B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6E51CD0-0DE9-C765-AF24-AA5C5851F2F7}"/>
              </a:ext>
            </a:extLst>
          </p:cNvPr>
          <p:cNvSpPr>
            <a:spLocks noGrp="1"/>
          </p:cNvSpPr>
          <p:nvPr>
            <p:ph type="body" idx="1"/>
          </p:nvPr>
        </p:nvSpPr>
        <p:spPr/>
        <p:txBody>
          <a:bodyPr/>
          <a:lstStyle/>
          <a:p>
            <a:r>
              <a:rPr lang="ja-JP" altLang="en-US" dirty="0"/>
              <a:t>人間は、対象に「名前（ラベル）」がつくと、それだけで対象を理解した気になり、細部を見るのをやめてしまう性質</a:t>
            </a:r>
            <a:endParaRPr lang="en-US" altLang="ja-JP" dirty="0"/>
          </a:p>
          <a:p>
            <a:endParaRPr kumimoji="1" lang="en-US" altLang="ja-JP" dirty="0"/>
          </a:p>
          <a:p>
            <a:r>
              <a:rPr kumimoji="1" lang="ja-JP" altLang="en-US" dirty="0"/>
              <a:t>名乗らないと正体が分からない，人格固定さっきのやつと同じだから</a:t>
            </a:r>
            <a:endParaRPr kumimoji="1" lang="en-US" altLang="ja-JP" dirty="0"/>
          </a:p>
          <a:p>
            <a:r>
              <a:rPr kumimoji="1" lang="ja-JP" altLang="en-US" dirty="0"/>
              <a:t>識別が難しく</a:t>
            </a:r>
            <a:endParaRPr kumimoji="1" lang="en-US" altLang="ja-JP" dirty="0"/>
          </a:p>
          <a:p>
            <a:endParaRPr kumimoji="1" lang="en-US" altLang="ja-JP" dirty="0"/>
          </a:p>
          <a:p>
            <a:r>
              <a:rPr kumimoji="1" lang="ja-JP" altLang="en-US" dirty="0"/>
              <a:t>変化に気づきにくい変化だから，判断できないから注意深く見よう</a:t>
            </a:r>
          </a:p>
        </p:txBody>
      </p:sp>
      <p:sp>
        <p:nvSpPr>
          <p:cNvPr id="4" name="スライド番号プレースホルダー 3">
            <a:extLst>
              <a:ext uri="{FF2B5EF4-FFF2-40B4-BE49-F238E27FC236}">
                <a16:creationId xmlns:a16="http://schemas.microsoft.com/office/drawing/2014/main" id="{634116DD-E881-364B-8237-D36D3DF5EBBC}"/>
              </a:ext>
            </a:extLst>
          </p:cNvPr>
          <p:cNvSpPr>
            <a:spLocks noGrp="1"/>
          </p:cNvSpPr>
          <p:nvPr>
            <p:ph type="sldNum" sz="quarter" idx="5"/>
          </p:nvPr>
        </p:nvSpPr>
        <p:spPr/>
        <p:txBody>
          <a:bodyPr/>
          <a:lstStyle/>
          <a:p>
            <a:fld id="{A5514B32-4E6E-49F5-AF84-F2E30A6572B6}" type="slidenum">
              <a:rPr kumimoji="1" lang="ja-JP" altLang="en-US" smtClean="0"/>
              <a:t>51</a:t>
            </a:fld>
            <a:endParaRPr kumimoji="1" lang="ja-JP" altLang="en-US"/>
          </a:p>
        </p:txBody>
      </p:sp>
    </p:spTree>
    <p:extLst>
      <p:ext uri="{BB962C8B-B14F-4D97-AF65-F5344CB8AC3E}">
        <p14:creationId xmlns:p14="http://schemas.microsoft.com/office/powerpoint/2010/main" val="153179352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EF3D3-4504-7342-E3B0-21C736F7A6E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9AE2953-FAB2-DA8C-4BDB-1ADDAF22EB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9313E6E-E4C3-2A36-AEA9-22EFE5136C94}"/>
              </a:ext>
            </a:extLst>
          </p:cNvPr>
          <p:cNvSpPr>
            <a:spLocks noGrp="1"/>
          </p:cNvSpPr>
          <p:nvPr>
            <p:ph type="body" idx="1"/>
          </p:nvPr>
        </p:nvSpPr>
        <p:spPr/>
        <p:txBody>
          <a:bodyPr/>
          <a:lstStyle/>
          <a:p>
            <a:r>
              <a:rPr kumimoji="1" lang="ja-JP" altLang="en-US" dirty="0"/>
              <a:t>固定であると感情の起伏がないように感じた</a:t>
            </a:r>
            <a:endParaRPr kumimoji="1" lang="en-US" altLang="ja-JP" dirty="0"/>
          </a:p>
          <a:p>
            <a:r>
              <a:rPr kumimoji="1" lang="ja-JP" altLang="en-US" dirty="0"/>
              <a:t>同じ名前を言ってることに無機質に感じる→機械的な応答</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CEC265D8-070C-1688-8777-18488AA9D583}"/>
              </a:ext>
            </a:extLst>
          </p:cNvPr>
          <p:cNvSpPr>
            <a:spLocks noGrp="1"/>
          </p:cNvSpPr>
          <p:nvPr>
            <p:ph type="sldNum" sz="quarter" idx="5"/>
          </p:nvPr>
        </p:nvSpPr>
        <p:spPr/>
        <p:txBody>
          <a:bodyPr/>
          <a:lstStyle/>
          <a:p>
            <a:fld id="{A5514B32-4E6E-49F5-AF84-F2E30A6572B6}" type="slidenum">
              <a:rPr kumimoji="1" lang="ja-JP" altLang="en-US" smtClean="0"/>
              <a:t>52</a:t>
            </a:fld>
            <a:endParaRPr kumimoji="1" lang="ja-JP" altLang="en-US"/>
          </a:p>
        </p:txBody>
      </p:sp>
    </p:spTree>
    <p:extLst>
      <p:ext uri="{BB962C8B-B14F-4D97-AF65-F5344CB8AC3E}">
        <p14:creationId xmlns:p14="http://schemas.microsoft.com/office/powerpoint/2010/main" val="411332928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1BE63-159C-5F2F-217B-E24290A292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D689206-44E4-60BF-55AE-647FAF171DC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6B9A0E9-4BE4-DF9B-10AB-3D5DD49493A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5DF325D-615C-0C17-F2E2-ACD6F94055AB}"/>
              </a:ext>
            </a:extLst>
          </p:cNvPr>
          <p:cNvSpPr>
            <a:spLocks noGrp="1"/>
          </p:cNvSpPr>
          <p:nvPr>
            <p:ph type="sldNum" sz="quarter" idx="5"/>
          </p:nvPr>
        </p:nvSpPr>
        <p:spPr/>
        <p:txBody>
          <a:bodyPr/>
          <a:lstStyle/>
          <a:p>
            <a:fld id="{A5514B32-4E6E-49F5-AF84-F2E30A6572B6}" type="slidenum">
              <a:rPr kumimoji="1" lang="ja-JP" altLang="en-US" smtClean="0"/>
              <a:t>53</a:t>
            </a:fld>
            <a:endParaRPr kumimoji="1" lang="ja-JP" altLang="en-US"/>
          </a:p>
        </p:txBody>
      </p:sp>
    </p:spTree>
    <p:extLst>
      <p:ext uri="{BB962C8B-B14F-4D97-AF65-F5344CB8AC3E}">
        <p14:creationId xmlns:p14="http://schemas.microsoft.com/office/powerpoint/2010/main" val="119611115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77B87-72A0-01FA-067D-B2226CD2FD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D24EC2-2FB1-0CFE-3FDE-59FA081F9E7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664E00-974F-D7E3-9ADA-7DBAFFF13A60}"/>
              </a:ext>
            </a:extLst>
          </p:cNvPr>
          <p:cNvSpPr>
            <a:spLocks noGrp="1"/>
          </p:cNvSpPr>
          <p:nvPr>
            <p:ph type="body" idx="1"/>
          </p:nvPr>
        </p:nvSpPr>
        <p:spPr/>
        <p:txBody>
          <a:bodyPr/>
          <a:lstStyle/>
          <a:p>
            <a:r>
              <a:rPr kumimoji="1" lang="ja-JP" altLang="en-US" dirty="0"/>
              <a:t>タイトル：結果と考察</a:t>
            </a:r>
            <a:endParaRPr kumimoji="1" lang="en-US" altLang="ja-JP" dirty="0"/>
          </a:p>
          <a:p>
            <a:r>
              <a:rPr kumimoji="1" lang="ja-JP" altLang="en-US" dirty="0"/>
              <a:t>右下に考察</a:t>
            </a:r>
            <a:endParaRPr kumimoji="1" lang="en-US" altLang="ja-JP" dirty="0"/>
          </a:p>
          <a:p>
            <a:endParaRPr kumimoji="1" lang="en-US" altLang="ja-JP" dirty="0"/>
          </a:p>
          <a:p>
            <a:r>
              <a:rPr kumimoji="1" lang="ja-JP" altLang="en-US" dirty="0"/>
              <a:t>普通の</a:t>
            </a:r>
            <a:r>
              <a:rPr kumimoji="1" lang="en-US" altLang="ja-JP" dirty="0"/>
              <a:t>LLM</a:t>
            </a:r>
            <a:r>
              <a:rPr kumimoji="1" lang="ja-JP" altLang="en-US" dirty="0"/>
              <a:t>にないような設計をすると</a:t>
            </a:r>
            <a:r>
              <a:rPr kumimoji="1" lang="en-US" altLang="ja-JP" dirty="0"/>
              <a:t>5</a:t>
            </a:r>
            <a:r>
              <a:rPr kumimoji="1" lang="ja-JP" altLang="en-US" dirty="0"/>
              <a:t>を超えない項目があるでまとめる</a:t>
            </a:r>
            <a:endParaRPr kumimoji="1" lang="en-US" altLang="ja-JP" dirty="0"/>
          </a:p>
          <a:p>
            <a:r>
              <a:rPr kumimoji="1" lang="en-US" altLang="ja-JP" dirty="0"/>
              <a:t>5</a:t>
            </a:r>
            <a:r>
              <a:rPr kumimoji="1" lang="ja-JP" altLang="en-US" dirty="0"/>
              <a:t>を超える項目は有効であるとまとめる</a:t>
            </a:r>
            <a:endParaRPr kumimoji="1" lang="en-US" altLang="ja-JP" dirty="0"/>
          </a:p>
          <a:p>
            <a:endParaRPr kumimoji="1" lang="en-US" altLang="ja-JP" dirty="0"/>
          </a:p>
          <a:p>
            <a:r>
              <a:rPr kumimoji="1" lang="ja-JP" altLang="en-US" dirty="0"/>
              <a:t>考察のまとめをつくる</a:t>
            </a:r>
          </a:p>
        </p:txBody>
      </p:sp>
      <p:sp>
        <p:nvSpPr>
          <p:cNvPr id="4" name="スライド番号プレースホルダー 3">
            <a:extLst>
              <a:ext uri="{FF2B5EF4-FFF2-40B4-BE49-F238E27FC236}">
                <a16:creationId xmlns:a16="http://schemas.microsoft.com/office/drawing/2014/main" id="{C9C1A25F-EF53-E106-D38E-C201A1551AE5}"/>
              </a:ext>
            </a:extLst>
          </p:cNvPr>
          <p:cNvSpPr>
            <a:spLocks noGrp="1"/>
          </p:cNvSpPr>
          <p:nvPr>
            <p:ph type="sldNum" sz="quarter" idx="5"/>
          </p:nvPr>
        </p:nvSpPr>
        <p:spPr/>
        <p:txBody>
          <a:bodyPr/>
          <a:lstStyle/>
          <a:p>
            <a:fld id="{A5514B32-4E6E-49F5-AF84-F2E30A6572B6}" type="slidenum">
              <a:rPr kumimoji="1" lang="ja-JP" altLang="en-US" smtClean="0"/>
              <a:t>54</a:t>
            </a:fld>
            <a:endParaRPr kumimoji="1" lang="ja-JP" altLang="en-US"/>
          </a:p>
        </p:txBody>
      </p:sp>
    </p:spTree>
    <p:extLst>
      <p:ext uri="{BB962C8B-B14F-4D97-AF65-F5344CB8AC3E}">
        <p14:creationId xmlns:p14="http://schemas.microsoft.com/office/powerpoint/2010/main" val="22877370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58722-DF6A-0726-4EDA-FF4655864B5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3B13F82-A799-50C1-C2F2-EF44C63BB52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A5599BF-9D36-9AC6-3A08-065564EC9B37}"/>
              </a:ext>
            </a:extLst>
          </p:cNvPr>
          <p:cNvSpPr>
            <a:spLocks noGrp="1"/>
          </p:cNvSpPr>
          <p:nvPr>
            <p:ph type="body" idx="1"/>
          </p:nvPr>
        </p:nvSpPr>
        <p:spPr/>
        <p:txBody>
          <a:bodyPr/>
          <a:lstStyle/>
          <a:p>
            <a:r>
              <a:rPr kumimoji="1" lang="ja-JP" altLang="en-US" dirty="0"/>
              <a:t>事後検定バージョン</a:t>
            </a:r>
            <a:br>
              <a:rPr kumimoji="1" lang="en-US" altLang="ja-JP" dirty="0"/>
            </a:br>
            <a:endParaRPr kumimoji="1" lang="ja-JP" altLang="en-US" dirty="0"/>
          </a:p>
        </p:txBody>
      </p:sp>
      <p:sp>
        <p:nvSpPr>
          <p:cNvPr id="4" name="スライド番号プレースホルダー 3">
            <a:extLst>
              <a:ext uri="{FF2B5EF4-FFF2-40B4-BE49-F238E27FC236}">
                <a16:creationId xmlns:a16="http://schemas.microsoft.com/office/drawing/2014/main" id="{DB29F09B-0DD7-889B-37FA-92FE5C645821}"/>
              </a:ext>
            </a:extLst>
          </p:cNvPr>
          <p:cNvSpPr>
            <a:spLocks noGrp="1"/>
          </p:cNvSpPr>
          <p:nvPr>
            <p:ph type="sldNum" sz="quarter" idx="5"/>
          </p:nvPr>
        </p:nvSpPr>
        <p:spPr/>
        <p:txBody>
          <a:bodyPr/>
          <a:lstStyle/>
          <a:p>
            <a:fld id="{A5514B32-4E6E-49F5-AF84-F2E30A6572B6}" type="slidenum">
              <a:rPr kumimoji="1" lang="ja-JP" altLang="en-US" smtClean="0"/>
              <a:t>55</a:t>
            </a:fld>
            <a:endParaRPr kumimoji="1" lang="ja-JP" altLang="en-US"/>
          </a:p>
        </p:txBody>
      </p:sp>
    </p:spTree>
    <p:extLst>
      <p:ext uri="{BB962C8B-B14F-4D97-AF65-F5344CB8AC3E}">
        <p14:creationId xmlns:p14="http://schemas.microsoft.com/office/powerpoint/2010/main" val="370333527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10C58-4FB8-3FAB-1B7B-6EBF39112E3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31E6866-726C-E0D0-DE95-9B3F8159826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654C281-7A7E-3C22-C37B-362A460409E2}"/>
              </a:ext>
            </a:extLst>
          </p:cNvPr>
          <p:cNvSpPr>
            <a:spLocks noGrp="1"/>
          </p:cNvSpPr>
          <p:nvPr>
            <p:ph type="body" idx="1"/>
          </p:nvPr>
        </p:nvSpPr>
        <p:spPr/>
        <p:txBody>
          <a:bodyPr/>
          <a:lstStyle/>
          <a:p>
            <a:r>
              <a:rPr kumimoji="1" lang="ja-JP" altLang="en-US" dirty="0"/>
              <a:t>事後検定バージョン</a:t>
            </a:r>
          </a:p>
        </p:txBody>
      </p:sp>
      <p:sp>
        <p:nvSpPr>
          <p:cNvPr id="4" name="スライド番号プレースホルダー 3">
            <a:extLst>
              <a:ext uri="{FF2B5EF4-FFF2-40B4-BE49-F238E27FC236}">
                <a16:creationId xmlns:a16="http://schemas.microsoft.com/office/drawing/2014/main" id="{75938AC3-23BC-7592-0D94-C25FBF448907}"/>
              </a:ext>
            </a:extLst>
          </p:cNvPr>
          <p:cNvSpPr>
            <a:spLocks noGrp="1"/>
          </p:cNvSpPr>
          <p:nvPr>
            <p:ph type="sldNum" sz="quarter" idx="5"/>
          </p:nvPr>
        </p:nvSpPr>
        <p:spPr/>
        <p:txBody>
          <a:bodyPr/>
          <a:lstStyle/>
          <a:p>
            <a:fld id="{A5514B32-4E6E-49F5-AF84-F2E30A6572B6}" type="slidenum">
              <a:rPr kumimoji="1" lang="ja-JP" altLang="en-US" smtClean="0"/>
              <a:t>56</a:t>
            </a:fld>
            <a:endParaRPr kumimoji="1" lang="ja-JP" altLang="en-US"/>
          </a:p>
        </p:txBody>
      </p:sp>
    </p:spTree>
    <p:extLst>
      <p:ext uri="{BB962C8B-B14F-4D97-AF65-F5344CB8AC3E}">
        <p14:creationId xmlns:p14="http://schemas.microsoft.com/office/powerpoint/2010/main" val="336809645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6B224-97E3-095C-8B26-54A5446660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0BD898-198C-ABB7-0984-759C5596CCE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FB0CD68-59B2-FE1F-CB17-238CAFA11A4B}"/>
              </a:ext>
            </a:extLst>
          </p:cNvPr>
          <p:cNvSpPr>
            <a:spLocks noGrp="1"/>
          </p:cNvSpPr>
          <p:nvPr>
            <p:ph type="body" idx="1"/>
          </p:nvPr>
        </p:nvSpPr>
        <p:spPr/>
        <p:txBody>
          <a:bodyPr/>
          <a:lstStyle/>
          <a:p>
            <a:r>
              <a:rPr kumimoji="1" lang="ja-JP" altLang="en-US" dirty="0"/>
              <a:t>事後検定バージョン</a:t>
            </a:r>
            <a:br>
              <a:rPr kumimoji="1" lang="en-US" altLang="ja-JP" dirty="0"/>
            </a:br>
            <a:endParaRPr kumimoji="1" lang="ja-JP" altLang="en-US" dirty="0"/>
          </a:p>
        </p:txBody>
      </p:sp>
      <p:sp>
        <p:nvSpPr>
          <p:cNvPr id="4" name="スライド番号プレースホルダー 3">
            <a:extLst>
              <a:ext uri="{FF2B5EF4-FFF2-40B4-BE49-F238E27FC236}">
                <a16:creationId xmlns:a16="http://schemas.microsoft.com/office/drawing/2014/main" id="{00629846-139A-28FF-7476-D7E497167794}"/>
              </a:ext>
            </a:extLst>
          </p:cNvPr>
          <p:cNvSpPr>
            <a:spLocks noGrp="1"/>
          </p:cNvSpPr>
          <p:nvPr>
            <p:ph type="sldNum" sz="quarter" idx="5"/>
          </p:nvPr>
        </p:nvSpPr>
        <p:spPr/>
        <p:txBody>
          <a:bodyPr/>
          <a:lstStyle/>
          <a:p>
            <a:fld id="{A5514B32-4E6E-49F5-AF84-F2E30A6572B6}" type="slidenum">
              <a:rPr kumimoji="1" lang="ja-JP" altLang="en-US" smtClean="0"/>
              <a:t>57</a:t>
            </a:fld>
            <a:endParaRPr kumimoji="1" lang="ja-JP" altLang="en-US"/>
          </a:p>
        </p:txBody>
      </p:sp>
    </p:spTree>
    <p:extLst>
      <p:ext uri="{BB962C8B-B14F-4D97-AF65-F5344CB8AC3E}">
        <p14:creationId xmlns:p14="http://schemas.microsoft.com/office/powerpoint/2010/main" val="21418730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D95DF-2F78-F088-55F5-38CADEB29E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8628FC7-C199-1A6C-1C3E-6790A8E16AE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AD785BA-0008-D7BC-C1EB-B3BB6F61B43D}"/>
              </a:ext>
            </a:extLst>
          </p:cNvPr>
          <p:cNvSpPr>
            <a:spLocks noGrp="1"/>
          </p:cNvSpPr>
          <p:nvPr>
            <p:ph type="body" idx="1"/>
          </p:nvPr>
        </p:nvSpPr>
        <p:spPr/>
        <p:txBody>
          <a:bodyPr/>
          <a:lstStyle/>
          <a:p>
            <a:r>
              <a:rPr lang="ja-JP" altLang="en-US" sz="1200" b="1" dirty="0"/>
              <a:t>名乗りあり水準の方がなし水準と比較して意図した実験設定と項目の</a:t>
            </a:r>
            <a:r>
              <a:rPr lang="ja-JP" altLang="en-US" sz="1200" b="1" dirty="0">
                <a:solidFill>
                  <a:srgbClr val="C00000"/>
                </a:solidFill>
              </a:rPr>
              <a:t>回答率が高い</a:t>
            </a:r>
            <a:endParaRPr lang="en-US" altLang="ja-JP" sz="1200" b="1" dirty="0">
              <a:solidFill>
                <a:srgbClr val="C00000"/>
              </a:solidFill>
            </a:endParaRPr>
          </a:p>
          <a:p>
            <a:endParaRPr lang="en-US" altLang="ja-JP" sz="1200" b="1" dirty="0">
              <a:solidFill>
                <a:srgbClr val="C00000"/>
              </a:solidFill>
            </a:endParaRPr>
          </a:p>
          <a:p>
            <a:r>
              <a:rPr lang="ja-JP" altLang="en-US" sz="1200" b="1" dirty="0">
                <a:solidFill>
                  <a:srgbClr val="C00000"/>
                </a:solidFill>
              </a:rPr>
              <a:t>タイトル「人格切替と名乗りの自覚」</a:t>
            </a:r>
            <a:endParaRPr lang="en-US" altLang="ja-JP" sz="1200" b="1" dirty="0">
              <a:solidFill>
                <a:srgbClr val="C00000"/>
              </a:solidFill>
            </a:endParaRPr>
          </a:p>
          <a:p>
            <a:endParaRPr lang="en-US" altLang="ja-JP" sz="1200" b="1" dirty="0">
              <a:solidFill>
                <a:srgbClr val="C00000"/>
              </a:solidFill>
            </a:endParaRPr>
          </a:p>
          <a:p>
            <a:r>
              <a:rPr lang="ja-JP" altLang="en-US" sz="1200" b="1" dirty="0">
                <a:solidFill>
                  <a:srgbClr val="C00000"/>
                </a:solidFill>
              </a:rPr>
              <a:t>・条件ごとの人数を先に提示</a:t>
            </a:r>
            <a:endParaRPr lang="en-US" altLang="ja-JP" sz="1200" b="1" dirty="0">
              <a:solidFill>
                <a:srgbClr val="C00000"/>
              </a:solidFill>
            </a:endParaRPr>
          </a:p>
          <a:p>
            <a:endParaRPr lang="en-US" altLang="ja-JP" sz="1200" b="1" dirty="0">
              <a:solidFill>
                <a:srgbClr val="C00000"/>
              </a:solidFill>
            </a:endParaRPr>
          </a:p>
          <a:p>
            <a:r>
              <a:rPr lang="ja-JP" altLang="en-US" sz="1200" b="1" dirty="0">
                <a:solidFill>
                  <a:srgbClr val="C00000"/>
                </a:solidFill>
              </a:rPr>
              <a:t>・参加者にある程度ちゃんと伝わったかを言う</a:t>
            </a:r>
            <a:endParaRPr lang="en-US" altLang="ja-JP" sz="1200" b="1" dirty="0">
              <a:solidFill>
                <a:srgbClr val="C00000"/>
              </a:solidFill>
            </a:endParaRPr>
          </a:p>
          <a:p>
            <a:r>
              <a:rPr lang="ja-JP" altLang="en-US" sz="1200" b="1" dirty="0">
                <a:solidFill>
                  <a:srgbClr val="C00000"/>
                </a:solidFill>
              </a:rPr>
              <a:t>実験設定の</a:t>
            </a:r>
            <a:endParaRPr lang="en-US" altLang="ja-JP" sz="1200" b="1" dirty="0">
              <a:solidFill>
                <a:srgbClr val="C00000"/>
              </a:solidFill>
            </a:endParaRPr>
          </a:p>
          <a:p>
            <a:endParaRPr lang="en-US" altLang="ja-JP" sz="1200" b="1" dirty="0">
              <a:solidFill>
                <a:srgbClr val="C00000"/>
              </a:solidFill>
            </a:endParaRPr>
          </a:p>
          <a:p>
            <a:r>
              <a:rPr lang="ja-JP" altLang="en-US" sz="1200" b="1" dirty="0">
                <a:solidFill>
                  <a:srgbClr val="C00000"/>
                </a:solidFill>
              </a:rPr>
              <a:t>本人には</a:t>
            </a:r>
            <a:endParaRPr lang="en-US" altLang="ja-JP" sz="1200" b="1" dirty="0">
              <a:solidFill>
                <a:srgbClr val="C00000"/>
              </a:solidFill>
            </a:endParaRPr>
          </a:p>
          <a:p>
            <a:endParaRPr kumimoji="1" lang="ja-JP" altLang="en-US" dirty="0"/>
          </a:p>
        </p:txBody>
      </p:sp>
      <p:sp>
        <p:nvSpPr>
          <p:cNvPr id="4" name="スライド番号プレースホルダー 3">
            <a:extLst>
              <a:ext uri="{FF2B5EF4-FFF2-40B4-BE49-F238E27FC236}">
                <a16:creationId xmlns:a16="http://schemas.microsoft.com/office/drawing/2014/main" id="{796BB6DD-623C-43E1-90EE-76CE58119883}"/>
              </a:ext>
            </a:extLst>
          </p:cNvPr>
          <p:cNvSpPr>
            <a:spLocks noGrp="1"/>
          </p:cNvSpPr>
          <p:nvPr>
            <p:ph type="sldNum" sz="quarter" idx="5"/>
          </p:nvPr>
        </p:nvSpPr>
        <p:spPr/>
        <p:txBody>
          <a:bodyPr/>
          <a:lstStyle/>
          <a:p>
            <a:fld id="{A5514B32-4E6E-49F5-AF84-F2E30A6572B6}" type="slidenum">
              <a:rPr kumimoji="1" lang="ja-JP" altLang="en-US" smtClean="0"/>
              <a:t>58</a:t>
            </a:fld>
            <a:endParaRPr kumimoji="1" lang="ja-JP" altLang="en-US"/>
          </a:p>
        </p:txBody>
      </p:sp>
    </p:spTree>
    <p:extLst>
      <p:ext uri="{BB962C8B-B14F-4D97-AF65-F5344CB8AC3E}">
        <p14:creationId xmlns:p14="http://schemas.microsoft.com/office/powerpoint/2010/main" val="262981374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人格切替の議論ではなく，口調の</a:t>
            </a:r>
            <a:endParaRPr kumimoji="1" lang="en-US" altLang="ja-JP" dirty="0"/>
          </a:p>
          <a:p>
            <a:r>
              <a:rPr kumimoji="1" lang="ja-JP" altLang="en-US" dirty="0"/>
              <a:t>しゅーるなユーモアは拡大解釈</a:t>
            </a:r>
            <a:endParaRPr kumimoji="1" lang="en-US" altLang="ja-JP" dirty="0"/>
          </a:p>
          <a:p>
            <a:endParaRPr kumimoji="1" lang="en-US" altLang="ja-JP" dirty="0"/>
          </a:p>
          <a:p>
            <a:r>
              <a:rPr kumimoji="1" lang="ja-JP" altLang="en-US" dirty="0"/>
              <a:t>ネガティブな考察の方がしやすい</a:t>
            </a:r>
            <a:endParaRPr kumimoji="1" lang="en-US" altLang="ja-JP" dirty="0"/>
          </a:p>
          <a:p>
            <a:r>
              <a:rPr kumimoji="1" lang="ja-JP" altLang="en-US" dirty="0"/>
              <a:t>切り替える方がタメ口の方が慣れ慣れしすぎて，ネガティブな解釈</a:t>
            </a:r>
            <a:endParaRPr kumimoji="1" lang="en-US" altLang="ja-JP" dirty="0"/>
          </a:p>
          <a:p>
            <a:r>
              <a:rPr kumimoji="1" lang="ja-JP" altLang="en-US" dirty="0"/>
              <a:t>固定は全部丁寧</a:t>
            </a:r>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60</a:t>
            </a:fld>
            <a:endParaRPr kumimoji="1" lang="ja-JP" altLang="en-US"/>
          </a:p>
        </p:txBody>
      </p:sp>
    </p:spTree>
    <p:extLst>
      <p:ext uri="{BB962C8B-B14F-4D97-AF65-F5344CB8AC3E}">
        <p14:creationId xmlns:p14="http://schemas.microsoft.com/office/powerpoint/2010/main" val="401821827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70F08-72E4-E402-0364-9A9F4FA5D44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1CF525D-BEE6-7172-B219-C61A6D6FFB2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42FF1C1-FD51-0FAA-8D77-A2EA090CBCA1}"/>
              </a:ext>
            </a:extLst>
          </p:cNvPr>
          <p:cNvSpPr>
            <a:spLocks noGrp="1"/>
          </p:cNvSpPr>
          <p:nvPr>
            <p:ph type="body" idx="1"/>
          </p:nvPr>
        </p:nvSpPr>
        <p:spPr/>
        <p:txBody>
          <a:bodyPr/>
          <a:lstStyle/>
          <a:p>
            <a:r>
              <a:rPr kumimoji="1" lang="ja-JP" altLang="en-US" dirty="0"/>
              <a:t>切り替えたり，</a:t>
            </a:r>
            <a:endParaRPr kumimoji="1" lang="en-US" altLang="ja-JP" dirty="0"/>
          </a:p>
          <a:p>
            <a:r>
              <a:rPr kumimoji="1" lang="ja-JP" altLang="en-US" dirty="0"/>
              <a:t>名前があると違和感</a:t>
            </a:r>
            <a:endParaRPr kumimoji="1" lang="en-US" altLang="ja-JP" dirty="0"/>
          </a:p>
          <a:p>
            <a:endParaRPr kumimoji="1" lang="en-US" altLang="ja-JP" dirty="0"/>
          </a:p>
          <a:p>
            <a:r>
              <a:rPr kumimoji="1" lang="ja-JP" altLang="en-US" dirty="0"/>
              <a:t>感情は無いけど，</a:t>
            </a:r>
            <a:endParaRPr kumimoji="1" lang="en-US" altLang="ja-JP" dirty="0"/>
          </a:p>
          <a:p>
            <a:r>
              <a:rPr kumimoji="1" lang="ja-JP" altLang="en-US" dirty="0"/>
              <a:t>普通の</a:t>
            </a:r>
            <a:r>
              <a:rPr kumimoji="1" lang="en-US" altLang="ja-JP" dirty="0"/>
              <a:t>LLM</a:t>
            </a:r>
            <a:r>
              <a:rPr kumimoji="1" lang="ja-JP" altLang="en-US" dirty="0"/>
              <a:t>にないような設定をすると感情の認識がない可能性</a:t>
            </a:r>
            <a:endParaRPr kumimoji="1" lang="en-US" altLang="ja-JP" dirty="0"/>
          </a:p>
          <a:p>
            <a:r>
              <a:rPr kumimoji="1" lang="ja-JP" altLang="en-US" dirty="0"/>
              <a:t>ネガティブな</a:t>
            </a:r>
            <a:endParaRPr kumimoji="1" lang="en-US" altLang="ja-JP" dirty="0"/>
          </a:p>
        </p:txBody>
      </p:sp>
      <p:sp>
        <p:nvSpPr>
          <p:cNvPr id="4" name="スライド番号プレースホルダー 3">
            <a:extLst>
              <a:ext uri="{FF2B5EF4-FFF2-40B4-BE49-F238E27FC236}">
                <a16:creationId xmlns:a16="http://schemas.microsoft.com/office/drawing/2014/main" id="{62540A3A-C46C-B606-A389-71E653303824}"/>
              </a:ext>
            </a:extLst>
          </p:cNvPr>
          <p:cNvSpPr>
            <a:spLocks noGrp="1"/>
          </p:cNvSpPr>
          <p:nvPr>
            <p:ph type="sldNum" sz="quarter" idx="5"/>
          </p:nvPr>
        </p:nvSpPr>
        <p:spPr/>
        <p:txBody>
          <a:bodyPr/>
          <a:lstStyle/>
          <a:p>
            <a:fld id="{A5514B32-4E6E-49F5-AF84-F2E30A6572B6}" type="slidenum">
              <a:rPr kumimoji="1" lang="ja-JP" altLang="en-US" smtClean="0"/>
              <a:t>61</a:t>
            </a:fld>
            <a:endParaRPr kumimoji="1" lang="ja-JP" altLang="en-US"/>
          </a:p>
        </p:txBody>
      </p:sp>
    </p:spTree>
    <p:extLst>
      <p:ext uri="{BB962C8B-B14F-4D97-AF65-F5344CB8AC3E}">
        <p14:creationId xmlns:p14="http://schemas.microsoft.com/office/powerpoint/2010/main" val="167394255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38F96-D5DC-DD4E-E5F1-BC575EB1B7C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00378F-4F59-AF9F-AF81-3F56A92B234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CB97814-DF5C-6030-0751-CCFBC1D8E54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提示する対話の内容パターン</a:t>
            </a:r>
            <a:r>
              <a:rPr kumimoji="1" lang="en-US" altLang="ja-JP" dirty="0"/>
              <a:t>1</a:t>
            </a:r>
            <a:endParaRPr kumimoji="1" lang="ja-JP" altLang="en-US" dirty="0"/>
          </a:p>
        </p:txBody>
      </p:sp>
      <p:sp>
        <p:nvSpPr>
          <p:cNvPr id="4" name="スライド番号プレースホルダー 3">
            <a:extLst>
              <a:ext uri="{FF2B5EF4-FFF2-40B4-BE49-F238E27FC236}">
                <a16:creationId xmlns:a16="http://schemas.microsoft.com/office/drawing/2014/main" id="{E3C3F794-F7A3-0FB6-2F93-2E3D0CF41414}"/>
              </a:ext>
            </a:extLst>
          </p:cNvPr>
          <p:cNvSpPr>
            <a:spLocks noGrp="1"/>
          </p:cNvSpPr>
          <p:nvPr>
            <p:ph type="sldNum" sz="quarter" idx="5"/>
          </p:nvPr>
        </p:nvSpPr>
        <p:spPr/>
        <p:txBody>
          <a:bodyPr/>
          <a:lstStyle/>
          <a:p>
            <a:fld id="{A5514B32-4E6E-49F5-AF84-F2E30A6572B6}" type="slidenum">
              <a:rPr kumimoji="1" lang="ja-JP" altLang="en-US" smtClean="0"/>
              <a:t>62</a:t>
            </a:fld>
            <a:endParaRPr kumimoji="1" lang="ja-JP" altLang="en-US"/>
          </a:p>
        </p:txBody>
      </p:sp>
    </p:spTree>
    <p:extLst>
      <p:ext uri="{BB962C8B-B14F-4D97-AF65-F5344CB8AC3E}">
        <p14:creationId xmlns:p14="http://schemas.microsoft.com/office/powerpoint/2010/main" val="126560017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77BA2-F232-9FEA-8622-406D8CD45C9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43FA05-1050-4ED8-F11D-E3536FBEA84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88A36D7-ECFB-A11D-ADDE-D240FAF1B27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085F60-B1B8-6D22-CFDF-C62B1D256971}"/>
              </a:ext>
            </a:extLst>
          </p:cNvPr>
          <p:cNvSpPr>
            <a:spLocks noGrp="1"/>
          </p:cNvSpPr>
          <p:nvPr>
            <p:ph type="sldNum" sz="quarter" idx="5"/>
          </p:nvPr>
        </p:nvSpPr>
        <p:spPr/>
        <p:txBody>
          <a:bodyPr/>
          <a:lstStyle/>
          <a:p>
            <a:fld id="{A5514B32-4E6E-49F5-AF84-F2E30A6572B6}" type="slidenum">
              <a:rPr kumimoji="1" lang="ja-JP" altLang="en-US" smtClean="0"/>
              <a:t>63</a:t>
            </a:fld>
            <a:endParaRPr kumimoji="1" lang="ja-JP" altLang="en-US"/>
          </a:p>
        </p:txBody>
      </p:sp>
    </p:spTree>
    <p:extLst>
      <p:ext uri="{BB962C8B-B14F-4D97-AF65-F5344CB8AC3E}">
        <p14:creationId xmlns:p14="http://schemas.microsoft.com/office/powerpoint/2010/main" val="22608729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6C79F-2351-AA75-1FEE-35BA69475ED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CADDD4-8484-F49C-6D1A-F9DD5B459A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50EB40F-B5A1-B5D7-E60C-7DC1F719819F}"/>
              </a:ext>
            </a:extLst>
          </p:cNvPr>
          <p:cNvSpPr>
            <a:spLocks noGrp="1"/>
          </p:cNvSpPr>
          <p:nvPr>
            <p:ph type="body" idx="1"/>
          </p:nvPr>
        </p:nvSpPr>
        <p:spPr/>
        <p:txBody>
          <a:bodyPr/>
          <a:lstStyle/>
          <a:p>
            <a:r>
              <a:rPr kumimoji="1" lang="ja-JP" altLang="en-US" dirty="0"/>
              <a:t>要約の説明</a:t>
            </a:r>
          </a:p>
        </p:txBody>
      </p:sp>
      <p:sp>
        <p:nvSpPr>
          <p:cNvPr id="4" name="スライド番号プレースホルダー 3">
            <a:extLst>
              <a:ext uri="{FF2B5EF4-FFF2-40B4-BE49-F238E27FC236}">
                <a16:creationId xmlns:a16="http://schemas.microsoft.com/office/drawing/2014/main" id="{8DE106AD-BA63-ED2B-9477-38FE2C9E78B8}"/>
              </a:ext>
            </a:extLst>
          </p:cNvPr>
          <p:cNvSpPr>
            <a:spLocks noGrp="1"/>
          </p:cNvSpPr>
          <p:nvPr>
            <p:ph type="sldNum" sz="quarter" idx="5"/>
          </p:nvPr>
        </p:nvSpPr>
        <p:spPr/>
        <p:txBody>
          <a:bodyPr/>
          <a:lstStyle/>
          <a:p>
            <a:fld id="{A5514B32-4E6E-49F5-AF84-F2E30A6572B6}" type="slidenum">
              <a:rPr kumimoji="1" lang="ja-JP" altLang="en-US" smtClean="0"/>
              <a:t>64</a:t>
            </a:fld>
            <a:endParaRPr kumimoji="1" lang="ja-JP" altLang="en-US"/>
          </a:p>
        </p:txBody>
      </p:sp>
    </p:spTree>
    <p:extLst>
      <p:ext uri="{BB962C8B-B14F-4D97-AF65-F5344CB8AC3E}">
        <p14:creationId xmlns:p14="http://schemas.microsoft.com/office/powerpoint/2010/main" val="5309338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66BFE-2F8C-9710-EEF9-ADFDE4D7F25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21BAC94-8C92-AA11-668A-5B522183A2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6D23379-7577-E9FB-15EF-E3FAEE50C5C6}"/>
              </a:ext>
            </a:extLst>
          </p:cNvPr>
          <p:cNvSpPr>
            <a:spLocks noGrp="1"/>
          </p:cNvSpPr>
          <p:nvPr>
            <p:ph type="body" idx="1"/>
          </p:nvPr>
        </p:nvSpPr>
        <p:spPr/>
        <p:txBody>
          <a:bodyPr/>
          <a:lstStyle/>
          <a:p>
            <a:r>
              <a:rPr kumimoji="1" lang="en-US" altLang="ja-JP" dirty="0"/>
              <a:t>[</a:t>
            </a:r>
            <a:r>
              <a:rPr kumimoji="1" lang="ja-JP" altLang="en-US" dirty="0"/>
              <a:t>変換前の文章</a:t>
            </a:r>
            <a:r>
              <a:rPr kumimoji="1" lang="en-US" altLang="ja-JP" dirty="0"/>
              <a:t>]</a:t>
            </a:r>
            <a:r>
              <a:rPr kumimoji="1" lang="ja-JP" altLang="en-US" dirty="0"/>
              <a:t>には実際の文章を入力する</a:t>
            </a:r>
          </a:p>
        </p:txBody>
      </p:sp>
      <p:sp>
        <p:nvSpPr>
          <p:cNvPr id="4" name="スライド番号プレースホルダー 3">
            <a:extLst>
              <a:ext uri="{FF2B5EF4-FFF2-40B4-BE49-F238E27FC236}">
                <a16:creationId xmlns:a16="http://schemas.microsoft.com/office/drawing/2014/main" id="{ADD2961D-46DE-2689-8A76-BA1CF439C6B5}"/>
              </a:ext>
            </a:extLst>
          </p:cNvPr>
          <p:cNvSpPr>
            <a:spLocks noGrp="1"/>
          </p:cNvSpPr>
          <p:nvPr>
            <p:ph type="sldNum" sz="quarter" idx="5"/>
          </p:nvPr>
        </p:nvSpPr>
        <p:spPr/>
        <p:txBody>
          <a:bodyPr/>
          <a:lstStyle/>
          <a:p>
            <a:fld id="{A5514B32-4E6E-49F5-AF84-F2E30A6572B6}" type="slidenum">
              <a:rPr kumimoji="1" lang="ja-JP" altLang="en-US" smtClean="0"/>
              <a:t>65</a:t>
            </a:fld>
            <a:endParaRPr kumimoji="1" lang="ja-JP" altLang="en-US"/>
          </a:p>
        </p:txBody>
      </p:sp>
    </p:spTree>
    <p:extLst>
      <p:ext uri="{BB962C8B-B14F-4D97-AF65-F5344CB8AC3E}">
        <p14:creationId xmlns:p14="http://schemas.microsoft.com/office/powerpoint/2010/main" val="89475758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633B7-1439-E97C-1B04-CD2F3C64617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240DAE-3662-4B1A-1A4B-4F6D4B8BFCC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29C9AE3-7FCE-E589-7EFC-486C902CFB8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F87BA5D-BC43-0C9C-BF0B-3878B10A699A}"/>
              </a:ext>
            </a:extLst>
          </p:cNvPr>
          <p:cNvSpPr>
            <a:spLocks noGrp="1"/>
          </p:cNvSpPr>
          <p:nvPr>
            <p:ph type="sldNum" sz="quarter" idx="5"/>
          </p:nvPr>
        </p:nvSpPr>
        <p:spPr/>
        <p:txBody>
          <a:bodyPr/>
          <a:lstStyle/>
          <a:p>
            <a:fld id="{A5514B32-4E6E-49F5-AF84-F2E30A6572B6}" type="slidenum">
              <a:rPr kumimoji="1" lang="ja-JP" altLang="en-US" smtClean="0"/>
              <a:t>66</a:t>
            </a:fld>
            <a:endParaRPr kumimoji="1" lang="ja-JP" altLang="en-US"/>
          </a:p>
        </p:txBody>
      </p:sp>
    </p:spTree>
    <p:extLst>
      <p:ext uri="{BB962C8B-B14F-4D97-AF65-F5344CB8AC3E}">
        <p14:creationId xmlns:p14="http://schemas.microsoft.com/office/powerpoint/2010/main" val="152405866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67</a:t>
            </a:fld>
            <a:endParaRPr kumimoji="1" lang="ja-JP" altLang="en-US"/>
          </a:p>
        </p:txBody>
      </p:sp>
    </p:spTree>
    <p:extLst>
      <p:ext uri="{BB962C8B-B14F-4D97-AF65-F5344CB8AC3E}">
        <p14:creationId xmlns:p14="http://schemas.microsoft.com/office/powerpoint/2010/main" val="223391325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68</a:t>
            </a:fld>
            <a:endParaRPr kumimoji="1" lang="ja-JP" altLang="en-US"/>
          </a:p>
        </p:txBody>
      </p:sp>
    </p:spTree>
    <p:extLst>
      <p:ext uri="{BB962C8B-B14F-4D97-AF65-F5344CB8AC3E}">
        <p14:creationId xmlns:p14="http://schemas.microsoft.com/office/powerpoint/2010/main" val="89487822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69</a:t>
            </a:fld>
            <a:endParaRPr kumimoji="1" lang="ja-JP" altLang="en-US"/>
          </a:p>
        </p:txBody>
      </p:sp>
    </p:spTree>
    <p:extLst>
      <p:ext uri="{BB962C8B-B14F-4D97-AF65-F5344CB8AC3E}">
        <p14:creationId xmlns:p14="http://schemas.microsoft.com/office/powerpoint/2010/main" val="206280853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2249B-FE53-AB43-FD42-4993A6ABA6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ADBFE1C-614E-E500-DCC9-A6A6608A382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9B788F2-3AF4-D45B-1FBD-0E270B52CD4B}"/>
              </a:ext>
            </a:extLst>
          </p:cNvPr>
          <p:cNvSpPr>
            <a:spLocks noGrp="1"/>
          </p:cNvSpPr>
          <p:nvPr>
            <p:ph type="body" idx="1"/>
          </p:nvPr>
        </p:nvSpPr>
        <p:spPr/>
        <p:txBody>
          <a:bodyPr/>
          <a:lstStyle/>
          <a:p>
            <a:r>
              <a:rPr kumimoji="1" lang="ja-JP" altLang="en-US" dirty="0"/>
              <a:t>まとめいらない</a:t>
            </a:r>
            <a:endParaRPr kumimoji="1" lang="en-US" altLang="ja-JP" dirty="0"/>
          </a:p>
          <a:p>
            <a:endParaRPr kumimoji="1" lang="en-US" altLang="ja-JP" dirty="0"/>
          </a:p>
          <a:p>
            <a:r>
              <a:rPr kumimoji="1" lang="ja-JP" altLang="en-US" dirty="0"/>
              <a:t>二つぐらいにする</a:t>
            </a:r>
            <a:endParaRPr kumimoji="1" lang="en-US" altLang="ja-JP" dirty="0"/>
          </a:p>
          <a:p>
            <a:endParaRPr kumimoji="1" lang="en-US" altLang="ja-JP" dirty="0"/>
          </a:p>
          <a:p>
            <a:r>
              <a:rPr kumimoji="1" lang="en-US" altLang="ja-JP" dirty="0"/>
              <a:t>2.3.4</a:t>
            </a:r>
            <a:r>
              <a:rPr kumimoji="1" lang="ja-JP" altLang="en-US" dirty="0"/>
              <a:t>を「人格設定について」としてまとめる</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7E941F63-7A63-E2AA-8973-D7909B580366}"/>
              </a:ext>
            </a:extLst>
          </p:cNvPr>
          <p:cNvSpPr>
            <a:spLocks noGrp="1"/>
          </p:cNvSpPr>
          <p:nvPr>
            <p:ph type="sldNum" sz="quarter" idx="5"/>
          </p:nvPr>
        </p:nvSpPr>
        <p:spPr/>
        <p:txBody>
          <a:bodyPr/>
          <a:lstStyle/>
          <a:p>
            <a:fld id="{A5514B32-4E6E-49F5-AF84-F2E30A6572B6}" type="slidenum">
              <a:rPr kumimoji="1" lang="ja-JP" altLang="en-US" smtClean="0"/>
              <a:t>70</a:t>
            </a:fld>
            <a:endParaRPr kumimoji="1" lang="ja-JP" altLang="en-US"/>
          </a:p>
        </p:txBody>
      </p:sp>
    </p:spTree>
    <p:extLst>
      <p:ext uri="{BB962C8B-B14F-4D97-AF65-F5344CB8AC3E}">
        <p14:creationId xmlns:p14="http://schemas.microsoft.com/office/powerpoint/2010/main" val="113417536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F39D6-4E71-2D57-A96B-28E989A37A4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C550B3B-2078-3C09-418E-FD53F2E058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513A82C-198E-0F44-4DB9-CDC2A42AFDDC}"/>
              </a:ext>
            </a:extLst>
          </p:cNvPr>
          <p:cNvSpPr>
            <a:spLocks noGrp="1"/>
          </p:cNvSpPr>
          <p:nvPr>
            <p:ph type="body" idx="1"/>
          </p:nvPr>
        </p:nvSpPr>
        <p:spPr/>
        <p:txBody>
          <a:bodyPr/>
          <a:lstStyle/>
          <a:p>
            <a:r>
              <a:rPr kumimoji="1" lang="ja-JP" altLang="en-US" dirty="0"/>
              <a:t>まとめいらない</a:t>
            </a:r>
            <a:endParaRPr kumimoji="1" lang="en-US" altLang="ja-JP" dirty="0"/>
          </a:p>
          <a:p>
            <a:endParaRPr kumimoji="1" lang="en-US" altLang="ja-JP" dirty="0"/>
          </a:p>
          <a:p>
            <a:r>
              <a:rPr kumimoji="1" lang="ja-JP" altLang="en-US" dirty="0"/>
              <a:t>二つぐらいにする</a:t>
            </a:r>
            <a:endParaRPr kumimoji="1" lang="en-US" altLang="ja-JP" dirty="0"/>
          </a:p>
          <a:p>
            <a:endParaRPr kumimoji="1" lang="en-US" altLang="ja-JP" dirty="0"/>
          </a:p>
          <a:p>
            <a:r>
              <a:rPr kumimoji="1" lang="en-US" altLang="ja-JP" dirty="0"/>
              <a:t>2.3.4</a:t>
            </a:r>
            <a:r>
              <a:rPr kumimoji="1" lang="ja-JP" altLang="en-US" dirty="0"/>
              <a:t>を「人格設定について」としてまとめる</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DDCE97BD-8688-8DCA-7568-58DF7CEBE0C2}"/>
              </a:ext>
            </a:extLst>
          </p:cNvPr>
          <p:cNvSpPr>
            <a:spLocks noGrp="1"/>
          </p:cNvSpPr>
          <p:nvPr>
            <p:ph type="sldNum" sz="quarter" idx="5"/>
          </p:nvPr>
        </p:nvSpPr>
        <p:spPr/>
        <p:txBody>
          <a:bodyPr/>
          <a:lstStyle/>
          <a:p>
            <a:fld id="{A5514B32-4E6E-49F5-AF84-F2E30A6572B6}" type="slidenum">
              <a:rPr kumimoji="1" lang="ja-JP" altLang="en-US" smtClean="0"/>
              <a:t>71</a:t>
            </a:fld>
            <a:endParaRPr kumimoji="1" lang="ja-JP" altLang="en-US"/>
          </a:p>
        </p:txBody>
      </p:sp>
    </p:spTree>
    <p:extLst>
      <p:ext uri="{BB962C8B-B14F-4D97-AF65-F5344CB8AC3E}">
        <p14:creationId xmlns:p14="http://schemas.microsoft.com/office/powerpoint/2010/main" val="24979096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882970AC-4A71-43E0-8A39-05C65FF7F80A}" type="datetime1">
              <a:rPr kumimoji="1" lang="ja-JP" altLang="en-US" smtClean="0"/>
              <a:t>2026/2/6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a:xfrm>
            <a:off x="7086600" y="30163"/>
            <a:ext cx="2057400" cy="365125"/>
          </a:xfrm>
        </p:spPr>
        <p:txBody>
          <a:bodyPr/>
          <a:lstStyle/>
          <a:p>
            <a:fld id="{18020408-E1FF-429E-A8D5-EB2A190A0D77}" type="slidenum">
              <a:rPr kumimoji="1" lang="ja-JP" altLang="en-US" smtClean="0"/>
              <a:t>‹#›</a:t>
            </a:fld>
            <a:endParaRPr kumimoji="1" lang="ja-JP" altLang="en-US" dirty="0"/>
          </a:p>
        </p:txBody>
      </p:sp>
    </p:spTree>
    <p:extLst>
      <p:ext uri="{BB962C8B-B14F-4D97-AF65-F5344CB8AC3E}">
        <p14:creationId xmlns:p14="http://schemas.microsoft.com/office/powerpoint/2010/main" val="1470319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53F39B2-6E86-44BA-8DE8-353E79C97153}" type="datetime1">
              <a:rPr kumimoji="1" lang="ja-JP" altLang="en-US" smtClean="0"/>
              <a:t>2026/2/6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a:xfrm>
            <a:off x="6457950" y="365126"/>
            <a:ext cx="2057400" cy="365125"/>
          </a:xfrm>
        </p:spPr>
        <p:txBody>
          <a:bodyPr/>
          <a:lstStyle/>
          <a:p>
            <a:fld id="{18020408-E1FF-429E-A8D5-EB2A190A0D77}" type="slidenum">
              <a:rPr kumimoji="1" lang="ja-JP" altLang="en-US" smtClean="0"/>
              <a:t>‹#›</a:t>
            </a:fld>
            <a:endParaRPr kumimoji="1" lang="ja-JP" altLang="en-US"/>
          </a:p>
        </p:txBody>
      </p:sp>
    </p:spTree>
    <p:extLst>
      <p:ext uri="{BB962C8B-B14F-4D97-AF65-F5344CB8AC3E}">
        <p14:creationId xmlns:p14="http://schemas.microsoft.com/office/powerpoint/2010/main" val="331062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B34C4EE-AD9D-4596-A7FA-AF1E05C84870}" type="datetime1">
              <a:rPr kumimoji="1" lang="ja-JP" altLang="en-US" smtClean="0"/>
              <a:t>2026/2/6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a:xfrm>
            <a:off x="6453188" y="403224"/>
            <a:ext cx="2057400" cy="365125"/>
          </a:xfrm>
        </p:spPr>
        <p:txBody>
          <a:bodyPr/>
          <a:lstStyle/>
          <a:p>
            <a:fld id="{18020408-E1FF-429E-A8D5-EB2A190A0D77}" type="slidenum">
              <a:rPr kumimoji="1" lang="ja-JP" altLang="en-US" smtClean="0"/>
              <a:t>‹#›</a:t>
            </a:fld>
            <a:endParaRPr kumimoji="1" lang="ja-JP" altLang="en-US"/>
          </a:p>
        </p:txBody>
      </p:sp>
    </p:spTree>
    <p:extLst>
      <p:ext uri="{BB962C8B-B14F-4D97-AF65-F5344CB8AC3E}">
        <p14:creationId xmlns:p14="http://schemas.microsoft.com/office/powerpoint/2010/main" val="3727069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A1AE481A-9A74-4294-B942-D01622065666}" type="datetime1">
              <a:rPr kumimoji="1" lang="ja-JP" altLang="en-US" smtClean="0"/>
              <a:t>2026/2/6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a:xfrm>
            <a:off x="7086600" y="3175"/>
            <a:ext cx="2057400" cy="365125"/>
          </a:xfrm>
        </p:spPr>
        <p:txBody>
          <a:bodyPr/>
          <a:lstStyle/>
          <a:p>
            <a:fld id="{18020408-E1FF-429E-A8D5-EB2A190A0D77}" type="slidenum">
              <a:rPr kumimoji="1" lang="ja-JP" altLang="en-US" smtClean="0"/>
              <a:t>‹#›</a:t>
            </a:fld>
            <a:endParaRPr kumimoji="1" lang="ja-JP" altLang="en-US" dirty="0"/>
          </a:p>
        </p:txBody>
      </p:sp>
    </p:spTree>
    <p:extLst>
      <p:ext uri="{BB962C8B-B14F-4D97-AF65-F5344CB8AC3E}">
        <p14:creationId xmlns:p14="http://schemas.microsoft.com/office/powerpoint/2010/main" val="635332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04C9F879-8C80-406D-B013-CC221363F3A6}" type="datetime1">
              <a:rPr kumimoji="1" lang="ja-JP" altLang="en-US" smtClean="0"/>
              <a:t>2026/2/6</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18020408-E1FF-429E-A8D5-EB2A190A0D77}" type="slidenum">
              <a:rPr kumimoji="1" lang="ja-JP" altLang="en-US" smtClean="0"/>
              <a:t>‹#›</a:t>
            </a:fld>
            <a:endParaRPr kumimoji="1" lang="ja-JP" altLang="en-US"/>
          </a:p>
        </p:txBody>
      </p:sp>
    </p:spTree>
    <p:extLst>
      <p:ext uri="{BB962C8B-B14F-4D97-AF65-F5344CB8AC3E}">
        <p14:creationId xmlns:p14="http://schemas.microsoft.com/office/powerpoint/2010/main" val="587550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68934A8-36E3-4041-BF78-257C463ADDC8}" type="datetime1">
              <a:rPr kumimoji="1" lang="ja-JP" altLang="en-US" smtClean="0"/>
              <a:t>2026/2/6</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6" name="正方形/長方形 5">
            <a:extLst>
              <a:ext uri="{FF2B5EF4-FFF2-40B4-BE49-F238E27FC236}">
                <a16:creationId xmlns:a16="http://schemas.microsoft.com/office/drawing/2014/main" id="{284BCB7E-AC97-022E-DE8D-21A05037CD20}"/>
              </a:ext>
            </a:extLst>
          </p:cNvPr>
          <p:cNvSpPr/>
          <p:nvPr userDrawn="1"/>
        </p:nvSpPr>
        <p:spPr>
          <a:xfrm>
            <a:off x="0" y="-3"/>
            <a:ext cx="9144000" cy="10329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二等辺三角形 6">
            <a:extLst>
              <a:ext uri="{FF2B5EF4-FFF2-40B4-BE49-F238E27FC236}">
                <a16:creationId xmlns:a16="http://schemas.microsoft.com/office/drawing/2014/main" id="{6918CEDF-EAAC-BEF8-DBCD-FEE9E6EF54A7}"/>
              </a:ext>
            </a:extLst>
          </p:cNvPr>
          <p:cNvSpPr/>
          <p:nvPr userDrawn="1"/>
        </p:nvSpPr>
        <p:spPr>
          <a:xfrm rot="16200000">
            <a:off x="8343902" y="-29637"/>
            <a:ext cx="770465" cy="829734"/>
          </a:xfrm>
          <a:prstGeom prst="triangle">
            <a:avLst>
              <a:gd name="adj" fmla="val 100000"/>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Slide Number Placeholder 4"/>
          <p:cNvSpPr>
            <a:spLocks noGrp="1"/>
          </p:cNvSpPr>
          <p:nvPr>
            <p:ph type="sldNum" sz="quarter" idx="12"/>
          </p:nvPr>
        </p:nvSpPr>
        <p:spPr>
          <a:xfrm>
            <a:off x="7086600" y="32807"/>
            <a:ext cx="2057400" cy="365125"/>
          </a:xfrm>
        </p:spPr>
        <p:txBody>
          <a:bodyPr/>
          <a:lstStyle>
            <a:lvl1pPr>
              <a:defRPr sz="2400">
                <a:solidFill>
                  <a:schemeClr val="bg1"/>
                </a:solidFill>
              </a:defRPr>
            </a:lvl1pPr>
          </a:lstStyle>
          <a:p>
            <a:fld id="{18020408-E1FF-429E-A8D5-EB2A190A0D77}" type="slidenum">
              <a:rPr kumimoji="1" lang="ja-JP" altLang="en-US" smtClean="0"/>
              <a:pPr/>
              <a:t>‹#›</a:t>
            </a:fld>
            <a:endParaRPr kumimoji="1" lang="ja-JP" altLang="en-US" sz="2400" dirty="0"/>
          </a:p>
        </p:txBody>
      </p:sp>
      <p:sp>
        <p:nvSpPr>
          <p:cNvPr id="2" name="Title 1"/>
          <p:cNvSpPr>
            <a:spLocks noGrp="1"/>
          </p:cNvSpPr>
          <p:nvPr>
            <p:ph type="title"/>
          </p:nvPr>
        </p:nvSpPr>
        <p:spPr>
          <a:xfrm>
            <a:off x="313264" y="171950"/>
            <a:ext cx="7886700" cy="701731"/>
          </a:xfrm>
        </p:spPr>
        <p:txBody>
          <a:bodyPr>
            <a:noAutofit/>
          </a:bodyPr>
          <a:lstStyle>
            <a:lvl1pPr>
              <a:defRPr b="1">
                <a:solidFill>
                  <a:schemeClr val="bg1"/>
                </a:solidFill>
                <a:latin typeface="+mn-ea"/>
                <a:ea typeface="+mn-ea"/>
              </a:defRPr>
            </a:lvl1pPr>
          </a:lstStyle>
          <a:p>
            <a:r>
              <a:rPr lang="ja-JP" altLang="en-US" dirty="0"/>
              <a:t>マスター タイトルの書式設定</a:t>
            </a:r>
            <a:endParaRPr lang="en-US" dirty="0"/>
          </a:p>
        </p:txBody>
      </p:sp>
    </p:spTree>
    <p:extLst>
      <p:ext uri="{BB962C8B-B14F-4D97-AF65-F5344CB8AC3E}">
        <p14:creationId xmlns:p14="http://schemas.microsoft.com/office/powerpoint/2010/main" val="627392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B3DC8F-33D0-4A61-8108-8C99A85430F0}" type="datetime1">
              <a:rPr kumimoji="1" lang="ja-JP" altLang="en-US" smtClean="0"/>
              <a:t>2026/2/6</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18020408-E1FF-429E-A8D5-EB2A190A0D77}" type="slidenum">
              <a:rPr kumimoji="1" lang="ja-JP" altLang="en-US" smtClean="0"/>
              <a:t>‹#›</a:t>
            </a:fld>
            <a:endParaRPr kumimoji="1" lang="ja-JP" altLang="en-US"/>
          </a:p>
        </p:txBody>
      </p:sp>
    </p:spTree>
    <p:extLst>
      <p:ext uri="{BB962C8B-B14F-4D97-AF65-F5344CB8AC3E}">
        <p14:creationId xmlns:p14="http://schemas.microsoft.com/office/powerpoint/2010/main" val="1828084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6DC58E77-B3B8-4339-9BF7-46AEB32BF7E4}" type="datetime1">
              <a:rPr kumimoji="1" lang="ja-JP" altLang="en-US" smtClean="0"/>
              <a:t>2026/2/6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18020408-E1FF-429E-A8D5-EB2A190A0D77}" type="slidenum">
              <a:rPr kumimoji="1" lang="ja-JP" altLang="en-US" smtClean="0"/>
              <a:t>‹#›</a:t>
            </a:fld>
            <a:endParaRPr kumimoji="1" lang="ja-JP" altLang="en-US"/>
          </a:p>
        </p:txBody>
      </p:sp>
    </p:spTree>
    <p:extLst>
      <p:ext uri="{BB962C8B-B14F-4D97-AF65-F5344CB8AC3E}">
        <p14:creationId xmlns:p14="http://schemas.microsoft.com/office/powerpoint/2010/main" val="1846644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A623743-B363-4ED4-9F0D-E107EFACE5F7}" type="datetime1">
              <a:rPr kumimoji="1" lang="ja-JP" altLang="en-US" smtClean="0"/>
              <a:t>2026/2/6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18020408-E1FF-429E-A8D5-EB2A190A0D77}" type="slidenum">
              <a:rPr kumimoji="1" lang="ja-JP" altLang="en-US" smtClean="0"/>
              <a:t>‹#›</a:t>
            </a:fld>
            <a:endParaRPr kumimoji="1" lang="ja-JP" altLang="en-US"/>
          </a:p>
        </p:txBody>
      </p:sp>
    </p:spTree>
    <p:extLst>
      <p:ext uri="{BB962C8B-B14F-4D97-AF65-F5344CB8AC3E}">
        <p14:creationId xmlns:p14="http://schemas.microsoft.com/office/powerpoint/2010/main" val="4051796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DCE7004E-D871-4D03-A65F-297A1C3EBC57}" type="datetime1">
              <a:rPr kumimoji="1" lang="ja-JP" altLang="en-US" smtClean="0"/>
              <a:t>2026/2/6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18020408-E1FF-429E-A8D5-EB2A190A0D77}" type="slidenum">
              <a:rPr kumimoji="1" lang="ja-JP" altLang="en-US" smtClean="0"/>
              <a:t>‹#›</a:t>
            </a:fld>
            <a:endParaRPr kumimoji="1" lang="ja-JP" altLang="en-US"/>
          </a:p>
        </p:txBody>
      </p:sp>
    </p:spTree>
    <p:extLst>
      <p:ext uri="{BB962C8B-B14F-4D97-AF65-F5344CB8AC3E}">
        <p14:creationId xmlns:p14="http://schemas.microsoft.com/office/powerpoint/2010/main" val="608694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8272F81-9110-4BD0-8DA1-ACDBA2D4C842}" type="datetime1">
              <a:rPr kumimoji="1" lang="ja-JP" altLang="en-US" smtClean="0"/>
              <a:t>2026/2/6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18020408-E1FF-429E-A8D5-EB2A190A0D77}" type="slidenum">
              <a:rPr kumimoji="1" lang="ja-JP" altLang="en-US" smtClean="0"/>
              <a:t>‹#›</a:t>
            </a:fld>
            <a:endParaRPr kumimoji="1" lang="ja-JP" altLang="en-US"/>
          </a:p>
        </p:txBody>
      </p:sp>
    </p:spTree>
    <p:extLst>
      <p:ext uri="{BB962C8B-B14F-4D97-AF65-F5344CB8AC3E}">
        <p14:creationId xmlns:p14="http://schemas.microsoft.com/office/powerpoint/2010/main" val="3863692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8974A4-A2E6-4A01-95F2-416C70607946}" type="datetime1">
              <a:rPr kumimoji="1" lang="ja-JP" altLang="en-US" smtClean="0"/>
              <a:t>2026/2/6</a:t>
            </a:fld>
            <a:endParaRPr kumimoji="1" lang="ja-JP"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6457950" y="36512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020408-E1FF-429E-A8D5-EB2A190A0D77}" type="slidenum">
              <a:rPr kumimoji="1" lang="ja-JP" altLang="en-US" smtClean="0"/>
              <a:t>‹#›</a:t>
            </a:fld>
            <a:endParaRPr kumimoji="1" lang="ja-JP" altLang="en-US" dirty="0"/>
          </a:p>
        </p:txBody>
      </p:sp>
    </p:spTree>
    <p:extLst>
      <p:ext uri="{BB962C8B-B14F-4D97-AF65-F5344CB8AC3E}">
        <p14:creationId xmlns:p14="http://schemas.microsoft.com/office/powerpoint/2010/main" val="9315093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9.sv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7.jpe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17.sv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17.sv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19.sv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21.sv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23.sv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25.sv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6.xml"/><Relationship Id="rId5" Type="http://schemas.openxmlformats.org/officeDocument/2006/relationships/image" Target="../media/image7.jpe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28.sv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1.xml"/><Relationship Id="rId1" Type="http://schemas.openxmlformats.org/officeDocument/2006/relationships/slideLayout" Target="../slideLayouts/slideLayout6.xml"/><Relationship Id="rId5" Type="http://schemas.openxmlformats.org/officeDocument/2006/relationships/image" Target="../media/image31.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6.xml"/><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4.xml"/><Relationship Id="rId1" Type="http://schemas.openxmlformats.org/officeDocument/2006/relationships/slideLayout" Target="../slideLayouts/slideLayout6.xml"/><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5.xml"/><Relationship Id="rId1" Type="http://schemas.openxmlformats.org/officeDocument/2006/relationships/slideLayout" Target="../slideLayouts/slideLayout6.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6.xml"/><Relationship Id="rId1" Type="http://schemas.openxmlformats.org/officeDocument/2006/relationships/slideLayout" Target="../slideLayouts/slideLayout6.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0.xml"/><Relationship Id="rId1" Type="http://schemas.openxmlformats.org/officeDocument/2006/relationships/slideLayout" Target="../slideLayouts/slideLayout6.xml"/><Relationship Id="rId4" Type="http://schemas.openxmlformats.org/officeDocument/2006/relationships/image" Target="../media/image21.svg"/></Relationships>
</file>

<file path=ppt/slides/_rels/slide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1.xml"/><Relationship Id="rId1" Type="http://schemas.openxmlformats.org/officeDocument/2006/relationships/slideLayout" Target="../slideLayouts/slideLayout6.xml"/><Relationship Id="rId4" Type="http://schemas.openxmlformats.org/officeDocument/2006/relationships/image" Target="../media/image23.svg"/></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2.xml"/><Relationship Id="rId1" Type="http://schemas.openxmlformats.org/officeDocument/2006/relationships/slideLayout" Target="../slideLayouts/slideLayout6.xml"/><Relationship Id="rId4" Type="http://schemas.openxmlformats.org/officeDocument/2006/relationships/image" Target="../media/image25.svg"/></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5.xml"/><Relationship Id="rId1" Type="http://schemas.openxmlformats.org/officeDocument/2006/relationships/slideLayout" Target="../slideLayouts/slideLayout6.xml"/><Relationship Id="rId4" Type="http://schemas.openxmlformats.org/officeDocument/2006/relationships/image" Target="../media/image21.svg"/></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6.xml"/><Relationship Id="rId1" Type="http://schemas.openxmlformats.org/officeDocument/2006/relationships/slideLayout" Target="../slideLayouts/slideLayout6.xml"/><Relationship Id="rId4" Type="http://schemas.openxmlformats.org/officeDocument/2006/relationships/image" Target="../media/image23.sv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2.xml"/><Relationship Id="rId1" Type="http://schemas.openxmlformats.org/officeDocument/2006/relationships/slideLayout" Target="../slideLayouts/slideLayout6.xml"/><Relationship Id="rId5" Type="http://schemas.openxmlformats.org/officeDocument/2006/relationships/image" Target="../media/image31.png"/><Relationship Id="rId4" Type="http://schemas.openxmlformats.org/officeDocument/2006/relationships/image" Target="../media/image30.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4.xm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31.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0.xml"/><Relationship Id="rId1" Type="http://schemas.openxmlformats.org/officeDocument/2006/relationships/slideLayout" Target="../slideLayouts/slideLayout6.xml"/><Relationship Id="rId5" Type="http://schemas.openxmlformats.org/officeDocument/2006/relationships/image" Target="../media/image7.jpe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8F8755-8367-8EA9-86ED-3B957B23FB6E}"/>
              </a:ext>
            </a:extLst>
          </p:cNvPr>
          <p:cNvSpPr>
            <a:spLocks noGrp="1"/>
          </p:cNvSpPr>
          <p:nvPr>
            <p:ph type="ctrTitle"/>
          </p:nvPr>
        </p:nvSpPr>
        <p:spPr>
          <a:xfrm>
            <a:off x="108192" y="2270656"/>
            <a:ext cx="8927615" cy="1171654"/>
          </a:xfrm>
        </p:spPr>
        <p:txBody>
          <a:bodyPr>
            <a:noAutofit/>
          </a:bodyPr>
          <a:lstStyle/>
          <a:p>
            <a:pPr algn="l"/>
            <a:r>
              <a:rPr lang="ja-JP" altLang="en-US" sz="3600" b="1" dirty="0">
                <a:latin typeface="+mn-ea"/>
                <a:ea typeface="+mn-ea"/>
              </a:rPr>
              <a:t>大規模言語モデルにおける</a:t>
            </a:r>
            <a:br>
              <a:rPr lang="en-US" altLang="ja-JP" sz="3600" b="1" dirty="0">
                <a:latin typeface="+mn-ea"/>
                <a:ea typeface="+mn-ea"/>
              </a:rPr>
            </a:br>
            <a:r>
              <a:rPr lang="ja-JP" altLang="en-US" sz="3600" b="1" dirty="0">
                <a:latin typeface="+mn-ea"/>
                <a:ea typeface="+mn-ea"/>
              </a:rPr>
              <a:t>人格切り替えがユーザの印象に与える影響</a:t>
            </a:r>
            <a:endParaRPr kumimoji="1" lang="ja-JP" altLang="en-US" sz="3600" b="1" dirty="0">
              <a:latin typeface="+mn-ea"/>
              <a:ea typeface="+mn-ea"/>
            </a:endParaRPr>
          </a:p>
        </p:txBody>
      </p:sp>
      <p:sp>
        <p:nvSpPr>
          <p:cNvPr id="3" name="字幕 2">
            <a:extLst>
              <a:ext uri="{FF2B5EF4-FFF2-40B4-BE49-F238E27FC236}">
                <a16:creationId xmlns:a16="http://schemas.microsoft.com/office/drawing/2014/main" id="{8B21F246-5842-52A6-4247-0F544B3D34D9}"/>
              </a:ext>
            </a:extLst>
          </p:cNvPr>
          <p:cNvSpPr>
            <a:spLocks noGrp="1"/>
          </p:cNvSpPr>
          <p:nvPr>
            <p:ph type="subTitle" idx="1"/>
          </p:nvPr>
        </p:nvSpPr>
        <p:spPr>
          <a:xfrm>
            <a:off x="550333" y="4502477"/>
            <a:ext cx="8593667" cy="1655762"/>
          </a:xfrm>
        </p:spPr>
        <p:txBody>
          <a:bodyPr>
            <a:noAutofit/>
          </a:bodyPr>
          <a:lstStyle/>
          <a:p>
            <a:pPr algn="l"/>
            <a:r>
              <a:rPr lang="ja-JP" altLang="en-US" b="1" dirty="0"/>
              <a:t>西澤奏都　</a:t>
            </a:r>
            <a:r>
              <a:rPr kumimoji="1" lang="ja-JP" altLang="en-US" b="1" dirty="0"/>
              <a:t>信州大学　工学部</a:t>
            </a:r>
            <a:r>
              <a:rPr lang="ja-JP" altLang="en-US" b="1" dirty="0"/>
              <a:t>　電子情報システム工学科</a:t>
            </a:r>
            <a:r>
              <a:rPr kumimoji="1" lang="ja-JP" altLang="en-US" b="1" dirty="0"/>
              <a:t>　　　　　　　</a:t>
            </a:r>
            <a:r>
              <a:rPr lang="ja-JP" altLang="en-US" b="1" dirty="0"/>
              <a:t>　　</a:t>
            </a:r>
            <a:endParaRPr lang="en-US" altLang="ja-JP" b="1" dirty="0"/>
          </a:p>
          <a:p>
            <a:pPr algn="l"/>
            <a:r>
              <a:rPr lang="ja-JP" altLang="en-US" b="1" dirty="0"/>
              <a:t>指導教員：</a:t>
            </a:r>
            <a:r>
              <a:rPr kumimoji="1" lang="ja-JP" altLang="en-US" b="1" dirty="0"/>
              <a:t>小林一樹</a:t>
            </a:r>
            <a:endParaRPr kumimoji="1" lang="en-US" altLang="ja-JP" b="1" dirty="0">
              <a:latin typeface="游ゴシック" panose="020B0400000000000000" pitchFamily="50" charset="-128"/>
              <a:ea typeface="游ゴシック" panose="020B0400000000000000" pitchFamily="50" charset="-128"/>
            </a:endParaRPr>
          </a:p>
          <a:p>
            <a:pPr algn="l"/>
            <a:endParaRPr kumimoji="1" lang="ja-JP" altLang="en-US" b="1" dirty="0"/>
          </a:p>
        </p:txBody>
      </p:sp>
      <p:sp>
        <p:nvSpPr>
          <p:cNvPr id="4" name="正方形/長方形 3">
            <a:extLst>
              <a:ext uri="{FF2B5EF4-FFF2-40B4-BE49-F238E27FC236}">
                <a16:creationId xmlns:a16="http://schemas.microsoft.com/office/drawing/2014/main" id="{A90AC779-A65B-9B33-C2D1-AABA78C0CE55}"/>
              </a:ext>
            </a:extLst>
          </p:cNvPr>
          <p:cNvSpPr/>
          <p:nvPr/>
        </p:nvSpPr>
        <p:spPr>
          <a:xfrm>
            <a:off x="0" y="3867462"/>
            <a:ext cx="9144000" cy="209863"/>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5" name="スライド番号プレースホルダー 4">
            <a:extLst>
              <a:ext uri="{FF2B5EF4-FFF2-40B4-BE49-F238E27FC236}">
                <a16:creationId xmlns:a16="http://schemas.microsoft.com/office/drawing/2014/main" id="{53B5E0B1-57D8-8588-3764-5AC47252AC0A}"/>
              </a:ext>
            </a:extLst>
          </p:cNvPr>
          <p:cNvSpPr>
            <a:spLocks noGrp="1"/>
          </p:cNvSpPr>
          <p:nvPr>
            <p:ph type="sldNum" sz="quarter" idx="12"/>
          </p:nvPr>
        </p:nvSpPr>
        <p:spPr/>
        <p:txBody>
          <a:bodyPr>
            <a:noAutofit/>
          </a:bodyPr>
          <a:lstStyle/>
          <a:p>
            <a:endParaRPr kumimoji="1" lang="ja-JP" altLang="en-US" dirty="0"/>
          </a:p>
        </p:txBody>
      </p:sp>
    </p:spTree>
    <p:extLst>
      <p:ext uri="{BB962C8B-B14F-4D97-AF65-F5344CB8AC3E}">
        <p14:creationId xmlns:p14="http://schemas.microsoft.com/office/powerpoint/2010/main" val="986110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49CF6-9D98-8848-2922-B3A1E92DF40B}"/>
            </a:ext>
          </a:extLst>
        </p:cNvPr>
        <p:cNvGrpSpPr/>
        <p:nvPr/>
      </p:nvGrpSpPr>
      <p:grpSpPr>
        <a:xfrm>
          <a:off x="0" y="0"/>
          <a:ext cx="0" cy="0"/>
          <a:chOff x="0" y="0"/>
          <a:chExt cx="0" cy="0"/>
        </a:xfrm>
      </p:grpSpPr>
      <p:sp>
        <p:nvSpPr>
          <p:cNvPr id="24" name="スライド番号プレースホルダー 23">
            <a:extLst>
              <a:ext uri="{FF2B5EF4-FFF2-40B4-BE49-F238E27FC236}">
                <a16:creationId xmlns:a16="http://schemas.microsoft.com/office/drawing/2014/main" id="{A29DCE67-D928-BDAB-7FFD-7906A285BEE9}"/>
              </a:ext>
            </a:extLst>
          </p:cNvPr>
          <p:cNvSpPr>
            <a:spLocks noGrp="1"/>
          </p:cNvSpPr>
          <p:nvPr>
            <p:ph type="sldNum" sz="quarter" idx="12"/>
          </p:nvPr>
        </p:nvSpPr>
        <p:spPr/>
        <p:txBody>
          <a:bodyPr>
            <a:noAutofit/>
          </a:bodyPr>
          <a:lstStyle/>
          <a:p>
            <a:fld id="{18020408-E1FF-429E-A8D5-EB2A190A0D77}" type="slidenum">
              <a:rPr kumimoji="1" lang="ja-JP" altLang="en-US" smtClean="0"/>
              <a:t>2</a:t>
            </a:fld>
            <a:endParaRPr kumimoji="1" lang="ja-JP" altLang="en-US" dirty="0"/>
          </a:p>
        </p:txBody>
      </p:sp>
      <p:sp>
        <p:nvSpPr>
          <p:cNvPr id="5" name="タイトル 4">
            <a:extLst>
              <a:ext uri="{FF2B5EF4-FFF2-40B4-BE49-F238E27FC236}">
                <a16:creationId xmlns:a16="http://schemas.microsoft.com/office/drawing/2014/main" id="{F18CC389-6911-1D51-63B6-46794D3C8E90}"/>
              </a:ext>
            </a:extLst>
          </p:cNvPr>
          <p:cNvSpPr>
            <a:spLocks noGrp="1"/>
          </p:cNvSpPr>
          <p:nvPr>
            <p:ph type="title"/>
          </p:nvPr>
        </p:nvSpPr>
        <p:spPr/>
        <p:txBody>
          <a:bodyPr>
            <a:noAutofit/>
          </a:bodyPr>
          <a:lstStyle/>
          <a:p>
            <a:r>
              <a:rPr lang="ja-JP" altLang="en-US" sz="3600" b="1" dirty="0">
                <a:solidFill>
                  <a:schemeClr val="bg1"/>
                </a:solidFill>
                <a:latin typeface="+mn-ea"/>
                <a:ea typeface="+mn-ea"/>
              </a:rPr>
              <a:t>概要</a:t>
            </a:r>
          </a:p>
        </p:txBody>
      </p:sp>
      <p:sp>
        <p:nvSpPr>
          <p:cNvPr id="6" name="テキスト ボックス 5">
            <a:extLst>
              <a:ext uri="{FF2B5EF4-FFF2-40B4-BE49-F238E27FC236}">
                <a16:creationId xmlns:a16="http://schemas.microsoft.com/office/drawing/2014/main" id="{C62C2AA4-D13D-8B6E-F4C9-BCA3C587D09D}"/>
              </a:ext>
            </a:extLst>
          </p:cNvPr>
          <p:cNvSpPr txBox="1"/>
          <p:nvPr/>
        </p:nvSpPr>
        <p:spPr>
          <a:xfrm>
            <a:off x="222167" y="1313207"/>
            <a:ext cx="1472376" cy="523220"/>
          </a:xfrm>
          <a:prstGeom prst="rect">
            <a:avLst/>
          </a:prstGeom>
          <a:noFill/>
        </p:spPr>
        <p:txBody>
          <a:bodyPr wrap="square" rtlCol="0">
            <a:noAutofit/>
          </a:bodyPr>
          <a:lstStyle/>
          <a:p>
            <a:r>
              <a:rPr kumimoji="1" lang="ja-JP" altLang="en-US" sz="1600" b="1" dirty="0">
                <a:solidFill>
                  <a:schemeClr val="accent1"/>
                </a:solidFill>
              </a:rPr>
              <a:t>目的</a:t>
            </a:r>
          </a:p>
        </p:txBody>
      </p:sp>
      <p:sp>
        <p:nvSpPr>
          <p:cNvPr id="8" name="テキスト ボックス 7">
            <a:extLst>
              <a:ext uri="{FF2B5EF4-FFF2-40B4-BE49-F238E27FC236}">
                <a16:creationId xmlns:a16="http://schemas.microsoft.com/office/drawing/2014/main" id="{754D70F4-3124-F35F-BF32-3F42BB104BCE}"/>
              </a:ext>
            </a:extLst>
          </p:cNvPr>
          <p:cNvSpPr txBox="1"/>
          <p:nvPr/>
        </p:nvSpPr>
        <p:spPr>
          <a:xfrm>
            <a:off x="222168" y="1950887"/>
            <a:ext cx="941088" cy="523220"/>
          </a:xfrm>
          <a:prstGeom prst="rect">
            <a:avLst/>
          </a:prstGeom>
          <a:noFill/>
        </p:spPr>
        <p:txBody>
          <a:bodyPr wrap="square">
            <a:noAutofit/>
          </a:bodyPr>
          <a:lstStyle/>
          <a:p>
            <a:r>
              <a:rPr kumimoji="1" lang="ja-JP" altLang="en-US" sz="1600" b="1" dirty="0">
                <a:solidFill>
                  <a:schemeClr val="accent1"/>
                </a:solidFill>
              </a:rPr>
              <a:t>方法</a:t>
            </a:r>
          </a:p>
        </p:txBody>
      </p:sp>
      <p:sp>
        <p:nvSpPr>
          <p:cNvPr id="10" name="テキスト ボックス 9">
            <a:extLst>
              <a:ext uri="{FF2B5EF4-FFF2-40B4-BE49-F238E27FC236}">
                <a16:creationId xmlns:a16="http://schemas.microsoft.com/office/drawing/2014/main" id="{15801154-6C04-FAE2-BEE3-606BCA069094}"/>
              </a:ext>
            </a:extLst>
          </p:cNvPr>
          <p:cNvSpPr txBox="1"/>
          <p:nvPr/>
        </p:nvSpPr>
        <p:spPr>
          <a:xfrm>
            <a:off x="155055" y="4786770"/>
            <a:ext cx="8699661" cy="1899280"/>
          </a:xfrm>
          <a:prstGeom prst="rect">
            <a:avLst/>
          </a:prstGeom>
          <a:noFill/>
        </p:spPr>
        <p:txBody>
          <a:bodyPr wrap="square">
            <a:noAutofit/>
          </a:bodyPr>
          <a:lstStyle/>
          <a:p>
            <a:pPr marL="93663" indent="-1588" fontAlgn="base">
              <a:spcAft>
                <a:spcPts val="600"/>
              </a:spcAft>
            </a:pPr>
            <a:r>
              <a:rPr kumimoji="1" lang="ja-JP" altLang="en-US" sz="1600" b="1" dirty="0">
                <a:solidFill>
                  <a:schemeClr val="accent1"/>
                </a:solidFill>
                <a:latin typeface="+mn-ea"/>
              </a:rPr>
              <a:t>結果</a:t>
            </a:r>
            <a:endParaRPr kumimoji="1" lang="en-US" altLang="ja-JP" sz="1600" b="1" dirty="0">
              <a:solidFill>
                <a:schemeClr val="accent1"/>
              </a:solidFill>
              <a:latin typeface="+mn-ea"/>
            </a:endParaRPr>
          </a:p>
          <a:p>
            <a:pPr marL="271463" indent="-177800" fontAlgn="base">
              <a:spcAft>
                <a:spcPts val="600"/>
              </a:spcAft>
              <a:buFont typeface="Arial" panose="020B0604020202020204" pitchFamily="34" charset="0"/>
              <a:buChar char="•"/>
            </a:pPr>
            <a:r>
              <a:rPr lang="en-US" altLang="ja-JP" sz="1600" b="1" dirty="0">
                <a:latin typeface="+mn-ea"/>
              </a:rPr>
              <a:t>LLM</a:t>
            </a:r>
            <a:r>
              <a:rPr lang="ja-JP" altLang="en-US" sz="1600" b="1" dirty="0"/>
              <a:t>の人格が切り替わることで</a:t>
            </a:r>
            <a:r>
              <a:rPr lang="en-US" altLang="ja-JP" sz="1600" b="1" dirty="0">
                <a:latin typeface="+mn-ea"/>
              </a:rPr>
              <a:t>LLM</a:t>
            </a:r>
            <a:r>
              <a:rPr lang="ja-JP" altLang="en-US" sz="1600" b="1" dirty="0"/>
              <a:t>には独自の個性があると判断すると示唆</a:t>
            </a:r>
            <a:endParaRPr lang="en-US" altLang="ja-JP" sz="1600" b="1" dirty="0"/>
          </a:p>
          <a:p>
            <a:pPr marL="271463" indent="-177800" fontAlgn="base">
              <a:spcAft>
                <a:spcPts val="600"/>
              </a:spcAft>
              <a:buFont typeface="Arial" panose="020B0604020202020204" pitchFamily="34" charset="0"/>
              <a:buChar char="•"/>
            </a:pPr>
            <a:r>
              <a:rPr lang="en-US" altLang="ja-JP" sz="1600" b="1" dirty="0">
                <a:latin typeface="+mn-ea"/>
              </a:rPr>
              <a:t>LLM</a:t>
            </a:r>
            <a:r>
              <a:rPr lang="ja-JP" altLang="en-US" sz="1600" b="1" dirty="0">
                <a:latin typeface="+mn-ea"/>
              </a:rPr>
              <a:t>が名乗らない際，人格を一貫させることで</a:t>
            </a:r>
            <a:r>
              <a:rPr lang="en-US" altLang="ja-JP" sz="1600" b="1" dirty="0">
                <a:latin typeface="+mn-ea"/>
              </a:rPr>
              <a:t>LLM</a:t>
            </a:r>
            <a:r>
              <a:rPr lang="ja-JP" altLang="en-US" sz="1600" b="1" dirty="0">
                <a:latin typeface="+mn-ea"/>
              </a:rPr>
              <a:t>の言動を楽しいと感じることが示唆</a:t>
            </a:r>
            <a:endParaRPr lang="en-US" altLang="ja-JP" sz="1600" b="1" dirty="0">
              <a:latin typeface="+mn-ea"/>
            </a:endParaRPr>
          </a:p>
          <a:p>
            <a:pPr marL="271463" indent="-177800" fontAlgn="base">
              <a:spcAft>
                <a:spcPts val="600"/>
              </a:spcAft>
              <a:buFont typeface="Arial" panose="020B0604020202020204" pitchFamily="34" charset="0"/>
              <a:buChar char="•"/>
            </a:pPr>
            <a:r>
              <a:rPr lang="en-US" altLang="ja-JP" sz="1600" b="1" dirty="0">
                <a:latin typeface="+mn-ea"/>
              </a:rPr>
              <a:t>LLM</a:t>
            </a:r>
            <a:r>
              <a:rPr lang="ja-JP" altLang="en-US" sz="1600" b="1" dirty="0">
                <a:latin typeface="+mn-ea"/>
              </a:rPr>
              <a:t>の人格が固定の際，</a:t>
            </a:r>
            <a:r>
              <a:rPr lang="en-US" altLang="ja-JP" sz="1600" b="1" dirty="0">
                <a:latin typeface="+mn-ea"/>
              </a:rPr>
              <a:t>LLM</a:t>
            </a:r>
            <a:r>
              <a:rPr lang="ja-JP" altLang="en-US" sz="1600" b="1" dirty="0">
                <a:latin typeface="+mn-ea"/>
              </a:rPr>
              <a:t>が名乗らないことでやりとりにより注意を引かれると示唆</a:t>
            </a:r>
            <a:endParaRPr lang="en-US" altLang="ja-JP" sz="1600" b="1" dirty="0">
              <a:latin typeface="+mn-ea"/>
            </a:endParaRPr>
          </a:p>
          <a:p>
            <a:pPr marL="271463" indent="-177800" fontAlgn="base">
              <a:spcAft>
                <a:spcPts val="600"/>
              </a:spcAft>
              <a:buFont typeface="Arial" panose="020B0604020202020204" pitchFamily="34" charset="0"/>
              <a:buChar char="•"/>
            </a:pPr>
            <a:r>
              <a:rPr lang="en-US" altLang="ja-JP" sz="1600" b="1" dirty="0">
                <a:latin typeface="+mn-ea"/>
              </a:rPr>
              <a:t>LLM</a:t>
            </a:r>
            <a:r>
              <a:rPr lang="ja-JP" altLang="en-US" sz="1600" b="1" dirty="0">
                <a:latin typeface="+mn-ea"/>
              </a:rPr>
              <a:t>の人格が固定の際，</a:t>
            </a:r>
            <a:r>
              <a:rPr lang="en-US" altLang="ja-JP" sz="1600" b="1" dirty="0">
                <a:latin typeface="+mn-ea"/>
              </a:rPr>
              <a:t>LLM</a:t>
            </a:r>
            <a:r>
              <a:rPr lang="ja-JP" altLang="en-US" sz="1600" b="1" dirty="0">
                <a:latin typeface="+mn-ea"/>
              </a:rPr>
              <a:t>が名乗らないことでより強く感情があると感じることが示唆</a:t>
            </a:r>
            <a:endParaRPr kumimoji="1" lang="en-US" altLang="ja-JP" sz="1600" b="1" dirty="0">
              <a:latin typeface="+mn-ea"/>
            </a:endParaRPr>
          </a:p>
          <a:p>
            <a:endParaRPr kumimoji="1" lang="ja-JP" altLang="en-US" sz="1600" b="1" dirty="0">
              <a:solidFill>
                <a:schemeClr val="accent1"/>
              </a:solidFill>
            </a:endParaRPr>
          </a:p>
        </p:txBody>
      </p:sp>
      <p:sp>
        <p:nvSpPr>
          <p:cNvPr id="11" name="テキスト ボックス 10">
            <a:extLst>
              <a:ext uri="{FF2B5EF4-FFF2-40B4-BE49-F238E27FC236}">
                <a16:creationId xmlns:a16="http://schemas.microsoft.com/office/drawing/2014/main" id="{8EE65665-79C6-9918-CEED-1B817B382BB5}"/>
              </a:ext>
            </a:extLst>
          </p:cNvPr>
          <p:cNvSpPr txBox="1"/>
          <p:nvPr/>
        </p:nvSpPr>
        <p:spPr>
          <a:xfrm>
            <a:off x="222169" y="1617905"/>
            <a:ext cx="8174728" cy="365125"/>
          </a:xfrm>
          <a:prstGeom prst="rect">
            <a:avLst/>
          </a:prstGeom>
          <a:noFill/>
        </p:spPr>
        <p:txBody>
          <a:bodyPr wrap="square" rtlCol="0">
            <a:noAutofit/>
          </a:bodyPr>
          <a:lstStyle/>
          <a:p>
            <a:r>
              <a:rPr lang="ja-JP" altLang="en-US" sz="1600" b="1" dirty="0">
                <a:latin typeface="+mn-ea"/>
              </a:rPr>
              <a:t>ネガティブな印象を抱いた対象の切り替えによる</a:t>
            </a:r>
            <a:r>
              <a:rPr lang="en-US" altLang="ja-JP" sz="1600" b="1" dirty="0">
                <a:latin typeface="+mn-ea"/>
              </a:rPr>
              <a:t>LLM</a:t>
            </a:r>
            <a:r>
              <a:rPr lang="ja-JP" altLang="en-US" sz="1600" b="1" dirty="0">
                <a:latin typeface="+mn-ea"/>
              </a:rPr>
              <a:t>への</a:t>
            </a:r>
            <a:r>
              <a:rPr kumimoji="1" lang="ja-JP" altLang="en-US" sz="1600" b="1" dirty="0">
                <a:latin typeface="+mn-ea"/>
              </a:rPr>
              <a:t>ネガティブな印象のリセット</a:t>
            </a:r>
          </a:p>
          <a:p>
            <a:endParaRPr lang="en-US" altLang="ja-JP" sz="1600" b="1" dirty="0">
              <a:latin typeface="+mn-ea"/>
            </a:endParaRPr>
          </a:p>
        </p:txBody>
      </p:sp>
      <p:sp>
        <p:nvSpPr>
          <p:cNvPr id="13" name="テキスト ボックス 12">
            <a:extLst>
              <a:ext uri="{FF2B5EF4-FFF2-40B4-BE49-F238E27FC236}">
                <a16:creationId xmlns:a16="http://schemas.microsoft.com/office/drawing/2014/main" id="{7E9A8331-2717-F594-A0C9-50F4C7902EFE}"/>
              </a:ext>
            </a:extLst>
          </p:cNvPr>
          <p:cNvSpPr txBox="1"/>
          <p:nvPr/>
        </p:nvSpPr>
        <p:spPr>
          <a:xfrm>
            <a:off x="222167" y="2316665"/>
            <a:ext cx="3364631" cy="1028810"/>
          </a:xfrm>
          <a:prstGeom prst="rect">
            <a:avLst/>
          </a:prstGeom>
          <a:noFill/>
        </p:spPr>
        <p:txBody>
          <a:bodyPr wrap="square">
            <a:noAutofit/>
          </a:bodyPr>
          <a:lstStyle/>
          <a:p>
            <a:pPr fontAlgn="base">
              <a:spcAft>
                <a:spcPts val="600"/>
              </a:spcAft>
            </a:pPr>
            <a:r>
              <a:rPr lang="ja-JP" altLang="en-US" sz="1600" b="1" dirty="0">
                <a:solidFill>
                  <a:srgbClr val="000000"/>
                </a:solidFill>
                <a:latin typeface="+mn-ea"/>
              </a:rPr>
              <a:t>人格切替システムの開発</a:t>
            </a:r>
            <a:endParaRPr lang="en-US" altLang="ja-JP" sz="1600" b="1" dirty="0">
              <a:solidFill>
                <a:srgbClr val="000000"/>
              </a:solidFill>
              <a:latin typeface="+mn-ea"/>
            </a:endParaRPr>
          </a:p>
          <a:p>
            <a:pPr marL="266700" indent="-174625" fontAlgn="base">
              <a:spcAft>
                <a:spcPts val="600"/>
              </a:spcAft>
              <a:buFont typeface="Arial" panose="020B0604020202020204" pitchFamily="34" charset="0"/>
              <a:buChar char="•"/>
            </a:pPr>
            <a:r>
              <a:rPr lang="ja-JP" altLang="en-US" sz="1600" b="1" dirty="0">
                <a:solidFill>
                  <a:srgbClr val="000000"/>
                </a:solidFill>
                <a:latin typeface="+mn-ea"/>
              </a:rPr>
              <a:t>人格には</a:t>
            </a:r>
            <a:r>
              <a:rPr lang="en-US" altLang="ja-JP" sz="1600" b="1" dirty="0">
                <a:solidFill>
                  <a:srgbClr val="000000"/>
                </a:solidFill>
                <a:latin typeface="+mn-ea"/>
              </a:rPr>
              <a:t>MBTI</a:t>
            </a:r>
            <a:r>
              <a:rPr lang="ja-JP" altLang="en-US" sz="1600" b="1" dirty="0">
                <a:solidFill>
                  <a:srgbClr val="000000"/>
                </a:solidFill>
                <a:latin typeface="+mn-ea"/>
              </a:rPr>
              <a:t>を採用</a:t>
            </a:r>
            <a:endParaRPr lang="en-US" altLang="ja-JP" sz="1600" b="1" dirty="0">
              <a:solidFill>
                <a:srgbClr val="000000"/>
              </a:solidFill>
              <a:latin typeface="+mn-ea"/>
            </a:endParaRPr>
          </a:p>
          <a:p>
            <a:pPr marL="266700" indent="-174625" fontAlgn="base">
              <a:spcAft>
                <a:spcPts val="600"/>
              </a:spcAft>
              <a:buFont typeface="Arial" panose="020B0604020202020204" pitchFamily="34" charset="0"/>
              <a:buChar char="•"/>
            </a:pPr>
            <a:r>
              <a:rPr lang="ja-JP" altLang="en-US" sz="1600" b="1" dirty="0"/>
              <a:t>人格特性は口調で表現</a:t>
            </a:r>
            <a:endParaRPr lang="en-US" altLang="ja-JP" sz="1600" b="1" dirty="0"/>
          </a:p>
        </p:txBody>
      </p:sp>
      <p:pic>
        <p:nvPicPr>
          <p:cNvPr id="14" name="図 13" descr="ダイアグラム&#10;&#10;AI 生成コンテンツは誤りを含む可能性があります。">
            <a:extLst>
              <a:ext uri="{FF2B5EF4-FFF2-40B4-BE49-F238E27FC236}">
                <a16:creationId xmlns:a16="http://schemas.microsoft.com/office/drawing/2014/main" id="{23998B4E-2D77-0938-2B8A-5FC6A0E26DFB}"/>
              </a:ext>
            </a:extLst>
          </p:cNvPr>
          <p:cNvPicPr>
            <a:picLocks noChangeAspect="1"/>
          </p:cNvPicPr>
          <p:nvPr/>
        </p:nvPicPr>
        <p:blipFill>
          <a:blip r:embed="rId5"/>
          <a:stretch>
            <a:fillRect/>
          </a:stretch>
        </p:blipFill>
        <p:spPr>
          <a:xfrm>
            <a:off x="3208280" y="2258701"/>
            <a:ext cx="3364632" cy="1277881"/>
          </a:xfrm>
          <a:prstGeom prst="rect">
            <a:avLst/>
          </a:prstGeom>
        </p:spPr>
      </p:pic>
      <p:sp>
        <p:nvSpPr>
          <p:cNvPr id="2" name="テキスト ボックス 1">
            <a:extLst>
              <a:ext uri="{FF2B5EF4-FFF2-40B4-BE49-F238E27FC236}">
                <a16:creationId xmlns:a16="http://schemas.microsoft.com/office/drawing/2014/main" id="{D2C4F1FC-0FF7-CF75-970B-B134BA807807}"/>
              </a:ext>
            </a:extLst>
          </p:cNvPr>
          <p:cNvSpPr txBox="1"/>
          <p:nvPr/>
        </p:nvSpPr>
        <p:spPr>
          <a:xfrm>
            <a:off x="222167" y="3388563"/>
            <a:ext cx="4179239" cy="1103887"/>
          </a:xfrm>
          <a:prstGeom prst="rect">
            <a:avLst/>
          </a:prstGeom>
          <a:noFill/>
        </p:spPr>
        <p:txBody>
          <a:bodyPr wrap="square">
            <a:noAutofit/>
          </a:bodyPr>
          <a:lstStyle/>
          <a:p>
            <a:r>
              <a:rPr kumimoji="1" lang="ja-JP" altLang="en-US" sz="1600" b="1" dirty="0">
                <a:solidFill>
                  <a:schemeClr val="accent1"/>
                </a:solidFill>
              </a:rPr>
              <a:t>実験</a:t>
            </a:r>
            <a:endParaRPr kumimoji="1" lang="en-US" altLang="ja-JP" sz="1600" b="1" dirty="0">
              <a:solidFill>
                <a:schemeClr val="accent1"/>
              </a:solidFill>
            </a:endParaRPr>
          </a:p>
          <a:p>
            <a:r>
              <a:rPr kumimoji="1" lang="ja-JP" altLang="en-US" sz="1600" b="1" dirty="0">
                <a:latin typeface="+mn-ea"/>
              </a:rPr>
              <a:t>ユーザの</a:t>
            </a:r>
            <a:r>
              <a:rPr kumimoji="1" lang="en-US" altLang="ja-JP" sz="1600" b="1" dirty="0">
                <a:latin typeface="+mn-ea"/>
              </a:rPr>
              <a:t>LLM</a:t>
            </a:r>
            <a:r>
              <a:rPr kumimoji="1" lang="ja-JP" altLang="en-US" sz="1600" b="1" dirty="0">
                <a:latin typeface="+mn-ea"/>
              </a:rPr>
              <a:t>に対する印象を調査</a:t>
            </a:r>
            <a:endParaRPr kumimoji="1" lang="en-US" altLang="ja-JP" sz="1600" b="1" dirty="0">
              <a:latin typeface="+mn-ea"/>
            </a:endParaRPr>
          </a:p>
          <a:p>
            <a:r>
              <a:rPr kumimoji="1" lang="en-US" altLang="ja-JP" sz="1600" b="1" dirty="0">
                <a:latin typeface="+mn-ea"/>
              </a:rPr>
              <a:t>2</a:t>
            </a:r>
            <a:r>
              <a:rPr kumimoji="1" lang="ja-JP" altLang="en-US" sz="1600" b="1" dirty="0">
                <a:latin typeface="+mn-ea"/>
              </a:rPr>
              <a:t>要因（</a:t>
            </a:r>
            <a:r>
              <a:rPr kumimoji="1" lang="en-US" altLang="ja-JP" sz="1600" b="1" dirty="0">
                <a:latin typeface="+mn-ea"/>
              </a:rPr>
              <a:t>2 × 2</a:t>
            </a:r>
            <a:r>
              <a:rPr kumimoji="1" lang="ja-JP" altLang="en-US" sz="1600" b="1" dirty="0">
                <a:latin typeface="+mn-ea"/>
              </a:rPr>
              <a:t>水準）参加者間実験</a:t>
            </a:r>
            <a:endParaRPr kumimoji="1" lang="en-US" altLang="ja-JP" sz="1600" b="1" dirty="0">
              <a:latin typeface="+mn-ea"/>
            </a:endParaRPr>
          </a:p>
          <a:p>
            <a:r>
              <a:rPr kumimoji="1" lang="ja-JP" altLang="en-US" sz="1600" b="1" dirty="0">
                <a:latin typeface="+mn-ea"/>
              </a:rPr>
              <a:t>人格設定要因：人格固定，人格切り替え</a:t>
            </a:r>
            <a:endParaRPr kumimoji="1" lang="en-US" altLang="ja-JP" sz="1600" b="1" dirty="0">
              <a:latin typeface="+mn-ea"/>
            </a:endParaRPr>
          </a:p>
          <a:p>
            <a:r>
              <a:rPr kumimoji="1" lang="ja-JP" altLang="en-US" sz="1600" b="1" dirty="0">
                <a:latin typeface="+mn-ea"/>
              </a:rPr>
              <a:t>名乗り要因：名乗りあり，名乗りなし</a:t>
            </a:r>
            <a:endParaRPr kumimoji="1" lang="en-US" altLang="ja-JP" sz="1600" b="1" dirty="0">
              <a:solidFill>
                <a:schemeClr val="accent1"/>
              </a:solidFill>
            </a:endParaRPr>
          </a:p>
          <a:p>
            <a:endParaRPr kumimoji="1" lang="ja-JP" altLang="en-US" sz="1600" b="1" dirty="0">
              <a:solidFill>
                <a:schemeClr val="accent1"/>
              </a:solidFill>
            </a:endParaRPr>
          </a:p>
        </p:txBody>
      </p:sp>
      <p:pic>
        <p:nvPicPr>
          <p:cNvPr id="3" name="チャット動画ItoE">
            <a:hlinkClick r:id="" action="ppaction://media"/>
            <a:extLst>
              <a:ext uri="{FF2B5EF4-FFF2-40B4-BE49-F238E27FC236}">
                <a16:creationId xmlns:a16="http://schemas.microsoft.com/office/drawing/2014/main" id="{F36C440F-6798-0F76-248F-3A4D8EA980E0}"/>
              </a:ext>
            </a:extLst>
          </p:cNvPr>
          <p:cNvPicPr>
            <a:picLocks noChangeAspect="1"/>
          </p:cNvPicPr>
          <p:nvPr>
            <a:videoFile r:link="rId2"/>
            <p:extLst>
              <p:ext uri="{DAA4B4D4-6D71-4841-9C94-3DE7FCFB9230}">
                <p14:media xmlns:p14="http://schemas.microsoft.com/office/powerpoint/2010/main" r:embed="rId1"/>
              </p:ext>
            </p:extLst>
          </p:nvPr>
        </p:nvPicPr>
        <p:blipFill>
          <a:blip r:embed="rId6"/>
          <a:srcRect l="27893" r="25543"/>
          <a:stretch>
            <a:fillRect/>
          </a:stretch>
        </p:blipFill>
        <p:spPr>
          <a:xfrm>
            <a:off x="6753605" y="2273295"/>
            <a:ext cx="2168225" cy="2619263"/>
          </a:xfrm>
          <a:prstGeom prst="rect">
            <a:avLst/>
          </a:prstGeom>
        </p:spPr>
      </p:pic>
    </p:spTree>
    <p:extLst>
      <p:ext uri="{BB962C8B-B14F-4D97-AF65-F5344CB8AC3E}">
        <p14:creationId xmlns:p14="http://schemas.microsoft.com/office/powerpoint/2010/main" val="2740902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451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repeatCount="indefinite" fill="remove" display="0">
                  <p:stCondLst>
                    <p:cond delay="indefinite"/>
                  </p:stCondLst>
                </p:cTn>
                <p:tgtEl>
                  <p:spTgt spid="3"/>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60832-AA36-E24D-00D3-4365C3FBECEF}"/>
            </a:ext>
          </a:extLst>
        </p:cNvPr>
        <p:cNvGrpSpPr/>
        <p:nvPr/>
      </p:nvGrpSpPr>
      <p:grpSpPr>
        <a:xfrm>
          <a:off x="0" y="0"/>
          <a:ext cx="0" cy="0"/>
          <a:chOff x="0" y="0"/>
          <a:chExt cx="0" cy="0"/>
        </a:xfrm>
      </p:grpSpPr>
      <p:sp>
        <p:nvSpPr>
          <p:cNvPr id="43" name="スライド番号プレースホルダー 42">
            <a:extLst>
              <a:ext uri="{FF2B5EF4-FFF2-40B4-BE49-F238E27FC236}">
                <a16:creationId xmlns:a16="http://schemas.microsoft.com/office/drawing/2014/main" id="{02B33D19-3318-AEAB-7AFC-3F853C678A0C}"/>
              </a:ext>
            </a:extLst>
          </p:cNvPr>
          <p:cNvSpPr>
            <a:spLocks noGrp="1"/>
          </p:cNvSpPr>
          <p:nvPr>
            <p:ph type="sldNum" sz="quarter" idx="12"/>
          </p:nvPr>
        </p:nvSpPr>
        <p:spPr/>
        <p:txBody>
          <a:bodyPr>
            <a:noAutofit/>
          </a:bodyPr>
          <a:lstStyle/>
          <a:p>
            <a:fld id="{18020408-E1FF-429E-A8D5-EB2A190A0D77}" type="slidenum">
              <a:rPr kumimoji="1" lang="ja-JP" altLang="en-US" smtClean="0"/>
              <a:t>3</a:t>
            </a:fld>
            <a:endParaRPr kumimoji="1" lang="ja-JP" altLang="en-US" dirty="0"/>
          </a:p>
        </p:txBody>
      </p:sp>
      <p:sp>
        <p:nvSpPr>
          <p:cNvPr id="5" name="タイトル 4">
            <a:extLst>
              <a:ext uri="{FF2B5EF4-FFF2-40B4-BE49-F238E27FC236}">
                <a16:creationId xmlns:a16="http://schemas.microsoft.com/office/drawing/2014/main" id="{FCA60367-8141-7D97-B868-8A0F8C0CC0CD}"/>
              </a:ext>
            </a:extLst>
          </p:cNvPr>
          <p:cNvSpPr>
            <a:spLocks noGrp="1"/>
          </p:cNvSpPr>
          <p:nvPr>
            <p:ph type="title"/>
          </p:nvPr>
        </p:nvSpPr>
        <p:spPr/>
        <p:txBody>
          <a:bodyPr>
            <a:noAutofit/>
          </a:bodyPr>
          <a:lstStyle/>
          <a:p>
            <a:r>
              <a:rPr lang="ja-JP" altLang="en-US" sz="3600" b="1" dirty="0">
                <a:solidFill>
                  <a:schemeClr val="bg1"/>
                </a:solidFill>
                <a:latin typeface="+mn-ea"/>
                <a:ea typeface="+mn-ea"/>
              </a:rPr>
              <a:t>背景</a:t>
            </a:r>
          </a:p>
        </p:txBody>
      </p:sp>
      <p:sp>
        <p:nvSpPr>
          <p:cNvPr id="11" name="テキスト ボックス 10">
            <a:extLst>
              <a:ext uri="{FF2B5EF4-FFF2-40B4-BE49-F238E27FC236}">
                <a16:creationId xmlns:a16="http://schemas.microsoft.com/office/drawing/2014/main" id="{BA9B0B7D-11A7-BA3B-6F3A-9A3B00F18751}"/>
              </a:ext>
            </a:extLst>
          </p:cNvPr>
          <p:cNvSpPr txBox="1"/>
          <p:nvPr/>
        </p:nvSpPr>
        <p:spPr>
          <a:xfrm>
            <a:off x="454214" y="5526103"/>
            <a:ext cx="8475454" cy="561988"/>
          </a:xfrm>
          <a:prstGeom prst="rect">
            <a:avLst/>
          </a:prstGeom>
          <a:noFill/>
        </p:spPr>
        <p:txBody>
          <a:bodyPr wrap="square" rtlCol="0">
            <a:noAutofit/>
          </a:bodyPr>
          <a:lstStyle/>
          <a:p>
            <a:r>
              <a:rPr lang="ja-JP" altLang="en-US" sz="2600" b="1" dirty="0">
                <a:latin typeface="+mn-ea"/>
              </a:rPr>
              <a:t>ユーザの期待に沿わない出力は</a:t>
            </a:r>
            <a:r>
              <a:rPr lang="ja-JP" altLang="en-US" sz="2600" b="1" dirty="0">
                <a:solidFill>
                  <a:srgbClr val="C00000"/>
                </a:solidFill>
                <a:latin typeface="+mn-ea"/>
              </a:rPr>
              <a:t>信頼を低下 </a:t>
            </a:r>
            <a:r>
              <a:rPr lang="en-US" altLang="ja-JP" sz="2000" b="1" dirty="0"/>
              <a:t>[</a:t>
            </a:r>
            <a:r>
              <a:rPr lang="en-US" altLang="ja-JP" sz="2000" b="1" dirty="0">
                <a:latin typeface="+mn-ea"/>
              </a:rPr>
              <a:t>Martell</a:t>
            </a:r>
            <a:r>
              <a:rPr lang="ja-JP" altLang="en-US" sz="2000" b="1" dirty="0">
                <a:latin typeface="+mn-ea"/>
              </a:rPr>
              <a:t>ら </a:t>
            </a:r>
            <a:r>
              <a:rPr lang="en-US" altLang="ja-JP" sz="2000" b="1" dirty="0">
                <a:latin typeface="+mn-ea"/>
              </a:rPr>
              <a:t>’25</a:t>
            </a:r>
            <a:r>
              <a:rPr lang="en-US" altLang="ja-JP" sz="2000" b="1" dirty="0"/>
              <a:t>]</a:t>
            </a:r>
            <a:endParaRPr lang="en-US" altLang="ja-JP" sz="2600" b="1" dirty="0">
              <a:solidFill>
                <a:srgbClr val="FF0000"/>
              </a:solidFill>
              <a:latin typeface="+mn-ea"/>
            </a:endParaRPr>
          </a:p>
        </p:txBody>
      </p:sp>
      <p:grpSp>
        <p:nvGrpSpPr>
          <p:cNvPr id="2" name="グループ化 1">
            <a:extLst>
              <a:ext uri="{FF2B5EF4-FFF2-40B4-BE49-F238E27FC236}">
                <a16:creationId xmlns:a16="http://schemas.microsoft.com/office/drawing/2014/main" id="{CDA0FEBF-A58F-2E10-E1E5-8C65F45A79A9}"/>
              </a:ext>
            </a:extLst>
          </p:cNvPr>
          <p:cNvGrpSpPr/>
          <p:nvPr/>
        </p:nvGrpSpPr>
        <p:grpSpPr>
          <a:xfrm>
            <a:off x="483475" y="5058132"/>
            <a:ext cx="8287450" cy="1130335"/>
            <a:chOff x="-1662242" y="2337461"/>
            <a:chExt cx="8278354" cy="1028519"/>
          </a:xfrm>
        </p:grpSpPr>
        <p:sp>
          <p:nvSpPr>
            <p:cNvPr id="3" name="角丸四角形 4">
              <a:extLst>
                <a:ext uri="{FF2B5EF4-FFF2-40B4-BE49-F238E27FC236}">
                  <a16:creationId xmlns:a16="http://schemas.microsoft.com/office/drawing/2014/main" id="{2644F4E7-2452-D8F7-BDE3-BDDF33845D1D}"/>
                </a:ext>
              </a:extLst>
            </p:cNvPr>
            <p:cNvSpPr/>
            <p:nvPr/>
          </p:nvSpPr>
          <p:spPr bwMode="auto">
            <a:xfrm>
              <a:off x="-1662242" y="2480157"/>
              <a:ext cx="8278354" cy="885823"/>
            </a:xfrm>
            <a:prstGeom prst="roundRect">
              <a:avLst>
                <a:gd name="adj" fmla="val 7394"/>
              </a:avLst>
            </a:prstGeom>
            <a:noFill/>
            <a:ln w="2857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0" i="0" u="none" strike="noStrike" cap="none" normalizeH="0" baseline="0">
                <a:ln>
                  <a:noFill/>
                </a:ln>
                <a:solidFill>
                  <a:schemeClr val="tx1"/>
                </a:solidFill>
                <a:effectLst/>
                <a:latin typeface="Arial" charset="0"/>
                <a:ea typeface="ＭＳ Ｐゴシック" pitchFamily="50" charset="-128"/>
              </a:endParaRPr>
            </a:p>
          </p:txBody>
        </p:sp>
        <p:sp>
          <p:nvSpPr>
            <p:cNvPr id="7" name="テキスト ボックス 6">
              <a:extLst>
                <a:ext uri="{FF2B5EF4-FFF2-40B4-BE49-F238E27FC236}">
                  <a16:creationId xmlns:a16="http://schemas.microsoft.com/office/drawing/2014/main" id="{8D6E70A1-C542-C8F1-095F-6322960A7120}"/>
                </a:ext>
              </a:extLst>
            </p:cNvPr>
            <p:cNvSpPr txBox="1"/>
            <p:nvPr/>
          </p:nvSpPr>
          <p:spPr>
            <a:xfrm>
              <a:off x="258315" y="2536963"/>
              <a:ext cx="184731" cy="338554"/>
            </a:xfrm>
            <a:prstGeom prst="rect">
              <a:avLst/>
            </a:prstGeom>
            <a:noFill/>
          </p:spPr>
          <p:txBody>
            <a:bodyPr wrap="none"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514350" rtl="0" eaLnBrk="1" fontAlgn="auto" latinLnBrk="0" hangingPunct="1">
                <a:lnSpc>
                  <a:spcPct val="100000"/>
                </a:lnSpc>
                <a:spcBef>
                  <a:spcPts val="0"/>
                </a:spcBef>
                <a:spcAft>
                  <a:spcPts val="0"/>
                </a:spcAft>
                <a:buClrTx/>
                <a:buSzTx/>
                <a:buFont typeface="Arial"/>
                <a:buNone/>
                <a:tabLst/>
                <a:defRPr/>
              </a:pPr>
              <a:endParaRPr kumimoji="1" lang="en-US" altLang="ja-JP" sz="1600" b="1" dirty="0">
                <a:latin typeface="Yu Gothic" panose="020B0400000000000000" pitchFamily="34" charset="-128"/>
                <a:ea typeface="Yu Gothic" panose="020B0400000000000000" pitchFamily="34" charset="-128"/>
              </a:endParaRPr>
            </a:p>
          </p:txBody>
        </p:sp>
        <p:sp>
          <p:nvSpPr>
            <p:cNvPr id="14" name="テキスト ボックス 15">
              <a:extLst>
                <a:ext uri="{FF2B5EF4-FFF2-40B4-BE49-F238E27FC236}">
                  <a16:creationId xmlns:a16="http://schemas.microsoft.com/office/drawing/2014/main" id="{5DBC74B9-8FED-DA66-8566-89576A69F647}"/>
                </a:ext>
              </a:extLst>
            </p:cNvPr>
            <p:cNvSpPr txBox="1"/>
            <p:nvPr/>
          </p:nvSpPr>
          <p:spPr>
            <a:xfrm>
              <a:off x="-1418923" y="2337461"/>
              <a:ext cx="1433920" cy="338554"/>
            </a:xfrm>
            <a:prstGeom prst="rect">
              <a:avLst/>
            </a:prstGeom>
            <a:solidFill>
              <a:schemeClr val="bg1"/>
            </a:solidFill>
          </p:spPr>
          <p:txBody>
            <a:bodyPr wrap="square">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indent="0" algn="ctr" defTabSz="914400" rtl="0" eaLnBrk="0" fontAlgn="base" latinLnBrk="0" hangingPunct="0">
                <a:lnSpc>
                  <a:spcPct val="100000"/>
                </a:lnSpc>
                <a:spcBef>
                  <a:spcPct val="0"/>
                </a:spcBef>
                <a:spcAft>
                  <a:spcPct val="0"/>
                </a:spcAft>
                <a:buClrTx/>
                <a:buSzTx/>
                <a:buFontTx/>
                <a:buNone/>
                <a:tabLst/>
              </a:pPr>
              <a:r>
                <a:rPr kumimoji="0" lang="ja-JP" altLang="en-US" sz="2400" b="1" i="0" u="none" strike="noStrike" cap="none" normalizeH="0" baseline="0" dirty="0">
                  <a:ln>
                    <a:noFill/>
                  </a:ln>
                  <a:solidFill>
                    <a:schemeClr val="accent1"/>
                  </a:solidFill>
                  <a:effectLst/>
                  <a:latin typeface="+mn-ea"/>
                  <a:ea typeface="+mn-ea"/>
                </a:rPr>
                <a:t>問題点</a:t>
              </a:r>
            </a:p>
          </p:txBody>
        </p:sp>
      </p:grpSp>
      <p:sp>
        <p:nvSpPr>
          <p:cNvPr id="33" name="テキスト ボックス 32">
            <a:extLst>
              <a:ext uri="{FF2B5EF4-FFF2-40B4-BE49-F238E27FC236}">
                <a16:creationId xmlns:a16="http://schemas.microsoft.com/office/drawing/2014/main" id="{29884E82-D955-854F-4705-9797A93782F2}"/>
              </a:ext>
            </a:extLst>
          </p:cNvPr>
          <p:cNvSpPr txBox="1"/>
          <p:nvPr/>
        </p:nvSpPr>
        <p:spPr>
          <a:xfrm>
            <a:off x="273971" y="1331177"/>
            <a:ext cx="7159892" cy="461665"/>
          </a:xfrm>
          <a:prstGeom prst="rect">
            <a:avLst/>
          </a:prstGeom>
          <a:noFill/>
        </p:spPr>
        <p:txBody>
          <a:bodyPr wrap="square">
            <a:noAutofit/>
          </a:bodyPr>
          <a:lstStyle/>
          <a:p>
            <a:r>
              <a:rPr lang="en-US" altLang="ja-JP" sz="2400" b="1" dirty="0">
                <a:latin typeface="+mn-ea"/>
              </a:rPr>
              <a:t>LLM</a:t>
            </a:r>
            <a:r>
              <a:rPr lang="ja-JP" altLang="ja-JP" sz="2400" b="1" dirty="0"/>
              <a:t>を用いた対話</a:t>
            </a:r>
            <a:r>
              <a:rPr lang="ja-JP" altLang="en-US" sz="2400" b="1" dirty="0"/>
              <a:t>型</a:t>
            </a:r>
            <a:r>
              <a:rPr lang="en-US" altLang="ja-JP" sz="2400" b="1" dirty="0"/>
              <a:t>AI</a:t>
            </a:r>
            <a:r>
              <a:rPr lang="ja-JP" altLang="ja-JP" sz="2400" b="1" dirty="0"/>
              <a:t>の普及</a:t>
            </a:r>
            <a:endParaRPr lang="ja-JP" altLang="en-US" sz="2400" b="1" dirty="0"/>
          </a:p>
        </p:txBody>
      </p:sp>
      <p:sp>
        <p:nvSpPr>
          <p:cNvPr id="35" name="テキスト ボックス 34">
            <a:extLst>
              <a:ext uri="{FF2B5EF4-FFF2-40B4-BE49-F238E27FC236}">
                <a16:creationId xmlns:a16="http://schemas.microsoft.com/office/drawing/2014/main" id="{7FF0BBE9-46D4-24FB-D652-C9F949F5DFBC}"/>
              </a:ext>
            </a:extLst>
          </p:cNvPr>
          <p:cNvSpPr txBox="1"/>
          <p:nvPr/>
        </p:nvSpPr>
        <p:spPr>
          <a:xfrm>
            <a:off x="454214" y="1901789"/>
            <a:ext cx="2826458" cy="881139"/>
          </a:xfrm>
          <a:prstGeom prst="rect">
            <a:avLst/>
          </a:prstGeom>
          <a:noFill/>
        </p:spPr>
        <p:txBody>
          <a:bodyPr wrap="square">
            <a:noAutofit/>
          </a:bodyPr>
          <a:lstStyle/>
          <a:p>
            <a:pPr algn="l" rtl="0" fontAlgn="base">
              <a:lnSpc>
                <a:spcPct val="150000"/>
              </a:lnSpc>
              <a:buFont typeface="Arial" panose="020B0604020202020204" pitchFamily="34" charset="0"/>
              <a:buChar char="•"/>
            </a:pPr>
            <a:r>
              <a:rPr lang="en-US" altLang="ja-JP" sz="1800" b="1" i="0" u="none" strike="noStrike" dirty="0">
                <a:solidFill>
                  <a:srgbClr val="000000"/>
                </a:solidFill>
                <a:effectLst/>
                <a:latin typeface="游ゴシック" panose="020B0400000000000000" pitchFamily="50" charset="-128"/>
              </a:rPr>
              <a:t> ChatGPT(OpenAI</a:t>
            </a:r>
            <a:r>
              <a:rPr lang="ja-JP" altLang="ja-JP" sz="1800" b="1" i="0" u="none" strike="noStrike" dirty="0">
                <a:solidFill>
                  <a:srgbClr val="000000"/>
                </a:solidFill>
                <a:effectLst/>
                <a:latin typeface="Arial" panose="020B0604020202020204" pitchFamily="34" charset="0"/>
                <a:ea typeface="游ゴシック" panose="020B0400000000000000" pitchFamily="50" charset="-128"/>
              </a:rPr>
              <a:t>社</a:t>
            </a:r>
            <a:r>
              <a:rPr lang="en-US" altLang="ja-JP" sz="1800" b="1" i="0" u="none" strike="noStrike" dirty="0">
                <a:solidFill>
                  <a:srgbClr val="000000"/>
                </a:solidFill>
                <a:effectLst/>
                <a:latin typeface="游ゴシック" panose="020B0400000000000000" pitchFamily="50" charset="-128"/>
              </a:rPr>
              <a:t>)</a:t>
            </a:r>
            <a:r>
              <a:rPr lang="en-US" altLang="ja-JP" sz="1800" b="0" i="0" dirty="0">
                <a:solidFill>
                  <a:srgbClr val="000000"/>
                </a:solidFill>
                <a:effectLst/>
                <a:latin typeface="游ゴシック" panose="020B0400000000000000" pitchFamily="50" charset="-128"/>
              </a:rPr>
              <a:t>​</a:t>
            </a:r>
            <a:endParaRPr lang="en-US" altLang="ja-JP" b="0" i="0" dirty="0">
              <a:solidFill>
                <a:srgbClr val="000000"/>
              </a:solidFill>
              <a:effectLst/>
              <a:latin typeface="Arial" panose="020B0604020202020204" pitchFamily="34" charset="0"/>
            </a:endParaRPr>
          </a:p>
          <a:p>
            <a:pPr algn="l" rtl="0" fontAlgn="base">
              <a:lnSpc>
                <a:spcPct val="150000"/>
              </a:lnSpc>
              <a:buFont typeface="Arial" panose="020B0604020202020204" pitchFamily="34" charset="0"/>
              <a:buChar char="•"/>
            </a:pPr>
            <a:r>
              <a:rPr lang="en-US" altLang="ja-JP" sz="1800" b="1" i="0" u="none" strike="noStrike" dirty="0">
                <a:solidFill>
                  <a:srgbClr val="000000"/>
                </a:solidFill>
                <a:effectLst/>
                <a:latin typeface="游ゴシック" panose="020B0400000000000000" pitchFamily="50" charset="-128"/>
              </a:rPr>
              <a:t> Gemini(Google</a:t>
            </a:r>
            <a:r>
              <a:rPr lang="ja-JP" altLang="ja-JP" sz="1800" b="1" i="0" u="none" strike="noStrike" dirty="0">
                <a:solidFill>
                  <a:srgbClr val="000000"/>
                </a:solidFill>
                <a:effectLst/>
                <a:latin typeface="Arial" panose="020B0604020202020204" pitchFamily="34" charset="0"/>
                <a:ea typeface="游ゴシック" panose="020B0400000000000000" pitchFamily="50" charset="-128"/>
              </a:rPr>
              <a:t>社</a:t>
            </a:r>
            <a:r>
              <a:rPr lang="en-US" altLang="ja-JP" sz="1800" b="1" i="0" u="none" strike="noStrike" dirty="0">
                <a:solidFill>
                  <a:srgbClr val="000000"/>
                </a:solidFill>
                <a:effectLst/>
                <a:latin typeface="游ゴシック" panose="020B0400000000000000" pitchFamily="50" charset="-128"/>
              </a:rPr>
              <a:t>)</a:t>
            </a:r>
            <a:r>
              <a:rPr lang="en-US" altLang="ja-JP" sz="1800" b="0" i="0" dirty="0">
                <a:solidFill>
                  <a:srgbClr val="000000"/>
                </a:solidFill>
                <a:effectLst/>
                <a:latin typeface="游ゴシック" panose="020B0400000000000000" pitchFamily="50" charset="-128"/>
              </a:rPr>
              <a:t>​</a:t>
            </a:r>
            <a:endParaRPr lang="en-US" altLang="ja-JP" b="0" i="0" dirty="0">
              <a:solidFill>
                <a:srgbClr val="000000"/>
              </a:solidFill>
              <a:effectLst/>
              <a:latin typeface="Arial" panose="020B0604020202020204" pitchFamily="34" charset="0"/>
            </a:endParaRPr>
          </a:p>
        </p:txBody>
      </p:sp>
      <p:grpSp>
        <p:nvGrpSpPr>
          <p:cNvPr id="45" name="グループ化 44">
            <a:extLst>
              <a:ext uri="{FF2B5EF4-FFF2-40B4-BE49-F238E27FC236}">
                <a16:creationId xmlns:a16="http://schemas.microsoft.com/office/drawing/2014/main" id="{09B553EF-8076-A4E3-2260-D2C5324C60DE}"/>
              </a:ext>
            </a:extLst>
          </p:cNvPr>
          <p:cNvGrpSpPr/>
          <p:nvPr/>
        </p:nvGrpSpPr>
        <p:grpSpPr>
          <a:xfrm>
            <a:off x="4461449" y="1814750"/>
            <a:ext cx="1018230" cy="1070882"/>
            <a:chOff x="4461449" y="1929927"/>
            <a:chExt cx="1018230" cy="1070882"/>
          </a:xfrm>
        </p:grpSpPr>
        <p:pic>
          <p:nvPicPr>
            <p:cNvPr id="1026" name="Picture 2" descr="アイコン&#10;&#10;自動的に生成された説明">
              <a:extLst>
                <a:ext uri="{FF2B5EF4-FFF2-40B4-BE49-F238E27FC236}">
                  <a16:creationId xmlns:a16="http://schemas.microsoft.com/office/drawing/2014/main" id="{DE324311-CA38-6CEF-8BFC-4D5A5D6385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929927"/>
              <a:ext cx="797128" cy="797128"/>
            </a:xfrm>
            <a:prstGeom prst="rect">
              <a:avLst/>
            </a:prstGeom>
            <a:noFill/>
            <a:extLst>
              <a:ext uri="{909E8E84-426E-40DD-AFC4-6F175D3DCCD1}">
                <a14:hiddenFill xmlns:a14="http://schemas.microsoft.com/office/drawing/2010/main">
                  <a:solidFill>
                    <a:srgbClr val="FFFFFF"/>
                  </a:solidFill>
                </a14:hiddenFill>
              </a:ext>
            </a:extLst>
          </p:spPr>
        </p:pic>
        <p:sp>
          <p:nvSpPr>
            <p:cNvPr id="37" name="テキスト ボックス 36">
              <a:extLst>
                <a:ext uri="{FF2B5EF4-FFF2-40B4-BE49-F238E27FC236}">
                  <a16:creationId xmlns:a16="http://schemas.microsoft.com/office/drawing/2014/main" id="{C534F52E-5EB3-846F-2C22-714B48A26721}"/>
                </a:ext>
              </a:extLst>
            </p:cNvPr>
            <p:cNvSpPr txBox="1"/>
            <p:nvPr/>
          </p:nvSpPr>
          <p:spPr>
            <a:xfrm>
              <a:off x="4461449" y="2739199"/>
              <a:ext cx="1018230" cy="261610"/>
            </a:xfrm>
            <a:prstGeom prst="rect">
              <a:avLst/>
            </a:prstGeom>
            <a:noFill/>
          </p:spPr>
          <p:txBody>
            <a:bodyPr wrap="square">
              <a:noAutofit/>
            </a:bodyPr>
            <a:lstStyle/>
            <a:p>
              <a:r>
                <a:rPr lang="ja-JP" altLang="ja-JP" sz="1050" b="1" i="0" u="none" strike="noStrike" dirty="0">
                  <a:solidFill>
                    <a:srgbClr val="000000"/>
                  </a:solidFill>
                  <a:effectLst/>
                  <a:ea typeface="游ゴシック" panose="020B0400000000000000" pitchFamily="50" charset="-128"/>
                </a:rPr>
                <a:t>出典</a:t>
              </a:r>
              <a:r>
                <a:rPr lang="en-US" altLang="ja-JP" sz="1050" b="1" i="0" u="none" strike="noStrike" dirty="0">
                  <a:solidFill>
                    <a:srgbClr val="000000"/>
                  </a:solidFill>
                  <a:effectLst/>
                  <a:latin typeface="游ゴシック" panose="020B0400000000000000" pitchFamily="50" charset="-128"/>
                </a:rPr>
                <a:t>:OpenAI</a:t>
              </a:r>
              <a:endParaRPr lang="ja-JP" altLang="en-US" sz="1050" dirty="0"/>
            </a:p>
          </p:txBody>
        </p:sp>
      </p:grpSp>
      <p:grpSp>
        <p:nvGrpSpPr>
          <p:cNvPr id="44" name="グループ化 43">
            <a:extLst>
              <a:ext uri="{FF2B5EF4-FFF2-40B4-BE49-F238E27FC236}">
                <a16:creationId xmlns:a16="http://schemas.microsoft.com/office/drawing/2014/main" id="{DF99FC49-B20F-E14B-7E75-5EB4FE768438}"/>
              </a:ext>
            </a:extLst>
          </p:cNvPr>
          <p:cNvGrpSpPr/>
          <p:nvPr/>
        </p:nvGrpSpPr>
        <p:grpSpPr>
          <a:xfrm>
            <a:off x="6108053" y="1854134"/>
            <a:ext cx="1957093" cy="976447"/>
            <a:chOff x="6088730" y="2004524"/>
            <a:chExt cx="1957093" cy="976447"/>
          </a:xfrm>
        </p:grpSpPr>
        <p:pic>
          <p:nvPicPr>
            <p:cNvPr id="1028" name="Picture 4" descr="ロゴ&#10;&#10;自動的に生成された説明">
              <a:extLst>
                <a:ext uri="{FF2B5EF4-FFF2-40B4-BE49-F238E27FC236}">
                  <a16:creationId xmlns:a16="http://schemas.microsoft.com/office/drawing/2014/main" id="{529AEA85-A6FD-1BF3-B1F9-13DF80F686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8730" y="2004524"/>
              <a:ext cx="1957093" cy="722531"/>
            </a:xfrm>
            <a:prstGeom prst="rect">
              <a:avLst/>
            </a:prstGeom>
            <a:noFill/>
            <a:extLst>
              <a:ext uri="{909E8E84-426E-40DD-AFC4-6F175D3DCCD1}">
                <a14:hiddenFill xmlns:a14="http://schemas.microsoft.com/office/drawing/2010/main">
                  <a:solidFill>
                    <a:srgbClr val="FFFFFF"/>
                  </a:solidFill>
                </a14:hiddenFill>
              </a:ext>
            </a:extLst>
          </p:spPr>
        </p:pic>
        <p:sp>
          <p:nvSpPr>
            <p:cNvPr id="39" name="テキスト ボックス 38">
              <a:extLst>
                <a:ext uri="{FF2B5EF4-FFF2-40B4-BE49-F238E27FC236}">
                  <a16:creationId xmlns:a16="http://schemas.microsoft.com/office/drawing/2014/main" id="{EA1F4529-7A8E-56F7-2791-FEE0C8CFF6D9}"/>
                </a:ext>
              </a:extLst>
            </p:cNvPr>
            <p:cNvSpPr txBox="1"/>
            <p:nvPr/>
          </p:nvSpPr>
          <p:spPr>
            <a:xfrm>
              <a:off x="6660456" y="2719361"/>
              <a:ext cx="1018230" cy="261610"/>
            </a:xfrm>
            <a:prstGeom prst="rect">
              <a:avLst/>
            </a:prstGeom>
            <a:noFill/>
          </p:spPr>
          <p:txBody>
            <a:bodyPr wrap="square">
              <a:noAutofit/>
            </a:bodyPr>
            <a:lstStyle/>
            <a:p>
              <a:r>
                <a:rPr lang="ja-JP" altLang="ja-JP" sz="1050" b="1" i="0" u="none" strike="noStrike" dirty="0">
                  <a:solidFill>
                    <a:srgbClr val="000000"/>
                  </a:solidFill>
                  <a:effectLst/>
                  <a:ea typeface="游ゴシック" panose="020B0400000000000000" pitchFamily="50" charset="-128"/>
                </a:rPr>
                <a:t>出典</a:t>
              </a:r>
              <a:r>
                <a:rPr lang="en-US" altLang="ja-JP" sz="1050" b="1" i="0" u="none" strike="noStrike" dirty="0">
                  <a:solidFill>
                    <a:srgbClr val="000000"/>
                  </a:solidFill>
                  <a:effectLst/>
                  <a:latin typeface="游ゴシック" panose="020B0400000000000000" pitchFamily="50" charset="-128"/>
                </a:rPr>
                <a:t>: Google</a:t>
              </a:r>
              <a:endParaRPr lang="ja-JP" altLang="en-US" sz="1050" dirty="0"/>
            </a:p>
          </p:txBody>
        </p:sp>
      </p:grpSp>
      <p:sp>
        <p:nvSpPr>
          <p:cNvPr id="41" name="テキスト ボックス 40">
            <a:extLst>
              <a:ext uri="{FF2B5EF4-FFF2-40B4-BE49-F238E27FC236}">
                <a16:creationId xmlns:a16="http://schemas.microsoft.com/office/drawing/2014/main" id="{BA005F72-192C-DB75-1753-88DD080A13FC}"/>
              </a:ext>
            </a:extLst>
          </p:cNvPr>
          <p:cNvSpPr txBox="1"/>
          <p:nvPr/>
        </p:nvSpPr>
        <p:spPr>
          <a:xfrm>
            <a:off x="454214" y="2823363"/>
            <a:ext cx="7938223" cy="1415422"/>
          </a:xfrm>
          <a:prstGeom prst="rect">
            <a:avLst/>
          </a:prstGeom>
          <a:noFill/>
        </p:spPr>
        <p:txBody>
          <a:bodyPr wrap="square">
            <a:noAutofit/>
          </a:bodyPr>
          <a:lstStyle/>
          <a:p>
            <a:pPr>
              <a:lnSpc>
                <a:spcPct val="150000"/>
              </a:lnSpc>
            </a:pPr>
            <a:r>
              <a:rPr lang="ja-JP" altLang="en-US" sz="2000" b="1" dirty="0"/>
              <a:t>情報提供，カスタマーサポート，マーケティングなどで利用</a:t>
            </a:r>
            <a:br>
              <a:rPr lang="en-US" altLang="ja-JP" sz="2000" b="1" dirty="0"/>
            </a:br>
            <a:r>
              <a:rPr lang="ja-JP" altLang="en-US" sz="2000" b="1" dirty="0"/>
              <a:t>期待通りの出力には意図の具体化が有効 </a:t>
            </a:r>
            <a:endParaRPr lang="en-US" altLang="ja-JP" sz="2000" b="1" dirty="0"/>
          </a:p>
          <a:p>
            <a:r>
              <a:rPr lang="ja-JP" altLang="en-US" sz="2000" b="1" dirty="0">
                <a:sym typeface="Wingdings" panose="05000000000000000000" pitchFamily="2" charset="2"/>
              </a:rPr>
              <a:t>約</a:t>
            </a:r>
            <a:r>
              <a:rPr lang="en-US" altLang="ja-JP" sz="2000" b="1" dirty="0">
                <a:sym typeface="Wingdings" panose="05000000000000000000" pitchFamily="2" charset="2"/>
              </a:rPr>
              <a:t>4</a:t>
            </a:r>
            <a:r>
              <a:rPr lang="ja-JP" altLang="en-US" sz="2000" b="1" dirty="0">
                <a:sym typeface="Wingdings" panose="05000000000000000000" pitchFamily="2" charset="2"/>
              </a:rPr>
              <a:t>割のケースで不満が未解決</a:t>
            </a:r>
            <a:r>
              <a:rPr lang="en-US" altLang="ja-JP" sz="2000" b="1" dirty="0"/>
              <a:t>[</a:t>
            </a:r>
            <a:r>
              <a:rPr lang="en-US" altLang="ja-JP" sz="2000" b="1" dirty="0">
                <a:latin typeface="+mn-ea"/>
              </a:rPr>
              <a:t>Kim</a:t>
            </a:r>
            <a:r>
              <a:rPr lang="ja-JP" altLang="en-US" sz="2000" b="1" dirty="0">
                <a:latin typeface="+mn-ea"/>
              </a:rPr>
              <a:t>ら </a:t>
            </a:r>
            <a:r>
              <a:rPr lang="en-US" altLang="ja-JP" sz="2000" b="1" dirty="0">
                <a:latin typeface="+mn-ea"/>
              </a:rPr>
              <a:t>’24</a:t>
            </a:r>
            <a:r>
              <a:rPr lang="en-US" altLang="ja-JP" sz="2000" b="1" dirty="0"/>
              <a:t>]</a:t>
            </a:r>
          </a:p>
        </p:txBody>
      </p:sp>
      <p:sp>
        <p:nvSpPr>
          <p:cNvPr id="42" name="矢印: 下 41">
            <a:extLst>
              <a:ext uri="{FF2B5EF4-FFF2-40B4-BE49-F238E27FC236}">
                <a16:creationId xmlns:a16="http://schemas.microsoft.com/office/drawing/2014/main" id="{E9529A08-B945-DCCD-57E9-FC3E649A294A}"/>
              </a:ext>
            </a:extLst>
          </p:cNvPr>
          <p:cNvSpPr/>
          <p:nvPr/>
        </p:nvSpPr>
        <p:spPr>
          <a:xfrm>
            <a:off x="3853917" y="4367098"/>
            <a:ext cx="970241" cy="691035"/>
          </a:xfrm>
          <a:prstGeom prst="down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Tree>
    <p:extLst>
      <p:ext uri="{BB962C8B-B14F-4D97-AF65-F5344CB8AC3E}">
        <p14:creationId xmlns:p14="http://schemas.microsoft.com/office/powerpoint/2010/main" val="2167068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90157-9332-AB7D-DE5D-39A5FE4BFBDB}"/>
            </a:ext>
          </a:extLst>
        </p:cNvPr>
        <p:cNvGrpSpPr/>
        <p:nvPr/>
      </p:nvGrpSpPr>
      <p:grpSpPr>
        <a:xfrm>
          <a:off x="0" y="0"/>
          <a:ext cx="0" cy="0"/>
          <a:chOff x="0" y="0"/>
          <a:chExt cx="0" cy="0"/>
        </a:xfrm>
      </p:grpSpPr>
      <p:sp>
        <p:nvSpPr>
          <p:cNvPr id="15" name="四角形: 角を丸くする 14">
            <a:extLst>
              <a:ext uri="{FF2B5EF4-FFF2-40B4-BE49-F238E27FC236}">
                <a16:creationId xmlns:a16="http://schemas.microsoft.com/office/drawing/2014/main" id="{4B3F5643-5D11-F387-BE98-3EBDEB366932}"/>
              </a:ext>
            </a:extLst>
          </p:cNvPr>
          <p:cNvSpPr>
            <a:spLocks/>
          </p:cNvSpPr>
          <p:nvPr/>
        </p:nvSpPr>
        <p:spPr>
          <a:xfrm>
            <a:off x="730451" y="1367800"/>
            <a:ext cx="7706088" cy="3847938"/>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28" name="スライド番号プレースホルダー 27">
            <a:extLst>
              <a:ext uri="{FF2B5EF4-FFF2-40B4-BE49-F238E27FC236}">
                <a16:creationId xmlns:a16="http://schemas.microsoft.com/office/drawing/2014/main" id="{969C18AA-7DF5-DB8D-06AC-131CA578590C}"/>
              </a:ext>
            </a:extLst>
          </p:cNvPr>
          <p:cNvSpPr>
            <a:spLocks noGrp="1"/>
          </p:cNvSpPr>
          <p:nvPr>
            <p:ph type="sldNum" sz="quarter" idx="12"/>
          </p:nvPr>
        </p:nvSpPr>
        <p:spPr/>
        <p:txBody>
          <a:bodyPr>
            <a:noAutofit/>
          </a:bodyPr>
          <a:lstStyle/>
          <a:p>
            <a:fld id="{18020408-E1FF-429E-A8D5-EB2A190A0D77}" type="slidenum">
              <a:rPr kumimoji="1" lang="ja-JP" altLang="en-US" smtClean="0"/>
              <a:t>4</a:t>
            </a:fld>
            <a:endParaRPr kumimoji="1" lang="ja-JP" altLang="en-US"/>
          </a:p>
        </p:txBody>
      </p:sp>
      <p:sp>
        <p:nvSpPr>
          <p:cNvPr id="5" name="タイトル 4">
            <a:extLst>
              <a:ext uri="{FF2B5EF4-FFF2-40B4-BE49-F238E27FC236}">
                <a16:creationId xmlns:a16="http://schemas.microsoft.com/office/drawing/2014/main" id="{DAB51BEC-D50D-EAAC-04D5-7D9EAACC9502}"/>
              </a:ext>
            </a:extLst>
          </p:cNvPr>
          <p:cNvSpPr>
            <a:spLocks noGrp="1"/>
          </p:cNvSpPr>
          <p:nvPr>
            <p:ph type="title"/>
          </p:nvPr>
        </p:nvSpPr>
        <p:spPr/>
        <p:txBody>
          <a:bodyPr>
            <a:noAutofit/>
          </a:bodyPr>
          <a:lstStyle/>
          <a:p>
            <a:r>
              <a:rPr lang="ja-JP" altLang="en-US" sz="3600" b="1" dirty="0">
                <a:solidFill>
                  <a:schemeClr val="bg1"/>
                </a:solidFill>
                <a:latin typeface="+mn-ea"/>
                <a:ea typeface="+mn-ea"/>
              </a:rPr>
              <a:t>関連研究</a:t>
            </a:r>
          </a:p>
        </p:txBody>
      </p:sp>
      <p:sp>
        <p:nvSpPr>
          <p:cNvPr id="33" name="テキスト ボックス 32">
            <a:extLst>
              <a:ext uri="{FF2B5EF4-FFF2-40B4-BE49-F238E27FC236}">
                <a16:creationId xmlns:a16="http://schemas.microsoft.com/office/drawing/2014/main" id="{64C8E71A-AEF3-0A85-B679-E4FABDF3F2FD}"/>
              </a:ext>
            </a:extLst>
          </p:cNvPr>
          <p:cNvSpPr txBox="1"/>
          <p:nvPr/>
        </p:nvSpPr>
        <p:spPr>
          <a:xfrm>
            <a:off x="1136173" y="2029891"/>
            <a:ext cx="3956355" cy="1015663"/>
          </a:xfrm>
          <a:prstGeom prst="rect">
            <a:avLst/>
          </a:prstGeom>
          <a:noFill/>
        </p:spPr>
        <p:txBody>
          <a:bodyPr wrap="square">
            <a:noAutofit/>
          </a:bodyPr>
          <a:lstStyle/>
          <a:p>
            <a:r>
              <a:rPr lang="ja-JP" altLang="en-US" sz="2000" b="1" dirty="0"/>
              <a:t>ロボットのタスク失敗時に</a:t>
            </a:r>
            <a:endParaRPr lang="en-US" altLang="ja-JP" sz="2000" b="1" dirty="0"/>
          </a:p>
          <a:p>
            <a:r>
              <a:rPr lang="ja-JP" altLang="en-US" sz="2000" b="1" dirty="0"/>
              <a:t>謝罪や否認，約束</a:t>
            </a:r>
            <a:endParaRPr lang="en-US" altLang="ja-JP" sz="2000" b="1" dirty="0"/>
          </a:p>
          <a:p>
            <a:r>
              <a:rPr lang="en-US" altLang="ja-JP" sz="2000" b="1" dirty="0"/>
              <a:t>[</a:t>
            </a:r>
            <a:r>
              <a:rPr lang="en-US" altLang="ja-JP" sz="2000" b="1" dirty="0" err="1">
                <a:latin typeface="+mn-ea"/>
              </a:rPr>
              <a:t>Esterwood</a:t>
            </a:r>
            <a:r>
              <a:rPr lang="ja-JP" altLang="en-US" sz="2000" b="1" dirty="0">
                <a:latin typeface="+mn-ea"/>
              </a:rPr>
              <a:t>ら </a:t>
            </a:r>
            <a:r>
              <a:rPr lang="en-US" altLang="ja-JP" sz="2000" b="1" dirty="0">
                <a:latin typeface="+mn-ea"/>
              </a:rPr>
              <a:t>’23</a:t>
            </a:r>
            <a:r>
              <a:rPr lang="en-US" altLang="ja-JP" sz="2000" b="1" dirty="0"/>
              <a:t>]</a:t>
            </a:r>
            <a:endParaRPr lang="ja-JP" altLang="en-US" sz="2000" b="1" dirty="0"/>
          </a:p>
        </p:txBody>
      </p:sp>
      <p:pic>
        <p:nvPicPr>
          <p:cNvPr id="8" name="図 7">
            <a:extLst>
              <a:ext uri="{FF2B5EF4-FFF2-40B4-BE49-F238E27FC236}">
                <a16:creationId xmlns:a16="http://schemas.microsoft.com/office/drawing/2014/main" id="{AF361D6E-94A6-12F3-CACA-E8A17AD07D21}"/>
              </a:ext>
            </a:extLst>
          </p:cNvPr>
          <p:cNvPicPr>
            <a:picLocks noChangeAspect="1"/>
          </p:cNvPicPr>
          <p:nvPr/>
        </p:nvPicPr>
        <p:blipFill>
          <a:blip r:embed="rId3"/>
          <a:stretch>
            <a:fillRect/>
          </a:stretch>
        </p:blipFill>
        <p:spPr>
          <a:xfrm>
            <a:off x="5321694" y="2029891"/>
            <a:ext cx="2686133" cy="1455228"/>
          </a:xfrm>
          <a:prstGeom prst="rect">
            <a:avLst/>
          </a:prstGeom>
        </p:spPr>
      </p:pic>
      <p:sp>
        <p:nvSpPr>
          <p:cNvPr id="13" name="テキスト ボックス 12">
            <a:extLst>
              <a:ext uri="{FF2B5EF4-FFF2-40B4-BE49-F238E27FC236}">
                <a16:creationId xmlns:a16="http://schemas.microsoft.com/office/drawing/2014/main" id="{98FD8AC3-FF67-372D-F0E3-BB87B7E8DC12}"/>
              </a:ext>
            </a:extLst>
          </p:cNvPr>
          <p:cNvSpPr txBox="1"/>
          <p:nvPr/>
        </p:nvSpPr>
        <p:spPr>
          <a:xfrm>
            <a:off x="1136173" y="3495970"/>
            <a:ext cx="5129539" cy="1015663"/>
          </a:xfrm>
          <a:prstGeom prst="rect">
            <a:avLst/>
          </a:prstGeom>
          <a:noFill/>
        </p:spPr>
        <p:txBody>
          <a:bodyPr wrap="square">
            <a:noAutofit/>
          </a:bodyPr>
          <a:lstStyle/>
          <a:p>
            <a:r>
              <a:rPr lang="ja-JP" altLang="en-US" sz="2000" b="1" dirty="0"/>
              <a:t>回答の確信度スコア，</a:t>
            </a:r>
            <a:endParaRPr lang="en-US" altLang="ja-JP" sz="2000" b="1" dirty="0"/>
          </a:p>
          <a:p>
            <a:r>
              <a:rPr lang="ja-JP" altLang="en-US" sz="2000" b="1" dirty="0"/>
              <a:t>事前にエラーの可能性提示</a:t>
            </a:r>
            <a:endParaRPr lang="en-US" altLang="ja-JP" sz="2000" b="1" dirty="0"/>
          </a:p>
          <a:p>
            <a:r>
              <a:rPr lang="ja-JP" altLang="en-US" sz="2000" b="1" dirty="0"/>
              <a:t>修正可能な一時的なミスとして説明</a:t>
            </a:r>
            <a:r>
              <a:rPr lang="en-US" altLang="ja-JP" sz="2000" b="1" dirty="0"/>
              <a:t>[</a:t>
            </a:r>
            <a:r>
              <a:rPr lang="en-US" altLang="ja-JP" sz="2000" b="1" dirty="0">
                <a:latin typeface="+mn-ea"/>
              </a:rPr>
              <a:t>Martell</a:t>
            </a:r>
            <a:r>
              <a:rPr lang="ja-JP" altLang="en-US" sz="2000" b="1" dirty="0">
                <a:latin typeface="+mn-ea"/>
              </a:rPr>
              <a:t>ら </a:t>
            </a:r>
            <a:r>
              <a:rPr lang="en-US" altLang="ja-JP" sz="2000" b="1" dirty="0">
                <a:latin typeface="+mn-ea"/>
              </a:rPr>
              <a:t>’25</a:t>
            </a:r>
            <a:r>
              <a:rPr lang="en-US" altLang="ja-JP" sz="2000" b="1" dirty="0"/>
              <a:t>]</a:t>
            </a:r>
            <a:endParaRPr lang="ja-JP" altLang="en-US" sz="2000" b="1" dirty="0"/>
          </a:p>
        </p:txBody>
      </p:sp>
      <p:sp>
        <p:nvSpPr>
          <p:cNvPr id="17" name="テキスト ボックス 16">
            <a:extLst>
              <a:ext uri="{FF2B5EF4-FFF2-40B4-BE49-F238E27FC236}">
                <a16:creationId xmlns:a16="http://schemas.microsoft.com/office/drawing/2014/main" id="{B6B6B215-4C83-67AC-0038-3AA34A511FA9}"/>
              </a:ext>
            </a:extLst>
          </p:cNvPr>
          <p:cNvSpPr txBox="1"/>
          <p:nvPr/>
        </p:nvSpPr>
        <p:spPr>
          <a:xfrm>
            <a:off x="1866776" y="5580300"/>
            <a:ext cx="6782273" cy="826740"/>
          </a:xfrm>
          <a:prstGeom prst="rect">
            <a:avLst/>
          </a:prstGeom>
          <a:noFill/>
        </p:spPr>
        <p:txBody>
          <a:bodyPr wrap="square">
            <a:noAutofit/>
          </a:bodyPr>
          <a:lstStyle/>
          <a:p>
            <a:r>
              <a:rPr lang="ja-JP" altLang="en-US" sz="2800" b="1" dirty="0"/>
              <a:t>一度ネガティブな印象を抱かれた対象に対する</a:t>
            </a:r>
            <a:r>
              <a:rPr lang="ja-JP" altLang="en-US" sz="2800" b="1" dirty="0">
                <a:solidFill>
                  <a:srgbClr val="C00000"/>
                </a:solidFill>
              </a:rPr>
              <a:t>ネガティブな印象は払拭が困難</a:t>
            </a:r>
          </a:p>
        </p:txBody>
      </p:sp>
      <p:sp>
        <p:nvSpPr>
          <p:cNvPr id="27" name="テキスト ボックス 26">
            <a:extLst>
              <a:ext uri="{FF2B5EF4-FFF2-40B4-BE49-F238E27FC236}">
                <a16:creationId xmlns:a16="http://schemas.microsoft.com/office/drawing/2014/main" id="{303261F7-B14D-6566-8EF7-36AC2563847E}"/>
              </a:ext>
            </a:extLst>
          </p:cNvPr>
          <p:cNvSpPr txBox="1"/>
          <p:nvPr/>
        </p:nvSpPr>
        <p:spPr>
          <a:xfrm>
            <a:off x="2302785" y="1167745"/>
            <a:ext cx="4561420" cy="400110"/>
          </a:xfrm>
          <a:prstGeom prst="rect">
            <a:avLst/>
          </a:prstGeom>
          <a:solidFill>
            <a:schemeClr val="bg1"/>
          </a:solidFill>
        </p:spPr>
        <p:txBody>
          <a:bodyPr wrap="square">
            <a:noAutofit/>
          </a:bodyPr>
          <a:lstStyle/>
          <a:p>
            <a:r>
              <a:rPr lang="ja-JP" altLang="en-US" sz="2400" b="1" dirty="0">
                <a:solidFill>
                  <a:schemeClr val="accent1"/>
                </a:solidFill>
              </a:rPr>
              <a:t>タスク失敗からの信頼回復戦略</a:t>
            </a:r>
          </a:p>
        </p:txBody>
      </p:sp>
      <p:sp>
        <p:nvSpPr>
          <p:cNvPr id="29" name="矢印: 右 28">
            <a:extLst>
              <a:ext uri="{FF2B5EF4-FFF2-40B4-BE49-F238E27FC236}">
                <a16:creationId xmlns:a16="http://schemas.microsoft.com/office/drawing/2014/main" id="{4E02A548-37E3-724D-361E-43B3925B4A05}"/>
              </a:ext>
            </a:extLst>
          </p:cNvPr>
          <p:cNvSpPr/>
          <p:nvPr/>
        </p:nvSpPr>
        <p:spPr>
          <a:xfrm>
            <a:off x="1002390" y="5580300"/>
            <a:ext cx="759390" cy="829267"/>
          </a:xfrm>
          <a:prstGeom prst="rightArrow">
            <a:avLst>
              <a:gd name="adj1" fmla="val 50000"/>
              <a:gd name="adj2" fmla="val 6161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57CB6AC9-5FEA-0370-AD55-3B42B818FAFE}"/>
              </a:ext>
            </a:extLst>
          </p:cNvPr>
          <p:cNvSpPr txBox="1"/>
          <p:nvPr/>
        </p:nvSpPr>
        <p:spPr>
          <a:xfrm>
            <a:off x="5773290" y="3543167"/>
            <a:ext cx="1782939" cy="307777"/>
          </a:xfrm>
          <a:prstGeom prst="rect">
            <a:avLst/>
          </a:prstGeom>
          <a:noFill/>
        </p:spPr>
        <p:txBody>
          <a:bodyPr wrap="square">
            <a:spAutoFit/>
          </a:bodyPr>
          <a:lstStyle/>
          <a:p>
            <a:r>
              <a:rPr lang="en-US" altLang="ja-JP" sz="1400" b="1" dirty="0"/>
              <a:t>[</a:t>
            </a:r>
            <a:r>
              <a:rPr lang="en-US" altLang="ja-JP" sz="1400" b="1" dirty="0" err="1">
                <a:latin typeface="+mn-ea"/>
              </a:rPr>
              <a:t>Esterwood</a:t>
            </a:r>
            <a:r>
              <a:rPr lang="ja-JP" altLang="en-US" sz="1400" b="1" dirty="0">
                <a:latin typeface="+mn-ea"/>
              </a:rPr>
              <a:t>ら </a:t>
            </a:r>
            <a:r>
              <a:rPr lang="en-US" altLang="ja-JP" sz="1400" b="1" dirty="0">
                <a:latin typeface="+mn-ea"/>
              </a:rPr>
              <a:t>’23</a:t>
            </a:r>
            <a:r>
              <a:rPr lang="en-US" altLang="ja-JP" sz="1400" b="1" dirty="0"/>
              <a:t>]</a:t>
            </a:r>
            <a:endParaRPr lang="ja-JP" altLang="en-US" sz="1400" b="1" dirty="0"/>
          </a:p>
        </p:txBody>
      </p:sp>
    </p:spTree>
    <p:extLst>
      <p:ext uri="{BB962C8B-B14F-4D97-AF65-F5344CB8AC3E}">
        <p14:creationId xmlns:p14="http://schemas.microsoft.com/office/powerpoint/2010/main" val="1858305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87C5C-D3A4-7562-DA7D-D42A861EE120}"/>
            </a:ext>
          </a:extLst>
        </p:cNvPr>
        <p:cNvGrpSpPr/>
        <p:nvPr/>
      </p:nvGrpSpPr>
      <p:grpSpPr>
        <a:xfrm>
          <a:off x="0" y="0"/>
          <a:ext cx="0" cy="0"/>
          <a:chOff x="0" y="0"/>
          <a:chExt cx="0" cy="0"/>
        </a:xfrm>
      </p:grpSpPr>
      <p:sp>
        <p:nvSpPr>
          <p:cNvPr id="31" name="スライド番号プレースホルダー 30">
            <a:extLst>
              <a:ext uri="{FF2B5EF4-FFF2-40B4-BE49-F238E27FC236}">
                <a16:creationId xmlns:a16="http://schemas.microsoft.com/office/drawing/2014/main" id="{CE55CB7C-3CDC-61C2-AA48-880C064187CF}"/>
              </a:ext>
            </a:extLst>
          </p:cNvPr>
          <p:cNvSpPr>
            <a:spLocks noGrp="1"/>
          </p:cNvSpPr>
          <p:nvPr>
            <p:ph type="sldNum" sz="quarter" idx="12"/>
          </p:nvPr>
        </p:nvSpPr>
        <p:spPr/>
        <p:txBody>
          <a:bodyPr>
            <a:noAutofit/>
          </a:bodyPr>
          <a:lstStyle/>
          <a:p>
            <a:fld id="{18020408-E1FF-429E-A8D5-EB2A190A0D77}" type="slidenum">
              <a:rPr kumimoji="1" lang="ja-JP" altLang="en-US" smtClean="0"/>
              <a:t>5</a:t>
            </a:fld>
            <a:endParaRPr kumimoji="1" lang="ja-JP" altLang="en-US"/>
          </a:p>
        </p:txBody>
      </p:sp>
      <p:sp>
        <p:nvSpPr>
          <p:cNvPr id="5" name="タイトル 4">
            <a:extLst>
              <a:ext uri="{FF2B5EF4-FFF2-40B4-BE49-F238E27FC236}">
                <a16:creationId xmlns:a16="http://schemas.microsoft.com/office/drawing/2014/main" id="{4724C740-1A39-4DD8-953B-78252E956544}"/>
              </a:ext>
            </a:extLst>
          </p:cNvPr>
          <p:cNvSpPr>
            <a:spLocks noGrp="1"/>
          </p:cNvSpPr>
          <p:nvPr>
            <p:ph type="title"/>
          </p:nvPr>
        </p:nvSpPr>
        <p:spPr/>
        <p:txBody>
          <a:bodyPr>
            <a:noAutofit/>
          </a:bodyPr>
          <a:lstStyle/>
          <a:p>
            <a:r>
              <a:rPr lang="ja-JP" altLang="en-US" sz="3600" b="1" dirty="0">
                <a:solidFill>
                  <a:schemeClr val="bg1"/>
                </a:solidFill>
                <a:latin typeface="+mn-ea"/>
                <a:ea typeface="+mn-ea"/>
              </a:rPr>
              <a:t>目的</a:t>
            </a:r>
          </a:p>
        </p:txBody>
      </p:sp>
      <p:sp>
        <p:nvSpPr>
          <p:cNvPr id="8" name="テキスト ボックス 7">
            <a:extLst>
              <a:ext uri="{FF2B5EF4-FFF2-40B4-BE49-F238E27FC236}">
                <a16:creationId xmlns:a16="http://schemas.microsoft.com/office/drawing/2014/main" id="{58B89568-8AD2-2D9C-71ED-D8C781CD5AB0}"/>
              </a:ext>
            </a:extLst>
          </p:cNvPr>
          <p:cNvSpPr txBox="1"/>
          <p:nvPr/>
        </p:nvSpPr>
        <p:spPr>
          <a:xfrm>
            <a:off x="313264" y="2533895"/>
            <a:ext cx="4931476" cy="461665"/>
          </a:xfrm>
          <a:prstGeom prst="rect">
            <a:avLst/>
          </a:prstGeom>
          <a:noFill/>
        </p:spPr>
        <p:txBody>
          <a:bodyPr wrap="square">
            <a:noAutofit/>
          </a:bodyPr>
          <a:lstStyle/>
          <a:p>
            <a:r>
              <a:rPr lang="ja-JP" altLang="en-US" sz="2400" b="1" dirty="0">
                <a:latin typeface="+mn-ea"/>
              </a:rPr>
              <a:t>アプローチ</a:t>
            </a:r>
            <a:endParaRPr lang="en-US" altLang="ja-JP" sz="2400" b="1" dirty="0">
              <a:latin typeface="+mn-ea"/>
            </a:endParaRPr>
          </a:p>
        </p:txBody>
      </p:sp>
      <p:sp>
        <p:nvSpPr>
          <p:cNvPr id="20" name="テキスト ボックス 19">
            <a:extLst>
              <a:ext uri="{FF2B5EF4-FFF2-40B4-BE49-F238E27FC236}">
                <a16:creationId xmlns:a16="http://schemas.microsoft.com/office/drawing/2014/main" id="{3CE05ABB-458C-603B-FFCD-0133A1C960A2}"/>
              </a:ext>
            </a:extLst>
          </p:cNvPr>
          <p:cNvSpPr txBox="1"/>
          <p:nvPr/>
        </p:nvSpPr>
        <p:spPr>
          <a:xfrm>
            <a:off x="313264" y="2914873"/>
            <a:ext cx="8641430" cy="1897394"/>
          </a:xfrm>
          <a:prstGeom prst="rect">
            <a:avLst/>
          </a:prstGeom>
          <a:noFill/>
        </p:spPr>
        <p:txBody>
          <a:bodyPr wrap="square">
            <a:noAutofit/>
          </a:bodyPr>
          <a:lstStyle/>
          <a:p>
            <a:pPr marL="371475" indent="-188913">
              <a:lnSpc>
                <a:spcPct val="150000"/>
              </a:lnSpc>
              <a:buFont typeface="Arial" panose="020B0604020202020204" pitchFamily="34" charset="0"/>
              <a:buChar char="•"/>
            </a:pPr>
            <a:r>
              <a:rPr lang="en-US" altLang="ja-JP" b="1" dirty="0">
                <a:latin typeface="+mn-ea"/>
              </a:rPr>
              <a:t>LLM</a:t>
            </a:r>
            <a:r>
              <a:rPr lang="ja-JP" altLang="en-US" b="1" dirty="0">
                <a:latin typeface="+mn-ea"/>
              </a:rPr>
              <a:t>の人格切替システムを開発</a:t>
            </a:r>
            <a:endParaRPr lang="en-US" altLang="ja-JP" b="1" dirty="0">
              <a:latin typeface="+mn-ea"/>
            </a:endParaRPr>
          </a:p>
          <a:p>
            <a:pPr marL="623888" indent="-174625">
              <a:lnSpc>
                <a:spcPct val="150000"/>
              </a:lnSpc>
              <a:buFont typeface="Arial" panose="020B0604020202020204" pitchFamily="34" charset="0"/>
              <a:buChar char="•"/>
            </a:pPr>
            <a:r>
              <a:rPr lang="ja-JP" altLang="en-US" b="1" dirty="0">
                <a:latin typeface="+mn-ea"/>
                <a:sym typeface="Wingdings" panose="05000000000000000000" pitchFamily="2" charset="2"/>
              </a:rPr>
              <a:t>人格設定がエージェントへの印象に影響を与える</a:t>
            </a:r>
            <a:r>
              <a:rPr lang="en-US" altLang="ja-JP" sz="1400" b="1" dirty="0"/>
              <a:t>[</a:t>
            </a:r>
            <a:r>
              <a:rPr lang="en-US" altLang="ja-JP" sz="1400" b="1" dirty="0" err="1">
                <a:latin typeface="+mn-ea"/>
              </a:rPr>
              <a:t>Kroczek</a:t>
            </a:r>
            <a:r>
              <a:rPr lang="ja-JP" altLang="en-US" sz="1400" b="1" dirty="0">
                <a:latin typeface="+mn-ea"/>
              </a:rPr>
              <a:t>ら </a:t>
            </a:r>
            <a:r>
              <a:rPr lang="en-US" altLang="ja-JP" sz="1400" b="1" dirty="0">
                <a:latin typeface="+mn-ea"/>
              </a:rPr>
              <a:t>’25</a:t>
            </a:r>
            <a:r>
              <a:rPr lang="en-US" altLang="ja-JP" sz="1400" b="1" dirty="0"/>
              <a:t>] [</a:t>
            </a:r>
            <a:r>
              <a:rPr lang="en-US" altLang="ja-JP" sz="1400" b="1" dirty="0">
                <a:latin typeface="+mn-ea"/>
              </a:rPr>
              <a:t>Schreiber</a:t>
            </a:r>
            <a:r>
              <a:rPr lang="ja-JP" altLang="en-US" sz="1400" b="1" dirty="0">
                <a:latin typeface="+mn-ea"/>
              </a:rPr>
              <a:t>ら </a:t>
            </a:r>
            <a:r>
              <a:rPr lang="en-US" altLang="ja-JP" sz="1400" b="1" dirty="0">
                <a:latin typeface="+mn-ea"/>
              </a:rPr>
              <a:t>’24</a:t>
            </a:r>
            <a:r>
              <a:rPr lang="en-US" altLang="ja-JP" sz="1400" b="1" dirty="0"/>
              <a:t>]</a:t>
            </a:r>
          </a:p>
          <a:p>
            <a:pPr marL="623888" indent="-174625">
              <a:lnSpc>
                <a:spcPct val="150000"/>
              </a:lnSpc>
              <a:buFont typeface="Arial" panose="020B0604020202020204" pitchFamily="34" charset="0"/>
              <a:buChar char="•"/>
            </a:pPr>
            <a:r>
              <a:rPr lang="ja-JP" altLang="en-US" b="1" dirty="0">
                <a:latin typeface="+mn-ea"/>
                <a:sym typeface="Wingdings" panose="05000000000000000000" pitchFamily="2" charset="2"/>
              </a:rPr>
              <a:t>人格には</a:t>
            </a:r>
            <a:r>
              <a:rPr lang="en-US" altLang="ja-JP" b="1" dirty="0">
                <a:latin typeface="+mn-ea"/>
                <a:sym typeface="Wingdings" panose="05000000000000000000" pitchFamily="2" charset="2"/>
              </a:rPr>
              <a:t>MBTI</a:t>
            </a:r>
            <a:r>
              <a:rPr lang="ja-JP" altLang="en-US" b="1" dirty="0">
                <a:latin typeface="+mn-ea"/>
                <a:sym typeface="Wingdings" panose="05000000000000000000" pitchFamily="2" charset="2"/>
              </a:rPr>
              <a:t>を採用</a:t>
            </a:r>
            <a:endParaRPr lang="en-US" altLang="ja-JP" b="1" dirty="0">
              <a:latin typeface="+mn-ea"/>
              <a:sym typeface="Wingdings" panose="05000000000000000000" pitchFamily="2" charset="2"/>
            </a:endParaRPr>
          </a:p>
          <a:p>
            <a:pPr marL="371475" indent="-188913">
              <a:lnSpc>
                <a:spcPct val="150000"/>
              </a:lnSpc>
              <a:buFont typeface="Arial" panose="020B0604020202020204" pitchFamily="34" charset="0"/>
              <a:buChar char="•"/>
            </a:pPr>
            <a:r>
              <a:rPr lang="ja-JP" altLang="en-US" b="1" dirty="0">
                <a:solidFill>
                  <a:srgbClr val="000000"/>
                </a:solidFill>
                <a:latin typeface="+mn-ea"/>
              </a:rPr>
              <a:t>対話に行き詰まりセッションリセットする場面を対象</a:t>
            </a:r>
            <a:endParaRPr lang="en-US" altLang="ja-JP" b="1" dirty="0">
              <a:solidFill>
                <a:srgbClr val="000000"/>
              </a:solidFill>
              <a:latin typeface="+mn-ea"/>
            </a:endParaRPr>
          </a:p>
          <a:p>
            <a:pPr marL="373062" indent="-285750">
              <a:lnSpc>
                <a:spcPct val="150000"/>
              </a:lnSpc>
              <a:buFont typeface="Arial" panose="020B0604020202020204" pitchFamily="34" charset="0"/>
              <a:buChar char="•"/>
            </a:pPr>
            <a:endParaRPr lang="en-US" altLang="ja-JP" sz="1400" b="1" dirty="0"/>
          </a:p>
        </p:txBody>
      </p:sp>
      <p:sp>
        <p:nvSpPr>
          <p:cNvPr id="34" name="テキスト ボックス 33">
            <a:extLst>
              <a:ext uri="{FF2B5EF4-FFF2-40B4-BE49-F238E27FC236}">
                <a16:creationId xmlns:a16="http://schemas.microsoft.com/office/drawing/2014/main" id="{B8432C60-D497-1D71-C1B9-EE7398935589}"/>
              </a:ext>
            </a:extLst>
          </p:cNvPr>
          <p:cNvSpPr txBox="1"/>
          <p:nvPr/>
        </p:nvSpPr>
        <p:spPr>
          <a:xfrm>
            <a:off x="313263" y="1387771"/>
            <a:ext cx="8243507" cy="895851"/>
          </a:xfrm>
          <a:prstGeom prst="rect">
            <a:avLst/>
          </a:prstGeom>
          <a:noFill/>
        </p:spPr>
        <p:txBody>
          <a:bodyPr wrap="square" rtlCol="0">
            <a:noAutofit/>
          </a:bodyPr>
          <a:lstStyle/>
          <a:p>
            <a:r>
              <a:rPr lang="ja-JP" altLang="en-US" sz="2800" b="1" dirty="0">
                <a:latin typeface="+mn-ea"/>
              </a:rPr>
              <a:t>ネガティブな印象を抱いた対象の切り替えによる</a:t>
            </a:r>
            <a:endParaRPr lang="en-US" altLang="ja-JP" sz="2800" b="1" dirty="0">
              <a:latin typeface="+mn-ea"/>
            </a:endParaRPr>
          </a:p>
          <a:p>
            <a:r>
              <a:rPr lang="en-US" altLang="ja-JP" sz="2800" b="1" dirty="0">
                <a:latin typeface="+mn-ea"/>
              </a:rPr>
              <a:t>LLM</a:t>
            </a:r>
            <a:r>
              <a:rPr lang="ja-JP" altLang="en-US" sz="2800" b="1" dirty="0">
                <a:latin typeface="+mn-ea"/>
              </a:rPr>
              <a:t>への</a:t>
            </a:r>
            <a:r>
              <a:rPr kumimoji="1" lang="ja-JP" altLang="en-US" sz="2800" b="1" dirty="0">
                <a:latin typeface="+mn-ea"/>
              </a:rPr>
              <a:t>ネガティブな印象のリセット</a:t>
            </a:r>
          </a:p>
        </p:txBody>
      </p:sp>
      <p:pic>
        <p:nvPicPr>
          <p:cNvPr id="6" name="図 5" descr="ダイアグラム&#10;&#10;AI 生成コンテンツは誤りを含む可能性があります。">
            <a:extLst>
              <a:ext uri="{FF2B5EF4-FFF2-40B4-BE49-F238E27FC236}">
                <a16:creationId xmlns:a16="http://schemas.microsoft.com/office/drawing/2014/main" id="{716153DC-F249-90B0-A66C-D437BA5E7705}"/>
              </a:ext>
            </a:extLst>
          </p:cNvPr>
          <p:cNvPicPr>
            <a:picLocks noChangeAspect="1"/>
          </p:cNvPicPr>
          <p:nvPr/>
        </p:nvPicPr>
        <p:blipFill>
          <a:blip r:embed="rId3"/>
          <a:stretch>
            <a:fillRect/>
          </a:stretch>
        </p:blipFill>
        <p:spPr>
          <a:xfrm>
            <a:off x="1944094" y="4689903"/>
            <a:ext cx="5255812" cy="1996147"/>
          </a:xfrm>
          <a:prstGeom prst="rect">
            <a:avLst/>
          </a:prstGeom>
        </p:spPr>
      </p:pic>
    </p:spTree>
    <p:extLst>
      <p:ext uri="{BB962C8B-B14F-4D97-AF65-F5344CB8AC3E}">
        <p14:creationId xmlns:p14="http://schemas.microsoft.com/office/powerpoint/2010/main" val="2886331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43DD0-1C4D-596D-B156-2B1A632EBE4F}"/>
            </a:ext>
          </a:extLst>
        </p:cNvPr>
        <p:cNvGrpSpPr/>
        <p:nvPr/>
      </p:nvGrpSpPr>
      <p:grpSpPr>
        <a:xfrm>
          <a:off x="0" y="0"/>
          <a:ext cx="0" cy="0"/>
          <a:chOff x="0" y="0"/>
          <a:chExt cx="0" cy="0"/>
        </a:xfrm>
      </p:grpSpPr>
      <p:sp>
        <p:nvSpPr>
          <p:cNvPr id="19" name="四角形: 角を丸くする 18">
            <a:extLst>
              <a:ext uri="{FF2B5EF4-FFF2-40B4-BE49-F238E27FC236}">
                <a16:creationId xmlns:a16="http://schemas.microsoft.com/office/drawing/2014/main" id="{A22BCF02-07EE-4D44-7CC8-47A6838608D5}"/>
              </a:ext>
            </a:extLst>
          </p:cNvPr>
          <p:cNvSpPr/>
          <p:nvPr/>
        </p:nvSpPr>
        <p:spPr>
          <a:xfrm>
            <a:off x="5470028" y="3480266"/>
            <a:ext cx="2948026" cy="2794407"/>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4A455F63-11CB-5A98-E6B9-4F59E5F84958}"/>
              </a:ext>
            </a:extLst>
          </p:cNvPr>
          <p:cNvSpPr/>
          <p:nvPr/>
        </p:nvSpPr>
        <p:spPr>
          <a:xfrm>
            <a:off x="541178" y="3480267"/>
            <a:ext cx="2948026" cy="2794407"/>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スライド番号プレースホルダー 11">
            <a:extLst>
              <a:ext uri="{FF2B5EF4-FFF2-40B4-BE49-F238E27FC236}">
                <a16:creationId xmlns:a16="http://schemas.microsoft.com/office/drawing/2014/main" id="{BA1364F7-BD5A-C8F4-55F7-F77B4CBEA82C}"/>
              </a:ext>
            </a:extLst>
          </p:cNvPr>
          <p:cNvSpPr>
            <a:spLocks noGrp="1"/>
          </p:cNvSpPr>
          <p:nvPr>
            <p:ph type="sldNum" sz="quarter" idx="12"/>
          </p:nvPr>
        </p:nvSpPr>
        <p:spPr/>
        <p:txBody>
          <a:bodyPr>
            <a:noAutofit/>
          </a:bodyPr>
          <a:lstStyle/>
          <a:p>
            <a:fld id="{18020408-E1FF-429E-A8D5-EB2A190A0D77}" type="slidenum">
              <a:rPr kumimoji="1" lang="ja-JP" altLang="en-US" smtClean="0"/>
              <a:t>6</a:t>
            </a:fld>
            <a:endParaRPr kumimoji="1" lang="ja-JP" altLang="en-US"/>
          </a:p>
        </p:txBody>
      </p:sp>
      <p:sp>
        <p:nvSpPr>
          <p:cNvPr id="5" name="タイトル 4">
            <a:extLst>
              <a:ext uri="{FF2B5EF4-FFF2-40B4-BE49-F238E27FC236}">
                <a16:creationId xmlns:a16="http://schemas.microsoft.com/office/drawing/2014/main" id="{2DCFA1C0-1DE6-4C2E-F6BF-E0AA190BFCA9}"/>
              </a:ext>
            </a:extLst>
          </p:cNvPr>
          <p:cNvSpPr>
            <a:spLocks noGrp="1"/>
          </p:cNvSpPr>
          <p:nvPr>
            <p:ph type="title"/>
          </p:nvPr>
        </p:nvSpPr>
        <p:spPr/>
        <p:txBody>
          <a:bodyPr>
            <a:noAutofit/>
          </a:bodyPr>
          <a:lstStyle/>
          <a:p>
            <a:r>
              <a:rPr lang="ja-JP" altLang="en-US" sz="3600" b="1" dirty="0">
                <a:solidFill>
                  <a:schemeClr val="bg1"/>
                </a:solidFill>
                <a:latin typeface="+mn-ea"/>
                <a:ea typeface="+mn-ea"/>
              </a:rPr>
              <a:t>人格切替システム</a:t>
            </a:r>
          </a:p>
        </p:txBody>
      </p:sp>
      <p:sp>
        <p:nvSpPr>
          <p:cNvPr id="8" name="テキスト ボックス 7">
            <a:extLst>
              <a:ext uri="{FF2B5EF4-FFF2-40B4-BE49-F238E27FC236}">
                <a16:creationId xmlns:a16="http://schemas.microsoft.com/office/drawing/2014/main" id="{28F46A0A-406A-1E0F-0F32-E6AEB277E36B}"/>
              </a:ext>
            </a:extLst>
          </p:cNvPr>
          <p:cNvSpPr txBox="1"/>
          <p:nvPr/>
        </p:nvSpPr>
        <p:spPr>
          <a:xfrm>
            <a:off x="541178" y="1547266"/>
            <a:ext cx="8061643" cy="1676078"/>
          </a:xfrm>
          <a:prstGeom prst="rect">
            <a:avLst/>
          </a:prstGeom>
          <a:noFill/>
        </p:spPr>
        <p:txBody>
          <a:bodyPr wrap="square">
            <a:noAutofit/>
          </a:bodyPr>
          <a:lstStyle/>
          <a:p>
            <a:r>
              <a:rPr lang="en-US" altLang="ja-JP" sz="2400" b="1" dirty="0">
                <a:latin typeface="+mn-ea"/>
              </a:rPr>
              <a:t>LLM</a:t>
            </a:r>
            <a:r>
              <a:rPr lang="ja-JP" altLang="en-US" sz="2400" b="1" dirty="0">
                <a:latin typeface="+mn-ea"/>
              </a:rPr>
              <a:t>に異なる複数の人格を付与</a:t>
            </a:r>
            <a:br>
              <a:rPr lang="en-US" altLang="ja-JP" sz="2400" b="1" dirty="0">
                <a:latin typeface="+mn-ea"/>
              </a:rPr>
            </a:br>
            <a:r>
              <a:rPr lang="ja-JP" altLang="en-US" sz="2400" b="1" dirty="0">
                <a:latin typeface="+mn-ea"/>
              </a:rPr>
              <a:t>セッションリセット時に人格を切り替え</a:t>
            </a:r>
            <a:endParaRPr lang="en-US" altLang="ja-JP" sz="2400" b="1" dirty="0">
              <a:latin typeface="+mn-ea"/>
            </a:endParaRPr>
          </a:p>
          <a:p>
            <a:r>
              <a:rPr lang="ja-JP" altLang="en-US" sz="2400" b="1" dirty="0">
                <a:latin typeface="+mn-ea"/>
              </a:rPr>
              <a:t>利用する人格には</a:t>
            </a:r>
            <a:r>
              <a:rPr lang="en-US" altLang="ja-JP" sz="2400" b="1" dirty="0">
                <a:solidFill>
                  <a:srgbClr val="C00000"/>
                </a:solidFill>
                <a:latin typeface="+mn-ea"/>
              </a:rPr>
              <a:t>MBTI</a:t>
            </a:r>
            <a:r>
              <a:rPr lang="ja-JP" altLang="en-US" sz="2400" b="1" dirty="0">
                <a:latin typeface="+mn-ea"/>
              </a:rPr>
              <a:t>を採用</a:t>
            </a:r>
            <a:endParaRPr lang="en-US" altLang="ja-JP" sz="2400" b="1" dirty="0">
              <a:latin typeface="+mn-ea"/>
            </a:endParaRPr>
          </a:p>
        </p:txBody>
      </p:sp>
      <p:sp>
        <p:nvSpPr>
          <p:cNvPr id="4" name="矢印: 右 3">
            <a:extLst>
              <a:ext uri="{FF2B5EF4-FFF2-40B4-BE49-F238E27FC236}">
                <a16:creationId xmlns:a16="http://schemas.microsoft.com/office/drawing/2014/main" id="{F14645EB-5EA9-0AD2-4490-6748191776D7}"/>
              </a:ext>
            </a:extLst>
          </p:cNvPr>
          <p:cNvSpPr/>
          <p:nvPr/>
        </p:nvSpPr>
        <p:spPr>
          <a:xfrm>
            <a:off x="3679304" y="4152049"/>
            <a:ext cx="1704441" cy="1323950"/>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kumimoji="1" lang="ja-JP" altLang="en-US" b="1" dirty="0"/>
              <a:t>人格切替</a:t>
            </a:r>
          </a:p>
        </p:txBody>
      </p:sp>
      <p:sp>
        <p:nvSpPr>
          <p:cNvPr id="15" name="テキスト ボックス 14">
            <a:extLst>
              <a:ext uri="{FF2B5EF4-FFF2-40B4-BE49-F238E27FC236}">
                <a16:creationId xmlns:a16="http://schemas.microsoft.com/office/drawing/2014/main" id="{9A3F36D1-422F-2D09-959E-053834F5F320}"/>
              </a:ext>
            </a:extLst>
          </p:cNvPr>
          <p:cNvSpPr txBox="1"/>
          <p:nvPr/>
        </p:nvSpPr>
        <p:spPr>
          <a:xfrm>
            <a:off x="1463868" y="3696202"/>
            <a:ext cx="1155198" cy="602281"/>
          </a:xfrm>
          <a:prstGeom prst="rect">
            <a:avLst/>
          </a:prstGeom>
          <a:noFill/>
        </p:spPr>
        <p:txBody>
          <a:bodyPr wrap="square">
            <a:noAutofit/>
          </a:bodyPr>
          <a:lstStyle/>
          <a:p>
            <a:r>
              <a:rPr lang="en-US" altLang="ja-JP" sz="2800" b="1" dirty="0">
                <a:solidFill>
                  <a:srgbClr val="000000"/>
                </a:solidFill>
                <a:latin typeface="+mn-ea"/>
              </a:rPr>
              <a:t>LLM</a:t>
            </a:r>
            <a:endParaRPr lang="ja-JP" altLang="en-US" sz="2800" dirty="0">
              <a:latin typeface="+mn-ea"/>
            </a:endParaRPr>
          </a:p>
        </p:txBody>
      </p:sp>
      <p:sp>
        <p:nvSpPr>
          <p:cNvPr id="17" name="テキスト ボックス 16">
            <a:extLst>
              <a:ext uri="{FF2B5EF4-FFF2-40B4-BE49-F238E27FC236}">
                <a16:creationId xmlns:a16="http://schemas.microsoft.com/office/drawing/2014/main" id="{A96293F1-BE60-467E-BF9E-3EC70A1AEF77}"/>
              </a:ext>
            </a:extLst>
          </p:cNvPr>
          <p:cNvSpPr txBox="1"/>
          <p:nvPr/>
        </p:nvSpPr>
        <p:spPr>
          <a:xfrm>
            <a:off x="6374553" y="3727472"/>
            <a:ext cx="1138973" cy="539741"/>
          </a:xfrm>
          <a:prstGeom prst="rect">
            <a:avLst/>
          </a:prstGeom>
          <a:noFill/>
        </p:spPr>
        <p:txBody>
          <a:bodyPr wrap="square">
            <a:noAutofit/>
          </a:bodyPr>
          <a:lstStyle/>
          <a:p>
            <a:r>
              <a:rPr lang="en-US" altLang="ja-JP" sz="2800" b="1" dirty="0">
                <a:solidFill>
                  <a:srgbClr val="000000"/>
                </a:solidFill>
                <a:latin typeface="+mn-ea"/>
              </a:rPr>
              <a:t>LLM</a:t>
            </a:r>
            <a:endParaRPr lang="ja-JP" altLang="en-US" sz="2800" dirty="0">
              <a:latin typeface="+mn-ea"/>
            </a:endParaRPr>
          </a:p>
        </p:txBody>
      </p:sp>
      <p:sp>
        <p:nvSpPr>
          <p:cNvPr id="21" name="テキスト ボックス 20">
            <a:extLst>
              <a:ext uri="{FF2B5EF4-FFF2-40B4-BE49-F238E27FC236}">
                <a16:creationId xmlns:a16="http://schemas.microsoft.com/office/drawing/2014/main" id="{300678B2-12FA-D403-4FBC-40A7AFA4CFB8}"/>
              </a:ext>
            </a:extLst>
          </p:cNvPr>
          <p:cNvSpPr txBox="1"/>
          <p:nvPr/>
        </p:nvSpPr>
        <p:spPr>
          <a:xfrm>
            <a:off x="1279099" y="3295600"/>
            <a:ext cx="1472183" cy="369332"/>
          </a:xfrm>
          <a:prstGeom prst="rect">
            <a:avLst/>
          </a:prstGeom>
          <a:solidFill>
            <a:schemeClr val="bg1"/>
          </a:solidFill>
        </p:spPr>
        <p:txBody>
          <a:bodyPr wrap="square">
            <a:spAutoFit/>
          </a:bodyPr>
          <a:lstStyle/>
          <a:p>
            <a:r>
              <a:rPr lang="ja-JP" altLang="en-US" b="1" dirty="0">
                <a:solidFill>
                  <a:schemeClr val="accent1"/>
                </a:solidFill>
                <a:latin typeface="+mn-ea"/>
              </a:rPr>
              <a:t>セッション</a:t>
            </a:r>
            <a:r>
              <a:rPr lang="en-US" altLang="ja-JP" b="1" dirty="0">
                <a:solidFill>
                  <a:schemeClr val="accent1"/>
                </a:solidFill>
                <a:latin typeface="+mn-ea"/>
              </a:rPr>
              <a:t>1</a:t>
            </a:r>
            <a:endParaRPr lang="ja-JP" altLang="en-US" dirty="0">
              <a:solidFill>
                <a:schemeClr val="accent1"/>
              </a:solidFill>
              <a:latin typeface="+mn-ea"/>
            </a:endParaRPr>
          </a:p>
        </p:txBody>
      </p:sp>
      <p:sp>
        <p:nvSpPr>
          <p:cNvPr id="23" name="テキスト ボックス 22">
            <a:extLst>
              <a:ext uri="{FF2B5EF4-FFF2-40B4-BE49-F238E27FC236}">
                <a16:creationId xmlns:a16="http://schemas.microsoft.com/office/drawing/2014/main" id="{09C2DD95-3558-511D-0674-83B9D7BD6589}"/>
              </a:ext>
            </a:extLst>
          </p:cNvPr>
          <p:cNvSpPr txBox="1"/>
          <p:nvPr/>
        </p:nvSpPr>
        <p:spPr>
          <a:xfrm>
            <a:off x="6207949" y="3326870"/>
            <a:ext cx="1472183" cy="369332"/>
          </a:xfrm>
          <a:prstGeom prst="rect">
            <a:avLst/>
          </a:prstGeom>
          <a:solidFill>
            <a:schemeClr val="bg1"/>
          </a:solidFill>
        </p:spPr>
        <p:txBody>
          <a:bodyPr wrap="square">
            <a:spAutoFit/>
          </a:bodyPr>
          <a:lstStyle/>
          <a:p>
            <a:r>
              <a:rPr lang="ja-JP" altLang="en-US" b="1" dirty="0">
                <a:solidFill>
                  <a:schemeClr val="accent1"/>
                </a:solidFill>
                <a:latin typeface="+mn-ea"/>
              </a:rPr>
              <a:t>セッション</a:t>
            </a:r>
            <a:r>
              <a:rPr lang="en-US" altLang="ja-JP" b="1" dirty="0">
                <a:solidFill>
                  <a:schemeClr val="accent1"/>
                </a:solidFill>
                <a:latin typeface="+mn-ea"/>
              </a:rPr>
              <a:t>2</a:t>
            </a:r>
            <a:endParaRPr lang="ja-JP" altLang="en-US" dirty="0">
              <a:solidFill>
                <a:schemeClr val="accent1"/>
              </a:solidFill>
              <a:latin typeface="+mn-ea"/>
            </a:endParaRPr>
          </a:p>
        </p:txBody>
      </p:sp>
      <p:grpSp>
        <p:nvGrpSpPr>
          <p:cNvPr id="14" name="グループ化 13">
            <a:extLst>
              <a:ext uri="{FF2B5EF4-FFF2-40B4-BE49-F238E27FC236}">
                <a16:creationId xmlns:a16="http://schemas.microsoft.com/office/drawing/2014/main" id="{2E75EDAC-E856-3FCD-764D-1BC2ACF5831F}"/>
              </a:ext>
            </a:extLst>
          </p:cNvPr>
          <p:cNvGrpSpPr/>
          <p:nvPr/>
        </p:nvGrpSpPr>
        <p:grpSpPr>
          <a:xfrm>
            <a:off x="945847" y="4138060"/>
            <a:ext cx="1948428" cy="2033496"/>
            <a:chOff x="945847" y="4175472"/>
            <a:chExt cx="1948428" cy="2033496"/>
          </a:xfrm>
        </p:grpSpPr>
        <p:sp>
          <p:nvSpPr>
            <p:cNvPr id="7" name="テキスト ボックス 6">
              <a:extLst>
                <a:ext uri="{FF2B5EF4-FFF2-40B4-BE49-F238E27FC236}">
                  <a16:creationId xmlns:a16="http://schemas.microsoft.com/office/drawing/2014/main" id="{D4C311D0-BC33-F6E6-2D7F-1D9967BEFE7C}"/>
                </a:ext>
              </a:extLst>
            </p:cNvPr>
            <p:cNvSpPr txBox="1"/>
            <p:nvPr/>
          </p:nvSpPr>
          <p:spPr>
            <a:xfrm>
              <a:off x="1667267" y="5827974"/>
              <a:ext cx="695846" cy="380994"/>
            </a:xfrm>
            <a:prstGeom prst="rect">
              <a:avLst/>
            </a:prstGeom>
            <a:noFill/>
          </p:spPr>
          <p:txBody>
            <a:bodyPr wrap="square">
              <a:noAutofit/>
            </a:bodyPr>
            <a:lstStyle/>
            <a:p>
              <a:r>
                <a:rPr lang="en-US" altLang="ja-JP" b="1" dirty="0">
                  <a:solidFill>
                    <a:srgbClr val="000000"/>
                  </a:solidFill>
                  <a:latin typeface="+mn-ea"/>
                </a:rPr>
                <a:t>INFJ</a:t>
              </a:r>
              <a:endParaRPr lang="ja-JP" altLang="en-US" dirty="0">
                <a:latin typeface="+mn-ea"/>
              </a:endParaRPr>
            </a:p>
          </p:txBody>
        </p:sp>
        <p:pic>
          <p:nvPicPr>
            <p:cNvPr id="11" name="図 10" descr="挿絵 が含まれている画像&#10;&#10;AI 生成コンテンツは誤りを含む可能性があります。">
              <a:extLst>
                <a:ext uri="{FF2B5EF4-FFF2-40B4-BE49-F238E27FC236}">
                  <a16:creationId xmlns:a16="http://schemas.microsoft.com/office/drawing/2014/main" id="{73C7D36F-B661-4B53-5A46-497789B0CCC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45847" y="4175472"/>
              <a:ext cx="1948428" cy="1652502"/>
            </a:xfrm>
            <a:prstGeom prst="rect">
              <a:avLst/>
            </a:prstGeom>
          </p:spPr>
        </p:pic>
      </p:grpSp>
      <p:grpSp>
        <p:nvGrpSpPr>
          <p:cNvPr id="13" name="グループ化 12">
            <a:extLst>
              <a:ext uri="{FF2B5EF4-FFF2-40B4-BE49-F238E27FC236}">
                <a16:creationId xmlns:a16="http://schemas.microsoft.com/office/drawing/2014/main" id="{E77C910D-53AF-27A2-1D3D-140913B517A4}"/>
              </a:ext>
            </a:extLst>
          </p:cNvPr>
          <p:cNvGrpSpPr/>
          <p:nvPr/>
        </p:nvGrpSpPr>
        <p:grpSpPr>
          <a:xfrm>
            <a:off x="6114553" y="4056502"/>
            <a:ext cx="1884459" cy="2196612"/>
            <a:chOff x="6114553" y="4056502"/>
            <a:chExt cx="1884459" cy="2196612"/>
          </a:xfrm>
        </p:grpSpPr>
        <p:sp>
          <p:nvSpPr>
            <p:cNvPr id="6" name="テキスト ボックス 5">
              <a:extLst>
                <a:ext uri="{FF2B5EF4-FFF2-40B4-BE49-F238E27FC236}">
                  <a16:creationId xmlns:a16="http://schemas.microsoft.com/office/drawing/2014/main" id="{8821E945-3B9A-4ACA-BFA7-03A12940458C}"/>
                </a:ext>
              </a:extLst>
            </p:cNvPr>
            <p:cNvSpPr txBox="1"/>
            <p:nvPr/>
          </p:nvSpPr>
          <p:spPr>
            <a:xfrm>
              <a:off x="6527365" y="5827974"/>
              <a:ext cx="833348" cy="425140"/>
            </a:xfrm>
            <a:prstGeom prst="rect">
              <a:avLst/>
            </a:prstGeom>
            <a:noFill/>
          </p:spPr>
          <p:txBody>
            <a:bodyPr wrap="square">
              <a:noAutofit/>
            </a:bodyPr>
            <a:lstStyle/>
            <a:p>
              <a:r>
                <a:rPr lang="en-US" altLang="ja-JP" b="1" dirty="0">
                  <a:solidFill>
                    <a:srgbClr val="000000"/>
                  </a:solidFill>
                  <a:latin typeface="+mn-ea"/>
                </a:rPr>
                <a:t>ESTP</a:t>
              </a:r>
              <a:endParaRPr lang="ja-JP" altLang="en-US" dirty="0">
                <a:latin typeface="+mn-ea"/>
              </a:endParaRPr>
            </a:p>
          </p:txBody>
        </p:sp>
        <p:pic>
          <p:nvPicPr>
            <p:cNvPr id="1026" name="Picture 2" descr="画像">
              <a:extLst>
                <a:ext uri="{FF2B5EF4-FFF2-40B4-BE49-F238E27FC236}">
                  <a16:creationId xmlns:a16="http://schemas.microsoft.com/office/drawing/2014/main" id="{E066244C-A2FA-E8C9-9D3E-BF5C90F216FF}"/>
                </a:ext>
              </a:extLst>
            </p:cNvPr>
            <p:cNvPicPr>
              <a:picLocks noChangeAspect="1" noChangeArrowheads="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18585" t="16857" r="15386" b="15594"/>
            <a:stretch>
              <a:fillRect/>
            </a:stretch>
          </p:blipFill>
          <p:spPr bwMode="auto">
            <a:xfrm>
              <a:off x="6114553" y="4056502"/>
              <a:ext cx="1884459" cy="192785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557704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9E5B1-1FE0-BFCF-4B65-7999A7BA1ECF}"/>
            </a:ext>
          </a:extLst>
        </p:cNvPr>
        <p:cNvGrpSpPr/>
        <p:nvPr/>
      </p:nvGrpSpPr>
      <p:grpSpPr>
        <a:xfrm>
          <a:off x="0" y="0"/>
          <a:ext cx="0" cy="0"/>
          <a:chOff x="0" y="0"/>
          <a:chExt cx="0" cy="0"/>
        </a:xfrm>
      </p:grpSpPr>
      <p:sp>
        <p:nvSpPr>
          <p:cNvPr id="12" name="スライド番号プレースホルダー 11">
            <a:extLst>
              <a:ext uri="{FF2B5EF4-FFF2-40B4-BE49-F238E27FC236}">
                <a16:creationId xmlns:a16="http://schemas.microsoft.com/office/drawing/2014/main" id="{168B0471-1E8C-44D4-587E-40EA3B72556B}"/>
              </a:ext>
            </a:extLst>
          </p:cNvPr>
          <p:cNvSpPr>
            <a:spLocks noGrp="1"/>
          </p:cNvSpPr>
          <p:nvPr>
            <p:ph type="sldNum" sz="quarter" idx="12"/>
          </p:nvPr>
        </p:nvSpPr>
        <p:spPr/>
        <p:txBody>
          <a:bodyPr>
            <a:noAutofit/>
          </a:bodyPr>
          <a:lstStyle/>
          <a:p>
            <a:fld id="{18020408-E1FF-429E-A8D5-EB2A190A0D77}" type="slidenum">
              <a:rPr kumimoji="1" lang="ja-JP" altLang="en-US" smtClean="0"/>
              <a:t>7</a:t>
            </a:fld>
            <a:endParaRPr kumimoji="1" lang="ja-JP" altLang="en-US"/>
          </a:p>
        </p:txBody>
      </p:sp>
      <p:sp>
        <p:nvSpPr>
          <p:cNvPr id="5" name="タイトル 4">
            <a:extLst>
              <a:ext uri="{FF2B5EF4-FFF2-40B4-BE49-F238E27FC236}">
                <a16:creationId xmlns:a16="http://schemas.microsoft.com/office/drawing/2014/main" id="{83550D71-B29F-2D3B-95CF-D8063CAEA59B}"/>
              </a:ext>
            </a:extLst>
          </p:cNvPr>
          <p:cNvSpPr>
            <a:spLocks noGrp="1"/>
          </p:cNvSpPr>
          <p:nvPr>
            <p:ph type="title"/>
          </p:nvPr>
        </p:nvSpPr>
        <p:spPr/>
        <p:txBody>
          <a:bodyPr>
            <a:noAutofit/>
          </a:bodyPr>
          <a:lstStyle/>
          <a:p>
            <a:r>
              <a:rPr lang="en-US" altLang="ja-JP" sz="3600" dirty="0"/>
              <a:t>MBTI</a:t>
            </a:r>
            <a:r>
              <a:rPr lang="ja-JP" altLang="en-US" sz="3600" dirty="0"/>
              <a:t>とは</a:t>
            </a:r>
            <a:endParaRPr lang="ja-JP" altLang="en-US" sz="3600" b="1" dirty="0">
              <a:solidFill>
                <a:schemeClr val="bg1"/>
              </a:solidFill>
              <a:latin typeface="+mn-ea"/>
              <a:ea typeface="+mn-ea"/>
            </a:endParaRPr>
          </a:p>
        </p:txBody>
      </p:sp>
      <p:sp>
        <p:nvSpPr>
          <p:cNvPr id="8" name="テキスト ボックス 7">
            <a:extLst>
              <a:ext uri="{FF2B5EF4-FFF2-40B4-BE49-F238E27FC236}">
                <a16:creationId xmlns:a16="http://schemas.microsoft.com/office/drawing/2014/main" id="{44796DDE-B2DD-5FCE-F897-8B69D2CB19FC}"/>
              </a:ext>
            </a:extLst>
          </p:cNvPr>
          <p:cNvSpPr txBox="1"/>
          <p:nvPr/>
        </p:nvSpPr>
        <p:spPr>
          <a:xfrm>
            <a:off x="380240" y="1228762"/>
            <a:ext cx="8061643" cy="1204880"/>
          </a:xfrm>
          <a:prstGeom prst="rect">
            <a:avLst/>
          </a:prstGeom>
          <a:noFill/>
        </p:spPr>
        <p:txBody>
          <a:bodyPr wrap="square">
            <a:noAutofit/>
          </a:bodyPr>
          <a:lstStyle/>
          <a:p>
            <a:r>
              <a:rPr lang="ja-JP" altLang="en-US" sz="2200" b="1" dirty="0"/>
              <a:t>マイヤーズとブリッグスによって開発された人格検査</a:t>
            </a:r>
            <a:endParaRPr lang="en-US" altLang="ja-JP" sz="2200" b="1" dirty="0"/>
          </a:p>
          <a:p>
            <a:r>
              <a:rPr lang="ja-JP" altLang="en-US" sz="2200" b="1" dirty="0">
                <a:latin typeface="+mn-ea"/>
              </a:rPr>
              <a:t>質問への回答を通じてタイプを特定</a:t>
            </a:r>
            <a:endParaRPr lang="en-US" altLang="ja-JP" sz="2200" b="1" dirty="0">
              <a:latin typeface="+mn-ea"/>
            </a:endParaRPr>
          </a:p>
          <a:p>
            <a:r>
              <a:rPr lang="en-US" altLang="ja-JP" sz="2200" b="1" dirty="0"/>
              <a:t>4</a:t>
            </a:r>
            <a:r>
              <a:rPr lang="ja-JP" altLang="en-US" sz="2200" b="1" dirty="0"/>
              <a:t>つの指標を組み合わせ</a:t>
            </a:r>
            <a:r>
              <a:rPr lang="en-US" altLang="ja-JP" sz="2200" b="1" dirty="0"/>
              <a:t>16</a:t>
            </a:r>
            <a:r>
              <a:rPr lang="ja-JP" altLang="en-US" sz="2200" b="1" dirty="0"/>
              <a:t>タイプに分類</a:t>
            </a:r>
            <a:endParaRPr lang="en-US" altLang="ja-JP" sz="2200" b="1" dirty="0"/>
          </a:p>
        </p:txBody>
      </p:sp>
      <p:grpSp>
        <p:nvGrpSpPr>
          <p:cNvPr id="48" name="グループ化 47">
            <a:extLst>
              <a:ext uri="{FF2B5EF4-FFF2-40B4-BE49-F238E27FC236}">
                <a16:creationId xmlns:a16="http://schemas.microsoft.com/office/drawing/2014/main" id="{C51723AA-368D-959E-20F4-0D1F57200D04}"/>
              </a:ext>
            </a:extLst>
          </p:cNvPr>
          <p:cNvGrpSpPr/>
          <p:nvPr/>
        </p:nvGrpSpPr>
        <p:grpSpPr>
          <a:xfrm>
            <a:off x="534009" y="3152249"/>
            <a:ext cx="3877053" cy="3505848"/>
            <a:chOff x="2459737" y="2923768"/>
            <a:chExt cx="3858768" cy="3765064"/>
          </a:xfrm>
        </p:grpSpPr>
        <p:sp>
          <p:nvSpPr>
            <p:cNvPr id="4" name="テキスト ボックス 3">
              <a:extLst>
                <a:ext uri="{FF2B5EF4-FFF2-40B4-BE49-F238E27FC236}">
                  <a16:creationId xmlns:a16="http://schemas.microsoft.com/office/drawing/2014/main" id="{C369DFDB-0185-4760-7E5F-990C0A0C076D}"/>
                </a:ext>
              </a:extLst>
            </p:cNvPr>
            <p:cNvSpPr txBox="1"/>
            <p:nvPr/>
          </p:nvSpPr>
          <p:spPr>
            <a:xfrm>
              <a:off x="2638959" y="2923768"/>
              <a:ext cx="484631" cy="769441"/>
            </a:xfrm>
            <a:prstGeom prst="rect">
              <a:avLst/>
            </a:prstGeom>
            <a:noFill/>
          </p:spPr>
          <p:txBody>
            <a:bodyPr wrap="square">
              <a:spAutoFit/>
            </a:bodyPr>
            <a:lstStyle/>
            <a:p>
              <a:r>
                <a:rPr lang="en-US" altLang="ja-JP" sz="4400" b="1" dirty="0">
                  <a:solidFill>
                    <a:srgbClr val="7030A0"/>
                  </a:solidFill>
                  <a:latin typeface="+mn-ea"/>
                </a:rPr>
                <a:t>E</a:t>
              </a:r>
              <a:endParaRPr lang="ja-JP" altLang="en-US" sz="4400" b="1" dirty="0">
                <a:solidFill>
                  <a:srgbClr val="7030A0"/>
                </a:solidFill>
                <a:latin typeface="+mn-ea"/>
              </a:endParaRPr>
            </a:p>
          </p:txBody>
        </p:sp>
        <p:sp>
          <p:nvSpPr>
            <p:cNvPr id="10" name="テキスト ボックス 9">
              <a:extLst>
                <a:ext uri="{FF2B5EF4-FFF2-40B4-BE49-F238E27FC236}">
                  <a16:creationId xmlns:a16="http://schemas.microsoft.com/office/drawing/2014/main" id="{C441BAB5-48F4-EDEA-467B-4FD252510A9A}"/>
                </a:ext>
              </a:extLst>
            </p:cNvPr>
            <p:cNvSpPr txBox="1"/>
            <p:nvPr/>
          </p:nvSpPr>
          <p:spPr>
            <a:xfrm>
              <a:off x="5596129" y="2923769"/>
              <a:ext cx="535838" cy="769441"/>
            </a:xfrm>
            <a:prstGeom prst="rect">
              <a:avLst/>
            </a:prstGeom>
            <a:noFill/>
          </p:spPr>
          <p:txBody>
            <a:bodyPr wrap="square">
              <a:spAutoFit/>
            </a:bodyPr>
            <a:lstStyle/>
            <a:p>
              <a:r>
                <a:rPr lang="en-US" altLang="ja-JP" sz="4400" b="1" dirty="0">
                  <a:solidFill>
                    <a:srgbClr val="7030A0"/>
                  </a:solidFill>
                  <a:latin typeface="+mn-ea"/>
                </a:rPr>
                <a:t>I</a:t>
              </a:r>
              <a:endParaRPr lang="ja-JP" altLang="en-US" sz="4400" b="1" dirty="0">
                <a:solidFill>
                  <a:srgbClr val="7030A0"/>
                </a:solidFill>
                <a:latin typeface="+mn-ea"/>
              </a:endParaRPr>
            </a:p>
          </p:txBody>
        </p:sp>
        <p:sp>
          <p:nvSpPr>
            <p:cNvPr id="20" name="矢印: 左右 19">
              <a:extLst>
                <a:ext uri="{FF2B5EF4-FFF2-40B4-BE49-F238E27FC236}">
                  <a16:creationId xmlns:a16="http://schemas.microsoft.com/office/drawing/2014/main" id="{26738C0E-049C-1155-247E-09986A42CDFB}"/>
                </a:ext>
              </a:extLst>
            </p:cNvPr>
            <p:cNvSpPr/>
            <p:nvPr/>
          </p:nvSpPr>
          <p:spPr>
            <a:xfrm>
              <a:off x="3215031" y="3187975"/>
              <a:ext cx="2289657" cy="241025"/>
            </a:xfrm>
            <a:prstGeom prst="leftRightArrow">
              <a:avLst>
                <a:gd name="adj1" fmla="val 43930"/>
                <a:gd name="adj2" fmla="val 131946"/>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sp>
          <p:nvSpPr>
            <p:cNvPr id="25" name="テキスト ボックス 24">
              <a:extLst>
                <a:ext uri="{FF2B5EF4-FFF2-40B4-BE49-F238E27FC236}">
                  <a16:creationId xmlns:a16="http://schemas.microsoft.com/office/drawing/2014/main" id="{0463FC62-F94F-CD28-D5E3-2F8DBFDC484B}"/>
                </a:ext>
              </a:extLst>
            </p:cNvPr>
            <p:cNvSpPr txBox="1"/>
            <p:nvPr/>
          </p:nvSpPr>
          <p:spPr>
            <a:xfrm>
              <a:off x="2459737" y="3508543"/>
              <a:ext cx="868680" cy="369332"/>
            </a:xfrm>
            <a:prstGeom prst="rect">
              <a:avLst/>
            </a:prstGeom>
            <a:noFill/>
          </p:spPr>
          <p:txBody>
            <a:bodyPr wrap="square">
              <a:spAutoFit/>
            </a:bodyPr>
            <a:lstStyle/>
            <a:p>
              <a:r>
                <a:rPr lang="ja-JP" altLang="en-US" b="1" dirty="0">
                  <a:latin typeface="+mn-ea"/>
                </a:rPr>
                <a:t>外向型</a:t>
              </a:r>
            </a:p>
          </p:txBody>
        </p:sp>
        <p:sp>
          <p:nvSpPr>
            <p:cNvPr id="27" name="テキスト ボックス 26">
              <a:extLst>
                <a:ext uri="{FF2B5EF4-FFF2-40B4-BE49-F238E27FC236}">
                  <a16:creationId xmlns:a16="http://schemas.microsoft.com/office/drawing/2014/main" id="{A4A44177-D632-B8B3-A9D3-F3314B80D1A6}"/>
                </a:ext>
              </a:extLst>
            </p:cNvPr>
            <p:cNvSpPr txBox="1"/>
            <p:nvPr/>
          </p:nvSpPr>
          <p:spPr>
            <a:xfrm>
              <a:off x="5409590" y="3508543"/>
              <a:ext cx="908915" cy="369332"/>
            </a:xfrm>
            <a:prstGeom prst="rect">
              <a:avLst/>
            </a:prstGeom>
            <a:noFill/>
          </p:spPr>
          <p:txBody>
            <a:bodyPr wrap="square">
              <a:spAutoFit/>
            </a:bodyPr>
            <a:lstStyle/>
            <a:p>
              <a:r>
                <a:rPr lang="ja-JP" altLang="en-US" b="1" dirty="0">
                  <a:latin typeface="+mn-ea"/>
                </a:rPr>
                <a:t>内向型</a:t>
              </a:r>
            </a:p>
          </p:txBody>
        </p:sp>
        <p:sp>
          <p:nvSpPr>
            <p:cNvPr id="29" name="テキスト ボックス 28">
              <a:extLst>
                <a:ext uri="{FF2B5EF4-FFF2-40B4-BE49-F238E27FC236}">
                  <a16:creationId xmlns:a16="http://schemas.microsoft.com/office/drawing/2014/main" id="{82328E40-4517-407B-4E5B-BC1F15B7467E}"/>
                </a:ext>
              </a:extLst>
            </p:cNvPr>
            <p:cNvSpPr txBox="1"/>
            <p:nvPr/>
          </p:nvSpPr>
          <p:spPr>
            <a:xfrm>
              <a:off x="3611964" y="3429000"/>
              <a:ext cx="1684322" cy="307777"/>
            </a:xfrm>
            <a:prstGeom prst="rect">
              <a:avLst/>
            </a:prstGeom>
            <a:noFill/>
          </p:spPr>
          <p:txBody>
            <a:bodyPr wrap="square">
              <a:spAutoFit/>
            </a:bodyPr>
            <a:lstStyle/>
            <a:p>
              <a:r>
                <a:rPr lang="ja-JP" altLang="en-US" sz="1400" b="1" dirty="0">
                  <a:latin typeface="+mn-ea"/>
                </a:rPr>
                <a:t>エネルギーの方向</a:t>
              </a:r>
            </a:p>
          </p:txBody>
        </p:sp>
        <p:sp>
          <p:nvSpPr>
            <p:cNvPr id="30" name="テキスト ボックス 29">
              <a:extLst>
                <a:ext uri="{FF2B5EF4-FFF2-40B4-BE49-F238E27FC236}">
                  <a16:creationId xmlns:a16="http://schemas.microsoft.com/office/drawing/2014/main" id="{651276F9-211B-09EA-1747-CAB41BB6E624}"/>
                </a:ext>
              </a:extLst>
            </p:cNvPr>
            <p:cNvSpPr txBox="1"/>
            <p:nvPr/>
          </p:nvSpPr>
          <p:spPr>
            <a:xfrm>
              <a:off x="2638959" y="3816320"/>
              <a:ext cx="484631" cy="769441"/>
            </a:xfrm>
            <a:prstGeom prst="rect">
              <a:avLst/>
            </a:prstGeom>
            <a:noFill/>
          </p:spPr>
          <p:txBody>
            <a:bodyPr wrap="square">
              <a:spAutoFit/>
            </a:bodyPr>
            <a:lstStyle/>
            <a:p>
              <a:r>
                <a:rPr lang="en-US" altLang="ja-JP" sz="4400" b="1" dirty="0">
                  <a:solidFill>
                    <a:srgbClr val="00B050"/>
                  </a:solidFill>
                  <a:latin typeface="+mn-ea"/>
                </a:rPr>
                <a:t>S</a:t>
              </a:r>
              <a:endParaRPr lang="ja-JP" altLang="en-US" sz="4400" b="1" dirty="0">
                <a:solidFill>
                  <a:srgbClr val="00B050"/>
                </a:solidFill>
                <a:latin typeface="+mn-ea"/>
              </a:endParaRPr>
            </a:p>
          </p:txBody>
        </p:sp>
        <p:sp>
          <p:nvSpPr>
            <p:cNvPr id="31" name="テキスト ボックス 30">
              <a:extLst>
                <a:ext uri="{FF2B5EF4-FFF2-40B4-BE49-F238E27FC236}">
                  <a16:creationId xmlns:a16="http://schemas.microsoft.com/office/drawing/2014/main" id="{33DBB7CD-C4B6-8FE5-23F2-14D41C187117}"/>
                </a:ext>
              </a:extLst>
            </p:cNvPr>
            <p:cNvSpPr txBox="1"/>
            <p:nvPr/>
          </p:nvSpPr>
          <p:spPr>
            <a:xfrm>
              <a:off x="5504688" y="3816320"/>
              <a:ext cx="535838" cy="769441"/>
            </a:xfrm>
            <a:prstGeom prst="rect">
              <a:avLst/>
            </a:prstGeom>
            <a:noFill/>
          </p:spPr>
          <p:txBody>
            <a:bodyPr wrap="square">
              <a:spAutoFit/>
            </a:bodyPr>
            <a:lstStyle/>
            <a:p>
              <a:r>
                <a:rPr lang="en-US" altLang="ja-JP" sz="4400" b="1" dirty="0">
                  <a:solidFill>
                    <a:srgbClr val="00B050"/>
                  </a:solidFill>
                  <a:latin typeface="+mn-ea"/>
                </a:rPr>
                <a:t>N</a:t>
              </a:r>
              <a:endParaRPr lang="ja-JP" altLang="en-US" sz="4400" b="1" dirty="0">
                <a:solidFill>
                  <a:srgbClr val="00B050"/>
                </a:solidFill>
                <a:latin typeface="+mn-ea"/>
              </a:endParaRPr>
            </a:p>
          </p:txBody>
        </p:sp>
        <p:sp>
          <p:nvSpPr>
            <p:cNvPr id="32" name="矢印: 左右 31">
              <a:extLst>
                <a:ext uri="{FF2B5EF4-FFF2-40B4-BE49-F238E27FC236}">
                  <a16:creationId xmlns:a16="http://schemas.microsoft.com/office/drawing/2014/main" id="{FD489771-AD4B-3219-48C0-B68C86AA3923}"/>
                </a:ext>
              </a:extLst>
            </p:cNvPr>
            <p:cNvSpPr/>
            <p:nvPr/>
          </p:nvSpPr>
          <p:spPr>
            <a:xfrm>
              <a:off x="3215031" y="4080527"/>
              <a:ext cx="2289657" cy="241025"/>
            </a:xfrm>
            <a:prstGeom prst="leftRightArrow">
              <a:avLst>
                <a:gd name="adj1" fmla="val 43930"/>
                <a:gd name="adj2" fmla="val 131946"/>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solidFill>
                  <a:srgbClr val="00B050"/>
                </a:solidFill>
                <a:latin typeface="+mn-ea"/>
              </a:endParaRPr>
            </a:p>
          </p:txBody>
        </p:sp>
        <p:sp>
          <p:nvSpPr>
            <p:cNvPr id="33" name="テキスト ボックス 32">
              <a:extLst>
                <a:ext uri="{FF2B5EF4-FFF2-40B4-BE49-F238E27FC236}">
                  <a16:creationId xmlns:a16="http://schemas.microsoft.com/office/drawing/2014/main" id="{1F0DFE6E-2C35-3819-DBEF-864DEA25169A}"/>
                </a:ext>
              </a:extLst>
            </p:cNvPr>
            <p:cNvSpPr txBox="1"/>
            <p:nvPr/>
          </p:nvSpPr>
          <p:spPr>
            <a:xfrm>
              <a:off x="2459737" y="4401095"/>
              <a:ext cx="868680" cy="369332"/>
            </a:xfrm>
            <a:prstGeom prst="rect">
              <a:avLst/>
            </a:prstGeom>
            <a:noFill/>
          </p:spPr>
          <p:txBody>
            <a:bodyPr wrap="square">
              <a:spAutoFit/>
            </a:bodyPr>
            <a:lstStyle/>
            <a:p>
              <a:r>
                <a:rPr lang="ja-JP" altLang="en-US" b="1" dirty="0">
                  <a:latin typeface="+mn-ea"/>
                </a:rPr>
                <a:t>感覚型</a:t>
              </a:r>
            </a:p>
          </p:txBody>
        </p:sp>
        <p:sp>
          <p:nvSpPr>
            <p:cNvPr id="34" name="テキスト ボックス 33">
              <a:extLst>
                <a:ext uri="{FF2B5EF4-FFF2-40B4-BE49-F238E27FC236}">
                  <a16:creationId xmlns:a16="http://schemas.microsoft.com/office/drawing/2014/main" id="{C6D5A963-E87D-F9BD-E79A-46346079D22A}"/>
                </a:ext>
              </a:extLst>
            </p:cNvPr>
            <p:cNvSpPr txBox="1"/>
            <p:nvPr/>
          </p:nvSpPr>
          <p:spPr>
            <a:xfrm>
              <a:off x="5409590" y="4401095"/>
              <a:ext cx="908915" cy="369332"/>
            </a:xfrm>
            <a:prstGeom prst="rect">
              <a:avLst/>
            </a:prstGeom>
            <a:noFill/>
          </p:spPr>
          <p:txBody>
            <a:bodyPr wrap="square">
              <a:spAutoFit/>
            </a:bodyPr>
            <a:lstStyle/>
            <a:p>
              <a:r>
                <a:rPr lang="ja-JP" altLang="en-US" b="1" dirty="0">
                  <a:latin typeface="+mn-ea"/>
                </a:rPr>
                <a:t>直感型</a:t>
              </a:r>
            </a:p>
          </p:txBody>
        </p:sp>
        <p:sp>
          <p:nvSpPr>
            <p:cNvPr id="35" name="テキスト ボックス 34">
              <a:extLst>
                <a:ext uri="{FF2B5EF4-FFF2-40B4-BE49-F238E27FC236}">
                  <a16:creationId xmlns:a16="http://schemas.microsoft.com/office/drawing/2014/main" id="{1E04679C-FDE4-07F4-C304-2B21470D4AAC}"/>
                </a:ext>
              </a:extLst>
            </p:cNvPr>
            <p:cNvSpPr txBox="1"/>
            <p:nvPr/>
          </p:nvSpPr>
          <p:spPr>
            <a:xfrm>
              <a:off x="3718907" y="4321552"/>
              <a:ext cx="1281905" cy="307777"/>
            </a:xfrm>
            <a:prstGeom prst="rect">
              <a:avLst/>
            </a:prstGeom>
            <a:noFill/>
          </p:spPr>
          <p:txBody>
            <a:bodyPr wrap="square">
              <a:spAutoFit/>
            </a:bodyPr>
            <a:lstStyle/>
            <a:p>
              <a:r>
                <a:rPr lang="ja-JP" altLang="en-US" sz="1400" b="1" dirty="0">
                  <a:latin typeface="+mn-ea"/>
                </a:rPr>
                <a:t>情報収集方法</a:t>
              </a:r>
            </a:p>
          </p:txBody>
        </p:sp>
        <p:sp>
          <p:nvSpPr>
            <p:cNvPr id="36" name="テキスト ボックス 35">
              <a:extLst>
                <a:ext uri="{FF2B5EF4-FFF2-40B4-BE49-F238E27FC236}">
                  <a16:creationId xmlns:a16="http://schemas.microsoft.com/office/drawing/2014/main" id="{2B5990C7-46B4-48F2-E7E1-52167817632B}"/>
                </a:ext>
              </a:extLst>
            </p:cNvPr>
            <p:cNvSpPr txBox="1"/>
            <p:nvPr/>
          </p:nvSpPr>
          <p:spPr>
            <a:xfrm>
              <a:off x="2638959" y="4767829"/>
              <a:ext cx="484631" cy="769441"/>
            </a:xfrm>
            <a:prstGeom prst="rect">
              <a:avLst/>
            </a:prstGeom>
            <a:noFill/>
          </p:spPr>
          <p:txBody>
            <a:bodyPr wrap="square">
              <a:spAutoFit/>
            </a:bodyPr>
            <a:lstStyle/>
            <a:p>
              <a:r>
                <a:rPr lang="en-US" altLang="ja-JP" sz="4400" b="1" dirty="0">
                  <a:solidFill>
                    <a:schemeClr val="accent1">
                      <a:lumMod val="60000"/>
                      <a:lumOff val="40000"/>
                    </a:schemeClr>
                  </a:solidFill>
                  <a:latin typeface="+mn-ea"/>
                </a:rPr>
                <a:t>T</a:t>
              </a:r>
              <a:endParaRPr lang="ja-JP" altLang="en-US" sz="4400" b="1" dirty="0">
                <a:solidFill>
                  <a:schemeClr val="accent1">
                    <a:lumMod val="60000"/>
                    <a:lumOff val="40000"/>
                  </a:schemeClr>
                </a:solidFill>
                <a:latin typeface="+mn-ea"/>
              </a:endParaRPr>
            </a:p>
          </p:txBody>
        </p:sp>
        <p:sp>
          <p:nvSpPr>
            <p:cNvPr id="37" name="テキスト ボックス 36">
              <a:extLst>
                <a:ext uri="{FF2B5EF4-FFF2-40B4-BE49-F238E27FC236}">
                  <a16:creationId xmlns:a16="http://schemas.microsoft.com/office/drawing/2014/main" id="{C4C1854F-C6CF-C119-2F8D-98A05FA9F6D8}"/>
                </a:ext>
              </a:extLst>
            </p:cNvPr>
            <p:cNvSpPr txBox="1"/>
            <p:nvPr/>
          </p:nvSpPr>
          <p:spPr>
            <a:xfrm>
              <a:off x="5596129" y="4767830"/>
              <a:ext cx="535838" cy="769441"/>
            </a:xfrm>
            <a:prstGeom prst="rect">
              <a:avLst/>
            </a:prstGeom>
            <a:noFill/>
          </p:spPr>
          <p:txBody>
            <a:bodyPr wrap="square">
              <a:spAutoFit/>
            </a:bodyPr>
            <a:lstStyle/>
            <a:p>
              <a:r>
                <a:rPr lang="en-US" altLang="ja-JP" sz="4400" b="1" dirty="0">
                  <a:solidFill>
                    <a:schemeClr val="accent1">
                      <a:lumMod val="60000"/>
                      <a:lumOff val="40000"/>
                    </a:schemeClr>
                  </a:solidFill>
                  <a:latin typeface="+mn-ea"/>
                </a:rPr>
                <a:t>F</a:t>
              </a:r>
              <a:endParaRPr lang="ja-JP" altLang="en-US" sz="4400" b="1" dirty="0">
                <a:solidFill>
                  <a:schemeClr val="accent1">
                    <a:lumMod val="60000"/>
                    <a:lumOff val="40000"/>
                  </a:schemeClr>
                </a:solidFill>
                <a:latin typeface="+mn-ea"/>
              </a:endParaRPr>
            </a:p>
          </p:txBody>
        </p:sp>
        <p:sp>
          <p:nvSpPr>
            <p:cNvPr id="38" name="矢印: 左右 37">
              <a:extLst>
                <a:ext uri="{FF2B5EF4-FFF2-40B4-BE49-F238E27FC236}">
                  <a16:creationId xmlns:a16="http://schemas.microsoft.com/office/drawing/2014/main" id="{0C1F0A30-24A3-E37B-CC11-119E2FD3EF02}"/>
                </a:ext>
              </a:extLst>
            </p:cNvPr>
            <p:cNvSpPr/>
            <p:nvPr/>
          </p:nvSpPr>
          <p:spPr>
            <a:xfrm>
              <a:off x="3215031" y="5032036"/>
              <a:ext cx="2289657" cy="241025"/>
            </a:xfrm>
            <a:prstGeom prst="leftRightArrow">
              <a:avLst>
                <a:gd name="adj1" fmla="val 43930"/>
                <a:gd name="adj2" fmla="val 131946"/>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solidFill>
                  <a:schemeClr val="accent1">
                    <a:lumMod val="60000"/>
                    <a:lumOff val="40000"/>
                  </a:schemeClr>
                </a:solidFill>
                <a:latin typeface="+mn-ea"/>
              </a:endParaRPr>
            </a:p>
          </p:txBody>
        </p:sp>
        <p:sp>
          <p:nvSpPr>
            <p:cNvPr id="39" name="テキスト ボックス 38">
              <a:extLst>
                <a:ext uri="{FF2B5EF4-FFF2-40B4-BE49-F238E27FC236}">
                  <a16:creationId xmlns:a16="http://schemas.microsoft.com/office/drawing/2014/main" id="{8E6B5688-FC3F-9197-57F1-1FCBECE8BCEC}"/>
                </a:ext>
              </a:extLst>
            </p:cNvPr>
            <p:cNvSpPr txBox="1"/>
            <p:nvPr/>
          </p:nvSpPr>
          <p:spPr>
            <a:xfrm>
              <a:off x="2459737" y="5352604"/>
              <a:ext cx="868680" cy="369332"/>
            </a:xfrm>
            <a:prstGeom prst="rect">
              <a:avLst/>
            </a:prstGeom>
            <a:noFill/>
          </p:spPr>
          <p:txBody>
            <a:bodyPr wrap="square">
              <a:spAutoFit/>
            </a:bodyPr>
            <a:lstStyle/>
            <a:p>
              <a:r>
                <a:rPr lang="ja-JP" altLang="en-US" b="1" dirty="0">
                  <a:latin typeface="+mn-ea"/>
                </a:rPr>
                <a:t>思考型</a:t>
              </a:r>
            </a:p>
          </p:txBody>
        </p:sp>
        <p:sp>
          <p:nvSpPr>
            <p:cNvPr id="40" name="テキスト ボックス 39">
              <a:extLst>
                <a:ext uri="{FF2B5EF4-FFF2-40B4-BE49-F238E27FC236}">
                  <a16:creationId xmlns:a16="http://schemas.microsoft.com/office/drawing/2014/main" id="{8F32B30F-BC14-F569-C62B-2F727FBE53A1}"/>
                </a:ext>
              </a:extLst>
            </p:cNvPr>
            <p:cNvSpPr txBox="1"/>
            <p:nvPr/>
          </p:nvSpPr>
          <p:spPr>
            <a:xfrm>
              <a:off x="5409590" y="5352604"/>
              <a:ext cx="908915" cy="371497"/>
            </a:xfrm>
            <a:prstGeom prst="rect">
              <a:avLst/>
            </a:prstGeom>
            <a:noFill/>
          </p:spPr>
          <p:txBody>
            <a:bodyPr wrap="square">
              <a:spAutoFit/>
            </a:bodyPr>
            <a:lstStyle/>
            <a:p>
              <a:r>
                <a:rPr lang="ja-JP" altLang="en-US" b="1" dirty="0">
                  <a:latin typeface="+mn-ea"/>
                </a:rPr>
                <a:t>感情型</a:t>
              </a:r>
            </a:p>
          </p:txBody>
        </p:sp>
        <p:sp>
          <p:nvSpPr>
            <p:cNvPr id="41" name="テキスト ボックス 40">
              <a:extLst>
                <a:ext uri="{FF2B5EF4-FFF2-40B4-BE49-F238E27FC236}">
                  <a16:creationId xmlns:a16="http://schemas.microsoft.com/office/drawing/2014/main" id="{D76F6EF3-9C3A-BB4C-7092-CA6D012F8BAF}"/>
                </a:ext>
              </a:extLst>
            </p:cNvPr>
            <p:cNvSpPr txBox="1"/>
            <p:nvPr/>
          </p:nvSpPr>
          <p:spPr>
            <a:xfrm>
              <a:off x="3952948" y="5273061"/>
              <a:ext cx="908915" cy="307777"/>
            </a:xfrm>
            <a:prstGeom prst="rect">
              <a:avLst/>
            </a:prstGeom>
            <a:noFill/>
          </p:spPr>
          <p:txBody>
            <a:bodyPr wrap="square">
              <a:spAutoFit/>
            </a:bodyPr>
            <a:lstStyle/>
            <a:p>
              <a:r>
                <a:rPr lang="ja-JP" altLang="en-US" sz="1400" b="1" dirty="0">
                  <a:latin typeface="+mn-ea"/>
                </a:rPr>
                <a:t>判断方法</a:t>
              </a:r>
            </a:p>
          </p:txBody>
        </p:sp>
        <p:sp>
          <p:nvSpPr>
            <p:cNvPr id="42" name="テキスト ボックス 41">
              <a:extLst>
                <a:ext uri="{FF2B5EF4-FFF2-40B4-BE49-F238E27FC236}">
                  <a16:creationId xmlns:a16="http://schemas.microsoft.com/office/drawing/2014/main" id="{549F3886-4BFD-07BF-8FA4-2D76FF73AEB0}"/>
                </a:ext>
              </a:extLst>
            </p:cNvPr>
            <p:cNvSpPr txBox="1"/>
            <p:nvPr/>
          </p:nvSpPr>
          <p:spPr>
            <a:xfrm>
              <a:off x="2638959" y="5734725"/>
              <a:ext cx="484631" cy="769441"/>
            </a:xfrm>
            <a:prstGeom prst="rect">
              <a:avLst/>
            </a:prstGeom>
            <a:noFill/>
          </p:spPr>
          <p:txBody>
            <a:bodyPr wrap="square">
              <a:spAutoFit/>
            </a:bodyPr>
            <a:lstStyle/>
            <a:p>
              <a:r>
                <a:rPr lang="en-US" altLang="ja-JP" sz="4400" b="1" dirty="0">
                  <a:solidFill>
                    <a:srgbClr val="FFC000"/>
                  </a:solidFill>
                  <a:latin typeface="+mn-ea"/>
                </a:rPr>
                <a:t>J</a:t>
              </a:r>
              <a:endParaRPr lang="ja-JP" altLang="en-US" sz="4400" b="1" dirty="0">
                <a:solidFill>
                  <a:srgbClr val="FFC000"/>
                </a:solidFill>
                <a:latin typeface="+mn-ea"/>
              </a:endParaRPr>
            </a:p>
          </p:txBody>
        </p:sp>
        <p:sp>
          <p:nvSpPr>
            <p:cNvPr id="43" name="テキスト ボックス 42">
              <a:extLst>
                <a:ext uri="{FF2B5EF4-FFF2-40B4-BE49-F238E27FC236}">
                  <a16:creationId xmlns:a16="http://schemas.microsoft.com/office/drawing/2014/main" id="{C71C1B2C-EE97-01BF-3CED-41940BE9F6FE}"/>
                </a:ext>
              </a:extLst>
            </p:cNvPr>
            <p:cNvSpPr txBox="1"/>
            <p:nvPr/>
          </p:nvSpPr>
          <p:spPr>
            <a:xfrm>
              <a:off x="5596129" y="5734726"/>
              <a:ext cx="535838" cy="769441"/>
            </a:xfrm>
            <a:prstGeom prst="rect">
              <a:avLst/>
            </a:prstGeom>
            <a:noFill/>
          </p:spPr>
          <p:txBody>
            <a:bodyPr wrap="square">
              <a:spAutoFit/>
            </a:bodyPr>
            <a:lstStyle/>
            <a:p>
              <a:r>
                <a:rPr lang="en-US" altLang="ja-JP" sz="4400" b="1" dirty="0">
                  <a:solidFill>
                    <a:srgbClr val="FFC000"/>
                  </a:solidFill>
                  <a:latin typeface="+mn-ea"/>
                </a:rPr>
                <a:t>P</a:t>
              </a:r>
              <a:endParaRPr lang="ja-JP" altLang="en-US" sz="4400" b="1" dirty="0">
                <a:solidFill>
                  <a:srgbClr val="FFC000"/>
                </a:solidFill>
                <a:latin typeface="+mn-ea"/>
              </a:endParaRPr>
            </a:p>
          </p:txBody>
        </p:sp>
        <p:sp>
          <p:nvSpPr>
            <p:cNvPr id="44" name="矢印: 左右 43">
              <a:extLst>
                <a:ext uri="{FF2B5EF4-FFF2-40B4-BE49-F238E27FC236}">
                  <a16:creationId xmlns:a16="http://schemas.microsoft.com/office/drawing/2014/main" id="{9913F5A2-61AF-F03D-6DE9-86DFBE95075B}"/>
                </a:ext>
              </a:extLst>
            </p:cNvPr>
            <p:cNvSpPr/>
            <p:nvPr/>
          </p:nvSpPr>
          <p:spPr>
            <a:xfrm>
              <a:off x="3215031" y="5998932"/>
              <a:ext cx="2289657" cy="241025"/>
            </a:xfrm>
            <a:prstGeom prst="leftRightArrow">
              <a:avLst>
                <a:gd name="adj1" fmla="val 43930"/>
                <a:gd name="adj2" fmla="val 131946"/>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sp>
          <p:nvSpPr>
            <p:cNvPr id="45" name="テキスト ボックス 44">
              <a:extLst>
                <a:ext uri="{FF2B5EF4-FFF2-40B4-BE49-F238E27FC236}">
                  <a16:creationId xmlns:a16="http://schemas.microsoft.com/office/drawing/2014/main" id="{7D266389-AA28-6257-D3EF-6B2928D8C520}"/>
                </a:ext>
              </a:extLst>
            </p:cNvPr>
            <p:cNvSpPr txBox="1"/>
            <p:nvPr/>
          </p:nvSpPr>
          <p:spPr>
            <a:xfrm>
              <a:off x="2459737" y="6319500"/>
              <a:ext cx="868680" cy="369332"/>
            </a:xfrm>
            <a:prstGeom prst="rect">
              <a:avLst/>
            </a:prstGeom>
            <a:noFill/>
          </p:spPr>
          <p:txBody>
            <a:bodyPr wrap="square">
              <a:spAutoFit/>
            </a:bodyPr>
            <a:lstStyle/>
            <a:p>
              <a:r>
                <a:rPr lang="ja-JP" altLang="en-US" b="1" dirty="0">
                  <a:latin typeface="+mn-ea"/>
                </a:rPr>
                <a:t>判断型</a:t>
              </a:r>
            </a:p>
          </p:txBody>
        </p:sp>
        <p:sp>
          <p:nvSpPr>
            <p:cNvPr id="46" name="テキスト ボックス 45">
              <a:extLst>
                <a:ext uri="{FF2B5EF4-FFF2-40B4-BE49-F238E27FC236}">
                  <a16:creationId xmlns:a16="http://schemas.microsoft.com/office/drawing/2014/main" id="{5D3A5BD0-6802-A2A2-7B48-61A092FEEAC6}"/>
                </a:ext>
              </a:extLst>
            </p:cNvPr>
            <p:cNvSpPr txBox="1"/>
            <p:nvPr/>
          </p:nvSpPr>
          <p:spPr>
            <a:xfrm>
              <a:off x="5409590" y="6319500"/>
              <a:ext cx="908915" cy="369332"/>
            </a:xfrm>
            <a:prstGeom prst="rect">
              <a:avLst/>
            </a:prstGeom>
            <a:noFill/>
          </p:spPr>
          <p:txBody>
            <a:bodyPr wrap="square">
              <a:spAutoFit/>
            </a:bodyPr>
            <a:lstStyle/>
            <a:p>
              <a:r>
                <a:rPr lang="ja-JP" altLang="en-US" b="1" dirty="0">
                  <a:latin typeface="+mn-ea"/>
                </a:rPr>
                <a:t>認識型</a:t>
              </a:r>
            </a:p>
          </p:txBody>
        </p:sp>
        <p:sp>
          <p:nvSpPr>
            <p:cNvPr id="47" name="テキスト ボックス 46">
              <a:extLst>
                <a:ext uri="{FF2B5EF4-FFF2-40B4-BE49-F238E27FC236}">
                  <a16:creationId xmlns:a16="http://schemas.microsoft.com/office/drawing/2014/main" id="{17A496BF-FC26-CB47-963E-547CD5AF2E5A}"/>
                </a:ext>
              </a:extLst>
            </p:cNvPr>
            <p:cNvSpPr txBox="1"/>
            <p:nvPr/>
          </p:nvSpPr>
          <p:spPr>
            <a:xfrm>
              <a:off x="3905401" y="6239957"/>
              <a:ext cx="908915" cy="307777"/>
            </a:xfrm>
            <a:prstGeom prst="rect">
              <a:avLst/>
            </a:prstGeom>
            <a:noFill/>
          </p:spPr>
          <p:txBody>
            <a:bodyPr wrap="square">
              <a:spAutoFit/>
            </a:bodyPr>
            <a:lstStyle/>
            <a:p>
              <a:r>
                <a:rPr lang="ja-JP" altLang="en-US" sz="1400" b="1" dirty="0">
                  <a:latin typeface="+mn-ea"/>
                </a:rPr>
                <a:t>生活様式</a:t>
              </a:r>
            </a:p>
          </p:txBody>
        </p:sp>
      </p:grpSp>
      <p:sp>
        <p:nvSpPr>
          <p:cNvPr id="51" name="テキスト ボックス 50">
            <a:extLst>
              <a:ext uri="{FF2B5EF4-FFF2-40B4-BE49-F238E27FC236}">
                <a16:creationId xmlns:a16="http://schemas.microsoft.com/office/drawing/2014/main" id="{85EEB004-4A15-1AC5-7CA9-50260B5345BE}"/>
              </a:ext>
            </a:extLst>
          </p:cNvPr>
          <p:cNvSpPr txBox="1"/>
          <p:nvPr/>
        </p:nvSpPr>
        <p:spPr>
          <a:xfrm>
            <a:off x="380241" y="2318190"/>
            <a:ext cx="5171995" cy="769441"/>
          </a:xfrm>
          <a:prstGeom prst="rect">
            <a:avLst/>
          </a:prstGeom>
          <a:noFill/>
        </p:spPr>
        <p:txBody>
          <a:bodyPr wrap="square">
            <a:spAutoFit/>
          </a:bodyPr>
          <a:lstStyle/>
          <a:p>
            <a:r>
              <a:rPr lang="en-US" altLang="ja-JP" sz="2400" b="1" dirty="0">
                <a:solidFill>
                  <a:schemeClr val="accent1"/>
                </a:solidFill>
              </a:rPr>
              <a:t>4</a:t>
            </a:r>
            <a:r>
              <a:rPr lang="ja-JP" altLang="en-US" sz="2400" b="1" dirty="0">
                <a:solidFill>
                  <a:schemeClr val="accent1"/>
                </a:solidFill>
              </a:rPr>
              <a:t>つの指標</a:t>
            </a:r>
            <a:endParaRPr lang="en-US" altLang="ja-JP" sz="2400" b="1" dirty="0">
              <a:solidFill>
                <a:schemeClr val="accent1"/>
              </a:solidFill>
            </a:endParaRPr>
          </a:p>
          <a:p>
            <a:r>
              <a:rPr lang="ja-JP" altLang="en-US" sz="2000" b="1" dirty="0"/>
              <a:t>要素はそれぞれ対極</a:t>
            </a:r>
            <a:r>
              <a:rPr lang="en-US" altLang="ja-JP" sz="2000" b="1" dirty="0">
                <a:latin typeface="+mn-ea"/>
              </a:rPr>
              <a:t>[</a:t>
            </a:r>
            <a:r>
              <a:rPr lang="en-US" altLang="ja-JP" sz="2000" b="1" dirty="0" err="1">
                <a:latin typeface="+mn-ea"/>
              </a:rPr>
              <a:t>Radisavljevic</a:t>
            </a:r>
            <a:r>
              <a:rPr lang="ja-JP" altLang="en-US" sz="2000" b="1" dirty="0">
                <a:latin typeface="+mn-ea"/>
              </a:rPr>
              <a:t>ら </a:t>
            </a:r>
            <a:r>
              <a:rPr lang="en-US" altLang="ja-JP" sz="2000" b="1" dirty="0">
                <a:latin typeface="+mn-ea"/>
              </a:rPr>
              <a:t>’22]</a:t>
            </a:r>
            <a:endParaRPr lang="ja-JP" altLang="en-US" sz="2000" b="1" dirty="0">
              <a:latin typeface="+mn-ea"/>
            </a:endParaRPr>
          </a:p>
        </p:txBody>
      </p:sp>
      <p:sp>
        <p:nvSpPr>
          <p:cNvPr id="53" name="テキスト ボックス 52">
            <a:extLst>
              <a:ext uri="{FF2B5EF4-FFF2-40B4-BE49-F238E27FC236}">
                <a16:creationId xmlns:a16="http://schemas.microsoft.com/office/drawing/2014/main" id="{31C3514E-B39A-8E3D-B14E-ED7B6D9015C2}"/>
              </a:ext>
            </a:extLst>
          </p:cNvPr>
          <p:cNvSpPr txBox="1"/>
          <p:nvPr/>
        </p:nvSpPr>
        <p:spPr>
          <a:xfrm>
            <a:off x="4961384" y="3230736"/>
            <a:ext cx="2375872" cy="584667"/>
          </a:xfrm>
          <a:prstGeom prst="rect">
            <a:avLst/>
          </a:prstGeom>
          <a:noFill/>
        </p:spPr>
        <p:txBody>
          <a:bodyPr wrap="square">
            <a:noAutofit/>
          </a:bodyPr>
          <a:lstStyle/>
          <a:p>
            <a:r>
              <a:rPr lang="ja-JP" altLang="en-US" sz="2400" b="1" dirty="0">
                <a:latin typeface="+mn-ea"/>
              </a:rPr>
              <a:t>例）</a:t>
            </a:r>
            <a:r>
              <a:rPr lang="en-US" altLang="ja-JP" sz="2400" b="1" dirty="0">
                <a:latin typeface="+mn-ea"/>
              </a:rPr>
              <a:t>INFJ</a:t>
            </a:r>
            <a:r>
              <a:rPr lang="ja-JP" altLang="en-US" sz="2400" b="1" dirty="0">
                <a:latin typeface="+mn-ea"/>
              </a:rPr>
              <a:t>の特性</a:t>
            </a:r>
            <a:endParaRPr lang="ja-JP" altLang="en-US" sz="2400" dirty="0">
              <a:latin typeface="+mn-ea"/>
            </a:endParaRPr>
          </a:p>
        </p:txBody>
      </p:sp>
      <p:sp>
        <p:nvSpPr>
          <p:cNvPr id="55" name="テキスト ボックス 54">
            <a:extLst>
              <a:ext uri="{FF2B5EF4-FFF2-40B4-BE49-F238E27FC236}">
                <a16:creationId xmlns:a16="http://schemas.microsoft.com/office/drawing/2014/main" id="{CD635783-009E-ED0A-A7EB-8D1B639C2B8C}"/>
              </a:ext>
            </a:extLst>
          </p:cNvPr>
          <p:cNvSpPr txBox="1"/>
          <p:nvPr/>
        </p:nvSpPr>
        <p:spPr>
          <a:xfrm>
            <a:off x="7238715" y="4000565"/>
            <a:ext cx="1319682" cy="1200329"/>
          </a:xfrm>
          <a:prstGeom prst="rect">
            <a:avLst/>
          </a:prstGeom>
          <a:noFill/>
        </p:spPr>
        <p:txBody>
          <a:bodyPr wrap="square">
            <a:noAutofit/>
          </a:bodyPr>
          <a:lstStyle/>
          <a:p>
            <a:pPr marL="182563" indent="-182563">
              <a:lnSpc>
                <a:spcPct val="150000"/>
              </a:lnSpc>
              <a:buFont typeface="Arial" panose="020B0604020202020204" pitchFamily="34" charset="0"/>
              <a:buChar char="•"/>
            </a:pPr>
            <a:r>
              <a:rPr lang="ja-JP" altLang="en-US" sz="2000" b="1" dirty="0">
                <a:latin typeface="+mn-ea"/>
              </a:rPr>
              <a:t>内向型</a:t>
            </a:r>
            <a:endParaRPr lang="en-US" altLang="ja-JP" sz="2000" b="1" dirty="0">
              <a:latin typeface="+mn-ea"/>
            </a:endParaRPr>
          </a:p>
          <a:p>
            <a:pPr marL="182563" indent="-182563">
              <a:lnSpc>
                <a:spcPct val="150000"/>
              </a:lnSpc>
              <a:buFont typeface="Arial" panose="020B0604020202020204" pitchFamily="34" charset="0"/>
              <a:buChar char="•"/>
            </a:pPr>
            <a:r>
              <a:rPr lang="ja-JP" altLang="en-US" sz="2000" b="1" dirty="0">
                <a:latin typeface="+mn-ea"/>
              </a:rPr>
              <a:t>直感型</a:t>
            </a:r>
            <a:endParaRPr lang="en-US" altLang="ja-JP" sz="2000" b="1" dirty="0">
              <a:latin typeface="+mn-ea"/>
            </a:endParaRPr>
          </a:p>
          <a:p>
            <a:pPr marL="182563" indent="-182563">
              <a:lnSpc>
                <a:spcPct val="150000"/>
              </a:lnSpc>
              <a:buFont typeface="Arial" panose="020B0604020202020204" pitchFamily="34" charset="0"/>
              <a:buChar char="•"/>
            </a:pPr>
            <a:r>
              <a:rPr lang="ja-JP" altLang="en-US" sz="2000" b="1" dirty="0">
                <a:latin typeface="+mn-ea"/>
              </a:rPr>
              <a:t>感情型</a:t>
            </a:r>
            <a:endParaRPr lang="en-US" altLang="ja-JP" sz="2000" b="1" dirty="0">
              <a:latin typeface="+mn-ea"/>
            </a:endParaRPr>
          </a:p>
          <a:p>
            <a:pPr marL="182563" indent="-182563">
              <a:lnSpc>
                <a:spcPct val="150000"/>
              </a:lnSpc>
              <a:buFont typeface="Arial" panose="020B0604020202020204" pitchFamily="34" charset="0"/>
              <a:buChar char="•"/>
            </a:pPr>
            <a:r>
              <a:rPr lang="ja-JP" altLang="en-US" sz="2000" b="1" dirty="0">
                <a:latin typeface="+mn-ea"/>
              </a:rPr>
              <a:t>判断型</a:t>
            </a:r>
            <a:endParaRPr lang="ja-JP" altLang="en-US" sz="2000" dirty="0">
              <a:latin typeface="+mn-ea"/>
            </a:endParaRPr>
          </a:p>
        </p:txBody>
      </p:sp>
      <p:pic>
        <p:nvPicPr>
          <p:cNvPr id="2" name="図 1" descr="挿絵 が含まれている画像&#10;&#10;AI 生成コンテンツは誤りを含む可能性があります。">
            <a:extLst>
              <a:ext uri="{FF2B5EF4-FFF2-40B4-BE49-F238E27FC236}">
                <a16:creationId xmlns:a16="http://schemas.microsoft.com/office/drawing/2014/main" id="{34A27D3A-BB3B-7D4B-D9BC-5914BBED51C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767722" y="3956773"/>
            <a:ext cx="2493253" cy="2114579"/>
          </a:xfrm>
          <a:prstGeom prst="rect">
            <a:avLst/>
          </a:prstGeom>
        </p:spPr>
      </p:pic>
    </p:spTree>
    <p:extLst>
      <p:ext uri="{BB962C8B-B14F-4D97-AF65-F5344CB8AC3E}">
        <p14:creationId xmlns:p14="http://schemas.microsoft.com/office/powerpoint/2010/main" val="1249547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AB4DB-B51B-C105-0889-F1204D166ED3}"/>
            </a:ext>
          </a:extLst>
        </p:cNvPr>
        <p:cNvGrpSpPr/>
        <p:nvPr/>
      </p:nvGrpSpPr>
      <p:grpSpPr>
        <a:xfrm>
          <a:off x="0" y="0"/>
          <a:ext cx="0" cy="0"/>
          <a:chOff x="0" y="0"/>
          <a:chExt cx="0" cy="0"/>
        </a:xfrm>
      </p:grpSpPr>
      <p:sp>
        <p:nvSpPr>
          <p:cNvPr id="19" name="四角形: 角を丸くする 18">
            <a:extLst>
              <a:ext uri="{FF2B5EF4-FFF2-40B4-BE49-F238E27FC236}">
                <a16:creationId xmlns:a16="http://schemas.microsoft.com/office/drawing/2014/main" id="{104E7EE2-4755-34DF-714D-AE0B145BAB1F}"/>
              </a:ext>
            </a:extLst>
          </p:cNvPr>
          <p:cNvSpPr/>
          <p:nvPr/>
        </p:nvSpPr>
        <p:spPr>
          <a:xfrm>
            <a:off x="5386454" y="3666072"/>
            <a:ext cx="2577900" cy="2350566"/>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11" name="四角形: 角を丸くする 10">
            <a:extLst>
              <a:ext uri="{FF2B5EF4-FFF2-40B4-BE49-F238E27FC236}">
                <a16:creationId xmlns:a16="http://schemas.microsoft.com/office/drawing/2014/main" id="{7F5079D6-2137-EF2D-2496-55DAE51F90FE}"/>
              </a:ext>
            </a:extLst>
          </p:cNvPr>
          <p:cNvSpPr/>
          <p:nvPr/>
        </p:nvSpPr>
        <p:spPr>
          <a:xfrm>
            <a:off x="1179646" y="3666072"/>
            <a:ext cx="2577900" cy="2350566"/>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28" name="スライド番号プレースホルダー 27">
            <a:extLst>
              <a:ext uri="{FF2B5EF4-FFF2-40B4-BE49-F238E27FC236}">
                <a16:creationId xmlns:a16="http://schemas.microsoft.com/office/drawing/2014/main" id="{42E3C430-C609-B4F2-9ECE-8C3172CD0E7B}"/>
              </a:ext>
            </a:extLst>
          </p:cNvPr>
          <p:cNvSpPr>
            <a:spLocks noGrp="1"/>
          </p:cNvSpPr>
          <p:nvPr>
            <p:ph type="sldNum" sz="quarter" idx="12"/>
          </p:nvPr>
        </p:nvSpPr>
        <p:spPr/>
        <p:txBody>
          <a:bodyPr>
            <a:noAutofit/>
          </a:bodyPr>
          <a:lstStyle/>
          <a:p>
            <a:fld id="{18020408-E1FF-429E-A8D5-EB2A190A0D77}" type="slidenum">
              <a:rPr kumimoji="1" lang="ja-JP" altLang="en-US" smtClean="0"/>
              <a:t>8</a:t>
            </a:fld>
            <a:endParaRPr kumimoji="1" lang="ja-JP" altLang="en-US"/>
          </a:p>
        </p:txBody>
      </p:sp>
      <p:sp>
        <p:nvSpPr>
          <p:cNvPr id="5" name="タイトル 4">
            <a:extLst>
              <a:ext uri="{FF2B5EF4-FFF2-40B4-BE49-F238E27FC236}">
                <a16:creationId xmlns:a16="http://schemas.microsoft.com/office/drawing/2014/main" id="{4D940D86-BCB4-D011-D408-4599B1264E70}"/>
              </a:ext>
            </a:extLst>
          </p:cNvPr>
          <p:cNvSpPr>
            <a:spLocks noGrp="1"/>
          </p:cNvSpPr>
          <p:nvPr>
            <p:ph type="title"/>
          </p:nvPr>
        </p:nvSpPr>
        <p:spPr/>
        <p:txBody>
          <a:bodyPr>
            <a:noAutofit/>
          </a:bodyPr>
          <a:lstStyle/>
          <a:p>
            <a:r>
              <a:rPr lang="ja-JP" altLang="en-US" sz="3600" b="1" dirty="0">
                <a:solidFill>
                  <a:schemeClr val="bg1"/>
                </a:solidFill>
                <a:latin typeface="+mn-ea"/>
                <a:ea typeface="+mn-ea"/>
              </a:rPr>
              <a:t>採用する人格</a:t>
            </a:r>
          </a:p>
        </p:txBody>
      </p:sp>
      <p:sp>
        <p:nvSpPr>
          <p:cNvPr id="15" name="テキスト ボックス 14">
            <a:extLst>
              <a:ext uri="{FF2B5EF4-FFF2-40B4-BE49-F238E27FC236}">
                <a16:creationId xmlns:a16="http://schemas.microsoft.com/office/drawing/2014/main" id="{AAB2B86B-B534-C4EF-3775-FBBEF0B66620}"/>
              </a:ext>
            </a:extLst>
          </p:cNvPr>
          <p:cNvSpPr txBox="1"/>
          <p:nvPr/>
        </p:nvSpPr>
        <p:spPr>
          <a:xfrm>
            <a:off x="266990" y="1298529"/>
            <a:ext cx="8610017" cy="2208297"/>
          </a:xfrm>
          <a:prstGeom prst="rect">
            <a:avLst/>
          </a:prstGeom>
          <a:noFill/>
        </p:spPr>
        <p:txBody>
          <a:bodyPr wrap="square">
            <a:noAutofit/>
          </a:bodyPr>
          <a:lstStyle/>
          <a:p>
            <a:pPr algn="l" rtl="0" fontAlgn="base">
              <a:lnSpc>
                <a:spcPts val="2400"/>
              </a:lnSpc>
              <a:buNone/>
            </a:pPr>
            <a:r>
              <a:rPr lang="ja-JP" altLang="en-US" sz="2000" b="1" dirty="0">
                <a:solidFill>
                  <a:schemeClr val="accent1"/>
                </a:solidFill>
                <a:latin typeface="Meiryo UI" panose="020B0604030504040204" pitchFamily="50" charset="-128"/>
                <a:ea typeface="Yu Gothic" panose="020B0400000000000000" pitchFamily="50" charset="-128"/>
              </a:rPr>
              <a:t>採用する人格</a:t>
            </a:r>
            <a:endParaRPr lang="en-US" altLang="ja-JP" sz="2000" b="1" dirty="0">
              <a:solidFill>
                <a:schemeClr val="accent1"/>
              </a:solidFill>
              <a:latin typeface="Meiryo UI" panose="020B0604030504040204" pitchFamily="50" charset="-128"/>
              <a:ea typeface="Yu Gothic" panose="020B0400000000000000" pitchFamily="50" charset="-128"/>
            </a:endParaRPr>
          </a:p>
          <a:p>
            <a:pPr marL="342900" indent="-255588" algn="l" rtl="0" fontAlgn="base">
              <a:lnSpc>
                <a:spcPts val="2400"/>
              </a:lnSpc>
              <a:buFont typeface="Arial" panose="020B0604020202020204" pitchFamily="34" charset="0"/>
              <a:buChar char="•"/>
            </a:pPr>
            <a:r>
              <a:rPr lang="en-US" altLang="ja-JP" sz="2000" b="1" i="0" dirty="0">
                <a:effectLst/>
                <a:latin typeface="+mn-ea"/>
              </a:rPr>
              <a:t>MBTI</a:t>
            </a:r>
            <a:r>
              <a:rPr lang="ja-JP" altLang="en-US" sz="2000" b="1" i="0" dirty="0">
                <a:effectLst/>
                <a:latin typeface="+mn-ea"/>
              </a:rPr>
              <a:t>の「</a:t>
            </a:r>
            <a:r>
              <a:rPr lang="en-US" altLang="ja-JP" sz="2000" b="1" i="0" dirty="0">
                <a:effectLst/>
                <a:latin typeface="+mn-ea"/>
              </a:rPr>
              <a:t>INFJ</a:t>
            </a:r>
            <a:r>
              <a:rPr lang="ja-JP" altLang="en-US" sz="2000" b="1" i="0" dirty="0">
                <a:effectLst/>
                <a:latin typeface="+mn-ea"/>
              </a:rPr>
              <a:t>」</a:t>
            </a:r>
            <a:r>
              <a:rPr lang="ja-JP" altLang="en-US" sz="2000" b="1" dirty="0">
                <a:latin typeface="+mn-ea"/>
              </a:rPr>
              <a:t>と</a:t>
            </a:r>
            <a:r>
              <a:rPr lang="ja-JP" altLang="en-US" sz="2000" b="1" i="0" dirty="0">
                <a:effectLst/>
                <a:latin typeface="+mn-ea"/>
              </a:rPr>
              <a:t>「</a:t>
            </a:r>
            <a:r>
              <a:rPr lang="en-US" altLang="ja-JP" sz="2000" b="1" i="0" dirty="0">
                <a:effectLst/>
                <a:latin typeface="+mn-ea"/>
              </a:rPr>
              <a:t>ESTP</a:t>
            </a:r>
            <a:r>
              <a:rPr lang="ja-JP" altLang="en-US" sz="2000" b="1" i="0" dirty="0">
                <a:effectLst/>
                <a:latin typeface="+mn-ea"/>
              </a:rPr>
              <a:t>」を採用</a:t>
            </a:r>
            <a:endParaRPr lang="en-US" altLang="ja-JP" sz="2000" b="1" i="0" dirty="0">
              <a:solidFill>
                <a:schemeClr val="accent1"/>
              </a:solidFill>
              <a:effectLst/>
              <a:latin typeface="+mn-ea"/>
            </a:endParaRPr>
          </a:p>
          <a:p>
            <a:pPr marL="342900" indent="-255588" algn="l" rtl="0" fontAlgn="base">
              <a:lnSpc>
                <a:spcPts val="2400"/>
              </a:lnSpc>
              <a:buFont typeface="Arial" panose="020B0604020202020204" pitchFamily="34" charset="0"/>
              <a:buChar char="•"/>
            </a:pPr>
            <a:r>
              <a:rPr lang="en-US" altLang="ja-JP" sz="2000" b="1" i="0" dirty="0">
                <a:effectLst/>
                <a:latin typeface="+mn-ea"/>
              </a:rPr>
              <a:t>GPT-5</a:t>
            </a:r>
            <a:r>
              <a:rPr lang="ja-JP" altLang="en-US" sz="2000" b="1" dirty="0">
                <a:latin typeface="+mn-ea"/>
              </a:rPr>
              <a:t>で人格付与</a:t>
            </a:r>
            <a:endParaRPr lang="en-US" altLang="ja-JP" sz="2000" b="1" dirty="0">
              <a:latin typeface="+mn-ea"/>
            </a:endParaRPr>
          </a:p>
          <a:p>
            <a:pPr marL="342900" indent="-255588" algn="l" rtl="0" fontAlgn="base">
              <a:lnSpc>
                <a:spcPts val="2400"/>
              </a:lnSpc>
              <a:buFont typeface="Arial" panose="020B0604020202020204" pitchFamily="34" charset="0"/>
              <a:buChar char="•"/>
            </a:pPr>
            <a:r>
              <a:rPr lang="ja-JP" altLang="en-US" sz="2000" b="1" dirty="0">
                <a:latin typeface="+mn-ea"/>
              </a:rPr>
              <a:t>人格特性は口調で表現</a:t>
            </a:r>
            <a:endParaRPr lang="en-US" altLang="ja-JP" sz="2000" b="1" dirty="0">
              <a:latin typeface="+mn-ea"/>
            </a:endParaRPr>
          </a:p>
          <a:p>
            <a:pPr marL="342900" indent="-255588" algn="l" rtl="0" fontAlgn="base">
              <a:lnSpc>
                <a:spcPts val="2400"/>
              </a:lnSpc>
              <a:buFont typeface="Arial" panose="020B0604020202020204" pitchFamily="34" charset="0"/>
              <a:buChar char="•"/>
            </a:pPr>
            <a:r>
              <a:rPr lang="ja-JP" altLang="en-US" sz="2000" b="1" dirty="0">
                <a:solidFill>
                  <a:srgbClr val="000000"/>
                </a:solidFill>
                <a:latin typeface="Meiryo UI" panose="020B0604030504040204" pitchFamily="50" charset="-128"/>
                <a:ea typeface="Yu Gothic" panose="020B0400000000000000" pitchFamily="50" charset="-128"/>
              </a:rPr>
              <a:t>人格付与には</a:t>
            </a:r>
            <a:r>
              <a:rPr lang="en-US" altLang="ja-JP" sz="2000" b="1" dirty="0">
                <a:solidFill>
                  <a:srgbClr val="000000"/>
                </a:solidFill>
                <a:latin typeface="+mn-ea"/>
              </a:rPr>
              <a:t>Besta</a:t>
            </a:r>
            <a:r>
              <a:rPr lang="en-US" altLang="ja-JP" sz="2000" b="1" i="0" dirty="0">
                <a:solidFill>
                  <a:srgbClr val="000000"/>
                </a:solidFill>
                <a:effectLst/>
                <a:latin typeface="+mn-ea"/>
              </a:rPr>
              <a:t>​</a:t>
            </a:r>
            <a:r>
              <a:rPr lang="ja-JP" altLang="en-US" sz="2000" b="1" i="0" dirty="0">
                <a:solidFill>
                  <a:srgbClr val="000000"/>
                </a:solidFill>
                <a:effectLst/>
                <a:latin typeface="+mn-ea"/>
              </a:rPr>
              <a:t>らのプロンプト</a:t>
            </a:r>
            <a:r>
              <a:rPr lang="en-US" altLang="ja-JP" sz="2000" b="1" i="0" dirty="0">
                <a:solidFill>
                  <a:srgbClr val="000000"/>
                </a:solidFill>
                <a:effectLst/>
                <a:latin typeface="+mn-ea"/>
              </a:rPr>
              <a:t>[Besta</a:t>
            </a:r>
            <a:r>
              <a:rPr lang="ja-JP" altLang="en-US" sz="2000" b="1" i="0" dirty="0">
                <a:solidFill>
                  <a:srgbClr val="000000"/>
                </a:solidFill>
                <a:effectLst/>
                <a:latin typeface="+mn-ea"/>
              </a:rPr>
              <a:t>ら </a:t>
            </a:r>
            <a:r>
              <a:rPr lang="en-US" altLang="ja-JP" sz="2000" b="1" dirty="0">
                <a:solidFill>
                  <a:srgbClr val="000000"/>
                </a:solidFill>
                <a:latin typeface="+mn-ea"/>
              </a:rPr>
              <a:t>’</a:t>
            </a:r>
            <a:r>
              <a:rPr lang="en-US" altLang="ja-JP" sz="2000" b="1" i="0" dirty="0">
                <a:solidFill>
                  <a:srgbClr val="000000"/>
                </a:solidFill>
                <a:effectLst/>
                <a:latin typeface="+mn-ea"/>
              </a:rPr>
              <a:t>25]</a:t>
            </a:r>
            <a:r>
              <a:rPr lang="ja-JP" altLang="en-US" sz="2000" b="1" i="0" dirty="0">
                <a:solidFill>
                  <a:srgbClr val="000000"/>
                </a:solidFill>
                <a:effectLst/>
                <a:latin typeface="+mn-ea"/>
              </a:rPr>
              <a:t>を参考</a:t>
            </a:r>
            <a:endParaRPr lang="en-US" altLang="ja-JP" sz="2000" b="1" i="0" dirty="0">
              <a:solidFill>
                <a:srgbClr val="000000"/>
              </a:solidFill>
              <a:effectLst/>
              <a:latin typeface="+mn-ea"/>
            </a:endParaRPr>
          </a:p>
          <a:p>
            <a:pPr fontAlgn="base">
              <a:lnSpc>
                <a:spcPts val="2400"/>
              </a:lnSpc>
            </a:pPr>
            <a:endParaRPr lang="en-US" altLang="ja-JP" sz="2000" b="1" dirty="0">
              <a:solidFill>
                <a:srgbClr val="000000"/>
              </a:solidFill>
              <a:latin typeface="+mn-ea"/>
            </a:endParaRPr>
          </a:p>
          <a:p>
            <a:pPr fontAlgn="base">
              <a:lnSpc>
                <a:spcPts val="2400"/>
              </a:lnSpc>
            </a:pPr>
            <a:r>
              <a:rPr lang="ja-JP" altLang="en-US" sz="2000" b="1" i="0" dirty="0">
                <a:solidFill>
                  <a:schemeClr val="accent1"/>
                </a:solidFill>
                <a:effectLst/>
                <a:latin typeface="+mn-ea"/>
              </a:rPr>
              <a:t>人格特性</a:t>
            </a:r>
            <a:endParaRPr lang="en-US" altLang="ja-JP" sz="2000" b="1" i="0" dirty="0">
              <a:solidFill>
                <a:schemeClr val="accent1"/>
              </a:solidFill>
              <a:effectLst/>
              <a:latin typeface="+mn-ea"/>
            </a:endParaRPr>
          </a:p>
          <a:p>
            <a:pPr algn="l" rtl="0" fontAlgn="base">
              <a:lnSpc>
                <a:spcPts val="2100"/>
              </a:lnSpc>
              <a:buNone/>
            </a:pPr>
            <a:endParaRPr lang="en-US" altLang="ja-JP" b="0" i="0" dirty="0">
              <a:solidFill>
                <a:srgbClr val="000000"/>
              </a:solidFill>
              <a:effectLst/>
              <a:latin typeface="+mn-ea"/>
            </a:endParaRPr>
          </a:p>
        </p:txBody>
      </p:sp>
      <p:sp>
        <p:nvSpPr>
          <p:cNvPr id="8" name="テキスト ボックス 7">
            <a:extLst>
              <a:ext uri="{FF2B5EF4-FFF2-40B4-BE49-F238E27FC236}">
                <a16:creationId xmlns:a16="http://schemas.microsoft.com/office/drawing/2014/main" id="{621EF1F5-3BBF-6FB7-8311-64FB58E9897B}"/>
              </a:ext>
            </a:extLst>
          </p:cNvPr>
          <p:cNvSpPr txBox="1"/>
          <p:nvPr/>
        </p:nvSpPr>
        <p:spPr>
          <a:xfrm>
            <a:off x="1488518" y="5515016"/>
            <a:ext cx="1924777" cy="369332"/>
          </a:xfrm>
          <a:prstGeom prst="rect">
            <a:avLst/>
          </a:prstGeom>
          <a:noFill/>
        </p:spPr>
        <p:txBody>
          <a:bodyPr wrap="square">
            <a:noAutofit/>
          </a:bodyPr>
          <a:lstStyle/>
          <a:p>
            <a:r>
              <a:rPr lang="ja-JP" altLang="en-US" b="1" dirty="0">
                <a:solidFill>
                  <a:srgbClr val="000000"/>
                </a:solidFill>
                <a:latin typeface="Meiryo UI" panose="020B0604030504040204" pitchFamily="50" charset="-128"/>
                <a:ea typeface="Yu Gothic" panose="020B0400000000000000" pitchFamily="50" charset="-128"/>
              </a:rPr>
              <a:t>感情的，内向的</a:t>
            </a:r>
            <a:endParaRPr lang="ja-JP" altLang="en-US" dirty="0"/>
          </a:p>
        </p:txBody>
      </p:sp>
      <p:sp>
        <p:nvSpPr>
          <p:cNvPr id="10" name="テキスト ボックス 9">
            <a:extLst>
              <a:ext uri="{FF2B5EF4-FFF2-40B4-BE49-F238E27FC236}">
                <a16:creationId xmlns:a16="http://schemas.microsoft.com/office/drawing/2014/main" id="{915DAA42-6F24-BCD8-B52F-29BABA81D2E7}"/>
              </a:ext>
            </a:extLst>
          </p:cNvPr>
          <p:cNvSpPr txBox="1"/>
          <p:nvPr/>
        </p:nvSpPr>
        <p:spPr>
          <a:xfrm>
            <a:off x="5739428" y="5488261"/>
            <a:ext cx="1841015" cy="369332"/>
          </a:xfrm>
          <a:prstGeom prst="rect">
            <a:avLst/>
          </a:prstGeom>
          <a:noFill/>
        </p:spPr>
        <p:txBody>
          <a:bodyPr wrap="square">
            <a:noAutofit/>
          </a:bodyPr>
          <a:lstStyle/>
          <a:p>
            <a:r>
              <a:rPr lang="ja-JP" altLang="en-US" b="1" dirty="0">
                <a:solidFill>
                  <a:srgbClr val="000000"/>
                </a:solidFill>
                <a:latin typeface="Meiryo UI" panose="020B0604030504040204" pitchFamily="50" charset="-128"/>
                <a:ea typeface="Yu Gothic" panose="020B0400000000000000" pitchFamily="50" charset="-128"/>
              </a:rPr>
              <a:t>思考的，外交的</a:t>
            </a:r>
            <a:endParaRPr lang="ja-JP" altLang="en-US" dirty="0"/>
          </a:p>
        </p:txBody>
      </p:sp>
      <p:sp>
        <p:nvSpPr>
          <p:cNvPr id="18" name="テキスト ボックス 17">
            <a:extLst>
              <a:ext uri="{FF2B5EF4-FFF2-40B4-BE49-F238E27FC236}">
                <a16:creationId xmlns:a16="http://schemas.microsoft.com/office/drawing/2014/main" id="{DFF79A9D-5A83-30A3-9503-888EF5B00A34}"/>
              </a:ext>
            </a:extLst>
          </p:cNvPr>
          <p:cNvSpPr txBox="1"/>
          <p:nvPr/>
        </p:nvSpPr>
        <p:spPr>
          <a:xfrm>
            <a:off x="1551235" y="3471908"/>
            <a:ext cx="795343" cy="261780"/>
          </a:xfrm>
          <a:prstGeom prst="rect">
            <a:avLst/>
          </a:prstGeom>
          <a:solidFill>
            <a:schemeClr val="bg1"/>
          </a:solidFill>
        </p:spPr>
        <p:txBody>
          <a:bodyPr wrap="square">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ja-JP" sz="1800" b="1" i="0" u="none" strike="noStrike" cap="none" normalizeH="0" baseline="0" dirty="0">
                <a:ln>
                  <a:noFill/>
                </a:ln>
                <a:solidFill>
                  <a:schemeClr val="accent1"/>
                </a:solidFill>
                <a:effectLst/>
                <a:latin typeface="+mn-ea"/>
              </a:rPr>
              <a:t>INFJ</a:t>
            </a:r>
            <a:endParaRPr kumimoji="0" lang="ja-JP" altLang="en-US" sz="1800" b="1" i="0" u="none" strike="noStrike" cap="none" normalizeH="0" baseline="0" dirty="0">
              <a:ln>
                <a:noFill/>
              </a:ln>
              <a:solidFill>
                <a:schemeClr val="accent1"/>
              </a:solidFill>
              <a:effectLst/>
              <a:latin typeface="+mn-ea"/>
            </a:endParaRPr>
          </a:p>
        </p:txBody>
      </p:sp>
      <p:sp>
        <p:nvSpPr>
          <p:cNvPr id="24" name="テキスト ボックス 23">
            <a:extLst>
              <a:ext uri="{FF2B5EF4-FFF2-40B4-BE49-F238E27FC236}">
                <a16:creationId xmlns:a16="http://schemas.microsoft.com/office/drawing/2014/main" id="{E02BB9F8-BFC2-D48A-DEDB-CB1D7EA74EFF}"/>
              </a:ext>
            </a:extLst>
          </p:cNvPr>
          <p:cNvSpPr txBox="1"/>
          <p:nvPr/>
        </p:nvSpPr>
        <p:spPr>
          <a:xfrm>
            <a:off x="5739428" y="3471908"/>
            <a:ext cx="856973" cy="261780"/>
          </a:xfrm>
          <a:prstGeom prst="rect">
            <a:avLst/>
          </a:prstGeom>
          <a:solidFill>
            <a:schemeClr val="bg1"/>
          </a:solidFill>
        </p:spPr>
        <p:txBody>
          <a:bodyPr wrap="square">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ja-JP" b="1" dirty="0">
                <a:solidFill>
                  <a:schemeClr val="accent1"/>
                </a:solidFill>
                <a:latin typeface="+mn-ea"/>
              </a:rPr>
              <a:t>ENFP</a:t>
            </a:r>
            <a:endParaRPr kumimoji="0" lang="ja-JP" altLang="en-US" sz="1800" b="1" i="0" u="none" strike="noStrike" cap="none" normalizeH="0" baseline="0" dirty="0">
              <a:ln>
                <a:noFill/>
              </a:ln>
              <a:solidFill>
                <a:schemeClr val="accent1"/>
              </a:solidFill>
              <a:effectLst/>
              <a:latin typeface="+mn-ea"/>
            </a:endParaRPr>
          </a:p>
        </p:txBody>
      </p:sp>
      <p:sp>
        <p:nvSpPr>
          <p:cNvPr id="25" name="矢印: 左右 24">
            <a:extLst>
              <a:ext uri="{FF2B5EF4-FFF2-40B4-BE49-F238E27FC236}">
                <a16:creationId xmlns:a16="http://schemas.microsoft.com/office/drawing/2014/main" id="{3D2AA555-B0DF-5E6A-1670-60DDD82D081C}"/>
              </a:ext>
            </a:extLst>
          </p:cNvPr>
          <p:cNvSpPr/>
          <p:nvPr/>
        </p:nvSpPr>
        <p:spPr>
          <a:xfrm>
            <a:off x="3811162" y="4341403"/>
            <a:ext cx="1521675" cy="850170"/>
          </a:xfrm>
          <a:prstGeom prst="lef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defTabSz="914400" eaLnBrk="0" fontAlgn="base" hangingPunct="0">
              <a:spcBef>
                <a:spcPct val="0"/>
              </a:spcBef>
              <a:spcAft>
                <a:spcPct val="0"/>
              </a:spcAft>
            </a:pPr>
            <a:r>
              <a:rPr lang="ja-JP" altLang="en-US" b="1" dirty="0">
                <a:solidFill>
                  <a:schemeClr val="bg1"/>
                </a:solidFill>
                <a:latin typeface="+mn-ea"/>
              </a:rPr>
              <a:t>対極</a:t>
            </a:r>
          </a:p>
        </p:txBody>
      </p:sp>
      <p:pic>
        <p:nvPicPr>
          <p:cNvPr id="2" name="図 1" descr="挿絵 が含まれている画像&#10;&#10;AI 生成コンテンツは誤りを含む可能性があります。">
            <a:extLst>
              <a:ext uri="{FF2B5EF4-FFF2-40B4-BE49-F238E27FC236}">
                <a16:creationId xmlns:a16="http://schemas.microsoft.com/office/drawing/2014/main" id="{449125C9-AC09-1AD3-7770-64441C0F204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337816" y="3781143"/>
            <a:ext cx="2001732" cy="1697710"/>
          </a:xfrm>
          <a:prstGeom prst="rect">
            <a:avLst/>
          </a:prstGeom>
        </p:spPr>
      </p:pic>
      <p:pic>
        <p:nvPicPr>
          <p:cNvPr id="9" name="Picture 2" descr="画像">
            <a:extLst>
              <a:ext uri="{FF2B5EF4-FFF2-40B4-BE49-F238E27FC236}">
                <a16:creationId xmlns:a16="http://schemas.microsoft.com/office/drawing/2014/main" id="{8B70C707-D4E1-9C99-5275-EF86040DFADE}"/>
              </a:ext>
            </a:extLst>
          </p:cNvPr>
          <p:cNvPicPr>
            <a:picLocks noChangeAspect="1" noChangeArrowheads="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18585" t="16857" r="15386" b="15594"/>
          <a:stretch>
            <a:fillRect/>
          </a:stretch>
        </p:blipFill>
        <p:spPr bwMode="auto">
          <a:xfrm>
            <a:off x="5753861" y="3666072"/>
            <a:ext cx="1884459" cy="1927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8186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97FE5B40-536C-7982-AAFE-EE8A4A6FB932}"/>
              </a:ext>
            </a:extLst>
          </p:cNvPr>
          <p:cNvSpPr>
            <a:spLocks noGrp="1"/>
          </p:cNvSpPr>
          <p:nvPr>
            <p:ph type="sldNum" sz="quarter" idx="12"/>
          </p:nvPr>
        </p:nvSpPr>
        <p:spPr/>
        <p:txBody>
          <a:bodyPr/>
          <a:lstStyle/>
          <a:p>
            <a:fld id="{18020408-E1FF-429E-A8D5-EB2A190A0D77}" type="slidenum">
              <a:rPr kumimoji="1" lang="ja-JP" altLang="en-US" smtClean="0"/>
              <a:pPr/>
              <a:t>9</a:t>
            </a:fld>
            <a:endParaRPr kumimoji="1" lang="ja-JP" altLang="en-US" sz="2400" dirty="0"/>
          </a:p>
        </p:txBody>
      </p:sp>
      <p:sp>
        <p:nvSpPr>
          <p:cNvPr id="3" name="タイトル 2">
            <a:extLst>
              <a:ext uri="{FF2B5EF4-FFF2-40B4-BE49-F238E27FC236}">
                <a16:creationId xmlns:a16="http://schemas.microsoft.com/office/drawing/2014/main" id="{E8B04606-5926-5A20-6B03-A2B10387619D}"/>
              </a:ext>
            </a:extLst>
          </p:cNvPr>
          <p:cNvSpPr>
            <a:spLocks noGrp="1"/>
          </p:cNvSpPr>
          <p:nvPr>
            <p:ph type="title"/>
          </p:nvPr>
        </p:nvSpPr>
        <p:spPr/>
        <p:txBody>
          <a:bodyPr/>
          <a:lstStyle/>
          <a:p>
            <a:r>
              <a:rPr kumimoji="1" lang="en-US" altLang="ja-JP" sz="3600" dirty="0"/>
              <a:t>INFJ</a:t>
            </a:r>
            <a:r>
              <a:rPr lang="ja-JP" altLang="en-US" sz="3600" dirty="0"/>
              <a:t>と</a:t>
            </a:r>
            <a:r>
              <a:rPr lang="en-US" altLang="ja-JP" sz="3600" dirty="0"/>
              <a:t>ESTP</a:t>
            </a:r>
            <a:r>
              <a:rPr lang="ja-JP" altLang="en-US" sz="3600" dirty="0"/>
              <a:t>の</a:t>
            </a:r>
            <a:r>
              <a:rPr kumimoji="1" lang="ja-JP" altLang="en-US" sz="3600" dirty="0"/>
              <a:t>採用理由</a:t>
            </a:r>
          </a:p>
        </p:txBody>
      </p:sp>
      <p:sp>
        <p:nvSpPr>
          <p:cNvPr id="6" name="テキスト ボックス 5">
            <a:extLst>
              <a:ext uri="{FF2B5EF4-FFF2-40B4-BE49-F238E27FC236}">
                <a16:creationId xmlns:a16="http://schemas.microsoft.com/office/drawing/2014/main" id="{2D8CA1DF-1172-3110-01A7-95B98F260404}"/>
              </a:ext>
            </a:extLst>
          </p:cNvPr>
          <p:cNvSpPr txBox="1"/>
          <p:nvPr/>
        </p:nvSpPr>
        <p:spPr>
          <a:xfrm>
            <a:off x="266990" y="1298529"/>
            <a:ext cx="8610017" cy="3559718"/>
          </a:xfrm>
          <a:prstGeom prst="rect">
            <a:avLst/>
          </a:prstGeom>
          <a:noFill/>
        </p:spPr>
        <p:txBody>
          <a:bodyPr wrap="square">
            <a:noAutofit/>
          </a:bodyPr>
          <a:lstStyle/>
          <a:p>
            <a:pPr algn="l" rtl="0" fontAlgn="base">
              <a:lnSpc>
                <a:spcPts val="2400"/>
              </a:lnSpc>
              <a:buNone/>
            </a:pPr>
            <a:r>
              <a:rPr lang="ja-JP" altLang="en-US" sz="2000" b="1" dirty="0">
                <a:solidFill>
                  <a:schemeClr val="accent1"/>
                </a:solidFill>
                <a:latin typeface="Meiryo UI" panose="020B0604030504040204" pitchFamily="50" charset="-128"/>
                <a:ea typeface="Yu Gothic" panose="020B0400000000000000" pitchFamily="50" charset="-128"/>
              </a:rPr>
              <a:t>人格切り替えの比較対象</a:t>
            </a:r>
            <a:endParaRPr lang="en-US" altLang="ja-JP" sz="2000" b="1" dirty="0">
              <a:solidFill>
                <a:schemeClr val="accent1"/>
              </a:solidFill>
              <a:latin typeface="Meiryo UI" panose="020B0604030504040204" pitchFamily="50" charset="-128"/>
              <a:ea typeface="Yu Gothic" panose="020B0400000000000000" pitchFamily="50" charset="-128"/>
            </a:endParaRPr>
          </a:p>
          <a:p>
            <a:pPr algn="l" rtl="0" fontAlgn="base">
              <a:lnSpc>
                <a:spcPct val="150000"/>
              </a:lnSpc>
              <a:buNone/>
            </a:pPr>
            <a:r>
              <a:rPr lang="en-US" altLang="ja-JP" sz="2000" b="1" dirty="0">
                <a:latin typeface="+mn-ea"/>
              </a:rPr>
              <a:t>Gemini</a:t>
            </a:r>
            <a:r>
              <a:rPr lang="ja-JP" altLang="en-US" sz="2000" b="1" dirty="0">
                <a:latin typeface="+mn-ea"/>
              </a:rPr>
              <a:t>や</a:t>
            </a:r>
            <a:r>
              <a:rPr lang="en-US" altLang="ja-JP" sz="2000" b="1" dirty="0">
                <a:latin typeface="+mn-ea"/>
              </a:rPr>
              <a:t>GPT</a:t>
            </a:r>
            <a:r>
              <a:rPr lang="ja-JP" altLang="en-US" sz="2000" b="1" dirty="0">
                <a:latin typeface="+mn-ea"/>
              </a:rPr>
              <a:t>などの標準</a:t>
            </a:r>
            <a:r>
              <a:rPr lang="en-US" altLang="ja-JP" sz="2000" b="1" dirty="0">
                <a:latin typeface="+mn-ea"/>
              </a:rPr>
              <a:t>LLM</a:t>
            </a:r>
            <a:r>
              <a:rPr lang="ja-JP" altLang="en-US" sz="2000" b="1" dirty="0">
                <a:latin typeface="+mn-ea"/>
              </a:rPr>
              <a:t>の口調を設定</a:t>
            </a:r>
            <a:endParaRPr lang="en-US" altLang="ja-JP" sz="2000" b="1" dirty="0">
              <a:latin typeface="+mn-ea"/>
            </a:endParaRPr>
          </a:p>
          <a:p>
            <a:pPr marL="269875" fontAlgn="base">
              <a:lnSpc>
                <a:spcPts val="2400"/>
              </a:lnSpc>
            </a:pPr>
            <a:r>
              <a:rPr lang="en-US" altLang="ja-JP" sz="2000" b="1" dirty="0">
                <a:sym typeface="Wingdings" panose="05000000000000000000" pitchFamily="2" charset="2"/>
              </a:rPr>
              <a:t></a:t>
            </a:r>
            <a:r>
              <a:rPr lang="ja-JP" altLang="en-US" sz="2000" b="1" dirty="0"/>
              <a:t>モデルごとの素の口調には差異</a:t>
            </a:r>
            <a:endParaRPr lang="en-US" altLang="ja-JP" sz="2000" b="1" dirty="0"/>
          </a:p>
          <a:p>
            <a:pPr marL="269875" fontAlgn="base">
              <a:lnSpc>
                <a:spcPts val="2400"/>
              </a:lnSpc>
            </a:pPr>
            <a:r>
              <a:rPr lang="ja-JP" altLang="en-US" sz="2000" b="1" dirty="0">
                <a:latin typeface="+mn-ea"/>
              </a:rPr>
              <a:t>　特定のモデルに依存した結果になることを防ぐ必要</a:t>
            </a:r>
            <a:endParaRPr lang="en-US" altLang="ja-JP" sz="2000" b="1" dirty="0">
              <a:latin typeface="+mn-ea"/>
            </a:endParaRPr>
          </a:p>
          <a:p>
            <a:pPr fontAlgn="base">
              <a:lnSpc>
                <a:spcPts val="2400"/>
              </a:lnSpc>
            </a:pPr>
            <a:r>
              <a:rPr lang="ja-JP" altLang="en-US" sz="2000" b="1" dirty="0">
                <a:latin typeface="+mn-ea"/>
              </a:rPr>
              <a:t>　</a:t>
            </a:r>
            <a:endParaRPr lang="en-US" altLang="ja-JP" sz="2000" b="1" dirty="0">
              <a:latin typeface="+mn-ea"/>
            </a:endParaRPr>
          </a:p>
          <a:p>
            <a:pPr fontAlgn="base">
              <a:lnSpc>
                <a:spcPts val="2400"/>
              </a:lnSpc>
            </a:pPr>
            <a:endParaRPr lang="en-US" altLang="ja-JP" sz="2000" b="1" dirty="0">
              <a:latin typeface="+mn-ea"/>
            </a:endParaRPr>
          </a:p>
          <a:p>
            <a:pPr fontAlgn="base">
              <a:lnSpc>
                <a:spcPts val="2400"/>
              </a:lnSpc>
            </a:pPr>
            <a:endParaRPr lang="en-US" altLang="ja-JP" sz="2000" b="1" dirty="0">
              <a:latin typeface="+mn-ea"/>
            </a:endParaRPr>
          </a:p>
          <a:p>
            <a:pPr fontAlgn="base">
              <a:lnSpc>
                <a:spcPts val="2400"/>
              </a:lnSpc>
            </a:pPr>
            <a:r>
              <a:rPr lang="en-US" altLang="ja-JP" sz="2000" b="1" dirty="0">
                <a:latin typeface="+mn-ea"/>
              </a:rPr>
              <a:t>Gemini Advanced</a:t>
            </a:r>
            <a:r>
              <a:rPr lang="ja-JP" altLang="en-US" sz="2000" b="1" dirty="0">
                <a:latin typeface="+mn-ea"/>
              </a:rPr>
              <a:t>は</a:t>
            </a:r>
            <a:r>
              <a:rPr lang="en-US" altLang="ja-JP" sz="2000" b="1" dirty="0">
                <a:latin typeface="+mn-ea"/>
              </a:rPr>
              <a:t>INFJ</a:t>
            </a:r>
            <a:r>
              <a:rPr lang="ja-JP" altLang="en-US" sz="2000" b="1" dirty="0">
                <a:latin typeface="+mn-ea"/>
              </a:rPr>
              <a:t>の特性を示す</a:t>
            </a:r>
            <a:r>
              <a:rPr lang="en-US" altLang="ja-JP" sz="2000" b="1" dirty="0">
                <a:latin typeface="+mn-ea"/>
              </a:rPr>
              <a:t>[Heston</a:t>
            </a:r>
            <a:r>
              <a:rPr lang="ja-JP" altLang="en-US" sz="2000" b="1" dirty="0">
                <a:latin typeface="+mn-ea"/>
              </a:rPr>
              <a:t>ら </a:t>
            </a:r>
            <a:r>
              <a:rPr lang="en-US" altLang="ja-JP" sz="2000" b="1" dirty="0">
                <a:latin typeface="+mn-ea"/>
              </a:rPr>
              <a:t>’25]</a:t>
            </a:r>
          </a:p>
          <a:p>
            <a:pPr fontAlgn="base">
              <a:lnSpc>
                <a:spcPts val="2400"/>
              </a:lnSpc>
              <a:spcBef>
                <a:spcPts val="600"/>
              </a:spcBef>
            </a:pPr>
            <a:r>
              <a:rPr lang="en-US" altLang="ja-JP" sz="2000" b="1" dirty="0">
                <a:solidFill>
                  <a:schemeClr val="accent1"/>
                </a:solidFill>
                <a:latin typeface="+mn-ea"/>
              </a:rPr>
              <a:t>Gemini</a:t>
            </a:r>
            <a:r>
              <a:rPr lang="ja-JP" altLang="en-US" sz="2000" b="1" dirty="0">
                <a:solidFill>
                  <a:schemeClr val="accent1"/>
                </a:solidFill>
                <a:latin typeface="+mn-ea"/>
              </a:rPr>
              <a:t>と</a:t>
            </a:r>
            <a:r>
              <a:rPr lang="en-US" altLang="ja-JP" sz="2000" b="1" dirty="0">
                <a:solidFill>
                  <a:schemeClr val="accent1"/>
                </a:solidFill>
                <a:latin typeface="+mn-ea"/>
              </a:rPr>
              <a:t>INFJ</a:t>
            </a:r>
            <a:r>
              <a:rPr lang="ja-JP" altLang="en-US" sz="2000" b="1" dirty="0">
                <a:solidFill>
                  <a:schemeClr val="accent1"/>
                </a:solidFill>
                <a:latin typeface="+mn-ea"/>
              </a:rPr>
              <a:t>の口調比較</a:t>
            </a:r>
            <a:endParaRPr lang="en-US" altLang="ja-JP" sz="2000" b="1" dirty="0">
              <a:solidFill>
                <a:schemeClr val="accent1"/>
              </a:solidFill>
              <a:latin typeface="+mn-ea"/>
            </a:endParaRPr>
          </a:p>
        </p:txBody>
      </p:sp>
      <p:sp>
        <p:nvSpPr>
          <p:cNvPr id="8" name="矢印: 下 7">
            <a:extLst>
              <a:ext uri="{FF2B5EF4-FFF2-40B4-BE49-F238E27FC236}">
                <a16:creationId xmlns:a16="http://schemas.microsoft.com/office/drawing/2014/main" id="{DD023E61-6BC1-B825-937C-2715A6E19427}"/>
              </a:ext>
            </a:extLst>
          </p:cNvPr>
          <p:cNvSpPr/>
          <p:nvPr/>
        </p:nvSpPr>
        <p:spPr>
          <a:xfrm rot="16200000">
            <a:off x="651932" y="2896037"/>
            <a:ext cx="524937" cy="540989"/>
          </a:xfrm>
          <a:prstGeom prst="down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C6764149-432A-FAE9-C7FD-3E2DC3020E26}"/>
              </a:ext>
            </a:extLst>
          </p:cNvPr>
          <p:cNvSpPr txBox="1"/>
          <p:nvPr/>
        </p:nvSpPr>
        <p:spPr>
          <a:xfrm>
            <a:off x="1244379" y="2992529"/>
            <a:ext cx="4210216" cy="400110"/>
          </a:xfrm>
          <a:prstGeom prst="rect">
            <a:avLst/>
          </a:prstGeom>
          <a:noFill/>
        </p:spPr>
        <p:txBody>
          <a:bodyPr wrap="square">
            <a:spAutoFit/>
          </a:bodyPr>
          <a:lstStyle/>
          <a:p>
            <a:r>
              <a:rPr lang="ja-JP" altLang="en-US" sz="2000" b="1" dirty="0">
                <a:solidFill>
                  <a:srgbClr val="C00000"/>
                </a:solidFill>
                <a:latin typeface="+mn-ea"/>
              </a:rPr>
              <a:t>標準</a:t>
            </a:r>
            <a:r>
              <a:rPr lang="en-US" altLang="ja-JP" sz="2000" b="1" dirty="0">
                <a:solidFill>
                  <a:srgbClr val="C00000"/>
                </a:solidFill>
                <a:latin typeface="+mn-ea"/>
              </a:rPr>
              <a:t>LLM</a:t>
            </a:r>
            <a:r>
              <a:rPr lang="ja-JP" altLang="en-US" sz="2000" b="1" dirty="0">
                <a:solidFill>
                  <a:srgbClr val="C00000"/>
                </a:solidFill>
                <a:latin typeface="+mn-ea"/>
              </a:rPr>
              <a:t>の口調として</a:t>
            </a:r>
            <a:r>
              <a:rPr lang="en-US" altLang="ja-JP" sz="2000" b="1" dirty="0">
                <a:solidFill>
                  <a:srgbClr val="C00000"/>
                </a:solidFill>
                <a:latin typeface="+mn-ea"/>
              </a:rPr>
              <a:t>INFJ</a:t>
            </a:r>
            <a:r>
              <a:rPr lang="ja-JP" altLang="en-US" sz="2000" b="1" dirty="0">
                <a:latin typeface="+mn-ea"/>
              </a:rPr>
              <a:t>を採用</a:t>
            </a:r>
          </a:p>
        </p:txBody>
      </p:sp>
      <p:graphicFrame>
        <p:nvGraphicFramePr>
          <p:cNvPr id="26" name="表 25">
            <a:extLst>
              <a:ext uri="{FF2B5EF4-FFF2-40B4-BE49-F238E27FC236}">
                <a16:creationId xmlns:a16="http://schemas.microsoft.com/office/drawing/2014/main" id="{7A275CEE-9DA5-206D-5DC6-5A525F1942CB}"/>
              </a:ext>
            </a:extLst>
          </p:cNvPr>
          <p:cNvGraphicFramePr>
            <a:graphicFrameLocks noGrp="1"/>
          </p:cNvGraphicFramePr>
          <p:nvPr>
            <p:extLst>
              <p:ext uri="{D42A27DB-BD31-4B8C-83A1-F6EECF244321}">
                <p14:modId xmlns:p14="http://schemas.microsoft.com/office/powerpoint/2010/main" val="2438732163"/>
              </p:ext>
            </p:extLst>
          </p:nvPr>
        </p:nvGraphicFramePr>
        <p:xfrm>
          <a:off x="643905" y="4368664"/>
          <a:ext cx="7932828" cy="2317386"/>
        </p:xfrm>
        <a:graphic>
          <a:graphicData uri="http://schemas.openxmlformats.org/drawingml/2006/table">
            <a:tbl>
              <a:tblPr firstRow="1" bandRow="1">
                <a:tableStyleId>{5940675A-B579-460E-94D1-54222C63F5DA}</a:tableStyleId>
              </a:tblPr>
              <a:tblGrid>
                <a:gridCol w="2065428">
                  <a:extLst>
                    <a:ext uri="{9D8B030D-6E8A-4147-A177-3AD203B41FA5}">
                      <a16:colId xmlns:a16="http://schemas.microsoft.com/office/drawing/2014/main" val="2893670241"/>
                    </a:ext>
                  </a:extLst>
                </a:gridCol>
                <a:gridCol w="2933700">
                  <a:extLst>
                    <a:ext uri="{9D8B030D-6E8A-4147-A177-3AD203B41FA5}">
                      <a16:colId xmlns:a16="http://schemas.microsoft.com/office/drawing/2014/main" val="4233891224"/>
                    </a:ext>
                  </a:extLst>
                </a:gridCol>
                <a:gridCol w="2933700">
                  <a:extLst>
                    <a:ext uri="{9D8B030D-6E8A-4147-A177-3AD203B41FA5}">
                      <a16:colId xmlns:a16="http://schemas.microsoft.com/office/drawing/2014/main" val="2336608396"/>
                    </a:ext>
                  </a:extLst>
                </a:gridCol>
              </a:tblGrid>
              <a:tr h="466708">
                <a:tc>
                  <a:txBody>
                    <a:bodyPr/>
                    <a:lstStyle/>
                    <a:p>
                      <a:endParaRPr kumimoji="1" lang="ja-JP" altLang="en-US"/>
                    </a:p>
                  </a:txBody>
                  <a:tcPr/>
                </a:tc>
                <a:tc>
                  <a:txBody>
                    <a:bodyPr/>
                    <a:lstStyle/>
                    <a:p>
                      <a:r>
                        <a:rPr kumimoji="1" lang="ja-JP" altLang="en-US" b="1" dirty="0"/>
                        <a:t>セリフ</a:t>
                      </a:r>
                      <a:r>
                        <a:rPr kumimoji="1" lang="en-US" altLang="ja-JP" b="1" dirty="0"/>
                        <a:t>1</a:t>
                      </a:r>
                      <a:endParaRPr kumimoji="1" lang="ja-JP" altLang="en-US" b="1" dirty="0"/>
                    </a:p>
                  </a:txBody>
                  <a:tcPr/>
                </a:tc>
                <a:tc>
                  <a:txBody>
                    <a:bodyPr/>
                    <a:lstStyle/>
                    <a:p>
                      <a:r>
                        <a:rPr kumimoji="1" lang="ja-JP" altLang="en-US" b="1" dirty="0"/>
                        <a:t>セリフ</a:t>
                      </a:r>
                      <a:r>
                        <a:rPr kumimoji="1" lang="en-US" altLang="ja-JP" b="1" dirty="0"/>
                        <a:t>2</a:t>
                      </a:r>
                      <a:endParaRPr kumimoji="1" lang="ja-JP" altLang="en-US" b="1" dirty="0"/>
                    </a:p>
                  </a:txBody>
                  <a:tcPr/>
                </a:tc>
                <a:extLst>
                  <a:ext uri="{0D108BD9-81ED-4DB2-BD59-A6C34878D82A}">
                    <a16:rowId xmlns:a16="http://schemas.microsoft.com/office/drawing/2014/main" val="1218627776"/>
                  </a:ext>
                </a:extLst>
              </a:tr>
              <a:tr h="925339">
                <a:tc>
                  <a:txBody>
                    <a:bodyPr/>
                    <a:lstStyle/>
                    <a:p>
                      <a:r>
                        <a:rPr kumimoji="1" lang="en-US" altLang="ja-JP" b="1" dirty="0">
                          <a:latin typeface="+mn-ea"/>
                          <a:ea typeface="+mn-ea"/>
                        </a:rPr>
                        <a:t>Gemini</a:t>
                      </a:r>
                      <a:endParaRPr kumimoji="1" lang="ja-JP" altLang="en-US" b="1" dirty="0">
                        <a:latin typeface="+mn-ea"/>
                        <a:ea typeface="+mn-ea"/>
                      </a:endParaRPr>
                    </a:p>
                  </a:txBody>
                  <a:tcPr/>
                </a:tc>
                <a:tc>
                  <a:txBody>
                    <a:bodyPr/>
                    <a:lstStyle/>
                    <a:p>
                      <a:r>
                        <a:rPr kumimoji="1" lang="ja-JP" altLang="ja-JP" sz="1200" b="1" kern="1200" dirty="0">
                          <a:solidFill>
                            <a:schemeClr val="tx1"/>
                          </a:solidFill>
                          <a:effectLst/>
                          <a:latin typeface="+mn-lt"/>
                          <a:ea typeface="+mn-ea"/>
                          <a:cs typeface="+mn-cs"/>
                        </a:rPr>
                        <a:t>承知いたしました。左から</a:t>
                      </a:r>
                      <a:r>
                        <a:rPr kumimoji="1" lang="en-US" altLang="ja-JP" sz="1200" b="1" kern="1200" dirty="0">
                          <a:solidFill>
                            <a:schemeClr val="tx1"/>
                          </a:solidFill>
                          <a:effectLst/>
                          <a:latin typeface="+mn-lt"/>
                          <a:ea typeface="+mn-ea"/>
                          <a:cs typeface="+mn-cs"/>
                        </a:rPr>
                        <a:t>2</a:t>
                      </a:r>
                      <a:r>
                        <a:rPr kumimoji="1" lang="ja-JP" altLang="ja-JP" sz="1200" b="1" kern="1200" dirty="0">
                          <a:solidFill>
                            <a:schemeClr val="tx1"/>
                          </a:solidFill>
                          <a:effectLst/>
                          <a:latin typeface="+mn-lt"/>
                          <a:ea typeface="+mn-ea"/>
                          <a:cs typeface="+mn-cs"/>
                        </a:rPr>
                        <a:t>番目のカードの数字を</a:t>
                      </a:r>
                      <a:r>
                        <a:rPr kumimoji="1" lang="en-US" altLang="ja-JP" sz="1200" b="1" kern="1200" dirty="0">
                          <a:solidFill>
                            <a:schemeClr val="tx1"/>
                          </a:solidFill>
                          <a:effectLst/>
                          <a:latin typeface="+mn-lt"/>
                          <a:ea typeface="+mn-ea"/>
                          <a:cs typeface="+mn-cs"/>
                        </a:rPr>
                        <a:t>Q</a:t>
                      </a:r>
                      <a:r>
                        <a:rPr kumimoji="1" lang="ja-JP" altLang="ja-JP" sz="1200" b="1" kern="1200" dirty="0">
                          <a:solidFill>
                            <a:schemeClr val="tx1"/>
                          </a:solidFill>
                          <a:effectLst/>
                          <a:latin typeface="+mn-lt"/>
                          <a:ea typeface="+mn-ea"/>
                          <a:cs typeface="+mn-cs"/>
                        </a:rPr>
                        <a:t>に変更します。</a:t>
                      </a:r>
                      <a:endParaRPr kumimoji="1" lang="ja-JP" altLang="en-US" sz="1200" b="1" dirty="0"/>
                    </a:p>
                  </a:txBody>
                  <a:tcPr/>
                </a:tc>
                <a:tc>
                  <a:txBody>
                    <a:bodyPr/>
                    <a:lstStyle/>
                    <a:p>
                      <a:r>
                        <a:rPr kumimoji="1" lang="ja-JP" altLang="ja-JP" sz="1200" b="1" kern="1200" dirty="0">
                          <a:solidFill>
                            <a:schemeClr val="tx1"/>
                          </a:solidFill>
                          <a:effectLst/>
                          <a:latin typeface="+mn-lt"/>
                          <a:ea typeface="+mn-ea"/>
                          <a:cs typeface="+mn-cs"/>
                        </a:rPr>
                        <a:t>大変申し訳ありません。まだスペードが</a:t>
                      </a:r>
                      <a:r>
                        <a:rPr kumimoji="1" lang="en-US" altLang="ja-JP" sz="1200" b="1" kern="1200" dirty="0">
                          <a:solidFill>
                            <a:schemeClr val="tx1"/>
                          </a:solidFill>
                          <a:effectLst/>
                          <a:latin typeface="+mn-lt"/>
                          <a:ea typeface="+mn-ea"/>
                          <a:cs typeface="+mn-cs"/>
                        </a:rPr>
                        <a:t>1</a:t>
                      </a:r>
                      <a:r>
                        <a:rPr kumimoji="1" lang="ja-JP" altLang="ja-JP" sz="1200" b="1" kern="1200" dirty="0">
                          <a:solidFill>
                            <a:schemeClr val="tx1"/>
                          </a:solidFill>
                          <a:effectLst/>
                          <a:latin typeface="+mn-lt"/>
                          <a:ea typeface="+mn-ea"/>
                          <a:cs typeface="+mn-cs"/>
                        </a:rPr>
                        <a:t>枚のままですね。ご迷惑をおかけして申し訳ありません。今度こそ、スペードを</a:t>
                      </a:r>
                      <a:r>
                        <a:rPr kumimoji="1" lang="en-US" altLang="ja-JP" sz="1200" b="1" kern="1200" dirty="0">
                          <a:solidFill>
                            <a:schemeClr val="tx1"/>
                          </a:solidFill>
                          <a:effectLst/>
                          <a:latin typeface="+mn-lt"/>
                          <a:ea typeface="+mn-ea"/>
                          <a:cs typeface="+mn-cs"/>
                        </a:rPr>
                        <a:t>2</a:t>
                      </a:r>
                      <a:r>
                        <a:rPr kumimoji="1" lang="ja-JP" altLang="ja-JP" sz="1200" b="1" kern="1200" dirty="0">
                          <a:solidFill>
                            <a:schemeClr val="tx1"/>
                          </a:solidFill>
                          <a:effectLst/>
                          <a:latin typeface="+mn-lt"/>
                          <a:ea typeface="+mn-ea"/>
                          <a:cs typeface="+mn-cs"/>
                        </a:rPr>
                        <a:t>枚にして描きます。</a:t>
                      </a:r>
                      <a:endParaRPr kumimoji="1" lang="ja-JP" altLang="en-US" sz="1200" b="1" dirty="0"/>
                    </a:p>
                  </a:txBody>
                  <a:tcPr/>
                </a:tc>
                <a:extLst>
                  <a:ext uri="{0D108BD9-81ED-4DB2-BD59-A6C34878D82A}">
                    <a16:rowId xmlns:a16="http://schemas.microsoft.com/office/drawing/2014/main" val="2070747331"/>
                  </a:ext>
                </a:extLst>
              </a:tr>
              <a:tr h="925339">
                <a:tc>
                  <a:txBody>
                    <a:bodyPr/>
                    <a:lstStyle/>
                    <a:p>
                      <a:r>
                        <a:rPr kumimoji="1" lang="en-US" altLang="ja-JP" b="1" dirty="0">
                          <a:latin typeface="+mn-ea"/>
                          <a:ea typeface="+mn-ea"/>
                        </a:rPr>
                        <a:t>INFJ</a:t>
                      </a:r>
                      <a:endParaRPr kumimoji="1" lang="ja-JP" altLang="en-US" b="1" dirty="0">
                        <a:latin typeface="+mn-ea"/>
                        <a:ea typeface="+mn-ea"/>
                      </a:endParaRPr>
                    </a:p>
                  </a:txBody>
                  <a:tcPr/>
                </a:tc>
                <a:tc>
                  <a:txBody>
                    <a:bodyPr/>
                    <a:lstStyle/>
                    <a:p>
                      <a:r>
                        <a:rPr kumimoji="1" lang="ja-JP" altLang="ja-JP" sz="1200" b="1" kern="1200" dirty="0">
                          <a:solidFill>
                            <a:schemeClr val="tx1"/>
                          </a:solidFill>
                          <a:effectLst/>
                          <a:latin typeface="+mn-lt"/>
                          <a:ea typeface="+mn-ea"/>
                          <a:cs typeface="+mn-cs"/>
                        </a:rPr>
                        <a:t>承知しました。左から</a:t>
                      </a:r>
                      <a:r>
                        <a:rPr kumimoji="1" lang="en-US" altLang="ja-JP" sz="1200" b="1" kern="1200" dirty="0">
                          <a:solidFill>
                            <a:schemeClr val="tx1"/>
                          </a:solidFill>
                          <a:effectLst/>
                          <a:latin typeface="+mn-lt"/>
                          <a:ea typeface="+mn-ea"/>
                          <a:cs typeface="+mn-cs"/>
                        </a:rPr>
                        <a:t>2</a:t>
                      </a:r>
                      <a:r>
                        <a:rPr kumimoji="1" lang="ja-JP" altLang="ja-JP" sz="1200" b="1" kern="1200" dirty="0">
                          <a:solidFill>
                            <a:schemeClr val="tx1"/>
                          </a:solidFill>
                          <a:effectLst/>
                          <a:latin typeface="+mn-lt"/>
                          <a:ea typeface="+mn-ea"/>
                          <a:cs typeface="+mn-cs"/>
                        </a:rPr>
                        <a:t>番目のカードの数字を</a:t>
                      </a:r>
                      <a:r>
                        <a:rPr kumimoji="1" lang="en-US" altLang="ja-JP" sz="1200" b="1" kern="1200" dirty="0">
                          <a:solidFill>
                            <a:schemeClr val="tx1"/>
                          </a:solidFill>
                          <a:effectLst/>
                          <a:latin typeface="+mn-lt"/>
                          <a:ea typeface="+mn-ea"/>
                          <a:cs typeface="+mn-cs"/>
                        </a:rPr>
                        <a:t>Q</a:t>
                      </a:r>
                      <a:r>
                        <a:rPr kumimoji="1" lang="ja-JP" altLang="ja-JP" sz="1200" b="1" kern="1200" dirty="0">
                          <a:solidFill>
                            <a:schemeClr val="tx1"/>
                          </a:solidFill>
                          <a:effectLst/>
                          <a:latin typeface="+mn-lt"/>
                          <a:ea typeface="+mn-ea"/>
                          <a:cs typeface="+mn-cs"/>
                        </a:rPr>
                        <a:t>に変更します。</a:t>
                      </a:r>
                      <a:endParaRPr kumimoji="1" lang="ja-JP" altLang="en-US" sz="1200" b="1" dirty="0"/>
                    </a:p>
                  </a:txBody>
                  <a:tcPr/>
                </a:tc>
                <a:tc>
                  <a:txBody>
                    <a:bodyPr/>
                    <a:lstStyle/>
                    <a:p>
                      <a:r>
                        <a:rPr kumimoji="1" lang="ja-JP" altLang="ja-JP" sz="1200" b="1" kern="1200" dirty="0">
                          <a:solidFill>
                            <a:schemeClr val="tx1"/>
                          </a:solidFill>
                          <a:effectLst/>
                          <a:latin typeface="+mn-lt"/>
                          <a:ea typeface="+mn-ea"/>
                          <a:cs typeface="+mn-cs"/>
                        </a:rPr>
                        <a:t>大変申し訳ありません。まだスペードが</a:t>
                      </a:r>
                      <a:r>
                        <a:rPr kumimoji="1" lang="en-US" altLang="ja-JP" sz="1200" b="1" kern="1200" dirty="0">
                          <a:solidFill>
                            <a:schemeClr val="tx1"/>
                          </a:solidFill>
                          <a:effectLst/>
                          <a:latin typeface="+mn-lt"/>
                          <a:ea typeface="+mn-ea"/>
                          <a:cs typeface="+mn-cs"/>
                        </a:rPr>
                        <a:t>1</a:t>
                      </a:r>
                      <a:r>
                        <a:rPr kumimoji="1" lang="ja-JP" altLang="ja-JP" sz="1200" b="1" kern="1200" dirty="0">
                          <a:solidFill>
                            <a:schemeClr val="tx1"/>
                          </a:solidFill>
                          <a:effectLst/>
                          <a:latin typeface="+mn-lt"/>
                          <a:ea typeface="+mn-ea"/>
                          <a:cs typeface="+mn-cs"/>
                        </a:rPr>
                        <a:t>枚のままでしたね。ご迷惑をおかけして申し訳ありません。今度こそ、スペードを</a:t>
                      </a:r>
                      <a:r>
                        <a:rPr kumimoji="1" lang="en-US" altLang="ja-JP" sz="1200" b="1" kern="1200" dirty="0">
                          <a:solidFill>
                            <a:schemeClr val="tx1"/>
                          </a:solidFill>
                          <a:effectLst/>
                          <a:latin typeface="+mn-lt"/>
                          <a:ea typeface="+mn-ea"/>
                          <a:cs typeface="+mn-cs"/>
                        </a:rPr>
                        <a:t>2</a:t>
                      </a:r>
                      <a:r>
                        <a:rPr kumimoji="1" lang="ja-JP" altLang="ja-JP" sz="1200" b="1" kern="1200" dirty="0">
                          <a:solidFill>
                            <a:schemeClr val="tx1"/>
                          </a:solidFill>
                          <a:effectLst/>
                          <a:latin typeface="+mn-lt"/>
                          <a:ea typeface="+mn-ea"/>
                          <a:cs typeface="+mn-cs"/>
                        </a:rPr>
                        <a:t>枚にして描きます。</a:t>
                      </a:r>
                      <a:endParaRPr kumimoji="1" lang="ja-JP" altLang="en-US" sz="1200" b="1" dirty="0"/>
                    </a:p>
                  </a:txBody>
                  <a:tcPr/>
                </a:tc>
                <a:extLst>
                  <a:ext uri="{0D108BD9-81ED-4DB2-BD59-A6C34878D82A}">
                    <a16:rowId xmlns:a16="http://schemas.microsoft.com/office/drawing/2014/main" val="2656286523"/>
                  </a:ext>
                </a:extLst>
              </a:tr>
            </a:tbl>
          </a:graphicData>
        </a:graphic>
      </p:graphicFrame>
      <p:pic>
        <p:nvPicPr>
          <p:cNvPr id="28" name="Picture 4" descr="ロゴ&#10;&#10;自動的に生成された説明">
            <a:extLst>
              <a:ext uri="{FF2B5EF4-FFF2-40B4-BE49-F238E27FC236}">
                <a16:creationId xmlns:a16="http://schemas.microsoft.com/office/drawing/2014/main" id="{972CA87A-155E-C2A0-3524-DB51DE9D45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238" y="5086639"/>
            <a:ext cx="1485897" cy="548572"/>
          </a:xfrm>
          <a:prstGeom prst="rect">
            <a:avLst/>
          </a:prstGeom>
          <a:noFill/>
          <a:extLst>
            <a:ext uri="{909E8E84-426E-40DD-AFC4-6F175D3DCCD1}">
              <a14:hiddenFill xmlns:a14="http://schemas.microsoft.com/office/drawing/2010/main">
                <a:solidFill>
                  <a:srgbClr val="FFFFFF"/>
                </a:solidFill>
              </a14:hiddenFill>
            </a:ext>
          </a:extLst>
        </p:spPr>
      </p:pic>
      <p:pic>
        <p:nvPicPr>
          <p:cNvPr id="30" name="図 29" descr="挿絵 が含まれている画像&#10;&#10;AI 生成コンテンツは誤りを含む可能性があります。">
            <a:extLst>
              <a:ext uri="{FF2B5EF4-FFF2-40B4-BE49-F238E27FC236}">
                <a16:creationId xmlns:a16="http://schemas.microsoft.com/office/drawing/2014/main" id="{17161E9F-9B01-37F4-7262-38A9E3CEAF6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316562" y="5834272"/>
            <a:ext cx="939251" cy="796598"/>
          </a:xfrm>
          <a:prstGeom prst="rect">
            <a:avLst/>
          </a:prstGeom>
        </p:spPr>
      </p:pic>
    </p:spTree>
    <p:extLst>
      <p:ext uri="{BB962C8B-B14F-4D97-AF65-F5344CB8AC3E}">
        <p14:creationId xmlns:p14="http://schemas.microsoft.com/office/powerpoint/2010/main" val="3642325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35D78-D17F-E3BF-0A88-BDCF0B81CE98}"/>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FE2E84AF-F482-BA63-79B8-5C9F052DAE83}"/>
              </a:ext>
            </a:extLst>
          </p:cNvPr>
          <p:cNvSpPr>
            <a:spLocks noGrp="1"/>
          </p:cNvSpPr>
          <p:nvPr>
            <p:ph type="sldNum" sz="quarter" idx="12"/>
          </p:nvPr>
        </p:nvSpPr>
        <p:spPr/>
        <p:txBody>
          <a:bodyPr>
            <a:noAutofit/>
          </a:bodyPr>
          <a:lstStyle/>
          <a:p>
            <a:fld id="{18020408-E1FF-429E-A8D5-EB2A190A0D77}" type="slidenum">
              <a:rPr kumimoji="1" lang="ja-JP" altLang="en-US" smtClean="0"/>
              <a:t>10</a:t>
            </a:fld>
            <a:endParaRPr kumimoji="1" lang="ja-JP" altLang="en-US"/>
          </a:p>
        </p:txBody>
      </p:sp>
      <p:sp>
        <p:nvSpPr>
          <p:cNvPr id="5" name="タイトル 4">
            <a:extLst>
              <a:ext uri="{FF2B5EF4-FFF2-40B4-BE49-F238E27FC236}">
                <a16:creationId xmlns:a16="http://schemas.microsoft.com/office/drawing/2014/main" id="{86521B76-376F-2D25-9290-026F4B0F455F}"/>
              </a:ext>
            </a:extLst>
          </p:cNvPr>
          <p:cNvSpPr>
            <a:spLocks noGrp="1"/>
          </p:cNvSpPr>
          <p:nvPr>
            <p:ph type="title"/>
          </p:nvPr>
        </p:nvSpPr>
        <p:spPr/>
        <p:txBody>
          <a:bodyPr>
            <a:noAutofit/>
          </a:bodyPr>
          <a:lstStyle/>
          <a:p>
            <a:r>
              <a:rPr lang="ja-JP" altLang="en-US" sz="3600" b="1" dirty="0">
                <a:solidFill>
                  <a:schemeClr val="bg1"/>
                </a:solidFill>
                <a:latin typeface="+mn-ea"/>
                <a:ea typeface="+mn-ea"/>
              </a:rPr>
              <a:t>人格付与方法</a:t>
            </a:r>
          </a:p>
        </p:txBody>
      </p:sp>
      <p:sp>
        <p:nvSpPr>
          <p:cNvPr id="15" name="テキスト ボックス 14">
            <a:extLst>
              <a:ext uri="{FF2B5EF4-FFF2-40B4-BE49-F238E27FC236}">
                <a16:creationId xmlns:a16="http://schemas.microsoft.com/office/drawing/2014/main" id="{D350B093-107A-8489-2D27-9CBAA81668FA}"/>
              </a:ext>
            </a:extLst>
          </p:cNvPr>
          <p:cNvSpPr txBox="1"/>
          <p:nvPr/>
        </p:nvSpPr>
        <p:spPr>
          <a:xfrm>
            <a:off x="164578" y="1161238"/>
            <a:ext cx="8814844" cy="5696762"/>
          </a:xfrm>
          <a:prstGeom prst="rect">
            <a:avLst/>
          </a:prstGeom>
          <a:noFill/>
        </p:spPr>
        <p:txBody>
          <a:bodyPr wrap="square">
            <a:noAutofit/>
          </a:bodyPr>
          <a:lstStyle/>
          <a:p>
            <a:pPr fontAlgn="base">
              <a:lnSpc>
                <a:spcPts val="2400"/>
              </a:lnSpc>
            </a:pPr>
            <a:r>
              <a:rPr lang="ja-JP" altLang="en-US" sz="2000" b="1" dirty="0">
                <a:solidFill>
                  <a:schemeClr val="accent1"/>
                </a:solidFill>
                <a:latin typeface="+mn-ea"/>
              </a:rPr>
              <a:t>人格付与プロンプトの内容</a:t>
            </a:r>
            <a:endParaRPr lang="en-US" altLang="ja-JP" sz="2000" b="1" dirty="0">
              <a:solidFill>
                <a:schemeClr val="accent1"/>
              </a:solidFill>
              <a:latin typeface="+mn-ea"/>
            </a:endParaRPr>
          </a:p>
          <a:p>
            <a:pPr marL="266700" indent="-174625" fontAlgn="base">
              <a:lnSpc>
                <a:spcPts val="2400"/>
              </a:lnSpc>
              <a:spcBef>
                <a:spcPts val="300"/>
              </a:spcBef>
              <a:buFont typeface="Arial" panose="020B0604020202020204" pitchFamily="34" charset="0"/>
              <a:buChar char="•"/>
            </a:pPr>
            <a:r>
              <a:rPr lang="en-US" altLang="ja-JP" b="1" dirty="0">
                <a:solidFill>
                  <a:srgbClr val="000000"/>
                </a:solidFill>
                <a:latin typeface="+mn-ea"/>
              </a:rPr>
              <a:t>Besta​</a:t>
            </a:r>
            <a:r>
              <a:rPr lang="ja-JP" altLang="en-US" b="1" dirty="0">
                <a:solidFill>
                  <a:srgbClr val="000000"/>
                </a:solidFill>
                <a:latin typeface="+mn-ea"/>
              </a:rPr>
              <a:t>らのプロンプト</a:t>
            </a:r>
            <a:r>
              <a:rPr lang="en-US" altLang="ja-JP" b="1" dirty="0">
                <a:solidFill>
                  <a:srgbClr val="000000"/>
                </a:solidFill>
                <a:latin typeface="+mn-ea"/>
              </a:rPr>
              <a:t>[Besta</a:t>
            </a:r>
            <a:r>
              <a:rPr lang="ja-JP" altLang="en-US" b="1" dirty="0">
                <a:solidFill>
                  <a:srgbClr val="000000"/>
                </a:solidFill>
                <a:latin typeface="+mn-ea"/>
              </a:rPr>
              <a:t>ら </a:t>
            </a:r>
            <a:r>
              <a:rPr lang="en-US" altLang="ja-JP" b="1" dirty="0">
                <a:solidFill>
                  <a:srgbClr val="000000"/>
                </a:solidFill>
                <a:latin typeface="+mn-ea"/>
              </a:rPr>
              <a:t>’25]</a:t>
            </a:r>
            <a:r>
              <a:rPr lang="ja-JP" altLang="en-US" b="1" dirty="0">
                <a:solidFill>
                  <a:srgbClr val="000000"/>
                </a:solidFill>
                <a:latin typeface="+mn-ea"/>
              </a:rPr>
              <a:t>を参考</a:t>
            </a:r>
            <a:endParaRPr lang="en-US" altLang="ja-JP" b="1" dirty="0">
              <a:solidFill>
                <a:srgbClr val="000000"/>
              </a:solidFill>
              <a:latin typeface="+mn-ea"/>
            </a:endParaRPr>
          </a:p>
          <a:p>
            <a:pPr marL="266700" indent="-174625" fontAlgn="base">
              <a:lnSpc>
                <a:spcPts val="2400"/>
              </a:lnSpc>
              <a:spcBef>
                <a:spcPts val="300"/>
              </a:spcBef>
              <a:buFont typeface="Arial" panose="020B0604020202020204" pitchFamily="34" charset="0"/>
              <a:buChar char="•"/>
            </a:pPr>
            <a:r>
              <a:rPr lang="ja-JP" altLang="en-US" b="1" i="0" dirty="0">
                <a:solidFill>
                  <a:srgbClr val="000000"/>
                </a:solidFill>
                <a:effectLst/>
                <a:latin typeface="+mn-ea"/>
              </a:rPr>
              <a:t>人格付与には英文プロンプトを使用</a:t>
            </a:r>
            <a:endParaRPr lang="en-US" altLang="ja-JP" b="1" dirty="0">
              <a:solidFill>
                <a:srgbClr val="000000"/>
              </a:solidFill>
              <a:latin typeface="+mn-ea"/>
            </a:endParaRPr>
          </a:p>
          <a:p>
            <a:pPr marL="539750" lvl="1" indent="-182563" fontAlgn="base">
              <a:lnSpc>
                <a:spcPts val="2400"/>
              </a:lnSpc>
              <a:spcBef>
                <a:spcPts val="300"/>
              </a:spcBef>
              <a:buFont typeface="Arial" panose="020B0604020202020204" pitchFamily="34" charset="0"/>
              <a:buChar char="•"/>
            </a:pPr>
            <a:r>
              <a:rPr lang="ja-JP" altLang="en-US" b="1" i="0" dirty="0">
                <a:solidFill>
                  <a:srgbClr val="000000"/>
                </a:solidFill>
                <a:effectLst/>
                <a:latin typeface="+mn-ea"/>
              </a:rPr>
              <a:t>入出力はユーザには秘匿</a:t>
            </a:r>
            <a:endParaRPr lang="en-US" altLang="ja-JP" b="1" i="0" dirty="0">
              <a:solidFill>
                <a:srgbClr val="000000"/>
              </a:solidFill>
              <a:effectLst/>
              <a:latin typeface="+mn-ea"/>
            </a:endParaRPr>
          </a:p>
          <a:p>
            <a:pPr marL="539750" lvl="1" indent="-182563" fontAlgn="base">
              <a:lnSpc>
                <a:spcPts val="2400"/>
              </a:lnSpc>
              <a:spcBef>
                <a:spcPts val="300"/>
              </a:spcBef>
              <a:buFont typeface="Arial" panose="020B0604020202020204" pitchFamily="34" charset="0"/>
              <a:buChar char="•"/>
            </a:pPr>
            <a:r>
              <a:rPr lang="ja-JP" altLang="en-US" b="1" dirty="0">
                <a:solidFill>
                  <a:srgbClr val="000000"/>
                </a:solidFill>
                <a:latin typeface="+mn-ea"/>
              </a:rPr>
              <a:t>その後のやりとりは和文</a:t>
            </a:r>
          </a:p>
          <a:p>
            <a:pPr marL="266700" indent="-174625" fontAlgn="base">
              <a:lnSpc>
                <a:spcPts val="2400"/>
              </a:lnSpc>
              <a:spcBef>
                <a:spcPts val="300"/>
              </a:spcBef>
              <a:buFont typeface="Arial" panose="020B0604020202020204" pitchFamily="34" charset="0"/>
              <a:buChar char="•"/>
            </a:pPr>
            <a:r>
              <a:rPr lang="ja-JP" altLang="en-US" b="1" i="0" dirty="0">
                <a:solidFill>
                  <a:srgbClr val="000000"/>
                </a:solidFill>
                <a:effectLst/>
                <a:latin typeface="+mn-ea"/>
              </a:rPr>
              <a:t>付与する</a:t>
            </a:r>
            <a:r>
              <a:rPr lang="en-US" altLang="ja-JP" b="1" i="0" dirty="0">
                <a:solidFill>
                  <a:srgbClr val="000000"/>
                </a:solidFill>
                <a:effectLst/>
                <a:latin typeface="+mn-ea"/>
              </a:rPr>
              <a:t>MBTI</a:t>
            </a:r>
            <a:r>
              <a:rPr lang="ja-JP" altLang="en-US" b="1" i="0" dirty="0">
                <a:solidFill>
                  <a:srgbClr val="000000"/>
                </a:solidFill>
                <a:effectLst/>
                <a:latin typeface="+mn-ea"/>
              </a:rPr>
              <a:t>タイプの</a:t>
            </a:r>
            <a:r>
              <a:rPr lang="ja-JP" altLang="en-US" b="1" dirty="0">
                <a:solidFill>
                  <a:srgbClr val="C00000"/>
                </a:solidFill>
                <a:latin typeface="+mn-ea"/>
              </a:rPr>
              <a:t>心理的特徴</a:t>
            </a:r>
            <a:r>
              <a:rPr lang="ja-JP" altLang="en-US" b="1" dirty="0">
                <a:latin typeface="+mn-ea"/>
              </a:rPr>
              <a:t>を記述</a:t>
            </a:r>
            <a:endParaRPr lang="en-US" altLang="ja-JP" b="1" dirty="0">
              <a:latin typeface="+mn-ea"/>
            </a:endParaRPr>
          </a:p>
          <a:p>
            <a:pPr marL="539750" indent="-182563" fontAlgn="base">
              <a:lnSpc>
                <a:spcPts val="2400"/>
              </a:lnSpc>
              <a:spcBef>
                <a:spcPts val="300"/>
              </a:spcBef>
              <a:buFont typeface="Arial" panose="020B0604020202020204" pitchFamily="34" charset="0"/>
              <a:buChar char="•"/>
            </a:pPr>
            <a:r>
              <a:rPr lang="ja-JP" altLang="en-US" b="1" dirty="0"/>
              <a:t>一般的な特徴 </a:t>
            </a:r>
            <a:endParaRPr lang="en-US" altLang="ja-JP" b="1" dirty="0"/>
          </a:p>
          <a:p>
            <a:pPr marL="539750" indent="-182563" fontAlgn="base">
              <a:lnSpc>
                <a:spcPts val="2400"/>
              </a:lnSpc>
              <a:spcBef>
                <a:spcPts val="300"/>
              </a:spcBef>
              <a:buFont typeface="Arial" panose="020B0604020202020204" pitchFamily="34" charset="0"/>
              <a:buChar char="•"/>
            </a:pPr>
            <a:r>
              <a:rPr lang="ja-JP" altLang="en-US" b="1" dirty="0"/>
              <a:t>コミュニケーションスタイル</a:t>
            </a:r>
            <a:endParaRPr lang="en-US" altLang="ja-JP" b="1" dirty="0"/>
          </a:p>
          <a:p>
            <a:pPr marL="539750" indent="-182563" fontAlgn="base">
              <a:lnSpc>
                <a:spcPts val="2400"/>
              </a:lnSpc>
              <a:spcBef>
                <a:spcPts val="300"/>
              </a:spcBef>
              <a:buFont typeface="Arial" panose="020B0604020202020204" pitchFamily="34" charset="0"/>
              <a:buChar char="•"/>
            </a:pPr>
            <a:r>
              <a:rPr lang="ja-JP" altLang="en-US" b="1" dirty="0"/>
              <a:t>リーダーシップと管理スタイル</a:t>
            </a:r>
            <a:endParaRPr lang="en-US" altLang="ja-JP" b="1" dirty="0"/>
          </a:p>
          <a:p>
            <a:pPr marL="539750" indent="-182563" fontAlgn="base">
              <a:lnSpc>
                <a:spcPts val="2400"/>
              </a:lnSpc>
              <a:spcBef>
                <a:spcPts val="300"/>
              </a:spcBef>
              <a:buFont typeface="Arial" panose="020B0604020202020204" pitchFamily="34" charset="0"/>
              <a:buChar char="•"/>
            </a:pPr>
            <a:r>
              <a:rPr lang="ja-JP" altLang="en-US" b="1" dirty="0"/>
              <a:t>問題解決アプローチ</a:t>
            </a:r>
            <a:endParaRPr lang="en-US" altLang="ja-JP" b="1" dirty="0"/>
          </a:p>
          <a:p>
            <a:pPr marL="539750" indent="-182563" fontAlgn="base">
              <a:lnSpc>
                <a:spcPts val="2400"/>
              </a:lnSpc>
              <a:spcBef>
                <a:spcPts val="300"/>
              </a:spcBef>
              <a:buFont typeface="Arial" panose="020B0604020202020204" pitchFamily="34" charset="0"/>
              <a:buChar char="•"/>
            </a:pPr>
            <a:r>
              <a:rPr lang="ja-JP" altLang="en-US" b="1" dirty="0"/>
              <a:t>対人関係</a:t>
            </a:r>
            <a:endParaRPr lang="en-US" altLang="ja-JP" b="1" dirty="0"/>
          </a:p>
          <a:p>
            <a:pPr marL="539750" indent="-182563" fontAlgn="base">
              <a:lnSpc>
                <a:spcPts val="2400"/>
              </a:lnSpc>
              <a:spcBef>
                <a:spcPts val="300"/>
              </a:spcBef>
              <a:buFont typeface="Arial" panose="020B0604020202020204" pitchFamily="34" charset="0"/>
              <a:buChar char="•"/>
            </a:pPr>
            <a:r>
              <a:rPr lang="ja-JP" altLang="en-US" b="1" dirty="0"/>
              <a:t>変化とストレスへの対処</a:t>
            </a:r>
            <a:endParaRPr lang="en-US" altLang="ja-JP" b="1" dirty="0"/>
          </a:p>
          <a:p>
            <a:pPr marL="539750" indent="-182563" fontAlgn="base">
              <a:lnSpc>
                <a:spcPts val="2400"/>
              </a:lnSpc>
              <a:spcBef>
                <a:spcPts val="300"/>
              </a:spcBef>
              <a:buFont typeface="Arial" panose="020B0604020202020204" pitchFamily="34" charset="0"/>
              <a:buChar char="•"/>
            </a:pPr>
            <a:r>
              <a:rPr lang="ja-JP" altLang="en-US" b="1" dirty="0"/>
              <a:t>振る舞いや傾向</a:t>
            </a:r>
            <a:endParaRPr lang="en-US" altLang="ja-JP" b="1" i="0" dirty="0">
              <a:solidFill>
                <a:srgbClr val="000000"/>
              </a:solidFill>
              <a:effectLst/>
              <a:latin typeface="+mn-ea"/>
            </a:endParaRPr>
          </a:p>
        </p:txBody>
      </p:sp>
      <p:sp>
        <p:nvSpPr>
          <p:cNvPr id="6" name="四角形: 角を丸くする 5">
            <a:extLst>
              <a:ext uri="{FF2B5EF4-FFF2-40B4-BE49-F238E27FC236}">
                <a16:creationId xmlns:a16="http://schemas.microsoft.com/office/drawing/2014/main" id="{FC078B06-8A58-7DE6-1AB6-973FD557F1DA}"/>
              </a:ext>
            </a:extLst>
          </p:cNvPr>
          <p:cNvSpPr/>
          <p:nvPr/>
        </p:nvSpPr>
        <p:spPr>
          <a:xfrm>
            <a:off x="5438692" y="1423283"/>
            <a:ext cx="3196425" cy="4984471"/>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FC60B1BC-DE47-7372-8F96-5CD7CD5E3CAF}"/>
              </a:ext>
            </a:extLst>
          </p:cNvPr>
          <p:cNvSpPr txBox="1"/>
          <p:nvPr/>
        </p:nvSpPr>
        <p:spPr>
          <a:xfrm>
            <a:off x="6097992" y="1258017"/>
            <a:ext cx="1887613" cy="369332"/>
          </a:xfrm>
          <a:prstGeom prst="rect">
            <a:avLst/>
          </a:prstGeom>
          <a:solidFill>
            <a:schemeClr val="bg1"/>
          </a:solidFill>
        </p:spPr>
        <p:txBody>
          <a:bodyPr wrap="square">
            <a:noAutofit/>
          </a:bodyPr>
          <a:lstStyle/>
          <a:p>
            <a:r>
              <a:rPr lang="ja-JP" altLang="en-US" b="1" dirty="0">
                <a:solidFill>
                  <a:schemeClr val="accent1"/>
                </a:solidFill>
              </a:rPr>
              <a:t>人格付与の流れ</a:t>
            </a:r>
            <a:endParaRPr lang="ja-JP" altLang="en-US" dirty="0"/>
          </a:p>
        </p:txBody>
      </p:sp>
      <p:sp>
        <p:nvSpPr>
          <p:cNvPr id="20" name="矢印: 右 19">
            <a:extLst>
              <a:ext uri="{FF2B5EF4-FFF2-40B4-BE49-F238E27FC236}">
                <a16:creationId xmlns:a16="http://schemas.microsoft.com/office/drawing/2014/main" id="{2E94398B-D64F-179D-1B6F-B1628F504B3B}"/>
              </a:ext>
            </a:extLst>
          </p:cNvPr>
          <p:cNvSpPr/>
          <p:nvPr/>
        </p:nvSpPr>
        <p:spPr>
          <a:xfrm rot="5400000">
            <a:off x="6852584" y="2961698"/>
            <a:ext cx="335898" cy="435608"/>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grpSp>
        <p:nvGrpSpPr>
          <p:cNvPr id="3" name="グループ化 2">
            <a:extLst>
              <a:ext uri="{FF2B5EF4-FFF2-40B4-BE49-F238E27FC236}">
                <a16:creationId xmlns:a16="http://schemas.microsoft.com/office/drawing/2014/main" id="{A6835F9D-C102-79B3-1A11-25B2DBA0027E}"/>
              </a:ext>
            </a:extLst>
          </p:cNvPr>
          <p:cNvGrpSpPr/>
          <p:nvPr/>
        </p:nvGrpSpPr>
        <p:grpSpPr>
          <a:xfrm>
            <a:off x="6600813" y="3417743"/>
            <a:ext cx="978395" cy="1247814"/>
            <a:chOff x="6257833" y="3692940"/>
            <a:chExt cx="959757" cy="1247814"/>
          </a:xfrm>
        </p:grpSpPr>
        <p:pic>
          <p:nvPicPr>
            <p:cNvPr id="19" name="Picture 2" descr="アイコン&#10;&#10;自動的に生成された説明">
              <a:extLst>
                <a:ext uri="{FF2B5EF4-FFF2-40B4-BE49-F238E27FC236}">
                  <a16:creationId xmlns:a16="http://schemas.microsoft.com/office/drawing/2014/main" id="{3987AB32-1997-8E37-DCD1-78A9F7F0DA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9472" y="3692940"/>
              <a:ext cx="797128" cy="797128"/>
            </a:xfrm>
            <a:prstGeom prst="rect">
              <a:avLst/>
            </a:prstGeom>
            <a:noFill/>
            <a:extLst>
              <a:ext uri="{909E8E84-426E-40DD-AFC4-6F175D3DCCD1}">
                <a14:hiddenFill xmlns:a14="http://schemas.microsoft.com/office/drawing/2010/main">
                  <a:solidFill>
                    <a:srgbClr val="FFFFFF"/>
                  </a:solidFill>
                </a14:hiddenFill>
              </a:ext>
            </a:extLst>
          </p:spPr>
        </p:pic>
        <p:sp>
          <p:nvSpPr>
            <p:cNvPr id="21" name="テキスト ボックス 20">
              <a:extLst>
                <a:ext uri="{FF2B5EF4-FFF2-40B4-BE49-F238E27FC236}">
                  <a16:creationId xmlns:a16="http://schemas.microsoft.com/office/drawing/2014/main" id="{B0F67273-5506-9194-A637-D6AB12B8FB48}"/>
                </a:ext>
              </a:extLst>
            </p:cNvPr>
            <p:cNvSpPr txBox="1"/>
            <p:nvPr/>
          </p:nvSpPr>
          <p:spPr>
            <a:xfrm>
              <a:off x="6257833" y="4571422"/>
              <a:ext cx="959757" cy="369332"/>
            </a:xfrm>
            <a:prstGeom prst="rect">
              <a:avLst/>
            </a:prstGeom>
            <a:noFill/>
          </p:spPr>
          <p:txBody>
            <a:bodyPr wrap="square">
              <a:noAutofit/>
            </a:bodyPr>
            <a:lstStyle/>
            <a:p>
              <a:r>
                <a:rPr kumimoji="1" lang="en-US" altLang="ja-JP" sz="1600" b="1" dirty="0">
                  <a:latin typeface="+mn-ea"/>
                </a:rPr>
                <a:t>GPT-5</a:t>
              </a:r>
              <a:r>
                <a:rPr kumimoji="1" lang="en-US" altLang="ja-JP" sz="1800" b="1" dirty="0">
                  <a:latin typeface="+mn-ea"/>
                </a:rPr>
                <a:t> </a:t>
              </a:r>
              <a:endParaRPr lang="ja-JP" altLang="en-US" sz="1800" dirty="0"/>
            </a:p>
          </p:txBody>
        </p:sp>
      </p:grpSp>
      <p:grpSp>
        <p:nvGrpSpPr>
          <p:cNvPr id="2" name="グループ化 1">
            <a:extLst>
              <a:ext uri="{FF2B5EF4-FFF2-40B4-BE49-F238E27FC236}">
                <a16:creationId xmlns:a16="http://schemas.microsoft.com/office/drawing/2014/main" id="{0D2B4CE8-C1C2-CA26-92DF-06AE81F1077F}"/>
              </a:ext>
            </a:extLst>
          </p:cNvPr>
          <p:cNvGrpSpPr/>
          <p:nvPr/>
        </p:nvGrpSpPr>
        <p:grpSpPr>
          <a:xfrm>
            <a:off x="6417856" y="1628376"/>
            <a:ext cx="1228583" cy="1375914"/>
            <a:chOff x="6108535" y="1576931"/>
            <a:chExt cx="1205179" cy="1375914"/>
          </a:xfrm>
        </p:grpSpPr>
        <p:pic>
          <p:nvPicPr>
            <p:cNvPr id="16" name="グラフィックス 15" descr="クリップボード 単色塗りつぶし">
              <a:extLst>
                <a:ext uri="{FF2B5EF4-FFF2-40B4-BE49-F238E27FC236}">
                  <a16:creationId xmlns:a16="http://schemas.microsoft.com/office/drawing/2014/main" id="{E82B81E0-C6D4-49F8-F4EE-1B7595307D0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69072" y="1576931"/>
              <a:ext cx="1084107" cy="1084107"/>
            </a:xfrm>
            <a:prstGeom prst="rect">
              <a:avLst/>
            </a:prstGeom>
          </p:spPr>
        </p:pic>
        <p:sp>
          <p:nvSpPr>
            <p:cNvPr id="23" name="テキスト ボックス 22">
              <a:extLst>
                <a:ext uri="{FF2B5EF4-FFF2-40B4-BE49-F238E27FC236}">
                  <a16:creationId xmlns:a16="http://schemas.microsoft.com/office/drawing/2014/main" id="{7C5B83BD-742F-33FB-243D-09C71DF8EF16}"/>
                </a:ext>
              </a:extLst>
            </p:cNvPr>
            <p:cNvSpPr txBox="1"/>
            <p:nvPr/>
          </p:nvSpPr>
          <p:spPr>
            <a:xfrm>
              <a:off x="6108535" y="2614291"/>
              <a:ext cx="1205179" cy="338554"/>
            </a:xfrm>
            <a:prstGeom prst="rect">
              <a:avLst/>
            </a:prstGeom>
            <a:noFill/>
          </p:spPr>
          <p:txBody>
            <a:bodyPr wrap="square">
              <a:noAutofit/>
            </a:bodyPr>
            <a:lstStyle/>
            <a:p>
              <a:r>
                <a:rPr kumimoji="1" lang="ja-JP" altLang="en-US" sz="1600" b="1" dirty="0">
                  <a:latin typeface="+mn-ea"/>
                </a:rPr>
                <a:t>プロンプト</a:t>
              </a:r>
              <a:endParaRPr lang="ja-JP" altLang="en-US" sz="1600" dirty="0"/>
            </a:p>
          </p:txBody>
        </p:sp>
      </p:grpSp>
      <p:pic>
        <p:nvPicPr>
          <p:cNvPr id="26" name="Picture 2" descr="アイコン&#10;&#10;自動的に生成された説明">
            <a:extLst>
              <a:ext uri="{FF2B5EF4-FFF2-40B4-BE49-F238E27FC236}">
                <a16:creationId xmlns:a16="http://schemas.microsoft.com/office/drawing/2014/main" id="{7F45B621-9649-0BB2-1EFF-47DD430364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0065" y="5599596"/>
            <a:ext cx="435608" cy="427310"/>
          </a:xfrm>
          <a:prstGeom prst="rect">
            <a:avLst/>
          </a:prstGeom>
          <a:noFill/>
          <a:extLst>
            <a:ext uri="{909E8E84-426E-40DD-AFC4-6F175D3DCCD1}">
              <a14:hiddenFill xmlns:a14="http://schemas.microsoft.com/office/drawing/2010/main">
                <a:solidFill>
                  <a:srgbClr val="FFFFFF"/>
                </a:solidFill>
              </a14:hiddenFill>
            </a:ext>
          </a:extLst>
        </p:spPr>
      </p:pic>
      <p:sp>
        <p:nvSpPr>
          <p:cNvPr id="28" name="テキスト ボックス 27">
            <a:extLst>
              <a:ext uri="{FF2B5EF4-FFF2-40B4-BE49-F238E27FC236}">
                <a16:creationId xmlns:a16="http://schemas.microsoft.com/office/drawing/2014/main" id="{CC547627-115D-D096-3B5D-387BDABE598A}"/>
              </a:ext>
            </a:extLst>
          </p:cNvPr>
          <p:cNvSpPr txBox="1"/>
          <p:nvPr/>
        </p:nvSpPr>
        <p:spPr>
          <a:xfrm>
            <a:off x="6143138" y="6069200"/>
            <a:ext cx="1921359" cy="338554"/>
          </a:xfrm>
          <a:prstGeom prst="rect">
            <a:avLst/>
          </a:prstGeom>
          <a:noFill/>
        </p:spPr>
        <p:txBody>
          <a:bodyPr wrap="square">
            <a:noAutofit/>
          </a:bodyPr>
          <a:lstStyle/>
          <a:p>
            <a:r>
              <a:rPr kumimoji="1" lang="ja-JP" altLang="en-US" sz="1600" b="1" dirty="0">
                <a:latin typeface="+mn-ea"/>
              </a:rPr>
              <a:t>人格付与した</a:t>
            </a:r>
            <a:r>
              <a:rPr kumimoji="1" lang="en-US" altLang="ja-JP" sz="1600" b="1" dirty="0">
                <a:latin typeface="+mn-ea"/>
              </a:rPr>
              <a:t>LLM</a:t>
            </a:r>
            <a:endParaRPr lang="ja-JP" altLang="en-US" sz="1600" dirty="0"/>
          </a:p>
        </p:txBody>
      </p:sp>
      <p:sp>
        <p:nvSpPr>
          <p:cNvPr id="4" name="矢印: 右 3">
            <a:extLst>
              <a:ext uri="{FF2B5EF4-FFF2-40B4-BE49-F238E27FC236}">
                <a16:creationId xmlns:a16="http://schemas.microsoft.com/office/drawing/2014/main" id="{4387794C-1D65-3AF9-1376-B4F14AA6DA88}"/>
              </a:ext>
            </a:extLst>
          </p:cNvPr>
          <p:cNvSpPr/>
          <p:nvPr/>
        </p:nvSpPr>
        <p:spPr>
          <a:xfrm rot="5400000">
            <a:off x="6864955" y="4696803"/>
            <a:ext cx="335898" cy="435608"/>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pic>
        <p:nvPicPr>
          <p:cNvPr id="8" name="図 7" descr="挿絵 が含まれている画像&#10;&#10;AI 生成コンテンツは誤りを含む可能性があります。">
            <a:extLst>
              <a:ext uri="{FF2B5EF4-FFF2-40B4-BE49-F238E27FC236}">
                <a16:creationId xmlns:a16="http://schemas.microsoft.com/office/drawing/2014/main" id="{233EBCA2-6787-E4A9-A329-C814C763A946}"/>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6815100" y="5148377"/>
            <a:ext cx="1043525" cy="885035"/>
          </a:xfrm>
          <a:prstGeom prst="rect">
            <a:avLst/>
          </a:prstGeom>
        </p:spPr>
      </p:pic>
    </p:spTree>
    <p:extLst>
      <p:ext uri="{BB962C8B-B14F-4D97-AF65-F5344CB8AC3E}">
        <p14:creationId xmlns:p14="http://schemas.microsoft.com/office/powerpoint/2010/main" val="1330885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8EA53-5D78-FC74-4CE9-2EF9F6BBA0C6}"/>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38FAAECC-73B6-78EA-63CD-E780CDD7B7E9}"/>
              </a:ext>
            </a:extLst>
          </p:cNvPr>
          <p:cNvSpPr>
            <a:spLocks noGrp="1"/>
          </p:cNvSpPr>
          <p:nvPr>
            <p:ph type="sldNum" sz="quarter" idx="12"/>
          </p:nvPr>
        </p:nvSpPr>
        <p:spPr/>
        <p:txBody>
          <a:bodyPr>
            <a:noAutofit/>
          </a:bodyPr>
          <a:lstStyle/>
          <a:p>
            <a:fld id="{18020408-E1FF-429E-A8D5-EB2A190A0D77}" type="slidenum">
              <a:rPr kumimoji="1" lang="ja-JP" altLang="en-US" smtClean="0"/>
              <a:t>11</a:t>
            </a:fld>
            <a:endParaRPr kumimoji="1" lang="ja-JP" altLang="en-US"/>
          </a:p>
        </p:txBody>
      </p:sp>
      <p:sp>
        <p:nvSpPr>
          <p:cNvPr id="5" name="タイトル 4">
            <a:extLst>
              <a:ext uri="{FF2B5EF4-FFF2-40B4-BE49-F238E27FC236}">
                <a16:creationId xmlns:a16="http://schemas.microsoft.com/office/drawing/2014/main" id="{4D78D947-1205-32D6-A546-0D4EA060FF25}"/>
              </a:ext>
            </a:extLst>
          </p:cNvPr>
          <p:cNvSpPr>
            <a:spLocks noGrp="1"/>
          </p:cNvSpPr>
          <p:nvPr>
            <p:ph type="title"/>
          </p:nvPr>
        </p:nvSpPr>
        <p:spPr/>
        <p:txBody>
          <a:bodyPr>
            <a:noAutofit/>
          </a:bodyPr>
          <a:lstStyle/>
          <a:p>
            <a:r>
              <a:rPr lang="en-US" altLang="ja-JP" sz="3600" dirty="0"/>
              <a:t>INFJ</a:t>
            </a:r>
            <a:r>
              <a:rPr lang="ja-JP" altLang="en-US" sz="3600" b="1" dirty="0">
                <a:solidFill>
                  <a:schemeClr val="bg1"/>
                </a:solidFill>
                <a:latin typeface="+mn-ea"/>
                <a:ea typeface="+mn-ea"/>
              </a:rPr>
              <a:t>付与プロンプト</a:t>
            </a:r>
          </a:p>
        </p:txBody>
      </p:sp>
      <p:sp>
        <p:nvSpPr>
          <p:cNvPr id="15" name="テキスト ボックス 14">
            <a:extLst>
              <a:ext uri="{FF2B5EF4-FFF2-40B4-BE49-F238E27FC236}">
                <a16:creationId xmlns:a16="http://schemas.microsoft.com/office/drawing/2014/main" id="{5F55701D-AE23-A193-E905-7615B0F47F92}"/>
              </a:ext>
            </a:extLst>
          </p:cNvPr>
          <p:cNvSpPr txBox="1"/>
          <p:nvPr/>
        </p:nvSpPr>
        <p:spPr>
          <a:xfrm>
            <a:off x="152149" y="1118210"/>
            <a:ext cx="4027031" cy="417902"/>
          </a:xfrm>
          <a:prstGeom prst="rect">
            <a:avLst/>
          </a:prstGeom>
          <a:noFill/>
        </p:spPr>
        <p:txBody>
          <a:bodyPr wrap="square">
            <a:noAutofit/>
          </a:bodyPr>
          <a:lstStyle/>
          <a:p>
            <a:pPr fontAlgn="base">
              <a:lnSpc>
                <a:spcPts val="2400"/>
              </a:lnSpc>
            </a:pPr>
            <a:endParaRPr lang="en-US" altLang="ja-JP" b="0" i="0" dirty="0">
              <a:solidFill>
                <a:srgbClr val="000000"/>
              </a:solidFill>
              <a:effectLst/>
              <a:latin typeface="+mn-ea"/>
            </a:endParaRPr>
          </a:p>
        </p:txBody>
      </p:sp>
      <p:sp>
        <p:nvSpPr>
          <p:cNvPr id="3" name="テキスト ボックス 2">
            <a:extLst>
              <a:ext uri="{FF2B5EF4-FFF2-40B4-BE49-F238E27FC236}">
                <a16:creationId xmlns:a16="http://schemas.microsoft.com/office/drawing/2014/main" id="{974FDBE8-571B-BF33-1B2F-DBB01CC0DBC6}"/>
              </a:ext>
            </a:extLst>
          </p:cNvPr>
          <p:cNvSpPr txBox="1"/>
          <p:nvPr/>
        </p:nvSpPr>
        <p:spPr>
          <a:xfrm>
            <a:off x="72000" y="3420000"/>
            <a:ext cx="3179200" cy="360000"/>
          </a:xfrm>
          <a:prstGeom prst="rect">
            <a:avLst/>
          </a:prstGeom>
          <a:solidFill>
            <a:schemeClr val="bg1"/>
          </a:solidFill>
        </p:spPr>
        <p:txBody>
          <a:bodyPr wrap="square">
            <a:noAutofit/>
          </a:bodyPr>
          <a:lstStyle/>
          <a:p>
            <a:r>
              <a:rPr lang="en-US" altLang="ja-JP" b="1" dirty="0">
                <a:solidFill>
                  <a:schemeClr val="accent1"/>
                </a:solidFill>
              </a:rPr>
              <a:t>INFJ</a:t>
            </a:r>
            <a:r>
              <a:rPr lang="ja-JP" altLang="en-US" b="1" dirty="0">
                <a:solidFill>
                  <a:schemeClr val="accent1"/>
                </a:solidFill>
              </a:rPr>
              <a:t>付与のプロンプト要約</a:t>
            </a:r>
            <a:endParaRPr lang="ja-JP" altLang="en-US" dirty="0">
              <a:solidFill>
                <a:schemeClr val="accent1"/>
              </a:solidFill>
            </a:endParaRPr>
          </a:p>
        </p:txBody>
      </p:sp>
      <p:sp>
        <p:nvSpPr>
          <p:cNvPr id="8" name="テキスト ボックス 7">
            <a:extLst>
              <a:ext uri="{FF2B5EF4-FFF2-40B4-BE49-F238E27FC236}">
                <a16:creationId xmlns:a16="http://schemas.microsoft.com/office/drawing/2014/main" id="{F57BA3BE-5A7B-06AA-2BA3-6E2EC81A2FF9}"/>
              </a:ext>
            </a:extLst>
          </p:cNvPr>
          <p:cNvSpPr txBox="1"/>
          <p:nvPr/>
        </p:nvSpPr>
        <p:spPr>
          <a:xfrm>
            <a:off x="72000" y="1348566"/>
            <a:ext cx="9014691" cy="2031325"/>
          </a:xfrm>
          <a:prstGeom prst="rect">
            <a:avLst/>
          </a:prstGeom>
          <a:noFill/>
        </p:spPr>
        <p:txBody>
          <a:bodyPr wrap="square">
            <a:spAutoFit/>
          </a:bodyPr>
          <a:lstStyle/>
          <a:p>
            <a:pPr>
              <a:buNone/>
            </a:pPr>
            <a:r>
              <a:rPr lang="ja-JP" altLang="en-US" b="1" dirty="0"/>
              <a:t>あなたは深い直感力と感情理解力で知られています。理想主義と現実主義を独自に融合させ、強い道徳観と世界をより良くしたいという願望に駆られることがよくあります。内面は豊かで、鮮やかな想像力と深い思索に満ちています。内省的で、自身の理想や価値観について深く考えることがよくあります。複雑な感情の風景を理解する天性の能力を持ち、それは自分自身のものでも他人のものでも同様です。真実性を重んじ、しばしば真の自己と目的を見つけるための個人的な探求を続けています。控えめな傾向がありますが、話す時は目的意識と洞察力を持って語ります。</a:t>
            </a:r>
            <a:r>
              <a:rPr lang="en-US" altLang="ja-JP" b="1" dirty="0"/>
              <a:t> ...</a:t>
            </a:r>
            <a:endParaRPr lang="ja-JP" altLang="ja-JP" kern="100" dirty="0">
              <a:effectLst/>
              <a:latin typeface="+mn-ea"/>
              <a:cs typeface="Times New Roman" panose="02020603050405020304" pitchFamily="18" charset="0"/>
            </a:endParaRPr>
          </a:p>
        </p:txBody>
      </p:sp>
      <p:graphicFrame>
        <p:nvGraphicFramePr>
          <p:cNvPr id="6" name="表 5">
            <a:extLst>
              <a:ext uri="{FF2B5EF4-FFF2-40B4-BE49-F238E27FC236}">
                <a16:creationId xmlns:a16="http://schemas.microsoft.com/office/drawing/2014/main" id="{8A773970-89A7-8663-4471-00A7F1C5A099}"/>
              </a:ext>
            </a:extLst>
          </p:cNvPr>
          <p:cNvGraphicFramePr>
            <a:graphicFrameLocks noGrp="1"/>
          </p:cNvGraphicFramePr>
          <p:nvPr>
            <p:extLst>
              <p:ext uri="{D42A27DB-BD31-4B8C-83A1-F6EECF244321}">
                <p14:modId xmlns:p14="http://schemas.microsoft.com/office/powerpoint/2010/main" val="191926703"/>
              </p:ext>
            </p:extLst>
          </p:nvPr>
        </p:nvGraphicFramePr>
        <p:xfrm>
          <a:off x="288000" y="3780000"/>
          <a:ext cx="8459586" cy="2663544"/>
        </p:xfrm>
        <a:graphic>
          <a:graphicData uri="http://schemas.openxmlformats.org/drawingml/2006/table">
            <a:tbl>
              <a:tblPr firstRow="1" bandRow="1">
                <a:tableStyleId>{5940675A-B579-460E-94D1-54222C63F5DA}</a:tableStyleId>
              </a:tblPr>
              <a:tblGrid>
                <a:gridCol w="2724839">
                  <a:extLst>
                    <a:ext uri="{9D8B030D-6E8A-4147-A177-3AD203B41FA5}">
                      <a16:colId xmlns:a16="http://schemas.microsoft.com/office/drawing/2014/main" val="2070352875"/>
                    </a:ext>
                  </a:extLst>
                </a:gridCol>
                <a:gridCol w="5734747">
                  <a:extLst>
                    <a:ext uri="{9D8B030D-6E8A-4147-A177-3AD203B41FA5}">
                      <a16:colId xmlns:a16="http://schemas.microsoft.com/office/drawing/2014/main" val="3124248647"/>
                    </a:ext>
                  </a:extLst>
                </a:gridCol>
              </a:tblGrid>
              <a:tr h="332943">
                <a:tc>
                  <a:txBody>
                    <a:bodyPr/>
                    <a:lstStyle/>
                    <a:p>
                      <a:r>
                        <a:rPr kumimoji="1" lang="ja-JP" altLang="en-US" sz="1400" b="1" dirty="0"/>
                        <a:t>項目</a:t>
                      </a:r>
                    </a:p>
                  </a:txBody>
                  <a:tcPr/>
                </a:tc>
                <a:tc>
                  <a:txBody>
                    <a:bodyPr/>
                    <a:lstStyle/>
                    <a:p>
                      <a:r>
                        <a:rPr kumimoji="1" lang="ja-JP" altLang="en-US" sz="1400" b="1" dirty="0"/>
                        <a:t>内容</a:t>
                      </a:r>
                    </a:p>
                  </a:txBody>
                  <a:tcPr/>
                </a:tc>
                <a:extLst>
                  <a:ext uri="{0D108BD9-81ED-4DB2-BD59-A6C34878D82A}">
                    <a16:rowId xmlns:a16="http://schemas.microsoft.com/office/drawing/2014/main" val="3519242475"/>
                  </a:ext>
                </a:extLst>
              </a:tr>
              <a:tr h="332943">
                <a:tc>
                  <a:txBody>
                    <a:bodyPr/>
                    <a:lstStyle/>
                    <a:p>
                      <a:r>
                        <a:rPr kumimoji="1" lang="ja-JP" altLang="en-US" sz="1400" b="1" dirty="0"/>
                        <a:t>一般的な特徴</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内面世界が豊かで，想像力と深い思考に満ちている．内省的．</a:t>
                      </a:r>
                      <a:endParaRPr kumimoji="1" lang="en-US" altLang="ja-JP" sz="1400" b="1" dirty="0">
                        <a:latin typeface="+mn-ea"/>
                      </a:endParaRPr>
                    </a:p>
                  </a:txBody>
                  <a:tcPr/>
                </a:tc>
                <a:extLst>
                  <a:ext uri="{0D108BD9-81ED-4DB2-BD59-A6C34878D82A}">
                    <a16:rowId xmlns:a16="http://schemas.microsoft.com/office/drawing/2014/main" val="3686906825"/>
                  </a:ext>
                </a:extLst>
              </a:tr>
              <a:tr h="332943">
                <a:tc>
                  <a:txBody>
                    <a:bodyPr/>
                    <a:lstStyle/>
                    <a:p>
                      <a:r>
                        <a:rPr kumimoji="1" lang="ja-JP" altLang="en-US" sz="1400" b="1" dirty="0"/>
                        <a:t>コミュニケーションスタイル</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世間話よりも深く意味のある会話を好む．</a:t>
                      </a:r>
                      <a:endParaRPr lang="en-US" altLang="ja-JP" sz="1400" b="1" dirty="0"/>
                    </a:p>
                  </a:txBody>
                  <a:tcPr/>
                </a:tc>
                <a:extLst>
                  <a:ext uri="{0D108BD9-81ED-4DB2-BD59-A6C34878D82A}">
                    <a16:rowId xmlns:a16="http://schemas.microsoft.com/office/drawing/2014/main" val="4202134865"/>
                  </a:ext>
                </a:extLst>
              </a:tr>
              <a:tr h="332943">
                <a:tc>
                  <a:txBody>
                    <a:bodyPr/>
                    <a:lstStyle/>
                    <a:p>
                      <a:r>
                        <a:rPr kumimoji="1" lang="ja-JP" altLang="en-US" sz="1400" b="1" dirty="0"/>
                        <a:t>リーダーシップと管理スタイル</a:t>
                      </a:r>
                    </a:p>
                  </a:txBody>
                  <a:tcPr/>
                </a:tc>
                <a:tc>
                  <a:txBody>
                    <a:bodyPr/>
                    <a:lstStyle/>
                    <a:p>
                      <a:r>
                        <a:rPr lang="ja-JP" altLang="en-US" sz="1400" b="1" dirty="0"/>
                        <a:t>調和を重視し，相互理解に焦点を当てて対立を解決する．</a:t>
                      </a:r>
                      <a:endParaRPr kumimoji="1" lang="ja-JP" altLang="en-US" sz="1400" b="1" dirty="0"/>
                    </a:p>
                  </a:txBody>
                  <a:tcPr/>
                </a:tc>
                <a:extLst>
                  <a:ext uri="{0D108BD9-81ED-4DB2-BD59-A6C34878D82A}">
                    <a16:rowId xmlns:a16="http://schemas.microsoft.com/office/drawing/2014/main" val="2118375086"/>
                  </a:ext>
                </a:extLst>
              </a:tr>
              <a:tr h="332943">
                <a:tc>
                  <a:txBody>
                    <a:bodyPr/>
                    <a:lstStyle/>
                    <a:p>
                      <a:r>
                        <a:rPr kumimoji="1" lang="ja-JP" altLang="en-US" sz="1400" b="1" dirty="0"/>
                        <a:t>問題解決アプローチ</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直感を頼りに，問題の表面を超えて深い意味を探る．</a:t>
                      </a:r>
                      <a:endParaRPr lang="en-US" altLang="ja-JP" sz="1400" b="1" dirty="0"/>
                    </a:p>
                  </a:txBody>
                  <a:tcPr/>
                </a:tc>
                <a:extLst>
                  <a:ext uri="{0D108BD9-81ED-4DB2-BD59-A6C34878D82A}">
                    <a16:rowId xmlns:a16="http://schemas.microsoft.com/office/drawing/2014/main" val="3511622904"/>
                  </a:ext>
                </a:extLst>
              </a:tr>
              <a:tr h="332943">
                <a:tc>
                  <a:txBody>
                    <a:bodyPr/>
                    <a:lstStyle/>
                    <a:p>
                      <a:r>
                        <a:rPr kumimoji="1" lang="ja-JP" altLang="en-US" sz="1400" b="1" dirty="0"/>
                        <a:t>対人関係</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他者の感情やニーズに敏感で，愛する人を支えるために尽力する．</a:t>
                      </a:r>
                      <a:endParaRPr lang="en-US" altLang="ja-JP" sz="1400" b="1" dirty="0"/>
                    </a:p>
                  </a:txBody>
                  <a:tcPr/>
                </a:tc>
                <a:extLst>
                  <a:ext uri="{0D108BD9-81ED-4DB2-BD59-A6C34878D82A}">
                    <a16:rowId xmlns:a16="http://schemas.microsoft.com/office/drawing/2014/main" val="2054788061"/>
                  </a:ext>
                </a:extLst>
              </a:tr>
              <a:tr h="332943">
                <a:tc>
                  <a:txBody>
                    <a:bodyPr/>
                    <a:lstStyle/>
                    <a:p>
                      <a:r>
                        <a:rPr kumimoji="1" lang="ja-JP" altLang="en-US" sz="1400" b="1" dirty="0"/>
                        <a:t>変化とストレスへの対処</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基本的には安定を好むが，必要であれば変化に適応できる．</a:t>
                      </a:r>
                      <a:endParaRPr lang="en-US" altLang="ja-JP" sz="1400" b="1" dirty="0"/>
                    </a:p>
                  </a:txBody>
                  <a:tcPr/>
                </a:tc>
                <a:extLst>
                  <a:ext uri="{0D108BD9-81ED-4DB2-BD59-A6C34878D82A}">
                    <a16:rowId xmlns:a16="http://schemas.microsoft.com/office/drawing/2014/main" val="2990881510"/>
                  </a:ext>
                </a:extLst>
              </a:tr>
              <a:tr h="332943">
                <a:tc>
                  <a:txBody>
                    <a:bodyPr/>
                    <a:lstStyle/>
                    <a:p>
                      <a:r>
                        <a:rPr kumimoji="1" lang="ja-JP" altLang="en-US" sz="1400" b="1" dirty="0"/>
                        <a:t>振る舞いや傾向</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調和，理解，個人の誠実さに焦点を当てる．</a:t>
                      </a:r>
                    </a:p>
                  </a:txBody>
                  <a:tcPr/>
                </a:tc>
                <a:extLst>
                  <a:ext uri="{0D108BD9-81ED-4DB2-BD59-A6C34878D82A}">
                    <a16:rowId xmlns:a16="http://schemas.microsoft.com/office/drawing/2014/main" val="3463468387"/>
                  </a:ext>
                </a:extLst>
              </a:tr>
            </a:tbl>
          </a:graphicData>
        </a:graphic>
      </p:graphicFrame>
      <p:sp>
        <p:nvSpPr>
          <p:cNvPr id="2" name="テキスト ボックス 1">
            <a:extLst>
              <a:ext uri="{FF2B5EF4-FFF2-40B4-BE49-F238E27FC236}">
                <a16:creationId xmlns:a16="http://schemas.microsoft.com/office/drawing/2014/main" id="{FA1B8691-B4AA-A125-B16C-A4B014F8489D}"/>
              </a:ext>
            </a:extLst>
          </p:cNvPr>
          <p:cNvSpPr txBox="1"/>
          <p:nvPr/>
        </p:nvSpPr>
        <p:spPr>
          <a:xfrm>
            <a:off x="72000" y="1035664"/>
            <a:ext cx="3776100" cy="272338"/>
          </a:xfrm>
          <a:prstGeom prst="rect">
            <a:avLst/>
          </a:prstGeom>
          <a:noFill/>
        </p:spPr>
        <p:txBody>
          <a:bodyPr wrap="square">
            <a:noAutofit/>
          </a:bodyPr>
          <a:lstStyle/>
          <a:p>
            <a:r>
              <a:rPr lang="en-US" altLang="ja-JP" b="1" dirty="0">
                <a:solidFill>
                  <a:schemeClr val="accent1"/>
                </a:solidFill>
              </a:rPr>
              <a:t>INFJ</a:t>
            </a:r>
            <a:r>
              <a:rPr lang="ja-JP" altLang="en-US" b="1" dirty="0">
                <a:solidFill>
                  <a:schemeClr val="accent1"/>
                </a:solidFill>
              </a:rPr>
              <a:t>付与のプロンプト和訳の一部</a:t>
            </a:r>
            <a:endParaRPr lang="en-US" altLang="ja-JP" b="1" dirty="0">
              <a:solidFill>
                <a:schemeClr val="accent1"/>
              </a:solidFill>
            </a:endParaRPr>
          </a:p>
        </p:txBody>
      </p:sp>
    </p:spTree>
    <p:extLst>
      <p:ext uri="{BB962C8B-B14F-4D97-AF65-F5344CB8AC3E}">
        <p14:creationId xmlns:p14="http://schemas.microsoft.com/office/powerpoint/2010/main" val="1560467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94B3A-4FF6-4A14-6B58-A9AC966DD981}"/>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1E4BB4D3-9C08-861A-0E4A-C1FD5C0AF766}"/>
              </a:ext>
            </a:extLst>
          </p:cNvPr>
          <p:cNvSpPr>
            <a:spLocks noGrp="1"/>
          </p:cNvSpPr>
          <p:nvPr>
            <p:ph type="sldNum" sz="quarter" idx="12"/>
          </p:nvPr>
        </p:nvSpPr>
        <p:spPr/>
        <p:txBody>
          <a:bodyPr>
            <a:noAutofit/>
          </a:bodyPr>
          <a:lstStyle/>
          <a:p>
            <a:fld id="{18020408-E1FF-429E-A8D5-EB2A190A0D77}" type="slidenum">
              <a:rPr kumimoji="1" lang="ja-JP" altLang="en-US" smtClean="0"/>
              <a:t>12</a:t>
            </a:fld>
            <a:endParaRPr kumimoji="1" lang="ja-JP" altLang="en-US"/>
          </a:p>
        </p:txBody>
      </p:sp>
      <p:sp>
        <p:nvSpPr>
          <p:cNvPr id="5" name="タイトル 4">
            <a:extLst>
              <a:ext uri="{FF2B5EF4-FFF2-40B4-BE49-F238E27FC236}">
                <a16:creationId xmlns:a16="http://schemas.microsoft.com/office/drawing/2014/main" id="{87E6B078-CB65-52AA-018E-124E15D132C5}"/>
              </a:ext>
            </a:extLst>
          </p:cNvPr>
          <p:cNvSpPr>
            <a:spLocks noGrp="1"/>
          </p:cNvSpPr>
          <p:nvPr>
            <p:ph type="title"/>
          </p:nvPr>
        </p:nvSpPr>
        <p:spPr/>
        <p:txBody>
          <a:bodyPr>
            <a:noAutofit/>
          </a:bodyPr>
          <a:lstStyle/>
          <a:p>
            <a:r>
              <a:rPr lang="en-US" altLang="ja-JP" sz="3600" dirty="0"/>
              <a:t>ESTP</a:t>
            </a:r>
            <a:r>
              <a:rPr lang="ja-JP" altLang="en-US" sz="3600" b="1" dirty="0">
                <a:solidFill>
                  <a:schemeClr val="bg1"/>
                </a:solidFill>
                <a:latin typeface="+mn-ea"/>
                <a:ea typeface="+mn-ea"/>
              </a:rPr>
              <a:t>付与プロンプト</a:t>
            </a:r>
          </a:p>
        </p:txBody>
      </p:sp>
      <p:sp>
        <p:nvSpPr>
          <p:cNvPr id="3" name="テキスト ボックス 2">
            <a:extLst>
              <a:ext uri="{FF2B5EF4-FFF2-40B4-BE49-F238E27FC236}">
                <a16:creationId xmlns:a16="http://schemas.microsoft.com/office/drawing/2014/main" id="{358E9FD6-9230-0862-04F2-14FAACE5BB42}"/>
              </a:ext>
            </a:extLst>
          </p:cNvPr>
          <p:cNvSpPr txBox="1"/>
          <p:nvPr/>
        </p:nvSpPr>
        <p:spPr>
          <a:xfrm>
            <a:off x="91440" y="3251200"/>
            <a:ext cx="3077250" cy="275531"/>
          </a:xfrm>
          <a:prstGeom prst="rect">
            <a:avLst/>
          </a:prstGeom>
          <a:solidFill>
            <a:schemeClr val="bg1"/>
          </a:solidFill>
        </p:spPr>
        <p:txBody>
          <a:bodyPr wrap="square">
            <a:noAutofit/>
          </a:bodyPr>
          <a:lstStyle/>
          <a:p>
            <a:r>
              <a:rPr lang="en-US" altLang="ja-JP" b="1" dirty="0">
                <a:solidFill>
                  <a:schemeClr val="accent1"/>
                </a:solidFill>
              </a:rPr>
              <a:t>ESTP</a:t>
            </a:r>
            <a:r>
              <a:rPr lang="ja-JP" altLang="en-US" b="1" dirty="0">
                <a:solidFill>
                  <a:schemeClr val="accent1"/>
                </a:solidFill>
              </a:rPr>
              <a:t>付与のプロンプト要約</a:t>
            </a:r>
            <a:endParaRPr lang="ja-JP" altLang="en-US" dirty="0">
              <a:solidFill>
                <a:schemeClr val="accent1"/>
              </a:solidFill>
            </a:endParaRPr>
          </a:p>
        </p:txBody>
      </p:sp>
      <p:sp>
        <p:nvSpPr>
          <p:cNvPr id="14" name="テキスト ボックス 13">
            <a:extLst>
              <a:ext uri="{FF2B5EF4-FFF2-40B4-BE49-F238E27FC236}">
                <a16:creationId xmlns:a16="http://schemas.microsoft.com/office/drawing/2014/main" id="{0DD8602D-DC7B-5AA5-9B2B-A407DE33D919}"/>
              </a:ext>
            </a:extLst>
          </p:cNvPr>
          <p:cNvSpPr txBox="1"/>
          <p:nvPr/>
        </p:nvSpPr>
        <p:spPr>
          <a:xfrm>
            <a:off x="72000" y="1350000"/>
            <a:ext cx="9052560" cy="2031325"/>
          </a:xfrm>
          <a:prstGeom prst="rect">
            <a:avLst/>
          </a:prstGeom>
          <a:noFill/>
        </p:spPr>
        <p:txBody>
          <a:bodyPr wrap="square">
            <a:spAutoFit/>
          </a:bodyPr>
          <a:lstStyle/>
          <a:p>
            <a:pPr>
              <a:buNone/>
            </a:pPr>
            <a:r>
              <a:rPr lang="ja-JP" altLang="en-US" b="1" dirty="0"/>
              <a:t>あなたはエネルギッシュで洞察力に富み、ダイナミックな性格で知られています。行動を起こすことで活気づき、即座の結果を求める欲求に駆られます。鋭い観察眼を持ち、環境の変化を素早く察知します。現実的で実践的なアプローチをとり、今この瞬間に焦点を当てる傾向があります。適応力があり、即興的で、リスクを取ることを好みます。率直なコミュニケーションスタイルを持ち、長々とした議論よりも行動を優先することが多いです。あなたのカリスマ性と自信は人々を引き付け、生まれながらの影響力者となっています。</a:t>
            </a:r>
            <a:r>
              <a:rPr lang="en-US" altLang="ja-JP" b="1" dirty="0"/>
              <a:t>...</a:t>
            </a:r>
            <a:endParaRPr lang="ja-JP" altLang="ja-JP" b="1" kern="100" dirty="0">
              <a:effectLst/>
              <a:latin typeface="+mn-ea"/>
              <a:cs typeface="Times New Roman" panose="02020603050405020304" pitchFamily="18" charset="0"/>
            </a:endParaRPr>
          </a:p>
        </p:txBody>
      </p:sp>
      <p:graphicFrame>
        <p:nvGraphicFramePr>
          <p:cNvPr id="7" name="表 6">
            <a:extLst>
              <a:ext uri="{FF2B5EF4-FFF2-40B4-BE49-F238E27FC236}">
                <a16:creationId xmlns:a16="http://schemas.microsoft.com/office/drawing/2014/main" id="{200EBCC9-76E4-95AC-4314-B35220E91E06}"/>
              </a:ext>
            </a:extLst>
          </p:cNvPr>
          <p:cNvGraphicFramePr>
            <a:graphicFrameLocks noGrp="1"/>
          </p:cNvGraphicFramePr>
          <p:nvPr>
            <p:extLst>
              <p:ext uri="{D42A27DB-BD31-4B8C-83A1-F6EECF244321}">
                <p14:modId xmlns:p14="http://schemas.microsoft.com/office/powerpoint/2010/main" val="1128710152"/>
              </p:ext>
            </p:extLst>
          </p:nvPr>
        </p:nvGraphicFramePr>
        <p:xfrm>
          <a:off x="288000" y="3589500"/>
          <a:ext cx="8459586" cy="3219195"/>
        </p:xfrm>
        <a:graphic>
          <a:graphicData uri="http://schemas.openxmlformats.org/drawingml/2006/table">
            <a:tbl>
              <a:tblPr firstRow="1" bandRow="1">
                <a:tableStyleId>{5940675A-B579-460E-94D1-54222C63F5DA}</a:tableStyleId>
              </a:tblPr>
              <a:tblGrid>
                <a:gridCol w="2724839">
                  <a:extLst>
                    <a:ext uri="{9D8B030D-6E8A-4147-A177-3AD203B41FA5}">
                      <a16:colId xmlns:a16="http://schemas.microsoft.com/office/drawing/2014/main" val="2070352875"/>
                    </a:ext>
                  </a:extLst>
                </a:gridCol>
                <a:gridCol w="5734747">
                  <a:extLst>
                    <a:ext uri="{9D8B030D-6E8A-4147-A177-3AD203B41FA5}">
                      <a16:colId xmlns:a16="http://schemas.microsoft.com/office/drawing/2014/main" val="3124248647"/>
                    </a:ext>
                  </a:extLst>
                </a:gridCol>
              </a:tblGrid>
              <a:tr h="332943">
                <a:tc>
                  <a:txBody>
                    <a:bodyPr/>
                    <a:lstStyle/>
                    <a:p>
                      <a:r>
                        <a:rPr kumimoji="1" lang="ja-JP" altLang="en-US" sz="1400" b="1" dirty="0"/>
                        <a:t>項目</a:t>
                      </a:r>
                    </a:p>
                  </a:txBody>
                  <a:tcPr/>
                </a:tc>
                <a:tc>
                  <a:txBody>
                    <a:bodyPr/>
                    <a:lstStyle/>
                    <a:p>
                      <a:r>
                        <a:rPr kumimoji="1" lang="ja-JP" altLang="en-US" sz="1400" b="1" dirty="0"/>
                        <a:t>内容</a:t>
                      </a:r>
                    </a:p>
                  </a:txBody>
                  <a:tcPr/>
                </a:tc>
                <a:extLst>
                  <a:ext uri="{0D108BD9-81ED-4DB2-BD59-A6C34878D82A}">
                    <a16:rowId xmlns:a16="http://schemas.microsoft.com/office/drawing/2014/main" val="3519242475"/>
                  </a:ext>
                </a:extLst>
              </a:tr>
              <a:tr h="332943">
                <a:tc>
                  <a:txBody>
                    <a:bodyPr/>
                    <a:lstStyle/>
                    <a:p>
                      <a:r>
                        <a:rPr kumimoji="1" lang="ja-JP" altLang="en-US" sz="1400" b="1" dirty="0"/>
                        <a:t>一般的な特徴</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行動重視で，即座の結果を求める。鋭い観察力を持ち，環境の変化に素早く気づく．</a:t>
                      </a:r>
                      <a:endParaRPr kumimoji="1" lang="en-US" altLang="ja-JP" sz="1400" b="1" dirty="0">
                        <a:latin typeface="+mn-ea"/>
                      </a:endParaRPr>
                    </a:p>
                  </a:txBody>
                  <a:tcPr/>
                </a:tc>
                <a:extLst>
                  <a:ext uri="{0D108BD9-81ED-4DB2-BD59-A6C34878D82A}">
                    <a16:rowId xmlns:a16="http://schemas.microsoft.com/office/drawing/2014/main" val="3686906825"/>
                  </a:ext>
                </a:extLst>
              </a:tr>
              <a:tr h="332943">
                <a:tc>
                  <a:txBody>
                    <a:bodyPr/>
                    <a:lstStyle/>
                    <a:p>
                      <a:r>
                        <a:rPr kumimoji="1" lang="ja-JP" altLang="en-US" sz="1400" b="1" dirty="0"/>
                        <a:t>コミュニケーションスタイル</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抽象的な概念よりも事実や詳細を好み，活発でテンポの良い会話を楽しむ．</a:t>
                      </a:r>
                      <a:endParaRPr lang="en-US" altLang="ja-JP" sz="1400" b="1" dirty="0"/>
                    </a:p>
                  </a:txBody>
                  <a:tcPr/>
                </a:tc>
                <a:extLst>
                  <a:ext uri="{0D108BD9-81ED-4DB2-BD59-A6C34878D82A}">
                    <a16:rowId xmlns:a16="http://schemas.microsoft.com/office/drawing/2014/main" val="4202134865"/>
                  </a:ext>
                </a:extLst>
              </a:tr>
              <a:tr h="332943">
                <a:tc>
                  <a:txBody>
                    <a:bodyPr/>
                    <a:lstStyle/>
                    <a:p>
                      <a:r>
                        <a:rPr kumimoji="1" lang="ja-JP" altLang="en-US" sz="1400" b="1" dirty="0"/>
                        <a:t>リーダーシップと管理スタイル</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行動志向で決断力がある．結果と効率を重視する．</a:t>
                      </a:r>
                      <a:endParaRPr lang="en-US" altLang="ja-JP" sz="1400" b="1" dirty="0"/>
                    </a:p>
                  </a:txBody>
                  <a:tcPr/>
                </a:tc>
                <a:extLst>
                  <a:ext uri="{0D108BD9-81ED-4DB2-BD59-A6C34878D82A}">
                    <a16:rowId xmlns:a16="http://schemas.microsoft.com/office/drawing/2014/main" val="2118375086"/>
                  </a:ext>
                </a:extLst>
              </a:tr>
              <a:tr h="332943">
                <a:tc>
                  <a:txBody>
                    <a:bodyPr/>
                    <a:lstStyle/>
                    <a:p>
                      <a:r>
                        <a:rPr kumimoji="1" lang="ja-JP" altLang="en-US" sz="1400" b="1" dirty="0"/>
                        <a:t>問題解決アプローチ</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極めて実用的で行動ベース。観察力と事実分析に基づく即断即決が得意。</a:t>
                      </a:r>
                      <a:endParaRPr lang="en-US" altLang="ja-JP" sz="1400" b="1" dirty="0"/>
                    </a:p>
                  </a:txBody>
                  <a:tcPr/>
                </a:tc>
                <a:extLst>
                  <a:ext uri="{0D108BD9-81ED-4DB2-BD59-A6C34878D82A}">
                    <a16:rowId xmlns:a16="http://schemas.microsoft.com/office/drawing/2014/main" val="3511622904"/>
                  </a:ext>
                </a:extLst>
              </a:tr>
              <a:tr h="332943">
                <a:tc>
                  <a:txBody>
                    <a:bodyPr/>
                    <a:lstStyle/>
                    <a:p>
                      <a:r>
                        <a:rPr kumimoji="1" lang="ja-JP" altLang="en-US" sz="1400" b="1" dirty="0"/>
                        <a:t>対人関係</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外向的で社交的．率直で正直．</a:t>
                      </a:r>
                      <a:endParaRPr lang="en-US" altLang="ja-JP" sz="1400" b="1" dirty="0"/>
                    </a:p>
                  </a:txBody>
                  <a:tcPr/>
                </a:tc>
                <a:extLst>
                  <a:ext uri="{0D108BD9-81ED-4DB2-BD59-A6C34878D82A}">
                    <a16:rowId xmlns:a16="http://schemas.microsoft.com/office/drawing/2014/main" val="2054788061"/>
                  </a:ext>
                </a:extLst>
              </a:tr>
              <a:tr h="332943">
                <a:tc>
                  <a:txBody>
                    <a:bodyPr/>
                    <a:lstStyle/>
                    <a:p>
                      <a:r>
                        <a:rPr kumimoji="1" lang="ja-JP" altLang="en-US" sz="1400" b="1" dirty="0"/>
                        <a:t>変化とストレスへの対処</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適応力が高く、変化を新しい経験として歓迎する</a:t>
                      </a:r>
                      <a:endParaRPr lang="en-US" altLang="ja-JP" sz="1400" b="1" dirty="0"/>
                    </a:p>
                  </a:txBody>
                  <a:tcPr/>
                </a:tc>
                <a:extLst>
                  <a:ext uri="{0D108BD9-81ED-4DB2-BD59-A6C34878D82A}">
                    <a16:rowId xmlns:a16="http://schemas.microsoft.com/office/drawing/2014/main" val="2990881510"/>
                  </a:ext>
                </a:extLst>
              </a:tr>
              <a:tr h="332943">
                <a:tc>
                  <a:txBody>
                    <a:bodyPr/>
                    <a:lstStyle/>
                    <a:p>
                      <a:r>
                        <a:rPr kumimoji="1" lang="ja-JP" altLang="en-US" sz="1400" b="1" dirty="0"/>
                        <a:t>振る舞いや傾向</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構造化された環境では拘束感を感じ、変化や刺激を求める</a:t>
                      </a:r>
                    </a:p>
                  </a:txBody>
                  <a:tcPr/>
                </a:tc>
                <a:extLst>
                  <a:ext uri="{0D108BD9-81ED-4DB2-BD59-A6C34878D82A}">
                    <a16:rowId xmlns:a16="http://schemas.microsoft.com/office/drawing/2014/main" val="3463468387"/>
                  </a:ext>
                </a:extLst>
              </a:tr>
            </a:tbl>
          </a:graphicData>
        </a:graphic>
      </p:graphicFrame>
      <p:sp>
        <p:nvSpPr>
          <p:cNvPr id="2" name="テキスト ボックス 1">
            <a:extLst>
              <a:ext uri="{FF2B5EF4-FFF2-40B4-BE49-F238E27FC236}">
                <a16:creationId xmlns:a16="http://schemas.microsoft.com/office/drawing/2014/main" id="{5CD85A9F-FAB1-B93D-023C-52E9319BEB06}"/>
              </a:ext>
            </a:extLst>
          </p:cNvPr>
          <p:cNvSpPr txBox="1"/>
          <p:nvPr/>
        </p:nvSpPr>
        <p:spPr>
          <a:xfrm>
            <a:off x="68119" y="1036734"/>
            <a:ext cx="3756458" cy="313266"/>
          </a:xfrm>
          <a:prstGeom prst="rect">
            <a:avLst/>
          </a:prstGeom>
          <a:noFill/>
        </p:spPr>
        <p:txBody>
          <a:bodyPr wrap="square">
            <a:noAutofit/>
          </a:bodyPr>
          <a:lstStyle/>
          <a:p>
            <a:r>
              <a:rPr lang="en-US" altLang="ja-JP" b="1" dirty="0">
                <a:solidFill>
                  <a:schemeClr val="accent1"/>
                </a:solidFill>
              </a:rPr>
              <a:t>ESTP</a:t>
            </a:r>
            <a:r>
              <a:rPr lang="ja-JP" altLang="en-US" b="1" dirty="0">
                <a:solidFill>
                  <a:schemeClr val="accent1"/>
                </a:solidFill>
              </a:rPr>
              <a:t>付与のプロンプト和訳の一部</a:t>
            </a:r>
            <a:endParaRPr lang="ja-JP" altLang="en-US" dirty="0">
              <a:solidFill>
                <a:schemeClr val="accent1"/>
              </a:solidFill>
            </a:endParaRPr>
          </a:p>
        </p:txBody>
      </p:sp>
    </p:spTree>
    <p:extLst>
      <p:ext uri="{BB962C8B-B14F-4D97-AF65-F5344CB8AC3E}">
        <p14:creationId xmlns:p14="http://schemas.microsoft.com/office/powerpoint/2010/main" val="1547572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02506-EA36-4D54-6F4E-5A53E1C14333}"/>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39F6F995-C230-A491-6506-337902A21EB2}"/>
              </a:ext>
            </a:extLst>
          </p:cNvPr>
          <p:cNvSpPr>
            <a:spLocks noGrp="1"/>
          </p:cNvSpPr>
          <p:nvPr>
            <p:ph type="sldNum" sz="quarter" idx="12"/>
          </p:nvPr>
        </p:nvSpPr>
        <p:spPr/>
        <p:txBody>
          <a:bodyPr>
            <a:noAutofit/>
          </a:bodyPr>
          <a:lstStyle/>
          <a:p>
            <a:fld id="{18020408-E1FF-429E-A8D5-EB2A190A0D77}" type="slidenum">
              <a:rPr kumimoji="1" lang="ja-JP" altLang="en-US" smtClean="0"/>
              <a:t>13</a:t>
            </a:fld>
            <a:endParaRPr kumimoji="1" lang="ja-JP" altLang="en-US"/>
          </a:p>
        </p:txBody>
      </p:sp>
      <p:sp>
        <p:nvSpPr>
          <p:cNvPr id="5" name="タイトル 4">
            <a:extLst>
              <a:ext uri="{FF2B5EF4-FFF2-40B4-BE49-F238E27FC236}">
                <a16:creationId xmlns:a16="http://schemas.microsoft.com/office/drawing/2014/main" id="{70453A65-1811-9232-4E70-0BD661E904FE}"/>
              </a:ext>
            </a:extLst>
          </p:cNvPr>
          <p:cNvSpPr>
            <a:spLocks noGrp="1"/>
          </p:cNvSpPr>
          <p:nvPr>
            <p:ph type="title"/>
          </p:nvPr>
        </p:nvSpPr>
        <p:spPr/>
        <p:txBody>
          <a:bodyPr>
            <a:noAutofit/>
          </a:bodyPr>
          <a:lstStyle/>
          <a:p>
            <a:r>
              <a:rPr lang="ja-JP" altLang="en-US" sz="3600" b="1" dirty="0">
                <a:solidFill>
                  <a:schemeClr val="bg1"/>
                </a:solidFill>
                <a:latin typeface="+mn-ea"/>
                <a:ea typeface="+mn-ea"/>
              </a:rPr>
              <a:t>口調の変換方法</a:t>
            </a:r>
          </a:p>
        </p:txBody>
      </p:sp>
      <p:sp>
        <p:nvSpPr>
          <p:cNvPr id="15" name="テキスト ボックス 14">
            <a:extLst>
              <a:ext uri="{FF2B5EF4-FFF2-40B4-BE49-F238E27FC236}">
                <a16:creationId xmlns:a16="http://schemas.microsoft.com/office/drawing/2014/main" id="{0B3C23F2-AF37-7994-0000-DB15587A780E}"/>
              </a:ext>
            </a:extLst>
          </p:cNvPr>
          <p:cNvSpPr txBox="1"/>
          <p:nvPr/>
        </p:nvSpPr>
        <p:spPr>
          <a:xfrm>
            <a:off x="297362" y="1076052"/>
            <a:ext cx="8610017" cy="5403267"/>
          </a:xfrm>
          <a:prstGeom prst="rect">
            <a:avLst/>
          </a:prstGeom>
          <a:noFill/>
        </p:spPr>
        <p:txBody>
          <a:bodyPr wrap="square">
            <a:noAutofit/>
          </a:bodyPr>
          <a:lstStyle/>
          <a:p>
            <a:pPr fontAlgn="base">
              <a:lnSpc>
                <a:spcPts val="2400"/>
              </a:lnSpc>
            </a:pPr>
            <a:r>
              <a:rPr lang="ja-JP" altLang="en-US" sz="2000" b="1" dirty="0">
                <a:solidFill>
                  <a:schemeClr val="accent1"/>
                </a:solidFill>
                <a:latin typeface="Meiryo UI" panose="020B0604030504040204" pitchFamily="50" charset="-128"/>
                <a:ea typeface="Yu Gothic" panose="020B0400000000000000" pitchFamily="50" charset="-128"/>
              </a:rPr>
              <a:t>口調の差別化</a:t>
            </a:r>
            <a:endParaRPr lang="en-US" altLang="ja-JP" sz="2000" b="1" dirty="0">
              <a:solidFill>
                <a:schemeClr val="accent1"/>
              </a:solidFill>
              <a:latin typeface="Meiryo UI" panose="020B0604030504040204" pitchFamily="50" charset="-128"/>
              <a:ea typeface="Yu Gothic" panose="020B0400000000000000" pitchFamily="50" charset="-128"/>
            </a:endParaRPr>
          </a:p>
          <a:p>
            <a:pPr fontAlgn="base">
              <a:lnSpc>
                <a:spcPts val="2400"/>
              </a:lnSpc>
            </a:pPr>
            <a:r>
              <a:rPr lang="en-US" altLang="ja-JP" sz="1400" b="1" dirty="0">
                <a:latin typeface="+mn-ea"/>
              </a:rPr>
              <a:t>ESTP</a:t>
            </a:r>
            <a:r>
              <a:rPr lang="ja-JP" altLang="en-US" sz="1400" b="1" dirty="0">
                <a:latin typeface="+mn-ea"/>
              </a:rPr>
              <a:t>のみフレンドリーな口調に変換</a:t>
            </a:r>
            <a:endParaRPr lang="en-US" altLang="ja-JP" sz="1400" b="1" dirty="0">
              <a:latin typeface="+mn-ea"/>
            </a:endParaRPr>
          </a:p>
          <a:p>
            <a:pPr fontAlgn="base">
              <a:lnSpc>
                <a:spcPts val="2400"/>
              </a:lnSpc>
              <a:spcAft>
                <a:spcPts val="1200"/>
              </a:spcAft>
            </a:pPr>
            <a:r>
              <a:rPr lang="en-US" altLang="ja-JP" sz="1400" b="1" dirty="0">
                <a:latin typeface="+mn-ea"/>
                <a:sym typeface="Wingdings" panose="05000000000000000000" pitchFamily="2" charset="2"/>
              </a:rPr>
              <a:t></a:t>
            </a:r>
            <a:r>
              <a:rPr lang="ja-JP" altLang="en-US" sz="1400" b="1" dirty="0">
                <a:latin typeface="+mn-ea"/>
                <a:sym typeface="Wingdings" panose="05000000000000000000" pitchFamily="2" charset="2"/>
              </a:rPr>
              <a:t>より明確に人格の差を確認</a:t>
            </a:r>
            <a:endParaRPr lang="en-US" altLang="ja-JP" sz="1400" b="1" dirty="0">
              <a:solidFill>
                <a:schemeClr val="accent1"/>
              </a:solidFill>
              <a:latin typeface="Meiryo UI" panose="020B0604030504040204" pitchFamily="50" charset="-128"/>
              <a:ea typeface="Yu Gothic" panose="020B0400000000000000" pitchFamily="50" charset="-128"/>
            </a:endParaRPr>
          </a:p>
          <a:p>
            <a:pPr fontAlgn="base">
              <a:lnSpc>
                <a:spcPts val="2400"/>
              </a:lnSpc>
            </a:pPr>
            <a:r>
              <a:rPr lang="en-US" altLang="ja-JP" sz="2000" b="1" dirty="0">
                <a:solidFill>
                  <a:schemeClr val="accent1"/>
                </a:solidFill>
                <a:latin typeface="+mn-ea"/>
              </a:rPr>
              <a:t>INFJ</a:t>
            </a:r>
            <a:r>
              <a:rPr lang="ja-JP" altLang="en-US" sz="2000" b="1" dirty="0">
                <a:solidFill>
                  <a:schemeClr val="accent1"/>
                </a:solidFill>
                <a:latin typeface="Meiryo UI" panose="020B0604030504040204" pitchFamily="50" charset="-128"/>
                <a:ea typeface="Yu Gothic" panose="020B0400000000000000" pitchFamily="50" charset="-128"/>
              </a:rPr>
              <a:t>口調変換プロンプト</a:t>
            </a:r>
            <a:endParaRPr lang="en-US" altLang="ja-JP" sz="2000" b="1" dirty="0">
              <a:solidFill>
                <a:schemeClr val="accent1"/>
              </a:solidFill>
              <a:latin typeface="Meiryo UI" panose="020B0604030504040204" pitchFamily="50" charset="-128"/>
              <a:ea typeface="Yu Gothic" panose="020B0400000000000000" pitchFamily="50" charset="-128"/>
            </a:endParaRPr>
          </a:p>
          <a:p>
            <a:pPr marL="177800" indent="-177800">
              <a:buFont typeface="Arial" panose="020B0604020202020204" pitchFamily="34" charset="0"/>
              <a:buChar char="•"/>
            </a:pPr>
            <a:r>
              <a:rPr lang="ja-JP" altLang="ja-JP" sz="1400" b="1" dirty="0">
                <a:latin typeface="+mn-ea"/>
              </a:rPr>
              <a:t>対話の最初の一言目として，以下のセリフをあなたなりの口調に言い換えて出力してください．求められていないことは書かないでください．</a:t>
            </a:r>
          </a:p>
          <a:p>
            <a:pPr marL="177800">
              <a:spcAft>
                <a:spcPts val="600"/>
              </a:spcAft>
            </a:pPr>
            <a:r>
              <a:rPr lang="ja-JP" altLang="ja-JP" sz="1400" b="1" dirty="0">
                <a:latin typeface="+mn-ea"/>
              </a:rPr>
              <a:t>セリフ：私の名前は</a:t>
            </a:r>
            <a:r>
              <a:rPr lang="ja-JP" altLang="en-US" sz="1400" b="1" dirty="0">
                <a:latin typeface="+mn-ea"/>
              </a:rPr>
              <a:t>モーリッツ</a:t>
            </a:r>
            <a:r>
              <a:rPr lang="ja-JP" altLang="ja-JP" sz="1400" b="1" dirty="0">
                <a:latin typeface="+mn-ea"/>
              </a:rPr>
              <a:t>です。私が画像生成をサポートします。作成したい画像の概要を入力してください。</a:t>
            </a:r>
            <a:endParaRPr lang="en-US" altLang="ja-JP" sz="1400" b="1" dirty="0">
              <a:latin typeface="+mn-ea"/>
            </a:endParaRPr>
          </a:p>
          <a:p>
            <a:pPr marL="177800" indent="-177800">
              <a:buFont typeface="Arial" panose="020B0604020202020204" pitchFamily="34" charset="0"/>
              <a:buChar char="•"/>
            </a:pPr>
            <a:r>
              <a:rPr lang="ja-JP" altLang="ja-JP" sz="1400" b="1" dirty="0">
                <a:latin typeface="+mn-ea"/>
              </a:rPr>
              <a:t>今から文章が提示されます．文章をあなたなりの</a:t>
            </a:r>
            <a:r>
              <a:rPr lang="ja-JP" altLang="en-US" sz="1400" b="1" dirty="0">
                <a:latin typeface="+mn-ea"/>
              </a:rPr>
              <a:t>口調に</a:t>
            </a:r>
            <a:r>
              <a:rPr lang="ja-JP" altLang="ja-JP" sz="1400" b="1" dirty="0">
                <a:latin typeface="+mn-ea"/>
              </a:rPr>
              <a:t>変更してください．求められていないことは書かないでください．</a:t>
            </a:r>
          </a:p>
          <a:p>
            <a:pPr indent="177800"/>
            <a:r>
              <a:rPr lang="ja-JP" altLang="ja-JP" sz="1400" b="1" dirty="0">
                <a:latin typeface="+mn-ea"/>
              </a:rPr>
              <a:t>文章：</a:t>
            </a:r>
            <a:r>
              <a:rPr lang="en-US" altLang="ja-JP" sz="1400" b="1" dirty="0">
                <a:latin typeface="+mn-ea"/>
              </a:rPr>
              <a:t>[</a:t>
            </a:r>
            <a:r>
              <a:rPr lang="ja-JP" altLang="en-US" sz="1400" b="1" dirty="0">
                <a:latin typeface="+mn-ea"/>
              </a:rPr>
              <a:t>変換前の文章</a:t>
            </a:r>
            <a:r>
              <a:rPr lang="en-US" altLang="ja-JP" sz="1400" b="1" dirty="0">
                <a:latin typeface="+mn-ea"/>
              </a:rPr>
              <a:t>]</a:t>
            </a:r>
            <a:endParaRPr lang="en-US" altLang="ja-JP" sz="1400" b="1" i="0" dirty="0">
              <a:solidFill>
                <a:srgbClr val="000000"/>
              </a:solidFill>
              <a:effectLst/>
              <a:latin typeface="+mn-ea"/>
            </a:endParaRPr>
          </a:p>
          <a:p>
            <a:endParaRPr lang="en-US" altLang="ja-JP" b="1" i="0" dirty="0">
              <a:solidFill>
                <a:srgbClr val="000000"/>
              </a:solidFill>
              <a:effectLst/>
              <a:latin typeface="+mn-ea"/>
            </a:endParaRPr>
          </a:p>
          <a:p>
            <a:pPr fontAlgn="base">
              <a:lnSpc>
                <a:spcPts val="2400"/>
              </a:lnSpc>
            </a:pPr>
            <a:r>
              <a:rPr lang="en-US" altLang="ja-JP" sz="2000" b="1" dirty="0">
                <a:solidFill>
                  <a:schemeClr val="accent1"/>
                </a:solidFill>
                <a:latin typeface="+mn-ea"/>
                <a:ea typeface="Yu Gothic" panose="020B0400000000000000" pitchFamily="50" charset="-128"/>
              </a:rPr>
              <a:t>ESTP</a:t>
            </a:r>
            <a:r>
              <a:rPr lang="ja-JP" altLang="en-US" sz="2000" b="1" dirty="0">
                <a:solidFill>
                  <a:schemeClr val="accent1"/>
                </a:solidFill>
                <a:latin typeface="Meiryo UI" panose="020B0604030504040204" pitchFamily="50" charset="-128"/>
                <a:ea typeface="Yu Gothic" panose="020B0400000000000000" pitchFamily="50" charset="-128"/>
              </a:rPr>
              <a:t>口調変換プロンプト</a:t>
            </a:r>
            <a:endParaRPr lang="en-US" altLang="ja-JP" dirty="0">
              <a:solidFill>
                <a:srgbClr val="000000"/>
              </a:solidFill>
              <a:latin typeface="Meiryo UI" panose="020B0604030504040204" pitchFamily="50" charset="-128"/>
              <a:ea typeface="Meiryo UI" panose="020B0604030504040204" pitchFamily="50" charset="-128"/>
            </a:endParaRPr>
          </a:p>
          <a:p>
            <a:pPr marL="177800" indent="-177800">
              <a:buFont typeface="Arial" panose="020B0604020202020204" pitchFamily="34" charset="0"/>
              <a:buChar char="•"/>
            </a:pPr>
            <a:r>
              <a:rPr lang="en-US" altLang="ja-JP" b="1" dirty="0">
                <a:solidFill>
                  <a:srgbClr val="000000"/>
                </a:solidFill>
                <a:latin typeface="+mn-ea"/>
              </a:rPr>
              <a:t>​</a:t>
            </a:r>
            <a:r>
              <a:rPr lang="ja-JP" altLang="ja-JP" sz="1400" b="1" dirty="0">
                <a:latin typeface="+mn-ea"/>
              </a:rPr>
              <a:t>対話の最初の一言目として，以下のセリフをあなたなりの</a:t>
            </a:r>
            <a:r>
              <a:rPr lang="ja-JP" altLang="en-US" sz="1400" b="1" dirty="0">
                <a:solidFill>
                  <a:srgbClr val="FF0000"/>
                </a:solidFill>
                <a:latin typeface="+mn-ea"/>
              </a:rPr>
              <a:t>フレンドリーな</a:t>
            </a:r>
            <a:r>
              <a:rPr lang="ja-JP" altLang="ja-JP" sz="1400" b="1" dirty="0">
                <a:latin typeface="+mn-ea"/>
              </a:rPr>
              <a:t>口調に言い換えて出力してください．求められていないことは書かないでください．</a:t>
            </a:r>
          </a:p>
          <a:p>
            <a:pPr marL="177800"/>
            <a:r>
              <a:rPr lang="ja-JP" altLang="ja-JP" sz="1400" b="1" dirty="0">
                <a:latin typeface="+mn-ea"/>
              </a:rPr>
              <a:t>セリフ：私の名前は</a:t>
            </a:r>
            <a:r>
              <a:rPr lang="ja-JP" altLang="en-US" sz="1400" b="1" dirty="0">
                <a:latin typeface="+mn-ea"/>
              </a:rPr>
              <a:t>ピクト</a:t>
            </a:r>
            <a:r>
              <a:rPr lang="ja-JP" altLang="ja-JP" sz="1400" b="1" dirty="0">
                <a:latin typeface="+mn-ea"/>
              </a:rPr>
              <a:t>です。私が画像生成をサポートします。作成したい画像の概要を入力してください。</a:t>
            </a:r>
          </a:p>
          <a:p>
            <a:endParaRPr lang="en-US" altLang="ja-JP" sz="1400" b="1" dirty="0">
              <a:solidFill>
                <a:srgbClr val="000000"/>
              </a:solidFill>
              <a:latin typeface="+mn-ea"/>
            </a:endParaRPr>
          </a:p>
          <a:p>
            <a:pPr marL="177800" indent="-177800">
              <a:buFont typeface="Arial" panose="020B0604020202020204" pitchFamily="34" charset="0"/>
              <a:buChar char="•"/>
            </a:pPr>
            <a:r>
              <a:rPr lang="ja-JP" altLang="ja-JP" sz="1400" b="1" dirty="0">
                <a:latin typeface="+mn-ea"/>
              </a:rPr>
              <a:t>今から文章が提示されます．文章をあなたなりの</a:t>
            </a:r>
            <a:r>
              <a:rPr lang="ja-JP" altLang="ja-JP" sz="1400" b="1" dirty="0">
                <a:solidFill>
                  <a:srgbClr val="FF0000"/>
                </a:solidFill>
                <a:latin typeface="+mn-ea"/>
              </a:rPr>
              <a:t>フレンドリーな</a:t>
            </a:r>
            <a:r>
              <a:rPr lang="ja-JP" altLang="ja-JP" sz="1400" b="1" dirty="0">
                <a:latin typeface="+mn-ea"/>
              </a:rPr>
              <a:t>口調に変更してください．求められていないことは書かないでください．</a:t>
            </a:r>
            <a:endParaRPr lang="en-US" altLang="ja-JP" sz="1400" b="1" dirty="0">
              <a:latin typeface="+mn-ea"/>
            </a:endParaRPr>
          </a:p>
          <a:p>
            <a:r>
              <a:rPr lang="ja-JP" altLang="en-US" sz="1400" b="1" dirty="0">
                <a:latin typeface="+mn-ea"/>
              </a:rPr>
              <a:t>　</a:t>
            </a:r>
            <a:r>
              <a:rPr lang="ja-JP" altLang="ja-JP" sz="1400" b="1" dirty="0">
                <a:latin typeface="+mn-ea"/>
              </a:rPr>
              <a:t>文章： </a:t>
            </a:r>
            <a:r>
              <a:rPr lang="en-US" altLang="ja-JP" sz="1400" b="1" dirty="0">
                <a:latin typeface="+mn-ea"/>
              </a:rPr>
              <a:t>[</a:t>
            </a:r>
            <a:r>
              <a:rPr lang="ja-JP" altLang="en-US" sz="1400" b="1" dirty="0">
                <a:latin typeface="+mn-ea"/>
              </a:rPr>
              <a:t>変換前の文章</a:t>
            </a:r>
            <a:r>
              <a:rPr lang="en-US" altLang="ja-JP" sz="1400" b="1" dirty="0">
                <a:latin typeface="+mn-ea"/>
              </a:rPr>
              <a:t>]</a:t>
            </a:r>
            <a:endParaRPr lang="ja-JP" altLang="ja-JP" sz="1400" b="1" dirty="0">
              <a:latin typeface="+mn-ea"/>
            </a:endParaRPr>
          </a:p>
        </p:txBody>
      </p:sp>
    </p:spTree>
    <p:extLst>
      <p:ext uri="{BB962C8B-B14F-4D97-AF65-F5344CB8AC3E}">
        <p14:creationId xmlns:p14="http://schemas.microsoft.com/office/powerpoint/2010/main" val="1789325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3F3CAE30-FC40-C7CC-07CC-D3287D82D117}"/>
              </a:ext>
            </a:extLst>
          </p:cNvPr>
          <p:cNvSpPr>
            <a:spLocks noGrp="1"/>
          </p:cNvSpPr>
          <p:nvPr>
            <p:ph type="sldNum" sz="quarter" idx="12"/>
          </p:nvPr>
        </p:nvSpPr>
        <p:spPr/>
        <p:txBody>
          <a:bodyPr/>
          <a:lstStyle/>
          <a:p>
            <a:fld id="{18020408-E1FF-429E-A8D5-EB2A190A0D77}" type="slidenum">
              <a:rPr kumimoji="1" lang="ja-JP" altLang="en-US" smtClean="0"/>
              <a:pPr/>
              <a:t>14</a:t>
            </a:fld>
            <a:endParaRPr kumimoji="1" lang="ja-JP" altLang="en-US" sz="2400" dirty="0"/>
          </a:p>
        </p:txBody>
      </p:sp>
      <p:sp>
        <p:nvSpPr>
          <p:cNvPr id="3" name="タイトル 2">
            <a:extLst>
              <a:ext uri="{FF2B5EF4-FFF2-40B4-BE49-F238E27FC236}">
                <a16:creationId xmlns:a16="http://schemas.microsoft.com/office/drawing/2014/main" id="{82CCAA93-30F0-5B7C-D484-0C062426AF91}"/>
              </a:ext>
            </a:extLst>
          </p:cNvPr>
          <p:cNvSpPr>
            <a:spLocks noGrp="1"/>
          </p:cNvSpPr>
          <p:nvPr>
            <p:ph type="title"/>
          </p:nvPr>
        </p:nvSpPr>
        <p:spPr/>
        <p:txBody>
          <a:bodyPr/>
          <a:lstStyle/>
          <a:p>
            <a:r>
              <a:rPr kumimoji="1" lang="ja-JP" altLang="en-US" sz="3600" dirty="0"/>
              <a:t>出力結果の一例</a:t>
            </a:r>
          </a:p>
        </p:txBody>
      </p:sp>
      <p:graphicFrame>
        <p:nvGraphicFramePr>
          <p:cNvPr id="38" name="表 37">
            <a:extLst>
              <a:ext uri="{FF2B5EF4-FFF2-40B4-BE49-F238E27FC236}">
                <a16:creationId xmlns:a16="http://schemas.microsoft.com/office/drawing/2014/main" id="{E801366B-E102-EE88-1395-914023A87AC8}"/>
              </a:ext>
            </a:extLst>
          </p:cNvPr>
          <p:cNvGraphicFramePr>
            <a:graphicFrameLocks noGrp="1"/>
          </p:cNvGraphicFramePr>
          <p:nvPr>
            <p:extLst>
              <p:ext uri="{D42A27DB-BD31-4B8C-83A1-F6EECF244321}">
                <p14:modId xmlns:p14="http://schemas.microsoft.com/office/powerpoint/2010/main" val="3082632605"/>
              </p:ext>
            </p:extLst>
          </p:nvPr>
        </p:nvGraphicFramePr>
        <p:xfrm>
          <a:off x="313264" y="2714522"/>
          <a:ext cx="8411286" cy="3507840"/>
        </p:xfrm>
        <a:graphic>
          <a:graphicData uri="http://schemas.openxmlformats.org/drawingml/2006/table">
            <a:tbl>
              <a:tblPr firstRow="1" bandRow="1">
                <a:tableStyleId>{5940675A-B579-460E-94D1-54222C63F5DA}</a:tableStyleId>
              </a:tblPr>
              <a:tblGrid>
                <a:gridCol w="3054765">
                  <a:extLst>
                    <a:ext uri="{9D8B030D-6E8A-4147-A177-3AD203B41FA5}">
                      <a16:colId xmlns:a16="http://schemas.microsoft.com/office/drawing/2014/main" val="468418724"/>
                    </a:ext>
                  </a:extLst>
                </a:gridCol>
                <a:gridCol w="5356521">
                  <a:extLst>
                    <a:ext uri="{9D8B030D-6E8A-4147-A177-3AD203B41FA5}">
                      <a16:colId xmlns:a16="http://schemas.microsoft.com/office/drawing/2014/main" val="62053925"/>
                    </a:ext>
                  </a:extLst>
                </a:gridCol>
              </a:tblGrid>
              <a:tr h="468240">
                <a:tc>
                  <a:txBody>
                    <a:bodyPr/>
                    <a:lstStyle/>
                    <a:p>
                      <a:endParaRPr kumimoji="1" lang="ja-JP" altLang="en-US" dirty="0"/>
                    </a:p>
                  </a:txBody>
                  <a:tcPr/>
                </a:tc>
                <a:tc>
                  <a:txBody>
                    <a:bodyPr/>
                    <a:lstStyle/>
                    <a:p>
                      <a:r>
                        <a:rPr kumimoji="1" lang="ja-JP" altLang="en-US" b="1" dirty="0"/>
                        <a:t>変換結果</a:t>
                      </a:r>
                    </a:p>
                  </a:txBody>
                  <a:tcPr/>
                </a:tc>
                <a:extLst>
                  <a:ext uri="{0D108BD9-81ED-4DB2-BD59-A6C34878D82A}">
                    <a16:rowId xmlns:a16="http://schemas.microsoft.com/office/drawing/2014/main" val="978777052"/>
                  </a:ext>
                </a:extLst>
              </a:tr>
              <a:tr h="1519800">
                <a:tc>
                  <a:txBody>
                    <a:bodyPr/>
                    <a:lstStyle/>
                    <a:p>
                      <a:r>
                        <a:rPr kumimoji="1" lang="en-US" altLang="ja-JP" b="1" dirty="0">
                          <a:latin typeface="+mn-ea"/>
                          <a:ea typeface="+mn-ea"/>
                        </a:rPr>
                        <a:t>INFJ</a:t>
                      </a:r>
                      <a:endParaRPr kumimoji="1" lang="ja-JP" altLang="en-US" b="1" dirty="0">
                        <a:latin typeface="+mn-ea"/>
                        <a:ea typeface="+mn-ea"/>
                      </a:endParaRPr>
                    </a:p>
                  </a:txBody>
                  <a:tcPr/>
                </a:tc>
                <a:tc>
                  <a:txBody>
                    <a:bodyPr/>
                    <a:lstStyle/>
                    <a:p>
                      <a:pPr marL="92075" marR="0" lvl="0" indent="0" algn="just" defTabSz="914400" rtl="0" eaLnBrk="1" fontAlgn="auto" latinLnBrk="0" hangingPunct="1">
                        <a:lnSpc>
                          <a:spcPct val="100000"/>
                        </a:lnSpc>
                        <a:spcBef>
                          <a:spcPts val="0"/>
                        </a:spcBef>
                        <a:spcAft>
                          <a:spcPts val="0"/>
                        </a:spcAft>
                        <a:buClrTx/>
                        <a:buSzTx/>
                        <a:buFont typeface="+mj-lt"/>
                        <a:buNone/>
                        <a:tabLst/>
                        <a:defRPr/>
                      </a:pPr>
                      <a:r>
                        <a:rPr kumimoji="1" lang="ja-JP" altLang="ja-JP" sz="1600" b="1" kern="1200" dirty="0">
                          <a:solidFill>
                            <a:schemeClr val="tx1"/>
                          </a:solidFill>
                          <a:effectLst/>
                          <a:latin typeface="+mn-lt"/>
                          <a:ea typeface="+mn-ea"/>
                          <a:cs typeface="+mn-cs"/>
                        </a:rPr>
                        <a:t>私の名前はモーリッツ</a:t>
                      </a:r>
                      <a:r>
                        <a:rPr kumimoji="1" lang="ja-JP" altLang="ja-JP" sz="1600" b="1" kern="1200" dirty="0">
                          <a:solidFill>
                            <a:schemeClr val="accent2">
                              <a:lumMod val="75000"/>
                            </a:schemeClr>
                          </a:solidFill>
                          <a:effectLst/>
                          <a:latin typeface="+mn-lt"/>
                          <a:ea typeface="+mn-ea"/>
                          <a:cs typeface="+mn-cs"/>
                        </a:rPr>
                        <a:t>です</a:t>
                      </a:r>
                      <a:r>
                        <a:rPr kumimoji="1" lang="ja-JP" altLang="ja-JP" sz="1600" b="1" kern="1200" dirty="0">
                          <a:solidFill>
                            <a:schemeClr val="tx1"/>
                          </a:solidFill>
                          <a:effectLst/>
                          <a:latin typeface="+mn-lt"/>
                          <a:ea typeface="+mn-ea"/>
                          <a:cs typeface="+mn-cs"/>
                        </a:rPr>
                        <a:t>。画像生成のお手伝いをしますので、作りたいイメージの概要を</a:t>
                      </a:r>
                      <a:r>
                        <a:rPr kumimoji="1" lang="ja-JP" altLang="ja-JP" sz="1600" b="1" kern="1200" dirty="0">
                          <a:solidFill>
                            <a:schemeClr val="accent2">
                              <a:lumMod val="75000"/>
                            </a:schemeClr>
                          </a:solidFill>
                          <a:effectLst/>
                          <a:latin typeface="+mn-lt"/>
                          <a:ea typeface="+mn-ea"/>
                          <a:cs typeface="+mn-cs"/>
                        </a:rPr>
                        <a:t>教えてください</a:t>
                      </a:r>
                      <a:r>
                        <a:rPr kumimoji="1" lang="ja-JP" altLang="ja-JP" sz="1600" b="1" kern="1200" dirty="0">
                          <a:solidFill>
                            <a:schemeClr val="tx1"/>
                          </a:solidFill>
                          <a:effectLst/>
                          <a:latin typeface="+mn-lt"/>
                          <a:ea typeface="+mn-ea"/>
                          <a:cs typeface="+mn-cs"/>
                        </a:rPr>
                        <a:t>。</a:t>
                      </a:r>
                      <a:endParaRPr kumimoji="1" lang="en-US" altLang="ja-JP" sz="1600" b="1" kern="1200" dirty="0">
                        <a:solidFill>
                          <a:schemeClr val="tx1"/>
                        </a:solidFill>
                        <a:effectLst/>
                        <a:latin typeface="+mn-lt"/>
                        <a:ea typeface="+mn-ea"/>
                        <a:cs typeface="+mn-cs"/>
                      </a:endParaRPr>
                    </a:p>
                  </a:txBody>
                  <a:tcPr anchor="ctr"/>
                </a:tc>
                <a:extLst>
                  <a:ext uri="{0D108BD9-81ED-4DB2-BD59-A6C34878D82A}">
                    <a16:rowId xmlns:a16="http://schemas.microsoft.com/office/drawing/2014/main" val="883533068"/>
                  </a:ext>
                </a:extLst>
              </a:tr>
              <a:tr h="1519800">
                <a:tc>
                  <a:txBody>
                    <a:bodyPr/>
                    <a:lstStyle/>
                    <a:p>
                      <a:r>
                        <a:rPr kumimoji="1" lang="en-US" altLang="ja-JP" b="1" dirty="0">
                          <a:latin typeface="+mn-ea"/>
                          <a:ea typeface="+mn-ea"/>
                        </a:rPr>
                        <a:t>ESTP</a:t>
                      </a:r>
                      <a:endParaRPr kumimoji="1" lang="ja-JP" altLang="en-US" b="1" dirty="0">
                        <a:latin typeface="+mn-ea"/>
                        <a:ea typeface="+mn-ea"/>
                      </a:endParaRPr>
                    </a:p>
                  </a:txBody>
                  <a:tcPr/>
                </a:tc>
                <a:tc>
                  <a:txBody>
                    <a:bodyPr/>
                    <a:lstStyle/>
                    <a:p>
                      <a:pPr marL="92075" marR="0" lvl="0" indent="0" algn="just" defTabSz="914400" rtl="0" eaLnBrk="1" fontAlgn="auto" latinLnBrk="0" hangingPunct="1">
                        <a:lnSpc>
                          <a:spcPct val="100000"/>
                        </a:lnSpc>
                        <a:spcBef>
                          <a:spcPts val="0"/>
                        </a:spcBef>
                        <a:spcAft>
                          <a:spcPts val="0"/>
                        </a:spcAft>
                        <a:buClr>
                          <a:schemeClr val="tx1"/>
                        </a:buClr>
                        <a:buSzTx/>
                        <a:buFont typeface="+mj-lt"/>
                        <a:buNone/>
                        <a:tabLst/>
                        <a:defRPr/>
                      </a:pPr>
                      <a:r>
                        <a:rPr kumimoji="1" lang="ja-JP" altLang="ja-JP" sz="1600" b="1" kern="1200" dirty="0">
                          <a:solidFill>
                            <a:schemeClr val="tx1"/>
                          </a:solidFill>
                          <a:effectLst/>
                          <a:latin typeface="+mn-lt"/>
                          <a:ea typeface="+mn-ea"/>
                          <a:cs typeface="+mn-cs"/>
                        </a:rPr>
                        <a:t>ピクト</a:t>
                      </a:r>
                      <a:r>
                        <a:rPr kumimoji="1" lang="ja-JP" altLang="ja-JP" sz="1600" b="1" kern="1200" dirty="0">
                          <a:solidFill>
                            <a:srgbClr val="C00000"/>
                          </a:solidFill>
                          <a:effectLst/>
                          <a:latin typeface="+mn-lt"/>
                          <a:ea typeface="+mn-ea"/>
                          <a:cs typeface="+mn-cs"/>
                        </a:rPr>
                        <a:t>だよ</a:t>
                      </a:r>
                      <a:r>
                        <a:rPr kumimoji="1" lang="ja-JP" altLang="ja-JP" sz="1600" b="1" kern="1200" dirty="0">
                          <a:solidFill>
                            <a:schemeClr val="tx1"/>
                          </a:solidFill>
                          <a:effectLst/>
                          <a:latin typeface="+mn-lt"/>
                          <a:ea typeface="+mn-ea"/>
                          <a:cs typeface="+mn-cs"/>
                        </a:rPr>
                        <a:t>。画像作りを手伝うから、</a:t>
                      </a:r>
                      <a:r>
                        <a:rPr kumimoji="1" lang="ja-JP" altLang="ja-JP" sz="1600" b="1" kern="1200" dirty="0">
                          <a:solidFill>
                            <a:srgbClr val="C00000"/>
                          </a:solidFill>
                          <a:effectLst/>
                          <a:latin typeface="+mn-lt"/>
                          <a:ea typeface="+mn-ea"/>
                          <a:cs typeface="+mn-cs"/>
                        </a:rPr>
                        <a:t>どんな</a:t>
                      </a:r>
                      <a:r>
                        <a:rPr kumimoji="1" lang="ja-JP" altLang="ja-JP" sz="1600" b="1" kern="1200" dirty="0">
                          <a:solidFill>
                            <a:schemeClr val="tx1"/>
                          </a:solidFill>
                          <a:effectLst/>
                          <a:latin typeface="+mn-lt"/>
                          <a:ea typeface="+mn-ea"/>
                          <a:cs typeface="+mn-cs"/>
                        </a:rPr>
                        <a:t>イメージを作りたいか</a:t>
                      </a:r>
                      <a:r>
                        <a:rPr kumimoji="1" lang="ja-JP" altLang="ja-JP" sz="1600" b="1" kern="1200" dirty="0">
                          <a:solidFill>
                            <a:srgbClr val="C00000"/>
                          </a:solidFill>
                          <a:effectLst/>
                          <a:latin typeface="+mn-lt"/>
                          <a:ea typeface="+mn-ea"/>
                          <a:cs typeface="+mn-cs"/>
                        </a:rPr>
                        <a:t>教えて</a:t>
                      </a:r>
                      <a:r>
                        <a:rPr kumimoji="1" lang="ja-JP" altLang="ja-JP" sz="1600" b="1" kern="1200" dirty="0">
                          <a:solidFill>
                            <a:schemeClr val="tx1"/>
                          </a:solidFill>
                          <a:effectLst/>
                          <a:latin typeface="+mn-lt"/>
                          <a:ea typeface="+mn-ea"/>
                          <a:cs typeface="+mn-cs"/>
                        </a:rPr>
                        <a:t>。</a:t>
                      </a:r>
                    </a:p>
                  </a:txBody>
                  <a:tcPr anchor="ctr"/>
                </a:tc>
                <a:extLst>
                  <a:ext uri="{0D108BD9-81ED-4DB2-BD59-A6C34878D82A}">
                    <a16:rowId xmlns:a16="http://schemas.microsoft.com/office/drawing/2014/main" val="949451827"/>
                  </a:ext>
                </a:extLst>
              </a:tr>
            </a:tbl>
          </a:graphicData>
        </a:graphic>
      </p:graphicFrame>
      <p:sp>
        <p:nvSpPr>
          <p:cNvPr id="8" name="テキスト ボックス 7">
            <a:extLst>
              <a:ext uri="{FF2B5EF4-FFF2-40B4-BE49-F238E27FC236}">
                <a16:creationId xmlns:a16="http://schemas.microsoft.com/office/drawing/2014/main" id="{D7356E87-E435-2622-0C48-A7D148CB72A7}"/>
              </a:ext>
            </a:extLst>
          </p:cNvPr>
          <p:cNvSpPr txBox="1"/>
          <p:nvPr/>
        </p:nvSpPr>
        <p:spPr>
          <a:xfrm>
            <a:off x="244514" y="1393992"/>
            <a:ext cx="6110387" cy="1000274"/>
          </a:xfrm>
          <a:prstGeom prst="rect">
            <a:avLst/>
          </a:prstGeom>
          <a:noFill/>
        </p:spPr>
        <p:txBody>
          <a:bodyPr wrap="square">
            <a:spAutoFit/>
          </a:bodyPr>
          <a:lstStyle/>
          <a:p>
            <a:pPr>
              <a:spcAft>
                <a:spcPts val="600"/>
              </a:spcAft>
            </a:pPr>
            <a:r>
              <a:rPr kumimoji="1" lang="ja-JP" altLang="en-US" sz="1800" b="1" kern="1200" dirty="0">
                <a:solidFill>
                  <a:schemeClr val="tx1"/>
                </a:solidFill>
                <a:effectLst/>
                <a:latin typeface="+mn-ea"/>
                <a:ea typeface="+mn-ea"/>
                <a:cs typeface="+mn-cs"/>
              </a:rPr>
              <a:t>変換前の文章</a:t>
            </a:r>
            <a:endParaRPr kumimoji="1" lang="en-US" altLang="ja-JP" sz="1800" b="1" kern="1200" dirty="0">
              <a:solidFill>
                <a:schemeClr val="tx1"/>
              </a:solidFill>
              <a:effectLst/>
              <a:latin typeface="+mn-ea"/>
              <a:ea typeface="+mn-ea"/>
              <a:cs typeface="+mn-cs"/>
            </a:endParaRPr>
          </a:p>
          <a:p>
            <a:r>
              <a:rPr lang="ja-JP" altLang="ja-JP" b="1" dirty="0">
                <a:latin typeface="+mn-ea"/>
              </a:rPr>
              <a:t>私の名前は</a:t>
            </a:r>
            <a:r>
              <a:rPr lang="en-US" altLang="ja-JP" b="1" dirty="0">
                <a:latin typeface="+mn-ea"/>
              </a:rPr>
              <a:t>[</a:t>
            </a:r>
            <a:r>
              <a:rPr lang="ja-JP" altLang="en-US" b="1" dirty="0">
                <a:latin typeface="+mn-ea"/>
              </a:rPr>
              <a:t>名前</a:t>
            </a:r>
            <a:r>
              <a:rPr lang="en-US" altLang="ja-JP" b="1" dirty="0">
                <a:latin typeface="+mn-ea"/>
              </a:rPr>
              <a:t>]</a:t>
            </a:r>
            <a:r>
              <a:rPr lang="ja-JP" altLang="ja-JP" b="1" dirty="0">
                <a:latin typeface="+mn-ea"/>
              </a:rPr>
              <a:t>です。私が画像生成をサポートします。作成したい画像の概要を入力してください。</a:t>
            </a:r>
            <a:endParaRPr lang="en-US" altLang="ja-JP" b="1" dirty="0">
              <a:latin typeface="+mn-ea"/>
            </a:endParaRPr>
          </a:p>
        </p:txBody>
      </p:sp>
      <p:grpSp>
        <p:nvGrpSpPr>
          <p:cNvPr id="12" name="グループ化 11">
            <a:extLst>
              <a:ext uri="{FF2B5EF4-FFF2-40B4-BE49-F238E27FC236}">
                <a16:creationId xmlns:a16="http://schemas.microsoft.com/office/drawing/2014/main" id="{CB348F5A-FCEE-AD45-3BCA-ECB36032BDF6}"/>
              </a:ext>
            </a:extLst>
          </p:cNvPr>
          <p:cNvGrpSpPr/>
          <p:nvPr/>
        </p:nvGrpSpPr>
        <p:grpSpPr>
          <a:xfrm>
            <a:off x="1038835" y="3345054"/>
            <a:ext cx="1754501" cy="1123388"/>
            <a:chOff x="3449370" y="2525695"/>
            <a:chExt cx="1754501" cy="1123388"/>
          </a:xfrm>
        </p:grpSpPr>
        <p:pic>
          <p:nvPicPr>
            <p:cNvPr id="5" name="Picture 2" descr="アイコン&#10;&#10;自動的に生成された説明">
              <a:extLst>
                <a:ext uri="{FF2B5EF4-FFF2-40B4-BE49-F238E27FC236}">
                  <a16:creationId xmlns:a16="http://schemas.microsoft.com/office/drawing/2014/main" id="{E11EAA1B-B53E-CD94-B4F5-FCC941AE4F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9370" y="3158322"/>
              <a:ext cx="490761" cy="490761"/>
            </a:xfrm>
            <a:prstGeom prst="rect">
              <a:avLst/>
            </a:prstGeom>
            <a:noFill/>
            <a:extLst>
              <a:ext uri="{909E8E84-426E-40DD-AFC4-6F175D3DCCD1}">
                <a14:hiddenFill xmlns:a14="http://schemas.microsoft.com/office/drawing/2010/main">
                  <a:solidFill>
                    <a:srgbClr val="FFFFFF"/>
                  </a:solidFill>
                </a14:hiddenFill>
              </a:ext>
            </a:extLst>
          </p:spPr>
        </p:pic>
        <p:pic>
          <p:nvPicPr>
            <p:cNvPr id="9" name="図 8" descr="挿絵 が含まれている画像&#10;&#10;AI 生成コンテンツは誤りを含む可能性があります。">
              <a:extLst>
                <a:ext uri="{FF2B5EF4-FFF2-40B4-BE49-F238E27FC236}">
                  <a16:creationId xmlns:a16="http://schemas.microsoft.com/office/drawing/2014/main" id="{17204795-003E-4AC8-6E19-9D71E7DCD7D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879309" y="2525695"/>
              <a:ext cx="1324562" cy="1123388"/>
            </a:xfrm>
            <a:prstGeom prst="rect">
              <a:avLst/>
            </a:prstGeom>
          </p:spPr>
        </p:pic>
      </p:grpSp>
      <p:grpSp>
        <p:nvGrpSpPr>
          <p:cNvPr id="11" name="グループ化 10">
            <a:extLst>
              <a:ext uri="{FF2B5EF4-FFF2-40B4-BE49-F238E27FC236}">
                <a16:creationId xmlns:a16="http://schemas.microsoft.com/office/drawing/2014/main" id="{8962A229-FDB5-DB97-5AE0-BE42863431C3}"/>
              </a:ext>
            </a:extLst>
          </p:cNvPr>
          <p:cNvGrpSpPr/>
          <p:nvPr/>
        </p:nvGrpSpPr>
        <p:grpSpPr>
          <a:xfrm>
            <a:off x="1038835" y="4788698"/>
            <a:ext cx="1913811" cy="1355063"/>
            <a:chOff x="3441810" y="4725486"/>
            <a:chExt cx="1913811" cy="1355063"/>
          </a:xfrm>
        </p:grpSpPr>
        <p:pic>
          <p:nvPicPr>
            <p:cNvPr id="7" name="Picture 2" descr="アイコン&#10;&#10;自動的に生成された説明">
              <a:extLst>
                <a:ext uri="{FF2B5EF4-FFF2-40B4-BE49-F238E27FC236}">
                  <a16:creationId xmlns:a16="http://schemas.microsoft.com/office/drawing/2014/main" id="{A65C2AA2-26DE-2A0D-8947-59E6F4F702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1810" y="5487572"/>
              <a:ext cx="490761" cy="49076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画像">
              <a:extLst>
                <a:ext uri="{FF2B5EF4-FFF2-40B4-BE49-F238E27FC236}">
                  <a16:creationId xmlns:a16="http://schemas.microsoft.com/office/drawing/2014/main" id="{E6EC990A-2899-7ED6-31E8-D0B285837785}"/>
                </a:ext>
              </a:extLst>
            </p:cNvPr>
            <p:cNvPicPr>
              <a:picLocks noChangeAspect="1" noChangeArrowheads="1"/>
            </p:cNvPicPr>
            <p:nvPr/>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18585" t="16857" r="15386" b="15594"/>
            <a:stretch>
              <a:fillRect/>
            </a:stretch>
          </p:blipFill>
          <p:spPr bwMode="auto">
            <a:xfrm>
              <a:off x="4031059" y="4725486"/>
              <a:ext cx="1324562" cy="135506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49977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508FC-BFE4-4A69-9F17-EABCAAFBFEC9}"/>
            </a:ext>
          </a:extLst>
        </p:cNvPr>
        <p:cNvGrpSpPr/>
        <p:nvPr/>
      </p:nvGrpSpPr>
      <p:grpSpPr>
        <a:xfrm>
          <a:off x="0" y="0"/>
          <a:ext cx="0" cy="0"/>
          <a:chOff x="0" y="0"/>
          <a:chExt cx="0" cy="0"/>
        </a:xfrm>
      </p:grpSpPr>
      <p:sp>
        <p:nvSpPr>
          <p:cNvPr id="18" name="スライド番号プレースホルダー 17">
            <a:extLst>
              <a:ext uri="{FF2B5EF4-FFF2-40B4-BE49-F238E27FC236}">
                <a16:creationId xmlns:a16="http://schemas.microsoft.com/office/drawing/2014/main" id="{7684859A-713D-0BC3-F5FA-A989047B194D}"/>
              </a:ext>
            </a:extLst>
          </p:cNvPr>
          <p:cNvSpPr>
            <a:spLocks noGrp="1"/>
          </p:cNvSpPr>
          <p:nvPr>
            <p:ph type="sldNum" sz="quarter" idx="12"/>
          </p:nvPr>
        </p:nvSpPr>
        <p:spPr/>
        <p:txBody>
          <a:bodyPr/>
          <a:lstStyle/>
          <a:p>
            <a:fld id="{18020408-E1FF-429E-A8D5-EB2A190A0D77}" type="slidenum">
              <a:rPr kumimoji="1" lang="ja-JP" altLang="en-US" smtClean="0"/>
              <a:t>15</a:t>
            </a:fld>
            <a:endParaRPr kumimoji="1" lang="ja-JP" altLang="en-US"/>
          </a:p>
        </p:txBody>
      </p:sp>
      <p:sp>
        <p:nvSpPr>
          <p:cNvPr id="5" name="タイトル 4">
            <a:extLst>
              <a:ext uri="{FF2B5EF4-FFF2-40B4-BE49-F238E27FC236}">
                <a16:creationId xmlns:a16="http://schemas.microsoft.com/office/drawing/2014/main" id="{F3E9A006-C870-A405-FDFB-E51B47789E6F}"/>
              </a:ext>
            </a:extLst>
          </p:cNvPr>
          <p:cNvSpPr>
            <a:spLocks noGrp="1"/>
          </p:cNvSpPr>
          <p:nvPr>
            <p:ph type="title"/>
          </p:nvPr>
        </p:nvSpPr>
        <p:spPr/>
        <p:txBody>
          <a:bodyPr>
            <a:noAutofit/>
          </a:bodyPr>
          <a:lstStyle/>
          <a:p>
            <a:r>
              <a:rPr lang="ja-JP" altLang="en-US" sz="3600" b="1" dirty="0">
                <a:solidFill>
                  <a:schemeClr val="bg1"/>
                </a:solidFill>
                <a:latin typeface="+mn-ea"/>
                <a:ea typeface="+mn-ea"/>
              </a:rPr>
              <a:t>実験</a:t>
            </a:r>
          </a:p>
        </p:txBody>
      </p:sp>
      <p:sp>
        <p:nvSpPr>
          <p:cNvPr id="15" name="テキスト ボックス 14">
            <a:extLst>
              <a:ext uri="{FF2B5EF4-FFF2-40B4-BE49-F238E27FC236}">
                <a16:creationId xmlns:a16="http://schemas.microsoft.com/office/drawing/2014/main" id="{396EB989-DFDC-E604-3535-BA41B35A2B49}"/>
              </a:ext>
            </a:extLst>
          </p:cNvPr>
          <p:cNvSpPr txBox="1"/>
          <p:nvPr/>
        </p:nvSpPr>
        <p:spPr>
          <a:xfrm>
            <a:off x="266991" y="1137390"/>
            <a:ext cx="8610017" cy="4700982"/>
          </a:xfrm>
          <a:prstGeom prst="rect">
            <a:avLst/>
          </a:prstGeom>
          <a:noFill/>
        </p:spPr>
        <p:txBody>
          <a:bodyPr wrap="square">
            <a:noAutofit/>
          </a:bodyPr>
          <a:lstStyle/>
          <a:p>
            <a:pPr algn="l" rtl="0" fontAlgn="base">
              <a:lnSpc>
                <a:spcPct val="150000"/>
              </a:lnSpc>
              <a:buNone/>
            </a:pP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実験目的</a:t>
            </a:r>
            <a:endParaRPr lang="en-US" altLang="ja-JP" sz="2000" b="1" i="0" u="none" strike="noStrike" dirty="0">
              <a:solidFill>
                <a:schemeClr val="accent1"/>
              </a:solidFill>
              <a:effectLst/>
              <a:latin typeface="Meiryo UI" panose="020B0604030504040204" pitchFamily="50" charset="-128"/>
              <a:ea typeface="Yu Gothic" panose="020B0400000000000000" pitchFamily="50" charset="-128"/>
            </a:endParaRPr>
          </a:p>
          <a:p>
            <a:r>
              <a:rPr lang="ja-JP" altLang="en-US" sz="2000" b="1" dirty="0"/>
              <a:t>対話に行き詰まった際の人格切り替えが</a:t>
            </a:r>
            <a:r>
              <a:rPr lang="en-US" altLang="ja-JP" sz="2000" b="1" dirty="0">
                <a:latin typeface="+mn-ea"/>
              </a:rPr>
              <a:t>LLM</a:t>
            </a:r>
            <a:r>
              <a:rPr lang="ja-JP" altLang="en-US" sz="2000" b="1" dirty="0"/>
              <a:t>に</a:t>
            </a:r>
            <a:endParaRPr lang="en-US" altLang="ja-JP" sz="2000" b="1" dirty="0"/>
          </a:p>
          <a:p>
            <a:r>
              <a:rPr lang="ja-JP" altLang="en-US" sz="2000" b="1" dirty="0"/>
              <a:t>対する印象に与える影響の調査</a:t>
            </a:r>
            <a:endParaRPr lang="en-US" altLang="ja-JP" b="0" i="0" dirty="0">
              <a:effectLst/>
              <a:latin typeface="Meiryo UI" panose="020B0604030504040204" pitchFamily="50" charset="-128"/>
              <a:ea typeface="Meiryo UI" panose="020B0604030504040204" pitchFamily="50" charset="-128"/>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dirty="0">
              <a:solidFill>
                <a:srgbClr val="000000"/>
              </a:solidFill>
              <a:latin typeface="Meiryo UI" panose="020B0604030504040204" pitchFamily="50" charset="-128"/>
              <a:ea typeface="Meiryo UI" panose="020B0604030504040204" pitchFamily="50" charset="-128"/>
            </a:endParaRPr>
          </a:p>
          <a:p>
            <a:pPr algn="l" rtl="0" fontAlgn="base">
              <a:lnSpc>
                <a:spcPct val="150000"/>
              </a:lnSpc>
              <a:buNone/>
            </a:pP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実験</a:t>
            </a:r>
            <a:r>
              <a:rPr lang="ja-JP" altLang="en-US" sz="2000" b="1" dirty="0">
                <a:solidFill>
                  <a:schemeClr val="accent1"/>
                </a:solidFill>
                <a:latin typeface="Meiryo UI" panose="020B0604030504040204" pitchFamily="50" charset="-128"/>
                <a:ea typeface="Yu Gothic" panose="020B0400000000000000" pitchFamily="50" charset="-128"/>
              </a:rPr>
              <a:t>内容・手順</a:t>
            </a:r>
            <a:endParaRPr lang="en-US" altLang="ja-JP" sz="2000" dirty="0">
              <a:solidFill>
                <a:srgbClr val="000000"/>
              </a:solidFill>
              <a:latin typeface="Yu Gothic" panose="020B0400000000000000" pitchFamily="50" charset="-128"/>
              <a:ea typeface="Meiryo UI" panose="020B0604030504040204" pitchFamily="50" charset="-128"/>
            </a:endParaRPr>
          </a:p>
          <a:p>
            <a:pPr marL="268288" indent="-268288" fontAlgn="base">
              <a:lnSpc>
                <a:spcPct val="125000"/>
              </a:lnSpc>
              <a:buFont typeface="+mj-lt"/>
              <a:buAutoNum type="arabicPeriod"/>
            </a:pPr>
            <a:r>
              <a:rPr lang="ja-JP" altLang="en-US" b="1" dirty="0">
                <a:solidFill>
                  <a:srgbClr val="000000"/>
                </a:solidFill>
                <a:latin typeface="+mn-ea"/>
              </a:rPr>
              <a:t>インフォームドコンセント・実験概要への同意</a:t>
            </a:r>
            <a:endParaRPr lang="en-US" altLang="ja-JP" b="1" dirty="0">
              <a:solidFill>
                <a:srgbClr val="000000"/>
              </a:solidFill>
              <a:latin typeface="+mn-ea"/>
            </a:endParaRPr>
          </a:p>
          <a:p>
            <a:pPr marL="268288" indent="-268288" fontAlgn="base">
              <a:lnSpc>
                <a:spcPct val="125000"/>
              </a:lnSpc>
              <a:buFont typeface="+mj-lt"/>
              <a:buAutoNum type="arabicPeriod"/>
            </a:pPr>
            <a:r>
              <a:rPr lang="ja-JP" altLang="en-US" b="1" dirty="0">
                <a:solidFill>
                  <a:srgbClr val="000000"/>
                </a:solidFill>
                <a:latin typeface="+mn-ea"/>
              </a:rPr>
              <a:t>実験の状況説明と</a:t>
            </a:r>
            <a:r>
              <a:rPr lang="en-US" altLang="ja-JP" b="1" dirty="0">
                <a:solidFill>
                  <a:srgbClr val="000000"/>
                </a:solidFill>
                <a:latin typeface="+mn-ea"/>
              </a:rPr>
              <a:t>Web</a:t>
            </a:r>
            <a:r>
              <a:rPr lang="ja-JP" altLang="en-US" b="1" dirty="0">
                <a:solidFill>
                  <a:srgbClr val="000000"/>
                </a:solidFill>
                <a:latin typeface="+mn-ea"/>
              </a:rPr>
              <a:t>アプリケーションの操作説明</a:t>
            </a:r>
            <a:endParaRPr lang="en-US" altLang="ja-JP" b="1" dirty="0">
              <a:solidFill>
                <a:srgbClr val="000000"/>
              </a:solidFill>
              <a:latin typeface="+mn-ea"/>
            </a:endParaRPr>
          </a:p>
          <a:p>
            <a:pPr marL="268288" indent="-268288" fontAlgn="base">
              <a:lnSpc>
                <a:spcPct val="125000"/>
              </a:lnSpc>
              <a:buFont typeface="+mj-lt"/>
              <a:buAutoNum type="arabicPeriod"/>
            </a:pPr>
            <a:r>
              <a:rPr lang="ja-JP" altLang="en-US" b="1" dirty="0">
                <a:solidFill>
                  <a:srgbClr val="000000"/>
                </a:solidFill>
                <a:latin typeface="+mn-ea"/>
              </a:rPr>
              <a:t>アプリの体験</a:t>
            </a:r>
            <a:endParaRPr lang="en-US" altLang="ja-JP" b="1" dirty="0">
              <a:solidFill>
                <a:srgbClr val="000000"/>
              </a:solidFill>
              <a:latin typeface="+mn-ea"/>
            </a:endParaRPr>
          </a:p>
          <a:p>
            <a:pPr marL="268288" indent="-268288" fontAlgn="base">
              <a:lnSpc>
                <a:spcPct val="125000"/>
              </a:lnSpc>
              <a:buFont typeface="+mj-lt"/>
              <a:buAutoNum type="arabicPeriod"/>
            </a:pPr>
            <a:r>
              <a:rPr lang="ja-JP" altLang="en-US" b="1" dirty="0">
                <a:solidFill>
                  <a:srgbClr val="000000"/>
                </a:solidFill>
                <a:latin typeface="+mn-ea"/>
              </a:rPr>
              <a:t>アンケート項目</a:t>
            </a:r>
            <a:br>
              <a:rPr lang="en-US" altLang="ja-JP" b="1" dirty="0">
                <a:solidFill>
                  <a:srgbClr val="000000"/>
                </a:solidFill>
                <a:latin typeface="+mn-ea"/>
              </a:rPr>
            </a:br>
            <a:endParaRPr lang="en-US" altLang="ja-JP" b="1" dirty="0">
              <a:solidFill>
                <a:srgbClr val="000000"/>
              </a:solidFill>
              <a:latin typeface="+mn-ea"/>
            </a:endParaRPr>
          </a:p>
          <a:p>
            <a:pPr fontAlgn="base">
              <a:lnSpc>
                <a:spcPct val="125000"/>
              </a:lnSpc>
            </a:pPr>
            <a:r>
              <a:rPr lang="ja-JP" altLang="en-US" sz="2000" b="1" dirty="0">
                <a:solidFill>
                  <a:schemeClr val="accent1"/>
                </a:solidFill>
                <a:latin typeface="Meiryo UI" panose="020B0604030504040204" pitchFamily="50" charset="-128"/>
                <a:ea typeface="Yu Gothic" panose="020B0400000000000000" pitchFamily="50" charset="-128"/>
              </a:rPr>
              <a:t>状況設定</a:t>
            </a:r>
            <a:endParaRPr lang="en-US" altLang="ja-JP" sz="2000" b="1" dirty="0">
              <a:solidFill>
                <a:schemeClr val="accent1"/>
              </a:solidFill>
              <a:latin typeface="Meiryo UI" panose="020B0604030504040204" pitchFamily="50" charset="-128"/>
              <a:ea typeface="Yu Gothic" panose="020B0400000000000000" pitchFamily="50" charset="-128"/>
            </a:endParaRPr>
          </a:p>
          <a:p>
            <a:pPr marL="268288" indent="-268288">
              <a:lnSpc>
                <a:spcPct val="125000"/>
              </a:lnSpc>
              <a:buFont typeface="+mj-lt"/>
              <a:buAutoNum type="arabicPeriod"/>
            </a:pPr>
            <a:r>
              <a:rPr lang="en-US" altLang="ja-JP" b="1" dirty="0">
                <a:latin typeface="+mn-ea"/>
              </a:rPr>
              <a:t>LLM</a:t>
            </a:r>
            <a:r>
              <a:rPr lang="ja-JP" altLang="en-US" b="1" dirty="0">
                <a:latin typeface="+mn-ea"/>
              </a:rPr>
              <a:t>に画像生成を依頼</a:t>
            </a:r>
            <a:endParaRPr lang="en-US" altLang="ja-JP" b="1" dirty="0">
              <a:latin typeface="+mn-ea"/>
            </a:endParaRPr>
          </a:p>
          <a:p>
            <a:pPr marL="268288" indent="-268288">
              <a:lnSpc>
                <a:spcPct val="125000"/>
              </a:lnSpc>
              <a:buFont typeface="+mj-lt"/>
              <a:buAutoNum type="arabicPeriod"/>
            </a:pPr>
            <a:r>
              <a:rPr lang="ja-JP" altLang="en-US" b="1" dirty="0">
                <a:latin typeface="+mn-ea"/>
              </a:rPr>
              <a:t>期待した画像が生成されない</a:t>
            </a:r>
            <a:endParaRPr lang="en-US" altLang="ja-JP" b="1" dirty="0">
              <a:latin typeface="+mn-ea"/>
            </a:endParaRPr>
          </a:p>
          <a:p>
            <a:pPr marL="268288" indent="-268288">
              <a:lnSpc>
                <a:spcPct val="125000"/>
              </a:lnSpc>
              <a:buFont typeface="+mj-lt"/>
              <a:buAutoNum type="arabicPeriod"/>
            </a:pPr>
            <a:r>
              <a:rPr lang="ja-JP" altLang="en-US" b="1" dirty="0">
                <a:latin typeface="+mn-ea"/>
              </a:rPr>
              <a:t>チャットを新規作成</a:t>
            </a:r>
            <a:endParaRPr lang="en-US" altLang="ja-JP" b="1" dirty="0">
              <a:latin typeface="+mn-ea"/>
            </a:endParaRPr>
          </a:p>
          <a:p>
            <a:pPr marL="268288" indent="-268288">
              <a:lnSpc>
                <a:spcPct val="125000"/>
              </a:lnSpc>
              <a:buFont typeface="+mj-lt"/>
              <a:buAutoNum type="arabicPeriod"/>
            </a:pPr>
            <a:r>
              <a:rPr lang="ja-JP" altLang="en-US" b="1" dirty="0">
                <a:latin typeface="+mn-ea"/>
              </a:rPr>
              <a:t>同様に期待した画像が生成されない</a:t>
            </a:r>
            <a:endParaRPr lang="en-US" altLang="ja-JP" dirty="0">
              <a:latin typeface="+mn-ea"/>
            </a:endParaRPr>
          </a:p>
          <a:p>
            <a:pPr fontAlgn="base">
              <a:lnSpc>
                <a:spcPts val="1875"/>
              </a:lnSpc>
              <a:spcAft>
                <a:spcPts val="1200"/>
              </a:spcAft>
            </a:pPr>
            <a:endParaRPr lang="en-US" altLang="ja-JP" b="1" dirty="0">
              <a:solidFill>
                <a:srgbClr val="000000"/>
              </a:solidFill>
              <a:latin typeface="+mn-ea"/>
            </a:endParaRPr>
          </a:p>
          <a:p>
            <a:pPr fontAlgn="base">
              <a:lnSpc>
                <a:spcPts val="1875"/>
              </a:lnSpc>
              <a:spcAft>
                <a:spcPts val="1200"/>
              </a:spcAft>
            </a:pPr>
            <a:endParaRPr lang="en-US" altLang="ja-JP" b="1" dirty="0">
              <a:solidFill>
                <a:srgbClr val="000000"/>
              </a:solidFill>
              <a:latin typeface="Yu Gothic" panose="020B0400000000000000" pitchFamily="50" charset="-128"/>
              <a:ea typeface="Meiryo UI" panose="020B0604030504040204" pitchFamily="50" charset="-128"/>
            </a:endParaRPr>
          </a:p>
          <a:p>
            <a:pPr fontAlgn="base">
              <a:lnSpc>
                <a:spcPts val="1875"/>
              </a:lnSpc>
              <a:spcAft>
                <a:spcPts val="1200"/>
              </a:spcAft>
            </a:pPr>
            <a:endParaRPr lang="en-US" altLang="ja-JP" b="1" dirty="0">
              <a:solidFill>
                <a:srgbClr val="000000"/>
              </a:solidFill>
              <a:latin typeface="Yu Gothic" panose="020B0400000000000000" pitchFamily="50" charset="-128"/>
              <a:ea typeface="Meiryo UI" panose="020B0604030504040204" pitchFamily="50" charset="-128"/>
            </a:endParaRPr>
          </a:p>
          <a:p>
            <a:pPr fontAlgn="base">
              <a:lnSpc>
                <a:spcPts val="1875"/>
              </a:lnSpc>
              <a:spcAft>
                <a:spcPts val="1200"/>
              </a:spcAft>
            </a:pPr>
            <a:endParaRPr lang="en-US" altLang="ja-JP" b="1" dirty="0">
              <a:solidFill>
                <a:srgbClr val="000000"/>
              </a:solidFill>
              <a:latin typeface="Meiryo UI" panose="020B0604030504040204" pitchFamily="50" charset="-128"/>
              <a:ea typeface="Yu Gothic" panose="020B0400000000000000" pitchFamily="50" charset="-128"/>
            </a:endParaRPr>
          </a:p>
          <a:p>
            <a:pPr algn="l" rtl="0" fontAlgn="base">
              <a:lnSpc>
                <a:spcPts val="2400"/>
              </a:lnSpc>
              <a:buNone/>
            </a:pPr>
            <a:endParaRPr lang="en-US" altLang="ja-JP" b="1" dirty="0">
              <a:solidFill>
                <a:srgbClr val="000000"/>
              </a:solidFill>
              <a:latin typeface="Meiryo UI" panose="020B0604030504040204" pitchFamily="50" charset="-128"/>
              <a:ea typeface="Yu Gothic" panose="020B0400000000000000" pitchFamily="50" charset="-128"/>
            </a:endParaRPr>
          </a:p>
          <a:p>
            <a:pPr algn="l" rtl="0" fontAlgn="base">
              <a:lnSpc>
                <a:spcPts val="2400"/>
              </a:lnSpc>
              <a:buNone/>
            </a:pPr>
            <a:endParaRPr lang="en-US" altLang="ja-JP" sz="2000" b="1" i="0" u="none" strike="noStrike" dirty="0">
              <a:solidFill>
                <a:srgbClr val="1F4E79"/>
              </a:solidFill>
              <a:effectLst/>
              <a:latin typeface="Meiryo UI" panose="020B0604030504040204" pitchFamily="50" charset="-128"/>
              <a:ea typeface="Yu Gothic" panose="020B0400000000000000" pitchFamily="50" charset="-128"/>
            </a:endParaRPr>
          </a:p>
        </p:txBody>
      </p:sp>
      <p:pic>
        <p:nvPicPr>
          <p:cNvPr id="3" name="図 2"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97C912CB-DAD2-9658-C5C0-C06DBA2D6937}"/>
              </a:ext>
            </a:extLst>
          </p:cNvPr>
          <p:cNvPicPr>
            <a:picLocks noChangeAspect="1"/>
          </p:cNvPicPr>
          <p:nvPr/>
        </p:nvPicPr>
        <p:blipFill>
          <a:blip r:embed="rId3"/>
          <a:srcRect l="464" t="247" r="1"/>
          <a:stretch>
            <a:fillRect/>
          </a:stretch>
        </p:blipFill>
        <p:spPr>
          <a:xfrm>
            <a:off x="5940000" y="3600000"/>
            <a:ext cx="2552622" cy="3036819"/>
          </a:xfrm>
          <a:prstGeom prst="rect">
            <a:avLst/>
          </a:prstGeom>
        </p:spPr>
      </p:pic>
    </p:spTree>
    <p:extLst>
      <p:ext uri="{BB962C8B-B14F-4D97-AF65-F5344CB8AC3E}">
        <p14:creationId xmlns:p14="http://schemas.microsoft.com/office/powerpoint/2010/main" val="964210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10A46-979C-EC0E-6BB0-296C685D4171}"/>
            </a:ext>
          </a:extLst>
        </p:cNvPr>
        <p:cNvGrpSpPr/>
        <p:nvPr/>
      </p:nvGrpSpPr>
      <p:grpSpPr>
        <a:xfrm>
          <a:off x="0" y="0"/>
          <a:ext cx="0" cy="0"/>
          <a:chOff x="0" y="0"/>
          <a:chExt cx="0" cy="0"/>
        </a:xfrm>
      </p:grpSpPr>
      <p:sp>
        <p:nvSpPr>
          <p:cNvPr id="12" name="スライド番号プレースホルダー 11">
            <a:extLst>
              <a:ext uri="{FF2B5EF4-FFF2-40B4-BE49-F238E27FC236}">
                <a16:creationId xmlns:a16="http://schemas.microsoft.com/office/drawing/2014/main" id="{34761849-8C3B-411E-8726-D78A464724EF}"/>
              </a:ext>
            </a:extLst>
          </p:cNvPr>
          <p:cNvSpPr>
            <a:spLocks noGrp="1"/>
          </p:cNvSpPr>
          <p:nvPr>
            <p:ph type="sldNum" sz="quarter" idx="12"/>
          </p:nvPr>
        </p:nvSpPr>
        <p:spPr/>
        <p:txBody>
          <a:bodyPr>
            <a:noAutofit/>
          </a:bodyPr>
          <a:lstStyle/>
          <a:p>
            <a:fld id="{18020408-E1FF-429E-A8D5-EB2A190A0D77}" type="slidenum">
              <a:rPr kumimoji="1" lang="ja-JP" altLang="en-US" smtClean="0"/>
              <a:t>16</a:t>
            </a:fld>
            <a:endParaRPr kumimoji="1" lang="ja-JP" altLang="en-US"/>
          </a:p>
        </p:txBody>
      </p:sp>
      <p:sp>
        <p:nvSpPr>
          <p:cNvPr id="5" name="タイトル 4">
            <a:extLst>
              <a:ext uri="{FF2B5EF4-FFF2-40B4-BE49-F238E27FC236}">
                <a16:creationId xmlns:a16="http://schemas.microsoft.com/office/drawing/2014/main" id="{637D8056-863B-D8D6-F345-D4782DDFF7D3}"/>
              </a:ext>
            </a:extLst>
          </p:cNvPr>
          <p:cNvSpPr>
            <a:spLocks noGrp="1"/>
          </p:cNvSpPr>
          <p:nvPr>
            <p:ph type="title"/>
          </p:nvPr>
        </p:nvSpPr>
        <p:spPr/>
        <p:txBody>
          <a:bodyPr>
            <a:noAutofit/>
          </a:bodyPr>
          <a:lstStyle/>
          <a:p>
            <a:r>
              <a:rPr lang="ja-JP" altLang="en-US" sz="3600" b="1" dirty="0">
                <a:solidFill>
                  <a:schemeClr val="bg1"/>
                </a:solidFill>
                <a:latin typeface="+mn-ea"/>
                <a:ea typeface="+mn-ea"/>
              </a:rPr>
              <a:t>対話体験の提示</a:t>
            </a:r>
          </a:p>
        </p:txBody>
      </p:sp>
      <p:sp>
        <p:nvSpPr>
          <p:cNvPr id="9" name="テキスト ボックス 8">
            <a:extLst>
              <a:ext uri="{FF2B5EF4-FFF2-40B4-BE49-F238E27FC236}">
                <a16:creationId xmlns:a16="http://schemas.microsoft.com/office/drawing/2014/main" id="{2B76B0A2-4496-2C11-6EE0-7200663FE487}"/>
              </a:ext>
            </a:extLst>
          </p:cNvPr>
          <p:cNvSpPr txBox="1"/>
          <p:nvPr/>
        </p:nvSpPr>
        <p:spPr>
          <a:xfrm>
            <a:off x="313264" y="1327868"/>
            <a:ext cx="4252821" cy="400110"/>
          </a:xfrm>
          <a:prstGeom prst="rect">
            <a:avLst/>
          </a:prstGeom>
          <a:solidFill>
            <a:schemeClr val="bg1"/>
          </a:solidFill>
        </p:spPr>
        <p:txBody>
          <a:bodyPr wrap="square">
            <a:noAutofit/>
          </a:bodyPr>
          <a:lstStyle/>
          <a:p>
            <a:r>
              <a:rPr lang="ja-JP" altLang="en-US" sz="2000" b="1" dirty="0">
                <a:solidFill>
                  <a:schemeClr val="accent1"/>
                </a:solidFill>
              </a:rPr>
              <a:t>チャットシミュレーションシステム</a:t>
            </a:r>
          </a:p>
        </p:txBody>
      </p:sp>
      <p:pic>
        <p:nvPicPr>
          <p:cNvPr id="4" name="チャット動画ItoE">
            <a:hlinkClick r:id="" action="ppaction://media"/>
            <a:extLst>
              <a:ext uri="{FF2B5EF4-FFF2-40B4-BE49-F238E27FC236}">
                <a16:creationId xmlns:a16="http://schemas.microsoft.com/office/drawing/2014/main" id="{F23823B1-A064-4EDA-E4DB-26CB2D4A23BC}"/>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27893" r="25543"/>
          <a:stretch>
            <a:fillRect/>
          </a:stretch>
        </p:blipFill>
        <p:spPr>
          <a:xfrm>
            <a:off x="2552370" y="1815570"/>
            <a:ext cx="4031782" cy="4870480"/>
          </a:xfrm>
          <a:prstGeom prst="rect">
            <a:avLst/>
          </a:prstGeom>
        </p:spPr>
      </p:pic>
    </p:spTree>
    <p:extLst>
      <p:ext uri="{BB962C8B-B14F-4D97-AF65-F5344CB8AC3E}">
        <p14:creationId xmlns:p14="http://schemas.microsoft.com/office/powerpoint/2010/main" val="4289761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451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9D35033F-36ED-86BE-B5CD-A170A5D5D074}"/>
              </a:ext>
            </a:extLst>
          </p:cNvPr>
          <p:cNvSpPr>
            <a:spLocks noGrp="1"/>
          </p:cNvSpPr>
          <p:nvPr>
            <p:ph type="sldNum" sz="quarter" idx="12"/>
          </p:nvPr>
        </p:nvSpPr>
        <p:spPr/>
        <p:txBody>
          <a:bodyPr/>
          <a:lstStyle/>
          <a:p>
            <a:fld id="{18020408-E1FF-429E-A8D5-EB2A190A0D77}" type="slidenum">
              <a:rPr kumimoji="1" lang="ja-JP" altLang="en-US" smtClean="0"/>
              <a:pPr/>
              <a:t>17</a:t>
            </a:fld>
            <a:endParaRPr kumimoji="1" lang="ja-JP" altLang="en-US" sz="2400" dirty="0"/>
          </a:p>
        </p:txBody>
      </p:sp>
      <p:sp>
        <p:nvSpPr>
          <p:cNvPr id="3" name="タイトル 2">
            <a:extLst>
              <a:ext uri="{FF2B5EF4-FFF2-40B4-BE49-F238E27FC236}">
                <a16:creationId xmlns:a16="http://schemas.microsoft.com/office/drawing/2014/main" id="{7F1BB79D-9735-DACD-7AB9-1D06D972D223}"/>
              </a:ext>
            </a:extLst>
          </p:cNvPr>
          <p:cNvSpPr>
            <a:spLocks noGrp="1"/>
          </p:cNvSpPr>
          <p:nvPr>
            <p:ph type="title"/>
          </p:nvPr>
        </p:nvSpPr>
        <p:spPr/>
        <p:txBody>
          <a:bodyPr/>
          <a:lstStyle/>
          <a:p>
            <a:r>
              <a:rPr kumimoji="1" lang="ja-JP" altLang="en-US" sz="3600" dirty="0"/>
              <a:t>参加者への教示内容</a:t>
            </a:r>
          </a:p>
        </p:txBody>
      </p:sp>
      <p:sp>
        <p:nvSpPr>
          <p:cNvPr id="4" name="テキスト ボックス 3">
            <a:extLst>
              <a:ext uri="{FF2B5EF4-FFF2-40B4-BE49-F238E27FC236}">
                <a16:creationId xmlns:a16="http://schemas.microsoft.com/office/drawing/2014/main" id="{AF41C8CD-EA32-8292-0F1F-2F50530691E8}"/>
              </a:ext>
            </a:extLst>
          </p:cNvPr>
          <p:cNvSpPr txBox="1"/>
          <p:nvPr/>
        </p:nvSpPr>
        <p:spPr>
          <a:xfrm>
            <a:off x="266991" y="1384600"/>
            <a:ext cx="8610017" cy="4700982"/>
          </a:xfrm>
          <a:prstGeom prst="rect">
            <a:avLst/>
          </a:prstGeom>
          <a:noFill/>
        </p:spPr>
        <p:txBody>
          <a:bodyPr wrap="square">
            <a:noAutofit/>
          </a:bodyPr>
          <a:lstStyle/>
          <a:p>
            <a:pPr algn="l" rtl="0" fontAlgn="base">
              <a:lnSpc>
                <a:spcPct val="150000"/>
              </a:lnSpc>
              <a:buNone/>
            </a:pP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実験</a:t>
            </a:r>
            <a:endParaRPr lang="en-US" altLang="ja-JP" sz="2000" b="1" i="0" u="none" strike="noStrike" dirty="0">
              <a:solidFill>
                <a:schemeClr val="accent1"/>
              </a:solidFill>
              <a:effectLst/>
              <a:latin typeface="Meiryo UI" panose="020B0604030504040204" pitchFamily="50" charset="-128"/>
              <a:ea typeface="Yu Gothic" panose="020B0400000000000000" pitchFamily="50" charset="-128"/>
            </a:endParaRPr>
          </a:p>
          <a:p>
            <a:pPr marL="177800" indent="-177800">
              <a:buFont typeface="Arial" panose="020B0604020202020204" pitchFamily="34" charset="0"/>
              <a:buChar char="•"/>
            </a:pPr>
            <a:r>
              <a:rPr lang="en-US" altLang="ja-JP" b="1" dirty="0">
                <a:latin typeface="+mn-ea"/>
              </a:rPr>
              <a:t>LLM</a:t>
            </a:r>
            <a:r>
              <a:rPr lang="ja-JP" altLang="en-US" b="1" i="0" dirty="0">
                <a:effectLst/>
                <a:latin typeface="+mn-ea"/>
              </a:rPr>
              <a:t>に画像生成を依頼</a:t>
            </a:r>
            <a:endParaRPr lang="en-US" altLang="ja-JP" b="1" i="0" dirty="0">
              <a:effectLst/>
              <a:latin typeface="+mn-ea"/>
            </a:endParaRPr>
          </a:p>
          <a:p>
            <a:pPr marL="177800" indent="-177800">
              <a:buFont typeface="Arial" panose="020B0604020202020204" pitchFamily="34" charset="0"/>
              <a:buChar char="•"/>
            </a:pPr>
            <a:r>
              <a:rPr lang="en-US" altLang="ja-JP" b="1" i="0" dirty="0">
                <a:effectLst/>
                <a:latin typeface="+mn-ea"/>
              </a:rPr>
              <a:t>Web</a:t>
            </a:r>
            <a:r>
              <a:rPr lang="ja-JP" altLang="en-US" b="1" i="0" dirty="0">
                <a:effectLst/>
                <a:latin typeface="+mn-ea"/>
              </a:rPr>
              <a:t>アプリケーション</a:t>
            </a:r>
            <a:r>
              <a:rPr lang="ja-JP" altLang="en-US" b="1" dirty="0">
                <a:latin typeface="+mn-ea"/>
              </a:rPr>
              <a:t>の操作方法</a:t>
            </a:r>
            <a:endParaRPr lang="en-US" altLang="ja-JP" b="1" i="0" dirty="0">
              <a:effectLst/>
              <a:latin typeface="+mn-ea"/>
            </a:endParaRPr>
          </a:p>
          <a:p>
            <a:pPr marL="177800" indent="-177800"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dirty="0">
              <a:solidFill>
                <a:srgbClr val="000000"/>
              </a:solidFill>
              <a:latin typeface="Meiryo UI" panose="020B0604030504040204" pitchFamily="50" charset="-128"/>
              <a:ea typeface="Meiryo UI" panose="020B0604030504040204" pitchFamily="50" charset="-128"/>
            </a:endParaRPr>
          </a:p>
          <a:p>
            <a:pPr marL="177800" indent="-177800" algn="l" rtl="0" fontAlgn="base">
              <a:lnSpc>
                <a:spcPct val="150000"/>
              </a:lnSpc>
              <a:buNone/>
            </a:pPr>
            <a:r>
              <a:rPr lang="ja-JP" altLang="en-US" sz="2000" b="1" dirty="0">
                <a:solidFill>
                  <a:schemeClr val="accent1"/>
                </a:solidFill>
                <a:latin typeface="Meiryo UI" panose="020B0604030504040204" pitchFamily="50" charset="-128"/>
                <a:ea typeface="Yu Gothic" panose="020B0400000000000000" pitchFamily="50" charset="-128"/>
              </a:rPr>
              <a:t>参加者の役割</a:t>
            </a:r>
            <a:endParaRPr lang="en-US" altLang="ja-JP" sz="2000" dirty="0">
              <a:solidFill>
                <a:srgbClr val="000000"/>
              </a:solidFill>
              <a:latin typeface="Yu Gothic" panose="020B0400000000000000" pitchFamily="50" charset="-128"/>
              <a:ea typeface="Meiryo UI" panose="020B0604030504040204" pitchFamily="50" charset="-128"/>
            </a:endParaRPr>
          </a:p>
          <a:p>
            <a:pPr marL="177800" indent="-177800" fontAlgn="base">
              <a:buFont typeface="Arial" panose="020B0604020202020204" pitchFamily="34" charset="0"/>
              <a:buChar char="•"/>
            </a:pPr>
            <a:r>
              <a:rPr lang="en-US" altLang="ja-JP" b="1" dirty="0">
                <a:solidFill>
                  <a:srgbClr val="000000"/>
                </a:solidFill>
                <a:latin typeface="+mn-ea"/>
              </a:rPr>
              <a:t>LLM</a:t>
            </a:r>
            <a:r>
              <a:rPr lang="ja-JP" altLang="en-US" b="1" dirty="0">
                <a:solidFill>
                  <a:srgbClr val="000000"/>
                </a:solidFill>
                <a:latin typeface="+mn-ea"/>
              </a:rPr>
              <a:t>への画像生成を依頼</a:t>
            </a:r>
            <a:endParaRPr lang="en-US" altLang="ja-JP" b="1" dirty="0">
              <a:solidFill>
                <a:srgbClr val="000000"/>
              </a:solidFill>
              <a:latin typeface="+mn-ea"/>
            </a:endParaRPr>
          </a:p>
          <a:p>
            <a:pPr marL="177800" indent="-177800" fontAlgn="base">
              <a:buFont typeface="Arial" panose="020B0604020202020204" pitchFamily="34" charset="0"/>
              <a:buChar char="•"/>
            </a:pPr>
            <a:r>
              <a:rPr lang="ja-JP" altLang="en-US" b="1" dirty="0">
                <a:solidFill>
                  <a:srgbClr val="000000"/>
                </a:solidFill>
                <a:latin typeface="+mn-ea"/>
              </a:rPr>
              <a:t>チャットを利用しているつもりでアプリを体験</a:t>
            </a:r>
            <a:endParaRPr lang="en-US" altLang="ja-JP" b="1" dirty="0">
              <a:solidFill>
                <a:srgbClr val="000000"/>
              </a:solidFill>
              <a:latin typeface="+mn-ea"/>
            </a:endParaRPr>
          </a:p>
          <a:p>
            <a:pPr fontAlgn="base">
              <a:lnSpc>
                <a:spcPts val="1875"/>
              </a:lnSpc>
              <a:spcAft>
                <a:spcPts val="1200"/>
              </a:spcAft>
            </a:pPr>
            <a:endParaRPr lang="en-US" altLang="ja-JP" b="1" dirty="0">
              <a:solidFill>
                <a:srgbClr val="000000"/>
              </a:solidFill>
              <a:latin typeface="+mn-ea"/>
            </a:endParaRPr>
          </a:p>
          <a:p>
            <a:pPr fontAlgn="base">
              <a:lnSpc>
                <a:spcPts val="1875"/>
              </a:lnSpc>
              <a:spcAft>
                <a:spcPts val="1200"/>
              </a:spcAft>
            </a:pPr>
            <a:r>
              <a:rPr lang="en-US" altLang="ja-JP" sz="2000" b="1" dirty="0">
                <a:solidFill>
                  <a:schemeClr val="accent1"/>
                </a:solidFill>
                <a:latin typeface="+mn-ea"/>
              </a:rPr>
              <a:t>LLM</a:t>
            </a:r>
            <a:r>
              <a:rPr lang="ja-JP" altLang="en-US" sz="2000" b="1" dirty="0">
                <a:solidFill>
                  <a:schemeClr val="accent1"/>
                </a:solidFill>
                <a:latin typeface="Meiryo UI" panose="020B0604030504040204" pitchFamily="50" charset="-128"/>
                <a:ea typeface="Yu Gothic" panose="020B0400000000000000" pitchFamily="50" charset="-128"/>
              </a:rPr>
              <a:t>の役割</a:t>
            </a:r>
            <a:endParaRPr lang="en-US" altLang="ja-JP" sz="2000" b="1" dirty="0">
              <a:solidFill>
                <a:schemeClr val="accent1"/>
              </a:solidFill>
              <a:latin typeface="Meiryo UI" panose="020B0604030504040204" pitchFamily="50" charset="-128"/>
              <a:ea typeface="Yu Gothic" panose="020B0400000000000000" pitchFamily="50" charset="-128"/>
            </a:endParaRPr>
          </a:p>
          <a:p>
            <a:pPr marL="182563" indent="-182563" fontAlgn="base">
              <a:lnSpc>
                <a:spcPts val="1875"/>
              </a:lnSpc>
              <a:spcAft>
                <a:spcPts val="1200"/>
              </a:spcAft>
              <a:buFont typeface="Arial" panose="020B0604020202020204" pitchFamily="34" charset="0"/>
              <a:buChar char="•"/>
            </a:pPr>
            <a:r>
              <a:rPr lang="ja-JP" altLang="en-US" b="1" dirty="0">
                <a:solidFill>
                  <a:srgbClr val="000000"/>
                </a:solidFill>
                <a:latin typeface="+mn-ea"/>
              </a:rPr>
              <a:t>テキストと画像生成による応答</a:t>
            </a:r>
            <a:endParaRPr lang="en-US" altLang="ja-JP" b="1" dirty="0">
              <a:solidFill>
                <a:srgbClr val="000000"/>
              </a:solidFill>
              <a:latin typeface="+mn-ea"/>
            </a:endParaRPr>
          </a:p>
          <a:p>
            <a:pPr fontAlgn="base">
              <a:lnSpc>
                <a:spcPts val="1875"/>
              </a:lnSpc>
              <a:spcAft>
                <a:spcPts val="1200"/>
              </a:spcAft>
            </a:pPr>
            <a:endParaRPr lang="en-US" altLang="ja-JP" b="1" dirty="0">
              <a:solidFill>
                <a:srgbClr val="000000"/>
              </a:solidFill>
              <a:latin typeface="+mn-ea"/>
            </a:endParaRPr>
          </a:p>
          <a:p>
            <a:pPr fontAlgn="base">
              <a:lnSpc>
                <a:spcPts val="1875"/>
              </a:lnSpc>
              <a:spcAft>
                <a:spcPts val="1200"/>
              </a:spcAft>
            </a:pPr>
            <a:endParaRPr lang="en-US" altLang="ja-JP" b="1" dirty="0">
              <a:solidFill>
                <a:srgbClr val="000000"/>
              </a:solidFill>
              <a:latin typeface="Yu Gothic" panose="020B0400000000000000" pitchFamily="50" charset="-128"/>
              <a:ea typeface="Meiryo UI" panose="020B0604030504040204" pitchFamily="50" charset="-128"/>
            </a:endParaRPr>
          </a:p>
          <a:p>
            <a:pPr fontAlgn="base">
              <a:lnSpc>
                <a:spcPts val="1875"/>
              </a:lnSpc>
              <a:spcAft>
                <a:spcPts val="1200"/>
              </a:spcAft>
            </a:pPr>
            <a:endParaRPr lang="en-US" altLang="ja-JP" b="1" dirty="0">
              <a:solidFill>
                <a:srgbClr val="000000"/>
              </a:solidFill>
              <a:latin typeface="Meiryo UI" panose="020B0604030504040204" pitchFamily="50" charset="-128"/>
              <a:ea typeface="Yu Gothic" panose="020B0400000000000000" pitchFamily="50" charset="-128"/>
            </a:endParaRPr>
          </a:p>
          <a:p>
            <a:pPr algn="l" rtl="0" fontAlgn="base">
              <a:lnSpc>
                <a:spcPts val="2400"/>
              </a:lnSpc>
              <a:buNone/>
            </a:pPr>
            <a:endParaRPr lang="en-US" altLang="ja-JP" b="1" dirty="0">
              <a:solidFill>
                <a:srgbClr val="000000"/>
              </a:solidFill>
              <a:latin typeface="Meiryo UI" panose="020B0604030504040204" pitchFamily="50" charset="-128"/>
              <a:ea typeface="Yu Gothic" panose="020B0400000000000000" pitchFamily="50" charset="-128"/>
            </a:endParaRPr>
          </a:p>
          <a:p>
            <a:pPr algn="l" rtl="0" fontAlgn="base">
              <a:lnSpc>
                <a:spcPts val="2400"/>
              </a:lnSpc>
              <a:buNone/>
            </a:pPr>
            <a:endParaRPr lang="en-US" altLang="ja-JP" sz="2000" b="1" i="0" u="none" strike="noStrike" dirty="0">
              <a:solidFill>
                <a:srgbClr val="1F4E79"/>
              </a:solidFill>
              <a:effectLst/>
              <a:latin typeface="Meiryo UI" panose="020B0604030504040204" pitchFamily="50" charset="-128"/>
              <a:ea typeface="Yu Gothic" panose="020B0400000000000000" pitchFamily="50" charset="-128"/>
            </a:endParaRPr>
          </a:p>
        </p:txBody>
      </p:sp>
      <p:pic>
        <p:nvPicPr>
          <p:cNvPr id="5" name="図 4" descr="グラフィカル ユーザー インターフェイス, テキスト&#10;&#10;AI 生成コンテンツは誤りを含む可能性があります。">
            <a:extLst>
              <a:ext uri="{FF2B5EF4-FFF2-40B4-BE49-F238E27FC236}">
                <a16:creationId xmlns:a16="http://schemas.microsoft.com/office/drawing/2014/main" id="{F1C78163-A01B-DC70-B1D0-9F6FA4C021D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615982" y="1173374"/>
            <a:ext cx="3261026" cy="2811380"/>
          </a:xfrm>
          <a:prstGeom prst="rect">
            <a:avLst/>
          </a:prstGeom>
        </p:spPr>
      </p:pic>
      <p:pic>
        <p:nvPicPr>
          <p:cNvPr id="7" name="図 6" descr="グラフィカル ユーザー インターフェイス&#10;&#10;AI 生成コンテンツは誤りを含む可能性があります。">
            <a:extLst>
              <a:ext uri="{FF2B5EF4-FFF2-40B4-BE49-F238E27FC236}">
                <a16:creationId xmlns:a16="http://schemas.microsoft.com/office/drawing/2014/main" id="{69678711-492E-F1C3-2462-67F4CA722F5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638798" y="4016970"/>
            <a:ext cx="3238209" cy="2808224"/>
          </a:xfrm>
          <a:prstGeom prst="rect">
            <a:avLst/>
          </a:prstGeom>
        </p:spPr>
      </p:pic>
    </p:spTree>
    <p:extLst>
      <p:ext uri="{BB962C8B-B14F-4D97-AF65-F5344CB8AC3E}">
        <p14:creationId xmlns:p14="http://schemas.microsoft.com/office/powerpoint/2010/main" val="300463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82961386-4CEA-25B5-7275-7B79552246CE}"/>
              </a:ext>
            </a:extLst>
          </p:cNvPr>
          <p:cNvSpPr>
            <a:spLocks noGrp="1"/>
          </p:cNvSpPr>
          <p:nvPr>
            <p:ph type="sldNum" sz="quarter" idx="12"/>
          </p:nvPr>
        </p:nvSpPr>
        <p:spPr/>
        <p:txBody>
          <a:bodyPr/>
          <a:lstStyle/>
          <a:p>
            <a:fld id="{18020408-E1FF-429E-A8D5-EB2A190A0D77}" type="slidenum">
              <a:rPr kumimoji="1" lang="ja-JP" altLang="en-US" smtClean="0"/>
              <a:pPr/>
              <a:t>18</a:t>
            </a:fld>
            <a:endParaRPr kumimoji="1" lang="ja-JP" altLang="en-US" sz="2400" dirty="0"/>
          </a:p>
        </p:txBody>
      </p:sp>
      <p:sp>
        <p:nvSpPr>
          <p:cNvPr id="3" name="タイトル 2">
            <a:extLst>
              <a:ext uri="{FF2B5EF4-FFF2-40B4-BE49-F238E27FC236}">
                <a16:creationId xmlns:a16="http://schemas.microsoft.com/office/drawing/2014/main" id="{B82F9E86-5750-386B-E906-F745761AE391}"/>
              </a:ext>
            </a:extLst>
          </p:cNvPr>
          <p:cNvSpPr>
            <a:spLocks noGrp="1"/>
          </p:cNvSpPr>
          <p:nvPr>
            <p:ph type="title"/>
          </p:nvPr>
        </p:nvSpPr>
        <p:spPr/>
        <p:txBody>
          <a:bodyPr/>
          <a:lstStyle/>
          <a:p>
            <a:r>
              <a:rPr kumimoji="1" lang="ja-JP" altLang="en-US" sz="3600" dirty="0"/>
              <a:t>実験条件・参加者</a:t>
            </a:r>
          </a:p>
        </p:txBody>
      </p:sp>
      <p:sp>
        <p:nvSpPr>
          <p:cNvPr id="4" name="テキスト ボックス 3">
            <a:extLst>
              <a:ext uri="{FF2B5EF4-FFF2-40B4-BE49-F238E27FC236}">
                <a16:creationId xmlns:a16="http://schemas.microsoft.com/office/drawing/2014/main" id="{E3DE6703-24B3-3896-0383-E36E764A6ED2}"/>
              </a:ext>
            </a:extLst>
          </p:cNvPr>
          <p:cNvSpPr txBox="1"/>
          <p:nvPr/>
        </p:nvSpPr>
        <p:spPr>
          <a:xfrm>
            <a:off x="266991" y="1093914"/>
            <a:ext cx="8610017" cy="5223759"/>
          </a:xfrm>
          <a:prstGeom prst="rect">
            <a:avLst/>
          </a:prstGeom>
          <a:noFill/>
        </p:spPr>
        <p:txBody>
          <a:bodyPr wrap="square">
            <a:noAutofit/>
          </a:bodyPr>
          <a:lstStyle/>
          <a:p>
            <a:pPr algn="l" rtl="0" fontAlgn="base">
              <a:lnSpc>
                <a:spcPct val="150000"/>
              </a:lnSpc>
              <a:buNone/>
            </a:pP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実験</a:t>
            </a:r>
            <a:r>
              <a:rPr lang="ja-JP" altLang="en-US" sz="2000" b="1" dirty="0">
                <a:solidFill>
                  <a:schemeClr val="accent1"/>
                </a:solidFill>
                <a:latin typeface="Meiryo UI" panose="020B0604030504040204" pitchFamily="50" charset="-128"/>
                <a:ea typeface="Yu Gothic" panose="020B0400000000000000" pitchFamily="50" charset="-128"/>
              </a:rPr>
              <a:t>条件</a:t>
            </a:r>
            <a:endParaRPr lang="en-US" altLang="ja-JP" sz="2000" b="1" i="0" u="none" strike="noStrike" dirty="0">
              <a:solidFill>
                <a:schemeClr val="accent1"/>
              </a:solidFill>
              <a:effectLst/>
              <a:latin typeface="Meiryo UI" panose="020B0604030504040204" pitchFamily="50" charset="-128"/>
              <a:ea typeface="Yu Gothic" panose="020B0400000000000000" pitchFamily="50" charset="-128"/>
            </a:endParaRPr>
          </a:p>
          <a:p>
            <a:pPr marL="177800" indent="-177800" algn="l" rtl="0" fontAlgn="base">
              <a:lnSpc>
                <a:spcPts val="2100"/>
              </a:lnSpc>
              <a:buNone/>
            </a:pPr>
            <a:r>
              <a:rPr lang="en-US" altLang="ja-JP" sz="1800" b="1" i="0" dirty="0">
                <a:solidFill>
                  <a:srgbClr val="000000"/>
                </a:solidFill>
                <a:effectLst/>
                <a:latin typeface="+mn-ea"/>
              </a:rPr>
              <a:t>2</a:t>
            </a:r>
            <a:r>
              <a:rPr lang="ja-JP" altLang="en-US" sz="1800" b="1" i="0" dirty="0">
                <a:solidFill>
                  <a:srgbClr val="000000"/>
                </a:solidFill>
                <a:effectLst/>
                <a:latin typeface="+mn-ea"/>
              </a:rPr>
              <a:t>要因</a:t>
            </a:r>
            <a:r>
              <a:rPr lang="en-US" altLang="ja-JP" sz="1800" b="1" i="0" dirty="0">
                <a:solidFill>
                  <a:srgbClr val="000000"/>
                </a:solidFill>
                <a:effectLst/>
                <a:latin typeface="+mn-ea"/>
              </a:rPr>
              <a:t>​(2 × 2</a:t>
            </a:r>
            <a:r>
              <a:rPr lang="ja-JP" altLang="en-US" sz="1800" b="1" i="0" dirty="0">
                <a:solidFill>
                  <a:srgbClr val="000000"/>
                </a:solidFill>
                <a:effectLst/>
                <a:latin typeface="+mn-ea"/>
              </a:rPr>
              <a:t>水準</a:t>
            </a:r>
            <a:r>
              <a:rPr lang="en-US" altLang="ja-JP" sz="1800" b="1" i="0" dirty="0">
                <a:solidFill>
                  <a:srgbClr val="000000"/>
                </a:solidFill>
                <a:effectLst/>
                <a:latin typeface="+mn-ea"/>
              </a:rPr>
              <a:t>)</a:t>
            </a:r>
            <a:r>
              <a:rPr lang="ja-JP" altLang="en-US" sz="1800" b="1" i="0" dirty="0">
                <a:solidFill>
                  <a:srgbClr val="000000"/>
                </a:solidFill>
                <a:effectLst/>
                <a:latin typeface="+mn-ea"/>
              </a:rPr>
              <a:t>参加者間計画で実施</a:t>
            </a:r>
            <a:endParaRPr lang="en-US" altLang="ja-JP" sz="1800" b="1" i="0" dirty="0">
              <a:solidFill>
                <a:srgbClr val="000000"/>
              </a:solidFill>
              <a:effectLst/>
              <a:latin typeface="+mn-ea"/>
            </a:endParaRPr>
          </a:p>
          <a:p>
            <a:pPr marL="177800" indent="-177800" algn="l" rtl="0" fontAlgn="base">
              <a:lnSpc>
                <a:spcPts val="2100"/>
              </a:lnSpc>
              <a:buNone/>
            </a:pPr>
            <a:r>
              <a:rPr lang="en-US" altLang="ja-JP" b="1" dirty="0">
                <a:solidFill>
                  <a:srgbClr val="000000"/>
                </a:solidFill>
                <a:latin typeface="+mn-ea"/>
              </a:rPr>
              <a:t>		</a:t>
            </a:r>
            <a:r>
              <a:rPr lang="ja-JP" altLang="en-US" b="1" dirty="0">
                <a:solidFill>
                  <a:srgbClr val="000000"/>
                </a:solidFill>
                <a:latin typeface="+mn-ea"/>
              </a:rPr>
              <a:t>人格設定要因：人格固定，人格切り替え</a:t>
            </a:r>
            <a:endParaRPr lang="en-US" altLang="ja-JP" b="1" dirty="0">
              <a:solidFill>
                <a:srgbClr val="000000"/>
              </a:solidFill>
              <a:latin typeface="+mn-ea"/>
            </a:endParaRPr>
          </a:p>
          <a:p>
            <a:pPr marL="177800" indent="-177800" algn="l" rtl="0" fontAlgn="base">
              <a:lnSpc>
                <a:spcPts val="2100"/>
              </a:lnSpc>
              <a:buNone/>
            </a:pPr>
            <a:r>
              <a:rPr lang="en-US" altLang="ja-JP" b="1" dirty="0">
                <a:solidFill>
                  <a:srgbClr val="000000"/>
                </a:solidFill>
                <a:latin typeface="+mn-ea"/>
              </a:rPr>
              <a:t>		</a:t>
            </a:r>
            <a:r>
              <a:rPr lang="ja-JP" altLang="en-US" b="1" dirty="0">
                <a:solidFill>
                  <a:srgbClr val="000000"/>
                </a:solidFill>
                <a:latin typeface="+mn-ea"/>
              </a:rPr>
              <a:t>名乗り要因：名乗りあり，名乗りなし</a:t>
            </a:r>
            <a:endParaRPr lang="en-US" altLang="ja-JP" b="1" dirty="0">
              <a:solidFill>
                <a:srgbClr val="000000"/>
              </a:solidFill>
              <a:latin typeface="+mn-ea"/>
            </a:endParaRPr>
          </a:p>
          <a:p>
            <a:pPr marL="177800" indent="-177800" algn="l" rtl="0" fontAlgn="base">
              <a:lnSpc>
                <a:spcPts val="2100"/>
              </a:lnSpc>
              <a:buNone/>
            </a:pPr>
            <a:r>
              <a:rPr lang="en-US" altLang="ja-JP" b="1" dirty="0">
                <a:solidFill>
                  <a:srgbClr val="000000"/>
                </a:solidFill>
                <a:latin typeface="+mn-ea"/>
              </a:rPr>
              <a:t>			</a:t>
            </a:r>
            <a:r>
              <a:rPr lang="en-US" altLang="ja-JP" b="1" dirty="0">
                <a:solidFill>
                  <a:srgbClr val="000000"/>
                </a:solidFill>
                <a:latin typeface="+mn-ea"/>
                <a:sym typeface="Wingdings" panose="05000000000000000000" pitchFamily="2" charset="2"/>
              </a:rPr>
              <a:t>INFJ</a:t>
            </a:r>
            <a:r>
              <a:rPr lang="ja-JP" altLang="en-US" b="1" dirty="0">
                <a:solidFill>
                  <a:srgbClr val="000000"/>
                </a:solidFill>
                <a:latin typeface="+mn-ea"/>
                <a:sym typeface="Wingdings" panose="05000000000000000000" pitchFamily="2" charset="2"/>
              </a:rPr>
              <a:t>「モーリッツ」，</a:t>
            </a:r>
            <a:r>
              <a:rPr lang="en-US" altLang="ja-JP" b="1" dirty="0">
                <a:solidFill>
                  <a:srgbClr val="000000"/>
                </a:solidFill>
                <a:latin typeface="+mn-ea"/>
                <a:sym typeface="Wingdings" panose="05000000000000000000" pitchFamily="2" charset="2"/>
              </a:rPr>
              <a:t>ESTP</a:t>
            </a:r>
            <a:r>
              <a:rPr lang="ja-JP" altLang="en-US" b="1" dirty="0">
                <a:solidFill>
                  <a:srgbClr val="000000"/>
                </a:solidFill>
                <a:latin typeface="+mn-ea"/>
                <a:sym typeface="Wingdings" panose="05000000000000000000" pitchFamily="2" charset="2"/>
              </a:rPr>
              <a:t>「ピクト」</a:t>
            </a:r>
            <a:endParaRPr lang="en-US" altLang="ja-JP" b="1" dirty="0">
              <a:solidFill>
                <a:srgbClr val="000000"/>
              </a:solidFill>
              <a:latin typeface="+mn-ea"/>
            </a:endParaRPr>
          </a:p>
          <a:p>
            <a:pPr marL="177800" indent="-177800" algn="l" rtl="0" fontAlgn="base">
              <a:lnSpc>
                <a:spcPct val="150000"/>
              </a:lnSpc>
              <a:buNone/>
            </a:pPr>
            <a:r>
              <a:rPr lang="ja-JP" altLang="en-US" sz="2000" b="1" dirty="0">
                <a:solidFill>
                  <a:schemeClr val="accent1"/>
                </a:solidFill>
                <a:latin typeface="Meiryo UI" panose="020B0604030504040204" pitchFamily="50" charset="-128"/>
                <a:ea typeface="Yu Gothic" panose="020B0400000000000000" pitchFamily="50" charset="-128"/>
              </a:rPr>
              <a:t>参加者</a:t>
            </a:r>
            <a:endParaRPr lang="en-US" altLang="ja-JP" sz="2000" dirty="0">
              <a:solidFill>
                <a:srgbClr val="000000"/>
              </a:solidFill>
              <a:latin typeface="Yu Gothic" panose="020B0400000000000000" pitchFamily="50" charset="-128"/>
              <a:ea typeface="Meiryo UI" panose="020B0604030504040204" pitchFamily="50" charset="-128"/>
            </a:endParaRPr>
          </a:p>
          <a:p>
            <a:pPr fontAlgn="base">
              <a:lnSpc>
                <a:spcPts val="1875"/>
              </a:lnSpc>
              <a:spcAft>
                <a:spcPts val="1200"/>
              </a:spcAft>
            </a:pPr>
            <a:r>
              <a:rPr lang="en-US" altLang="ja-JP" b="1" dirty="0">
                <a:solidFill>
                  <a:srgbClr val="000000"/>
                </a:solidFill>
                <a:latin typeface="+mn-ea"/>
              </a:rPr>
              <a:t>Yahoo</a:t>
            </a:r>
            <a:r>
              <a:rPr lang="ja-JP" altLang="en-US" b="1" dirty="0">
                <a:solidFill>
                  <a:srgbClr val="000000"/>
                </a:solidFill>
                <a:latin typeface="+mn-ea"/>
              </a:rPr>
              <a:t>！クラウドソーシングで募集，参加者は</a:t>
            </a:r>
            <a:r>
              <a:rPr lang="en-US" altLang="ja-JP" b="1" dirty="0">
                <a:solidFill>
                  <a:srgbClr val="000000"/>
                </a:solidFill>
                <a:latin typeface="+mn-ea"/>
              </a:rPr>
              <a:t>Web</a:t>
            </a:r>
            <a:r>
              <a:rPr lang="ja-JP" altLang="en-US" b="1" dirty="0">
                <a:solidFill>
                  <a:srgbClr val="000000"/>
                </a:solidFill>
                <a:latin typeface="+mn-ea"/>
              </a:rPr>
              <a:t>アプリを体験</a:t>
            </a:r>
            <a:endParaRPr lang="en-US" altLang="ja-JP" b="1" dirty="0">
              <a:solidFill>
                <a:srgbClr val="000000"/>
              </a:solidFill>
              <a:latin typeface="+mn-ea"/>
            </a:endParaRPr>
          </a:p>
          <a:p>
            <a:pPr fontAlgn="base">
              <a:lnSpc>
                <a:spcPts val="1875"/>
              </a:lnSpc>
              <a:spcAft>
                <a:spcPts val="1200"/>
              </a:spcAft>
            </a:pPr>
            <a:r>
              <a:rPr lang="en-US" altLang="ja-JP" b="1" dirty="0">
                <a:solidFill>
                  <a:srgbClr val="000000"/>
                </a:solidFill>
                <a:latin typeface="+mn-ea"/>
              </a:rPr>
              <a:t>	</a:t>
            </a:r>
            <a:r>
              <a:rPr lang="ja-JP" altLang="en-US" b="1" dirty="0">
                <a:solidFill>
                  <a:srgbClr val="000000"/>
                </a:solidFill>
                <a:latin typeface="+mn-ea"/>
              </a:rPr>
              <a:t>募集人数：</a:t>
            </a:r>
            <a:r>
              <a:rPr lang="en-US" altLang="ja-JP" b="1" dirty="0">
                <a:solidFill>
                  <a:srgbClr val="000000"/>
                </a:solidFill>
                <a:latin typeface="+mn-ea"/>
              </a:rPr>
              <a:t>204</a:t>
            </a:r>
            <a:r>
              <a:rPr lang="ja-JP" altLang="en-US" b="1" dirty="0">
                <a:solidFill>
                  <a:srgbClr val="000000"/>
                </a:solidFill>
                <a:latin typeface="+mn-ea"/>
              </a:rPr>
              <a:t>名</a:t>
            </a:r>
            <a:endParaRPr lang="en-US" altLang="ja-JP" b="1" dirty="0">
              <a:solidFill>
                <a:srgbClr val="000000"/>
              </a:solidFill>
              <a:latin typeface="+mn-ea"/>
            </a:endParaRPr>
          </a:p>
          <a:p>
            <a:pPr fontAlgn="base">
              <a:lnSpc>
                <a:spcPts val="1875"/>
              </a:lnSpc>
              <a:spcAft>
                <a:spcPts val="1200"/>
              </a:spcAft>
            </a:pPr>
            <a:r>
              <a:rPr lang="en-US" altLang="ja-JP" b="1" dirty="0">
                <a:solidFill>
                  <a:srgbClr val="000000"/>
                </a:solidFill>
                <a:latin typeface="+mn-ea"/>
              </a:rPr>
              <a:t>	</a:t>
            </a:r>
            <a:r>
              <a:rPr lang="ja-JP" altLang="en-US" b="1" dirty="0">
                <a:solidFill>
                  <a:srgbClr val="000000"/>
                </a:solidFill>
                <a:latin typeface="+mn-ea"/>
              </a:rPr>
              <a:t>実験の内容に関する質問に誤答したものを除外</a:t>
            </a:r>
            <a:endParaRPr lang="en-US" altLang="ja-JP" b="1" dirty="0">
              <a:solidFill>
                <a:srgbClr val="000000"/>
              </a:solidFill>
              <a:latin typeface="+mn-ea"/>
            </a:endParaRPr>
          </a:p>
          <a:p>
            <a:pPr fontAlgn="base">
              <a:lnSpc>
                <a:spcPts val="1875"/>
              </a:lnSpc>
              <a:spcAft>
                <a:spcPts val="1200"/>
              </a:spcAft>
            </a:pPr>
            <a:r>
              <a:rPr lang="en-US" altLang="ja-JP" b="1" dirty="0">
                <a:solidFill>
                  <a:srgbClr val="000000"/>
                </a:solidFill>
                <a:latin typeface="+mn-ea"/>
              </a:rPr>
              <a:t>	</a:t>
            </a:r>
            <a:r>
              <a:rPr lang="en-US" altLang="ja-JP" b="1" dirty="0">
                <a:solidFill>
                  <a:srgbClr val="000000"/>
                </a:solidFill>
                <a:latin typeface="+mn-ea"/>
                <a:sym typeface="Wingdings" panose="05000000000000000000" pitchFamily="2" charset="2"/>
              </a:rPr>
              <a:t></a:t>
            </a:r>
            <a:r>
              <a:rPr lang="ja-JP" altLang="en-US" b="1" dirty="0">
                <a:solidFill>
                  <a:srgbClr val="000000"/>
                </a:solidFill>
                <a:latin typeface="+mn-ea"/>
              </a:rPr>
              <a:t>分析対象</a:t>
            </a:r>
            <a:r>
              <a:rPr lang="en-US" altLang="ja-JP" b="1" dirty="0">
                <a:solidFill>
                  <a:srgbClr val="000000"/>
                </a:solidFill>
                <a:latin typeface="+mn-ea"/>
              </a:rPr>
              <a:t>(</a:t>
            </a:r>
            <a:r>
              <a:rPr lang="ja-JP" altLang="en-US" b="1" dirty="0">
                <a:solidFill>
                  <a:srgbClr val="000000"/>
                </a:solidFill>
                <a:latin typeface="+mn-ea"/>
              </a:rPr>
              <a:t>有効回答数</a:t>
            </a:r>
            <a:r>
              <a:rPr lang="en-US" altLang="ja-JP" b="1" dirty="0">
                <a:solidFill>
                  <a:srgbClr val="000000"/>
                </a:solidFill>
                <a:latin typeface="+mn-ea"/>
              </a:rPr>
              <a:t>)</a:t>
            </a:r>
            <a:r>
              <a:rPr lang="ja-JP" altLang="en-US" b="1" dirty="0">
                <a:solidFill>
                  <a:srgbClr val="000000"/>
                </a:solidFill>
                <a:latin typeface="+mn-ea"/>
              </a:rPr>
              <a:t>：</a:t>
            </a:r>
            <a:r>
              <a:rPr lang="en-US" altLang="ja-JP" b="1" dirty="0">
                <a:solidFill>
                  <a:srgbClr val="000000"/>
                </a:solidFill>
                <a:latin typeface="+mn-ea"/>
              </a:rPr>
              <a:t>161</a:t>
            </a:r>
            <a:r>
              <a:rPr lang="ja-JP" altLang="en-US" b="1" dirty="0">
                <a:solidFill>
                  <a:srgbClr val="000000"/>
                </a:solidFill>
                <a:latin typeface="+mn-ea"/>
              </a:rPr>
              <a:t>名</a:t>
            </a:r>
            <a:endParaRPr lang="en-US" altLang="ja-JP" b="1" dirty="0">
              <a:solidFill>
                <a:srgbClr val="000000"/>
              </a:solidFill>
              <a:latin typeface="+mn-ea"/>
            </a:endParaRPr>
          </a:p>
          <a:p>
            <a:pPr fontAlgn="base">
              <a:lnSpc>
                <a:spcPts val="1875"/>
              </a:lnSpc>
              <a:spcAft>
                <a:spcPts val="1200"/>
              </a:spcAft>
            </a:pPr>
            <a:endParaRPr lang="en-US" altLang="ja-JP" b="1" dirty="0">
              <a:solidFill>
                <a:srgbClr val="000000"/>
              </a:solidFill>
              <a:latin typeface="Yu Gothic" panose="020B0400000000000000" pitchFamily="50" charset="-128"/>
              <a:ea typeface="Meiryo UI" panose="020B0604030504040204" pitchFamily="50" charset="-128"/>
            </a:endParaRPr>
          </a:p>
          <a:p>
            <a:pPr fontAlgn="base">
              <a:lnSpc>
                <a:spcPts val="1875"/>
              </a:lnSpc>
              <a:spcAft>
                <a:spcPts val="1200"/>
              </a:spcAft>
            </a:pPr>
            <a:endParaRPr lang="en-US" altLang="ja-JP" b="1" dirty="0">
              <a:solidFill>
                <a:srgbClr val="000000"/>
              </a:solidFill>
              <a:latin typeface="Meiryo UI" panose="020B0604030504040204" pitchFamily="50" charset="-128"/>
              <a:ea typeface="Yu Gothic" panose="020B0400000000000000" pitchFamily="50" charset="-128"/>
            </a:endParaRPr>
          </a:p>
          <a:p>
            <a:pPr algn="l" rtl="0" fontAlgn="base">
              <a:lnSpc>
                <a:spcPts val="2400"/>
              </a:lnSpc>
              <a:buNone/>
            </a:pPr>
            <a:endParaRPr lang="en-US" altLang="ja-JP" b="1" dirty="0">
              <a:solidFill>
                <a:srgbClr val="000000"/>
              </a:solidFill>
              <a:latin typeface="Meiryo UI" panose="020B0604030504040204" pitchFamily="50" charset="-128"/>
              <a:ea typeface="Yu Gothic" panose="020B0400000000000000" pitchFamily="50" charset="-128"/>
            </a:endParaRPr>
          </a:p>
          <a:p>
            <a:pPr algn="l" rtl="0" fontAlgn="base">
              <a:lnSpc>
                <a:spcPts val="2400"/>
              </a:lnSpc>
              <a:buNone/>
            </a:pPr>
            <a:endParaRPr lang="en-US" altLang="ja-JP" sz="2000" b="1" i="0" u="none" strike="noStrike" dirty="0">
              <a:solidFill>
                <a:srgbClr val="1F4E79"/>
              </a:solidFill>
              <a:effectLst/>
              <a:latin typeface="Meiryo UI" panose="020B0604030504040204" pitchFamily="50" charset="-128"/>
              <a:ea typeface="Yu Gothic" panose="020B0400000000000000" pitchFamily="50" charset="-128"/>
            </a:endParaRPr>
          </a:p>
        </p:txBody>
      </p:sp>
      <p:graphicFrame>
        <p:nvGraphicFramePr>
          <p:cNvPr id="5" name="表 4">
            <a:extLst>
              <a:ext uri="{FF2B5EF4-FFF2-40B4-BE49-F238E27FC236}">
                <a16:creationId xmlns:a16="http://schemas.microsoft.com/office/drawing/2014/main" id="{74E8C8BF-ECE6-186F-76FD-B901C514EC46}"/>
              </a:ext>
            </a:extLst>
          </p:cNvPr>
          <p:cNvGraphicFramePr>
            <a:graphicFrameLocks noGrp="1"/>
          </p:cNvGraphicFramePr>
          <p:nvPr>
            <p:extLst>
              <p:ext uri="{D42A27DB-BD31-4B8C-83A1-F6EECF244321}">
                <p14:modId xmlns:p14="http://schemas.microsoft.com/office/powerpoint/2010/main" val="3229521528"/>
              </p:ext>
            </p:extLst>
          </p:nvPr>
        </p:nvGraphicFramePr>
        <p:xfrm>
          <a:off x="2335475" y="4849686"/>
          <a:ext cx="6395064" cy="1828800"/>
        </p:xfrm>
        <a:graphic>
          <a:graphicData uri="http://schemas.openxmlformats.org/drawingml/2006/table">
            <a:tbl>
              <a:tblPr firstRow="1" bandRow="1">
                <a:tableStyleId>{9D7B26C5-4107-4FEC-AEDC-1716B250A1EF}</a:tableStyleId>
              </a:tblPr>
              <a:tblGrid>
                <a:gridCol w="1598766">
                  <a:extLst>
                    <a:ext uri="{9D8B030D-6E8A-4147-A177-3AD203B41FA5}">
                      <a16:colId xmlns:a16="http://schemas.microsoft.com/office/drawing/2014/main" val="3590140221"/>
                    </a:ext>
                  </a:extLst>
                </a:gridCol>
                <a:gridCol w="1598766">
                  <a:extLst>
                    <a:ext uri="{9D8B030D-6E8A-4147-A177-3AD203B41FA5}">
                      <a16:colId xmlns:a16="http://schemas.microsoft.com/office/drawing/2014/main" val="1026226083"/>
                    </a:ext>
                  </a:extLst>
                </a:gridCol>
                <a:gridCol w="1598766">
                  <a:extLst>
                    <a:ext uri="{9D8B030D-6E8A-4147-A177-3AD203B41FA5}">
                      <a16:colId xmlns:a16="http://schemas.microsoft.com/office/drawing/2014/main" val="297791955"/>
                    </a:ext>
                  </a:extLst>
                </a:gridCol>
                <a:gridCol w="1598766">
                  <a:extLst>
                    <a:ext uri="{9D8B030D-6E8A-4147-A177-3AD203B41FA5}">
                      <a16:colId xmlns:a16="http://schemas.microsoft.com/office/drawing/2014/main" val="3303986259"/>
                    </a:ext>
                  </a:extLst>
                </a:gridCol>
              </a:tblGrid>
              <a:tr h="238144">
                <a:tc>
                  <a:txBody>
                    <a:bodyPr/>
                    <a:lstStyle/>
                    <a:p>
                      <a:endParaRPr kumimoji="1" lang="ja-JP" altLang="en-US" b="1" dirty="0">
                        <a:latin typeface="+mn-ea"/>
                        <a:ea typeface="+mn-ea"/>
                      </a:endParaRPr>
                    </a:p>
                  </a:txBody>
                  <a:tcPr/>
                </a:tc>
                <a:tc>
                  <a:txBody>
                    <a:bodyPr/>
                    <a:lstStyle/>
                    <a:p>
                      <a:pPr algn="r"/>
                      <a:r>
                        <a:rPr kumimoji="1" lang="ja-JP" altLang="en-US" b="1" dirty="0">
                          <a:latin typeface="+mn-ea"/>
                          <a:ea typeface="+mn-ea"/>
                        </a:rPr>
                        <a:t>人数</a:t>
                      </a:r>
                    </a:p>
                  </a:txBody>
                  <a:tcPr/>
                </a:tc>
                <a:tc>
                  <a:txBody>
                    <a:bodyPr/>
                    <a:lstStyle/>
                    <a:p>
                      <a:pPr algn="r"/>
                      <a:r>
                        <a:rPr kumimoji="1" lang="ja-JP" altLang="en-US" b="1" dirty="0">
                          <a:latin typeface="+mn-ea"/>
                          <a:ea typeface="+mn-ea"/>
                        </a:rPr>
                        <a:t>平均年齢</a:t>
                      </a:r>
                    </a:p>
                  </a:txBody>
                  <a:tcPr/>
                </a:tc>
                <a:tc>
                  <a:txBody>
                    <a:bodyPr/>
                    <a:lstStyle/>
                    <a:p>
                      <a:pPr algn="r"/>
                      <a:r>
                        <a:rPr kumimoji="1" lang="ja-JP" altLang="en-US" b="1" dirty="0">
                          <a:latin typeface="+mn-ea"/>
                          <a:ea typeface="+mn-ea"/>
                        </a:rPr>
                        <a:t>標準偏差</a:t>
                      </a:r>
                    </a:p>
                  </a:txBody>
                  <a:tcPr/>
                </a:tc>
                <a:extLst>
                  <a:ext uri="{0D108BD9-81ED-4DB2-BD59-A6C34878D82A}">
                    <a16:rowId xmlns:a16="http://schemas.microsoft.com/office/drawing/2014/main" val="3046709418"/>
                  </a:ext>
                </a:extLst>
              </a:tr>
              <a:tr h="238144">
                <a:tc>
                  <a:txBody>
                    <a:bodyPr/>
                    <a:lstStyle/>
                    <a:p>
                      <a:r>
                        <a:rPr kumimoji="1" lang="ja-JP" altLang="en-US" b="1" dirty="0">
                          <a:latin typeface="+mn-ea"/>
                          <a:ea typeface="+mn-ea"/>
                        </a:rPr>
                        <a:t>男性</a:t>
                      </a:r>
                    </a:p>
                  </a:txBody>
                  <a:tcPr>
                    <a:solidFill>
                      <a:schemeClr val="bg1">
                        <a:alpha val="20000"/>
                      </a:schemeClr>
                    </a:solidFill>
                  </a:tcPr>
                </a:tc>
                <a:tc>
                  <a:txBody>
                    <a:bodyPr/>
                    <a:lstStyle/>
                    <a:p>
                      <a:pPr algn="r"/>
                      <a:r>
                        <a:rPr kumimoji="1" lang="en-US" altLang="ja-JP" b="1" dirty="0">
                          <a:latin typeface="+mn-ea"/>
                          <a:ea typeface="+mn-ea"/>
                        </a:rPr>
                        <a:t>77</a:t>
                      </a:r>
                      <a:endParaRPr kumimoji="1" lang="ja-JP" altLang="en-US" b="1" dirty="0">
                        <a:latin typeface="+mn-ea"/>
                        <a:ea typeface="+mn-ea"/>
                      </a:endParaRPr>
                    </a:p>
                  </a:txBody>
                  <a:tcPr>
                    <a:solidFill>
                      <a:schemeClr val="bg1">
                        <a:alpha val="20000"/>
                      </a:schemeClr>
                    </a:solidFill>
                  </a:tcPr>
                </a:tc>
                <a:tc>
                  <a:txBody>
                    <a:bodyPr/>
                    <a:lstStyle/>
                    <a:p>
                      <a:pPr algn="r"/>
                      <a:r>
                        <a:rPr kumimoji="1" lang="en-US" altLang="ja-JP" b="1" dirty="0">
                          <a:latin typeface="+mn-ea"/>
                          <a:ea typeface="+mn-ea"/>
                        </a:rPr>
                        <a:t>49.3</a:t>
                      </a:r>
                      <a:endParaRPr kumimoji="1" lang="ja-JP" altLang="en-US" b="1" dirty="0">
                        <a:latin typeface="+mn-ea"/>
                        <a:ea typeface="+mn-ea"/>
                      </a:endParaRPr>
                    </a:p>
                  </a:txBody>
                  <a:tcPr>
                    <a:solidFill>
                      <a:schemeClr val="bg1">
                        <a:alpha val="20000"/>
                      </a:schemeClr>
                    </a:solidFill>
                  </a:tcPr>
                </a:tc>
                <a:tc>
                  <a:txBody>
                    <a:bodyPr/>
                    <a:lstStyle/>
                    <a:p>
                      <a:pPr algn="r"/>
                      <a:r>
                        <a:rPr kumimoji="1" lang="en-US" altLang="ja-JP" b="1" dirty="0">
                          <a:latin typeface="+mn-ea"/>
                          <a:ea typeface="+mn-ea"/>
                        </a:rPr>
                        <a:t>8.70</a:t>
                      </a:r>
                      <a:endParaRPr kumimoji="1" lang="ja-JP" altLang="en-US" b="1" dirty="0">
                        <a:latin typeface="+mn-ea"/>
                        <a:ea typeface="+mn-ea"/>
                      </a:endParaRPr>
                    </a:p>
                  </a:txBody>
                  <a:tcPr>
                    <a:solidFill>
                      <a:schemeClr val="bg1">
                        <a:alpha val="20000"/>
                      </a:schemeClr>
                    </a:solidFill>
                  </a:tcPr>
                </a:tc>
                <a:extLst>
                  <a:ext uri="{0D108BD9-81ED-4DB2-BD59-A6C34878D82A}">
                    <a16:rowId xmlns:a16="http://schemas.microsoft.com/office/drawing/2014/main" val="3792940153"/>
                  </a:ext>
                </a:extLst>
              </a:tr>
              <a:tr h="238144">
                <a:tc>
                  <a:txBody>
                    <a:bodyPr/>
                    <a:lstStyle/>
                    <a:p>
                      <a:r>
                        <a:rPr kumimoji="1" lang="ja-JP" altLang="en-US" b="1" dirty="0">
                          <a:latin typeface="+mn-ea"/>
                          <a:ea typeface="+mn-ea"/>
                        </a:rPr>
                        <a:t>女性</a:t>
                      </a:r>
                    </a:p>
                  </a:txBody>
                  <a:tcPr/>
                </a:tc>
                <a:tc>
                  <a:txBody>
                    <a:bodyPr/>
                    <a:lstStyle/>
                    <a:p>
                      <a:pPr algn="r"/>
                      <a:r>
                        <a:rPr kumimoji="1" lang="en-US" altLang="ja-JP" b="1" dirty="0">
                          <a:latin typeface="+mn-ea"/>
                          <a:ea typeface="+mn-ea"/>
                        </a:rPr>
                        <a:t>81</a:t>
                      </a:r>
                      <a:endParaRPr kumimoji="1" lang="ja-JP" altLang="en-US" b="1" dirty="0">
                        <a:latin typeface="+mn-ea"/>
                        <a:ea typeface="+mn-ea"/>
                      </a:endParaRPr>
                    </a:p>
                  </a:txBody>
                  <a:tcPr/>
                </a:tc>
                <a:tc>
                  <a:txBody>
                    <a:bodyPr/>
                    <a:lstStyle/>
                    <a:p>
                      <a:pPr algn="r"/>
                      <a:r>
                        <a:rPr kumimoji="1" lang="en-US" altLang="ja-JP" b="1" dirty="0">
                          <a:latin typeface="+mn-ea"/>
                          <a:ea typeface="+mn-ea"/>
                        </a:rPr>
                        <a:t>49.6</a:t>
                      </a:r>
                      <a:endParaRPr kumimoji="1" lang="ja-JP" altLang="en-US" b="1" dirty="0">
                        <a:latin typeface="+mn-ea"/>
                        <a:ea typeface="+mn-ea"/>
                      </a:endParaRPr>
                    </a:p>
                  </a:txBody>
                  <a:tcPr/>
                </a:tc>
                <a:tc>
                  <a:txBody>
                    <a:bodyPr/>
                    <a:lstStyle/>
                    <a:p>
                      <a:pPr algn="r"/>
                      <a:r>
                        <a:rPr kumimoji="1" lang="en-US" altLang="ja-JP" b="1" dirty="0">
                          <a:latin typeface="+mn-ea"/>
                          <a:ea typeface="+mn-ea"/>
                        </a:rPr>
                        <a:t>11.30</a:t>
                      </a:r>
                      <a:endParaRPr kumimoji="1" lang="ja-JP" altLang="en-US" b="1" dirty="0">
                        <a:latin typeface="+mn-ea"/>
                        <a:ea typeface="+mn-ea"/>
                      </a:endParaRPr>
                    </a:p>
                  </a:txBody>
                  <a:tcPr/>
                </a:tc>
                <a:extLst>
                  <a:ext uri="{0D108BD9-81ED-4DB2-BD59-A6C34878D82A}">
                    <a16:rowId xmlns:a16="http://schemas.microsoft.com/office/drawing/2014/main" val="1979252594"/>
                  </a:ext>
                </a:extLst>
              </a:tr>
              <a:tr h="238144">
                <a:tc>
                  <a:txBody>
                    <a:bodyPr/>
                    <a:lstStyle/>
                    <a:p>
                      <a:r>
                        <a:rPr kumimoji="1" lang="ja-JP" altLang="en-US" b="1" dirty="0">
                          <a:latin typeface="+mn-ea"/>
                          <a:ea typeface="+mn-ea"/>
                        </a:rPr>
                        <a:t>その他</a:t>
                      </a:r>
                    </a:p>
                  </a:txBody>
                  <a:tcPr>
                    <a:solidFill>
                      <a:schemeClr val="bg1">
                        <a:alpha val="20000"/>
                      </a:schemeClr>
                    </a:solidFill>
                  </a:tcPr>
                </a:tc>
                <a:tc>
                  <a:txBody>
                    <a:bodyPr/>
                    <a:lstStyle/>
                    <a:p>
                      <a:pPr algn="r"/>
                      <a:r>
                        <a:rPr kumimoji="1" lang="en-US" altLang="ja-JP" b="1" dirty="0">
                          <a:latin typeface="+mn-ea"/>
                          <a:ea typeface="+mn-ea"/>
                        </a:rPr>
                        <a:t>1</a:t>
                      </a:r>
                      <a:endParaRPr kumimoji="1" lang="ja-JP" altLang="en-US" b="1" dirty="0">
                        <a:latin typeface="+mn-ea"/>
                        <a:ea typeface="+mn-ea"/>
                      </a:endParaRPr>
                    </a:p>
                  </a:txBody>
                  <a:tcPr>
                    <a:solidFill>
                      <a:schemeClr val="bg1">
                        <a:alpha val="20000"/>
                      </a:schemeClr>
                    </a:solidFill>
                  </a:tcPr>
                </a:tc>
                <a:tc>
                  <a:txBody>
                    <a:bodyPr/>
                    <a:lstStyle/>
                    <a:p>
                      <a:pPr algn="r"/>
                      <a:r>
                        <a:rPr kumimoji="1" lang="en-US" altLang="ja-JP" b="1" dirty="0">
                          <a:latin typeface="+mn-ea"/>
                          <a:ea typeface="+mn-ea"/>
                        </a:rPr>
                        <a:t>31.0</a:t>
                      </a:r>
                      <a:endParaRPr kumimoji="1" lang="ja-JP" altLang="en-US" b="1" dirty="0">
                        <a:latin typeface="+mn-ea"/>
                        <a:ea typeface="+mn-ea"/>
                      </a:endParaRPr>
                    </a:p>
                  </a:txBody>
                  <a:tcPr>
                    <a:solidFill>
                      <a:schemeClr val="bg1">
                        <a:alpha val="20000"/>
                      </a:schemeClr>
                    </a:solidFill>
                  </a:tcPr>
                </a:tc>
                <a:tc>
                  <a:txBody>
                    <a:bodyPr/>
                    <a:lstStyle/>
                    <a:p>
                      <a:pPr algn="r"/>
                      <a:r>
                        <a:rPr kumimoji="1" lang="en-US" altLang="ja-JP" b="1" dirty="0">
                          <a:latin typeface="+mn-ea"/>
                          <a:ea typeface="+mn-ea"/>
                        </a:rPr>
                        <a:t>--</a:t>
                      </a:r>
                      <a:endParaRPr kumimoji="1" lang="ja-JP" altLang="en-US" b="1" dirty="0">
                        <a:latin typeface="+mn-ea"/>
                        <a:ea typeface="+mn-ea"/>
                      </a:endParaRPr>
                    </a:p>
                  </a:txBody>
                  <a:tcPr>
                    <a:solidFill>
                      <a:schemeClr val="bg1">
                        <a:alpha val="20000"/>
                      </a:schemeClr>
                    </a:solidFill>
                  </a:tcPr>
                </a:tc>
                <a:extLst>
                  <a:ext uri="{0D108BD9-81ED-4DB2-BD59-A6C34878D82A}">
                    <a16:rowId xmlns:a16="http://schemas.microsoft.com/office/drawing/2014/main" val="1237932816"/>
                  </a:ext>
                </a:extLst>
              </a:tr>
              <a:tr h="238144">
                <a:tc>
                  <a:txBody>
                    <a:bodyPr/>
                    <a:lstStyle/>
                    <a:p>
                      <a:r>
                        <a:rPr kumimoji="1" lang="ja-JP" altLang="en-US" b="1" dirty="0">
                          <a:latin typeface="+mn-ea"/>
                          <a:ea typeface="+mn-ea"/>
                        </a:rPr>
                        <a:t>答えたくない</a:t>
                      </a:r>
                    </a:p>
                  </a:txBody>
                  <a:tcPr/>
                </a:tc>
                <a:tc>
                  <a:txBody>
                    <a:bodyPr/>
                    <a:lstStyle/>
                    <a:p>
                      <a:pPr algn="r"/>
                      <a:r>
                        <a:rPr kumimoji="1" lang="en-US" altLang="ja-JP" b="1" dirty="0">
                          <a:latin typeface="+mn-ea"/>
                          <a:ea typeface="+mn-ea"/>
                        </a:rPr>
                        <a:t>2</a:t>
                      </a:r>
                      <a:endParaRPr kumimoji="1" lang="ja-JP" altLang="en-US" b="1" dirty="0">
                        <a:latin typeface="+mn-ea"/>
                        <a:ea typeface="+mn-ea"/>
                      </a:endParaRPr>
                    </a:p>
                  </a:txBody>
                  <a:tcPr/>
                </a:tc>
                <a:tc>
                  <a:txBody>
                    <a:bodyPr/>
                    <a:lstStyle/>
                    <a:p>
                      <a:pPr algn="r"/>
                      <a:r>
                        <a:rPr kumimoji="1" lang="en-US" altLang="ja-JP" b="1" dirty="0">
                          <a:latin typeface="+mn-ea"/>
                          <a:ea typeface="+mn-ea"/>
                        </a:rPr>
                        <a:t>50.5</a:t>
                      </a:r>
                      <a:endParaRPr kumimoji="1" lang="ja-JP" altLang="en-US" b="1" dirty="0">
                        <a:latin typeface="+mn-ea"/>
                        <a:ea typeface="+mn-ea"/>
                      </a:endParaRPr>
                    </a:p>
                  </a:txBody>
                  <a:tcPr/>
                </a:tc>
                <a:tc>
                  <a:txBody>
                    <a:bodyPr/>
                    <a:lstStyle/>
                    <a:p>
                      <a:pPr algn="r"/>
                      <a:r>
                        <a:rPr kumimoji="1" lang="en-US" altLang="ja-JP" b="1" dirty="0">
                          <a:latin typeface="+mn-ea"/>
                          <a:ea typeface="+mn-ea"/>
                        </a:rPr>
                        <a:t>7.78</a:t>
                      </a:r>
                      <a:endParaRPr kumimoji="1" lang="ja-JP" altLang="en-US" b="1" dirty="0">
                        <a:latin typeface="+mn-ea"/>
                        <a:ea typeface="+mn-ea"/>
                      </a:endParaRPr>
                    </a:p>
                  </a:txBody>
                  <a:tcPr/>
                </a:tc>
                <a:extLst>
                  <a:ext uri="{0D108BD9-81ED-4DB2-BD59-A6C34878D82A}">
                    <a16:rowId xmlns:a16="http://schemas.microsoft.com/office/drawing/2014/main" val="3583851598"/>
                  </a:ext>
                </a:extLst>
              </a:tr>
            </a:tbl>
          </a:graphicData>
        </a:graphic>
      </p:graphicFrame>
      <p:sp>
        <p:nvSpPr>
          <p:cNvPr id="18" name="テキスト ボックス 17">
            <a:extLst>
              <a:ext uri="{FF2B5EF4-FFF2-40B4-BE49-F238E27FC236}">
                <a16:creationId xmlns:a16="http://schemas.microsoft.com/office/drawing/2014/main" id="{885814E2-8B75-4DBC-696F-2A9465620D9E}"/>
              </a:ext>
            </a:extLst>
          </p:cNvPr>
          <p:cNvSpPr txBox="1"/>
          <p:nvPr/>
        </p:nvSpPr>
        <p:spPr>
          <a:xfrm>
            <a:off x="5890110" y="2594786"/>
            <a:ext cx="1463482" cy="369332"/>
          </a:xfrm>
          <a:prstGeom prst="rect">
            <a:avLst/>
          </a:prstGeom>
          <a:noFill/>
        </p:spPr>
        <p:txBody>
          <a:bodyPr wrap="square">
            <a:spAutoFit/>
          </a:bodyPr>
          <a:lstStyle/>
          <a:p>
            <a:r>
              <a:rPr lang="ja-JP" altLang="en-US" b="1" dirty="0">
                <a:solidFill>
                  <a:srgbClr val="000000"/>
                </a:solidFill>
                <a:latin typeface="+mn-ea"/>
                <a:sym typeface="Wingdings" panose="05000000000000000000" pitchFamily="2" charset="2"/>
              </a:rPr>
              <a:t>モーリッツ</a:t>
            </a:r>
            <a:endParaRPr lang="ja-JP" altLang="en-US" dirty="0"/>
          </a:p>
        </p:txBody>
      </p:sp>
      <p:sp>
        <p:nvSpPr>
          <p:cNvPr id="20" name="テキスト ボックス 19">
            <a:extLst>
              <a:ext uri="{FF2B5EF4-FFF2-40B4-BE49-F238E27FC236}">
                <a16:creationId xmlns:a16="http://schemas.microsoft.com/office/drawing/2014/main" id="{AFEDA333-F74E-D627-716A-0C677AF7178B}"/>
              </a:ext>
            </a:extLst>
          </p:cNvPr>
          <p:cNvSpPr txBox="1"/>
          <p:nvPr/>
        </p:nvSpPr>
        <p:spPr>
          <a:xfrm>
            <a:off x="7697305" y="2594786"/>
            <a:ext cx="886570" cy="369332"/>
          </a:xfrm>
          <a:prstGeom prst="rect">
            <a:avLst/>
          </a:prstGeom>
          <a:noFill/>
        </p:spPr>
        <p:txBody>
          <a:bodyPr wrap="square">
            <a:spAutoFit/>
          </a:bodyPr>
          <a:lstStyle/>
          <a:p>
            <a:r>
              <a:rPr lang="ja-JP" altLang="en-US" b="1" dirty="0"/>
              <a:t>ピクト</a:t>
            </a:r>
          </a:p>
        </p:txBody>
      </p:sp>
      <p:pic>
        <p:nvPicPr>
          <p:cNvPr id="24" name="Picture 2" descr="画像">
            <a:extLst>
              <a:ext uri="{FF2B5EF4-FFF2-40B4-BE49-F238E27FC236}">
                <a16:creationId xmlns:a16="http://schemas.microsoft.com/office/drawing/2014/main" id="{F356919A-EB88-F8AE-AD46-C751185DB37B}"/>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8585" t="16857" r="15386" b="15594"/>
          <a:stretch>
            <a:fillRect/>
          </a:stretch>
        </p:blipFill>
        <p:spPr bwMode="auto">
          <a:xfrm>
            <a:off x="7444285" y="1183539"/>
            <a:ext cx="1432723" cy="1465714"/>
          </a:xfrm>
          <a:prstGeom prst="rect">
            <a:avLst/>
          </a:prstGeom>
          <a:noFill/>
          <a:extLst>
            <a:ext uri="{909E8E84-426E-40DD-AFC4-6F175D3DCCD1}">
              <a14:hiddenFill xmlns:a14="http://schemas.microsoft.com/office/drawing/2010/main">
                <a:solidFill>
                  <a:srgbClr val="FFFFFF"/>
                </a:solidFill>
              </a14:hiddenFill>
            </a:ext>
          </a:extLst>
        </p:spPr>
      </p:pic>
      <p:pic>
        <p:nvPicPr>
          <p:cNvPr id="25" name="図 24" descr="挿絵 が含まれている画像&#10;&#10;AI 生成コンテンツは誤りを含む可能性があります。">
            <a:extLst>
              <a:ext uri="{FF2B5EF4-FFF2-40B4-BE49-F238E27FC236}">
                <a16:creationId xmlns:a16="http://schemas.microsoft.com/office/drawing/2014/main" id="{19A6ECFF-ECA7-1D70-1A8B-30DAAB4B885C}"/>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692397" y="1306743"/>
            <a:ext cx="1518703" cy="1288043"/>
          </a:xfrm>
          <a:prstGeom prst="rect">
            <a:avLst/>
          </a:prstGeom>
        </p:spPr>
      </p:pic>
    </p:spTree>
    <p:extLst>
      <p:ext uri="{BB962C8B-B14F-4D97-AF65-F5344CB8AC3E}">
        <p14:creationId xmlns:p14="http://schemas.microsoft.com/office/powerpoint/2010/main" val="38394285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3FC99F02-C9C0-1A54-055F-FF1D11C9D487}"/>
              </a:ext>
            </a:extLst>
          </p:cNvPr>
          <p:cNvSpPr>
            <a:spLocks noGrp="1"/>
          </p:cNvSpPr>
          <p:nvPr>
            <p:ph type="sldNum" sz="quarter" idx="12"/>
          </p:nvPr>
        </p:nvSpPr>
        <p:spPr/>
        <p:txBody>
          <a:bodyPr/>
          <a:lstStyle/>
          <a:p>
            <a:fld id="{18020408-E1FF-429E-A8D5-EB2A190A0D77}" type="slidenum">
              <a:rPr kumimoji="1" lang="ja-JP" altLang="en-US" smtClean="0"/>
              <a:pPr/>
              <a:t>19</a:t>
            </a:fld>
            <a:endParaRPr kumimoji="1" lang="ja-JP" altLang="en-US" sz="2400" dirty="0"/>
          </a:p>
        </p:txBody>
      </p:sp>
      <p:sp>
        <p:nvSpPr>
          <p:cNvPr id="3" name="タイトル 2">
            <a:extLst>
              <a:ext uri="{FF2B5EF4-FFF2-40B4-BE49-F238E27FC236}">
                <a16:creationId xmlns:a16="http://schemas.microsoft.com/office/drawing/2014/main" id="{FF5E16D8-F00B-BFBF-FCC5-A3438E158D3F}"/>
              </a:ext>
            </a:extLst>
          </p:cNvPr>
          <p:cNvSpPr>
            <a:spLocks noGrp="1"/>
          </p:cNvSpPr>
          <p:nvPr>
            <p:ph type="title"/>
          </p:nvPr>
        </p:nvSpPr>
        <p:spPr/>
        <p:txBody>
          <a:bodyPr/>
          <a:lstStyle/>
          <a:p>
            <a:r>
              <a:rPr lang="ja-JP" altLang="en-US" sz="3600" dirty="0"/>
              <a:t>要因と水準</a:t>
            </a:r>
            <a:endParaRPr kumimoji="1" lang="ja-JP" altLang="en-US" sz="3600" dirty="0"/>
          </a:p>
        </p:txBody>
      </p:sp>
      <p:graphicFrame>
        <p:nvGraphicFramePr>
          <p:cNvPr id="4" name="表 3">
            <a:extLst>
              <a:ext uri="{FF2B5EF4-FFF2-40B4-BE49-F238E27FC236}">
                <a16:creationId xmlns:a16="http://schemas.microsoft.com/office/drawing/2014/main" id="{0FA3E2FC-00ED-63FC-D2ED-25D9FFED3348}"/>
              </a:ext>
            </a:extLst>
          </p:cNvPr>
          <p:cNvGraphicFramePr>
            <a:graphicFrameLocks noGrp="1"/>
          </p:cNvGraphicFramePr>
          <p:nvPr>
            <p:extLst>
              <p:ext uri="{D42A27DB-BD31-4B8C-83A1-F6EECF244321}">
                <p14:modId xmlns:p14="http://schemas.microsoft.com/office/powerpoint/2010/main" val="3152138905"/>
              </p:ext>
            </p:extLst>
          </p:nvPr>
        </p:nvGraphicFramePr>
        <p:xfrm>
          <a:off x="803098" y="3516806"/>
          <a:ext cx="7396866" cy="3086818"/>
        </p:xfrm>
        <a:graphic>
          <a:graphicData uri="http://schemas.openxmlformats.org/drawingml/2006/table">
            <a:tbl>
              <a:tblPr firstRow="1" bandRow="1">
                <a:tableStyleId>{9D7B26C5-4107-4FEC-AEDC-1716B250A1EF}</a:tableStyleId>
              </a:tblPr>
              <a:tblGrid>
                <a:gridCol w="1669758">
                  <a:extLst>
                    <a:ext uri="{9D8B030D-6E8A-4147-A177-3AD203B41FA5}">
                      <a16:colId xmlns:a16="http://schemas.microsoft.com/office/drawing/2014/main" val="2924453235"/>
                    </a:ext>
                  </a:extLst>
                </a:gridCol>
                <a:gridCol w="2863554">
                  <a:extLst>
                    <a:ext uri="{9D8B030D-6E8A-4147-A177-3AD203B41FA5}">
                      <a16:colId xmlns:a16="http://schemas.microsoft.com/office/drawing/2014/main" val="3835055336"/>
                    </a:ext>
                  </a:extLst>
                </a:gridCol>
                <a:gridCol w="2863554">
                  <a:extLst>
                    <a:ext uri="{9D8B030D-6E8A-4147-A177-3AD203B41FA5}">
                      <a16:colId xmlns:a16="http://schemas.microsoft.com/office/drawing/2014/main" val="2783222659"/>
                    </a:ext>
                  </a:extLst>
                </a:gridCol>
              </a:tblGrid>
              <a:tr h="533434">
                <a:tc>
                  <a:txBody>
                    <a:bodyPr/>
                    <a:lstStyle/>
                    <a:p>
                      <a:endParaRPr kumimoji="1" lang="ja-JP" altLang="en-US" b="1" dirty="0"/>
                    </a:p>
                  </a:txBody>
                  <a:tcPr/>
                </a:tc>
                <a:tc>
                  <a:txBody>
                    <a:bodyPr/>
                    <a:lstStyle/>
                    <a:p>
                      <a:pPr algn="ctr"/>
                      <a:r>
                        <a:rPr kumimoji="1" lang="ja-JP" altLang="en-US" b="1" dirty="0"/>
                        <a:t>名乗りあり</a:t>
                      </a:r>
                    </a:p>
                  </a:txBody>
                  <a:tcPr anchor="ctr"/>
                </a:tc>
                <a:tc>
                  <a:txBody>
                    <a:bodyPr/>
                    <a:lstStyle/>
                    <a:p>
                      <a:pPr algn="ctr"/>
                      <a:r>
                        <a:rPr kumimoji="1" lang="ja-JP" altLang="en-US" b="1" dirty="0"/>
                        <a:t>名乗りなし</a:t>
                      </a:r>
                    </a:p>
                  </a:txBody>
                  <a:tcPr anchor="ctr"/>
                </a:tc>
                <a:extLst>
                  <a:ext uri="{0D108BD9-81ED-4DB2-BD59-A6C34878D82A}">
                    <a16:rowId xmlns:a16="http://schemas.microsoft.com/office/drawing/2014/main" val="2864977263"/>
                  </a:ext>
                </a:extLst>
              </a:tr>
              <a:tr h="1276692">
                <a:tc>
                  <a:txBody>
                    <a:bodyPr/>
                    <a:lstStyle/>
                    <a:p>
                      <a:r>
                        <a:rPr kumimoji="1" lang="ja-JP" altLang="en-US" b="1" dirty="0"/>
                        <a:t>人格固定</a:t>
                      </a:r>
                    </a:p>
                  </a:txBody>
                  <a:tcPr anchor="ctr">
                    <a:solidFill>
                      <a:schemeClr val="bg1">
                        <a:alpha val="20000"/>
                      </a:schemeClr>
                    </a:solidFill>
                  </a:tcPr>
                </a:tc>
                <a:tc>
                  <a:txBody>
                    <a:bodyPr/>
                    <a:lstStyle/>
                    <a:p>
                      <a:endParaRPr kumimoji="1" lang="ja-JP" altLang="en-US" b="1" dirty="0"/>
                    </a:p>
                  </a:txBody>
                  <a:tcPr>
                    <a:solidFill>
                      <a:schemeClr val="bg1">
                        <a:alpha val="20000"/>
                      </a:schemeClr>
                    </a:solidFill>
                  </a:tcPr>
                </a:tc>
                <a:tc>
                  <a:txBody>
                    <a:bodyPr/>
                    <a:lstStyle/>
                    <a:p>
                      <a:endParaRPr kumimoji="1" lang="ja-JP" altLang="en-US" b="1" dirty="0"/>
                    </a:p>
                  </a:txBody>
                  <a:tcPr>
                    <a:solidFill>
                      <a:schemeClr val="bg1">
                        <a:alpha val="20000"/>
                      </a:schemeClr>
                    </a:solidFill>
                  </a:tcPr>
                </a:tc>
                <a:extLst>
                  <a:ext uri="{0D108BD9-81ED-4DB2-BD59-A6C34878D82A}">
                    <a16:rowId xmlns:a16="http://schemas.microsoft.com/office/drawing/2014/main" val="796715869"/>
                  </a:ext>
                </a:extLst>
              </a:tr>
              <a:tr h="1276692">
                <a:tc>
                  <a:txBody>
                    <a:bodyPr/>
                    <a:lstStyle/>
                    <a:p>
                      <a:r>
                        <a:rPr kumimoji="1" lang="ja-JP" altLang="en-US" b="1" dirty="0"/>
                        <a:t>人格切り替え</a:t>
                      </a:r>
                    </a:p>
                  </a:txBody>
                  <a:tcPr anchor="ctr"/>
                </a:tc>
                <a:tc>
                  <a:txBody>
                    <a:bodyPr/>
                    <a:lstStyle/>
                    <a:p>
                      <a:endParaRPr kumimoji="1" lang="ja-JP" altLang="en-US" b="1" dirty="0"/>
                    </a:p>
                  </a:txBody>
                  <a:tcPr/>
                </a:tc>
                <a:tc>
                  <a:txBody>
                    <a:bodyPr/>
                    <a:lstStyle/>
                    <a:p>
                      <a:endParaRPr kumimoji="1" lang="ja-JP" altLang="en-US" b="1" dirty="0"/>
                    </a:p>
                  </a:txBody>
                  <a:tcPr/>
                </a:tc>
                <a:extLst>
                  <a:ext uri="{0D108BD9-81ED-4DB2-BD59-A6C34878D82A}">
                    <a16:rowId xmlns:a16="http://schemas.microsoft.com/office/drawing/2014/main" val="2197092829"/>
                  </a:ext>
                </a:extLst>
              </a:tr>
            </a:tbl>
          </a:graphicData>
        </a:graphic>
      </p:graphicFrame>
      <p:sp>
        <p:nvSpPr>
          <p:cNvPr id="6" name="テキスト ボックス 5">
            <a:extLst>
              <a:ext uri="{FF2B5EF4-FFF2-40B4-BE49-F238E27FC236}">
                <a16:creationId xmlns:a16="http://schemas.microsoft.com/office/drawing/2014/main" id="{C1C99D8B-E282-9DB9-97F3-AE61DDAC7147}"/>
              </a:ext>
            </a:extLst>
          </p:cNvPr>
          <p:cNvSpPr txBox="1"/>
          <p:nvPr/>
        </p:nvSpPr>
        <p:spPr>
          <a:xfrm>
            <a:off x="699157" y="3078474"/>
            <a:ext cx="4619708" cy="400110"/>
          </a:xfrm>
          <a:prstGeom prst="rect">
            <a:avLst/>
          </a:prstGeom>
          <a:noFill/>
        </p:spPr>
        <p:txBody>
          <a:bodyPr wrap="square">
            <a:spAutoFit/>
          </a:bodyPr>
          <a:lstStyle/>
          <a:p>
            <a:pPr algn="l" rtl="0" fontAlgn="base"/>
            <a:r>
              <a:rPr lang="en-US" altLang="ja-JP" sz="2000" b="1" i="0" u="none" strike="noStrike" dirty="0">
                <a:solidFill>
                  <a:schemeClr val="accent1"/>
                </a:solidFill>
                <a:effectLst/>
                <a:latin typeface="+mn-ea"/>
              </a:rPr>
              <a:t>LLM</a:t>
            </a:r>
            <a:r>
              <a:rPr lang="ja-JP" altLang="en-US" sz="2000" b="1" i="0" u="none" strike="noStrike" dirty="0">
                <a:solidFill>
                  <a:schemeClr val="accent1"/>
                </a:solidFill>
                <a:effectLst/>
                <a:latin typeface="+mn-ea"/>
              </a:rPr>
              <a:t>のアイコン</a:t>
            </a:r>
            <a:endParaRPr lang="en-US" altLang="ja-JP" sz="2000" b="1" i="0" u="none" strike="noStrike" dirty="0">
              <a:solidFill>
                <a:schemeClr val="accent1"/>
              </a:solidFill>
              <a:effectLst/>
              <a:latin typeface="+mn-ea"/>
            </a:endParaRPr>
          </a:p>
        </p:txBody>
      </p:sp>
      <p:grpSp>
        <p:nvGrpSpPr>
          <p:cNvPr id="36" name="グループ化 35">
            <a:extLst>
              <a:ext uri="{FF2B5EF4-FFF2-40B4-BE49-F238E27FC236}">
                <a16:creationId xmlns:a16="http://schemas.microsoft.com/office/drawing/2014/main" id="{F150E36B-E8F0-45E3-909C-5A5CF5EAF0A8}"/>
              </a:ext>
            </a:extLst>
          </p:cNvPr>
          <p:cNvGrpSpPr/>
          <p:nvPr/>
        </p:nvGrpSpPr>
        <p:grpSpPr>
          <a:xfrm>
            <a:off x="2869036" y="5512738"/>
            <a:ext cx="2159526" cy="943767"/>
            <a:chOff x="2668537" y="4486736"/>
            <a:chExt cx="2411489" cy="1069364"/>
          </a:xfrm>
        </p:grpSpPr>
        <p:sp>
          <p:nvSpPr>
            <p:cNvPr id="13" name="矢印: 右 12">
              <a:extLst>
                <a:ext uri="{FF2B5EF4-FFF2-40B4-BE49-F238E27FC236}">
                  <a16:creationId xmlns:a16="http://schemas.microsoft.com/office/drawing/2014/main" id="{5DCE100A-6120-87FD-53A9-0A71ECD556D0}"/>
                </a:ext>
              </a:extLst>
            </p:cNvPr>
            <p:cNvSpPr/>
            <p:nvPr/>
          </p:nvSpPr>
          <p:spPr>
            <a:xfrm>
              <a:off x="3632520" y="4949621"/>
              <a:ext cx="417187" cy="43179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4" name="テキスト ボックス 13">
              <a:extLst>
                <a:ext uri="{FF2B5EF4-FFF2-40B4-BE49-F238E27FC236}">
                  <a16:creationId xmlns:a16="http://schemas.microsoft.com/office/drawing/2014/main" id="{ED87C900-1490-F61E-D66B-C010149FF204}"/>
                </a:ext>
              </a:extLst>
            </p:cNvPr>
            <p:cNvSpPr txBox="1"/>
            <p:nvPr/>
          </p:nvSpPr>
          <p:spPr>
            <a:xfrm>
              <a:off x="2708794" y="4486736"/>
              <a:ext cx="681597" cy="369332"/>
            </a:xfrm>
            <a:prstGeom prst="rect">
              <a:avLst/>
            </a:prstGeom>
            <a:noFill/>
          </p:spPr>
          <p:txBody>
            <a:bodyPr wrap="none" rtlCol="0">
              <a:spAutoFit/>
            </a:bodyPr>
            <a:lstStyle/>
            <a:p>
              <a:r>
                <a:rPr lang="en-US" altLang="ja-JP" b="1" dirty="0"/>
                <a:t>INFJ</a:t>
              </a:r>
              <a:endParaRPr lang="ja-JP" altLang="en-US" b="1" dirty="0"/>
            </a:p>
          </p:txBody>
        </p:sp>
        <p:sp>
          <p:nvSpPr>
            <p:cNvPr id="15" name="テキスト ボックス 14">
              <a:extLst>
                <a:ext uri="{FF2B5EF4-FFF2-40B4-BE49-F238E27FC236}">
                  <a16:creationId xmlns:a16="http://schemas.microsoft.com/office/drawing/2014/main" id="{D1572364-FC31-57A9-67F2-666E9566E2E8}"/>
                </a:ext>
              </a:extLst>
            </p:cNvPr>
            <p:cNvSpPr txBox="1"/>
            <p:nvPr/>
          </p:nvSpPr>
          <p:spPr>
            <a:xfrm>
              <a:off x="4251580" y="4493086"/>
              <a:ext cx="828446" cy="369332"/>
            </a:xfrm>
            <a:prstGeom prst="rect">
              <a:avLst/>
            </a:prstGeom>
            <a:noFill/>
          </p:spPr>
          <p:txBody>
            <a:bodyPr wrap="square">
              <a:spAutoFit/>
            </a:bodyPr>
            <a:lstStyle/>
            <a:p>
              <a:r>
                <a:rPr lang="en-US" altLang="ja-JP" b="1" dirty="0"/>
                <a:t>ESTP</a:t>
              </a:r>
              <a:endParaRPr lang="ja-JP" altLang="en-US" b="1" dirty="0"/>
            </a:p>
          </p:txBody>
        </p:sp>
        <p:pic>
          <p:nvPicPr>
            <p:cNvPr id="16" name="図 15" descr="アイコン&#10;&#10;AI 生成コンテンツは誤りを含む可能性があります。">
              <a:extLst>
                <a:ext uri="{FF2B5EF4-FFF2-40B4-BE49-F238E27FC236}">
                  <a16:creationId xmlns:a16="http://schemas.microsoft.com/office/drawing/2014/main" id="{B847E395-D276-FFEF-5C60-C66B124B82E3}"/>
                </a:ext>
              </a:extLst>
            </p:cNvPr>
            <p:cNvPicPr>
              <a:picLocks noChangeAspect="1"/>
            </p:cNvPicPr>
            <p:nvPr/>
          </p:nvPicPr>
          <p:blipFill>
            <a:blip r:embed="rId3">
              <a:clrChange>
                <a:clrFrom>
                  <a:srgbClr val="DCDCDC"/>
                </a:clrFrom>
                <a:clrTo>
                  <a:srgbClr val="DCDCDC">
                    <a:alpha val="0"/>
                  </a:srgbClr>
                </a:clrTo>
              </a:clrChange>
            </a:blip>
            <a:stretch>
              <a:fillRect/>
            </a:stretch>
          </p:blipFill>
          <p:spPr>
            <a:xfrm>
              <a:off x="2668537" y="4774941"/>
              <a:ext cx="762106" cy="781159"/>
            </a:xfrm>
            <a:prstGeom prst="rect">
              <a:avLst/>
            </a:prstGeom>
            <a:ln>
              <a:noFill/>
            </a:ln>
          </p:spPr>
        </p:pic>
        <p:pic>
          <p:nvPicPr>
            <p:cNvPr id="17" name="図 16" descr="アイコン&#10;&#10;AI 生成コンテンツは誤りを含む可能性があります。">
              <a:extLst>
                <a:ext uri="{FF2B5EF4-FFF2-40B4-BE49-F238E27FC236}">
                  <a16:creationId xmlns:a16="http://schemas.microsoft.com/office/drawing/2014/main" id="{CC8DCACA-8F87-DBE6-779C-F5F8C6780883}"/>
                </a:ext>
              </a:extLst>
            </p:cNvPr>
            <p:cNvPicPr>
              <a:picLocks noChangeAspect="1"/>
            </p:cNvPicPr>
            <p:nvPr/>
          </p:nvPicPr>
          <p:blipFill>
            <a:blip r:embed="rId4">
              <a:clrChange>
                <a:clrFrom>
                  <a:srgbClr val="DCDCDC"/>
                </a:clrFrom>
                <a:clrTo>
                  <a:srgbClr val="DCDCDC">
                    <a:alpha val="0"/>
                  </a:srgbClr>
                </a:clrTo>
              </a:clrChange>
            </a:blip>
            <a:stretch>
              <a:fillRect/>
            </a:stretch>
          </p:blipFill>
          <p:spPr>
            <a:xfrm>
              <a:off x="4378674" y="4779585"/>
              <a:ext cx="514500" cy="744189"/>
            </a:xfrm>
            <a:prstGeom prst="rect">
              <a:avLst/>
            </a:prstGeom>
            <a:ln>
              <a:noFill/>
            </a:ln>
          </p:spPr>
        </p:pic>
      </p:grpSp>
      <p:grpSp>
        <p:nvGrpSpPr>
          <p:cNvPr id="35" name="グループ化 34">
            <a:extLst>
              <a:ext uri="{FF2B5EF4-FFF2-40B4-BE49-F238E27FC236}">
                <a16:creationId xmlns:a16="http://schemas.microsoft.com/office/drawing/2014/main" id="{C46715DF-4315-6063-0A88-932414C4EA76}"/>
              </a:ext>
            </a:extLst>
          </p:cNvPr>
          <p:cNvGrpSpPr/>
          <p:nvPr/>
        </p:nvGrpSpPr>
        <p:grpSpPr>
          <a:xfrm>
            <a:off x="2869036" y="4154386"/>
            <a:ext cx="2121469" cy="1048827"/>
            <a:chOff x="2670541" y="2794275"/>
            <a:chExt cx="2368991" cy="1150490"/>
          </a:xfrm>
        </p:grpSpPr>
        <p:sp>
          <p:nvSpPr>
            <p:cNvPr id="18" name="矢印: 右 17">
              <a:extLst>
                <a:ext uri="{FF2B5EF4-FFF2-40B4-BE49-F238E27FC236}">
                  <a16:creationId xmlns:a16="http://schemas.microsoft.com/office/drawing/2014/main" id="{7A6BEA0C-AB7B-E3A0-E8A9-5AC9F60B8F9A}"/>
                </a:ext>
              </a:extLst>
            </p:cNvPr>
            <p:cNvSpPr/>
            <p:nvPr/>
          </p:nvSpPr>
          <p:spPr>
            <a:xfrm>
              <a:off x="3632520" y="3332567"/>
              <a:ext cx="404687" cy="43179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p>
          </p:txBody>
        </p:sp>
        <p:sp>
          <p:nvSpPr>
            <p:cNvPr id="19" name="テキスト ボックス 18">
              <a:extLst>
                <a:ext uri="{FF2B5EF4-FFF2-40B4-BE49-F238E27FC236}">
                  <a16:creationId xmlns:a16="http://schemas.microsoft.com/office/drawing/2014/main" id="{D144DDAB-2F7B-7826-0400-1C3EC271ABBB}"/>
                </a:ext>
              </a:extLst>
            </p:cNvPr>
            <p:cNvSpPr txBox="1"/>
            <p:nvPr/>
          </p:nvSpPr>
          <p:spPr>
            <a:xfrm>
              <a:off x="2724045" y="2794275"/>
              <a:ext cx="618952" cy="369332"/>
            </a:xfrm>
            <a:prstGeom prst="rect">
              <a:avLst/>
            </a:prstGeom>
            <a:noFill/>
          </p:spPr>
          <p:txBody>
            <a:bodyPr wrap="none" rtlCol="0">
              <a:spAutoFit/>
            </a:bodyPr>
            <a:lstStyle/>
            <a:p>
              <a:r>
                <a:rPr lang="en-US" altLang="ja-JP" b="1" dirty="0"/>
                <a:t>INFJ</a:t>
              </a:r>
              <a:endParaRPr lang="ja-JP" altLang="en-US" b="1" dirty="0"/>
            </a:p>
          </p:txBody>
        </p:sp>
        <p:sp>
          <p:nvSpPr>
            <p:cNvPr id="20" name="テキスト ボックス 19">
              <a:extLst>
                <a:ext uri="{FF2B5EF4-FFF2-40B4-BE49-F238E27FC236}">
                  <a16:creationId xmlns:a16="http://schemas.microsoft.com/office/drawing/2014/main" id="{CCF71D5C-96AE-42F9-4FB2-883C7D9591C5}"/>
                </a:ext>
              </a:extLst>
            </p:cNvPr>
            <p:cNvSpPr txBox="1"/>
            <p:nvPr/>
          </p:nvSpPr>
          <p:spPr>
            <a:xfrm>
              <a:off x="4287601" y="2804897"/>
              <a:ext cx="751931" cy="475254"/>
            </a:xfrm>
            <a:prstGeom prst="rect">
              <a:avLst/>
            </a:prstGeom>
            <a:noFill/>
          </p:spPr>
          <p:txBody>
            <a:bodyPr wrap="square">
              <a:spAutoFit/>
            </a:bodyPr>
            <a:lstStyle/>
            <a:p>
              <a:r>
                <a:rPr lang="en-US" altLang="ja-JP" b="1" dirty="0"/>
                <a:t>INFJ</a:t>
              </a:r>
              <a:endParaRPr lang="ja-JP" altLang="en-US" b="1" dirty="0"/>
            </a:p>
          </p:txBody>
        </p:sp>
        <p:pic>
          <p:nvPicPr>
            <p:cNvPr id="21" name="図 20" descr="アイコン&#10;&#10;AI 生成コンテンツは誤りを含む可能性があります。">
              <a:extLst>
                <a:ext uri="{FF2B5EF4-FFF2-40B4-BE49-F238E27FC236}">
                  <a16:creationId xmlns:a16="http://schemas.microsoft.com/office/drawing/2014/main" id="{367E575C-9735-B635-6787-C538648C1627}"/>
                </a:ext>
              </a:extLst>
            </p:cNvPr>
            <p:cNvPicPr>
              <a:picLocks noChangeAspect="1"/>
            </p:cNvPicPr>
            <p:nvPr/>
          </p:nvPicPr>
          <p:blipFill>
            <a:blip r:embed="rId3">
              <a:clrChange>
                <a:clrFrom>
                  <a:srgbClr val="DCDCDC"/>
                </a:clrFrom>
                <a:clrTo>
                  <a:srgbClr val="DCDCDC">
                    <a:alpha val="0"/>
                  </a:srgbClr>
                </a:clrTo>
              </a:clrChange>
            </a:blip>
            <a:stretch>
              <a:fillRect/>
            </a:stretch>
          </p:blipFill>
          <p:spPr>
            <a:xfrm>
              <a:off x="2670541" y="3163606"/>
              <a:ext cx="762106" cy="781159"/>
            </a:xfrm>
            <a:prstGeom prst="rect">
              <a:avLst/>
            </a:prstGeom>
            <a:solidFill>
              <a:schemeClr val="bg1"/>
            </a:solidFill>
            <a:ln>
              <a:noFill/>
            </a:ln>
          </p:spPr>
        </p:pic>
        <p:pic>
          <p:nvPicPr>
            <p:cNvPr id="22" name="図 21" descr="アイコン&#10;&#10;AI 生成コンテンツは誤りを含む可能性があります。">
              <a:extLst>
                <a:ext uri="{FF2B5EF4-FFF2-40B4-BE49-F238E27FC236}">
                  <a16:creationId xmlns:a16="http://schemas.microsoft.com/office/drawing/2014/main" id="{46B7A192-80EE-2C38-8A1E-1FC159D4A0BF}"/>
                </a:ext>
              </a:extLst>
            </p:cNvPr>
            <p:cNvPicPr>
              <a:picLocks noChangeAspect="1"/>
            </p:cNvPicPr>
            <p:nvPr/>
          </p:nvPicPr>
          <p:blipFill>
            <a:blip r:embed="rId3">
              <a:clrChange>
                <a:clrFrom>
                  <a:srgbClr val="DCDCDC"/>
                </a:clrFrom>
                <a:clrTo>
                  <a:srgbClr val="DCDCDC">
                    <a:alpha val="0"/>
                  </a:srgbClr>
                </a:clrTo>
              </a:clrChange>
            </a:blip>
            <a:stretch>
              <a:fillRect/>
            </a:stretch>
          </p:blipFill>
          <p:spPr>
            <a:xfrm>
              <a:off x="4241285" y="3150740"/>
              <a:ext cx="762106" cy="781159"/>
            </a:xfrm>
            <a:prstGeom prst="rect">
              <a:avLst/>
            </a:prstGeom>
            <a:ln>
              <a:noFill/>
            </a:ln>
          </p:spPr>
        </p:pic>
      </p:grpSp>
      <p:grpSp>
        <p:nvGrpSpPr>
          <p:cNvPr id="34" name="グループ化 33">
            <a:extLst>
              <a:ext uri="{FF2B5EF4-FFF2-40B4-BE49-F238E27FC236}">
                <a16:creationId xmlns:a16="http://schemas.microsoft.com/office/drawing/2014/main" id="{EE19BFDE-E2AD-1866-5AE5-1BAE8DDAA23F}"/>
              </a:ext>
            </a:extLst>
          </p:cNvPr>
          <p:cNvGrpSpPr/>
          <p:nvPr/>
        </p:nvGrpSpPr>
        <p:grpSpPr>
          <a:xfrm>
            <a:off x="5707396" y="5557362"/>
            <a:ext cx="2192052" cy="866357"/>
            <a:chOff x="5541522" y="4523362"/>
            <a:chExt cx="2447810" cy="1020694"/>
          </a:xfrm>
        </p:grpSpPr>
        <p:pic>
          <p:nvPicPr>
            <p:cNvPr id="23" name="図 22" descr="アイコン&#10;&#10;AI 生成コンテンツは誤りを含む可能性があります。">
              <a:extLst>
                <a:ext uri="{FF2B5EF4-FFF2-40B4-BE49-F238E27FC236}">
                  <a16:creationId xmlns:a16="http://schemas.microsoft.com/office/drawing/2014/main" id="{230894E6-D6D5-4B21-F85A-624E788E6296}"/>
                </a:ext>
              </a:extLst>
            </p:cNvPr>
            <p:cNvPicPr>
              <a:picLocks noChangeAspect="1"/>
            </p:cNvPicPr>
            <p:nvPr/>
          </p:nvPicPr>
          <p:blipFill>
            <a:blip r:embed="rId5">
              <a:clrChange>
                <a:clrFrom>
                  <a:srgbClr val="DCDCDC"/>
                </a:clrFrom>
                <a:clrTo>
                  <a:srgbClr val="DCDCDC">
                    <a:alpha val="0"/>
                  </a:srgbClr>
                </a:clrTo>
              </a:clrChange>
            </a:blip>
            <a:stretch>
              <a:fillRect/>
            </a:stretch>
          </p:blipFill>
          <p:spPr>
            <a:xfrm>
              <a:off x="5541522" y="4896266"/>
              <a:ext cx="743054" cy="647790"/>
            </a:xfrm>
            <a:prstGeom prst="rect">
              <a:avLst/>
            </a:prstGeom>
          </p:spPr>
        </p:pic>
        <p:sp>
          <p:nvSpPr>
            <p:cNvPr id="24" name="矢印: 右 23">
              <a:extLst>
                <a:ext uri="{FF2B5EF4-FFF2-40B4-BE49-F238E27FC236}">
                  <a16:creationId xmlns:a16="http://schemas.microsoft.com/office/drawing/2014/main" id="{E616AF96-0A1C-BC4A-4EC2-D00F5608E8BF}"/>
                </a:ext>
              </a:extLst>
            </p:cNvPr>
            <p:cNvSpPr/>
            <p:nvPr/>
          </p:nvSpPr>
          <p:spPr>
            <a:xfrm>
              <a:off x="6540427" y="5000691"/>
              <a:ext cx="455758" cy="43179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pic>
          <p:nvPicPr>
            <p:cNvPr id="25" name="図 24" descr="アイコン&#10;&#10;AI 生成コンテンツは誤りを含む可能性があります。">
              <a:extLst>
                <a:ext uri="{FF2B5EF4-FFF2-40B4-BE49-F238E27FC236}">
                  <a16:creationId xmlns:a16="http://schemas.microsoft.com/office/drawing/2014/main" id="{BAA3BAA4-9DB5-4985-213E-8896DBCCB57A}"/>
                </a:ext>
              </a:extLst>
            </p:cNvPr>
            <p:cNvPicPr>
              <a:picLocks noChangeAspect="1"/>
            </p:cNvPicPr>
            <p:nvPr/>
          </p:nvPicPr>
          <p:blipFill>
            <a:blip r:embed="rId5">
              <a:clrChange>
                <a:clrFrom>
                  <a:srgbClr val="DCDCDC"/>
                </a:clrFrom>
                <a:clrTo>
                  <a:srgbClr val="DCDCDC">
                    <a:alpha val="0"/>
                  </a:srgbClr>
                </a:clrTo>
              </a:clrChange>
            </a:blip>
            <a:stretch>
              <a:fillRect/>
            </a:stretch>
          </p:blipFill>
          <p:spPr>
            <a:xfrm>
              <a:off x="7132342" y="4896266"/>
              <a:ext cx="743054" cy="647790"/>
            </a:xfrm>
            <a:prstGeom prst="rect">
              <a:avLst/>
            </a:prstGeom>
          </p:spPr>
        </p:pic>
        <p:sp>
          <p:nvSpPr>
            <p:cNvPr id="26" name="テキスト ボックス 25">
              <a:extLst>
                <a:ext uri="{FF2B5EF4-FFF2-40B4-BE49-F238E27FC236}">
                  <a16:creationId xmlns:a16="http://schemas.microsoft.com/office/drawing/2014/main" id="{BCE83F07-BF40-CA68-67D0-4BFC08D9EE85}"/>
                </a:ext>
              </a:extLst>
            </p:cNvPr>
            <p:cNvSpPr txBox="1"/>
            <p:nvPr/>
          </p:nvSpPr>
          <p:spPr>
            <a:xfrm>
              <a:off x="5631525" y="4523362"/>
              <a:ext cx="681597" cy="369332"/>
            </a:xfrm>
            <a:prstGeom prst="rect">
              <a:avLst/>
            </a:prstGeom>
            <a:noFill/>
          </p:spPr>
          <p:txBody>
            <a:bodyPr wrap="none" rtlCol="0">
              <a:spAutoFit/>
            </a:bodyPr>
            <a:lstStyle/>
            <a:p>
              <a:r>
                <a:rPr lang="en-US" altLang="ja-JP" b="1" dirty="0"/>
                <a:t>INFJ</a:t>
              </a:r>
              <a:endParaRPr lang="ja-JP" altLang="en-US" b="1" dirty="0"/>
            </a:p>
          </p:txBody>
        </p:sp>
        <p:sp>
          <p:nvSpPr>
            <p:cNvPr id="27" name="テキスト ボックス 26">
              <a:extLst>
                <a:ext uri="{FF2B5EF4-FFF2-40B4-BE49-F238E27FC236}">
                  <a16:creationId xmlns:a16="http://schemas.microsoft.com/office/drawing/2014/main" id="{96B665D0-C9A2-1166-31AD-EED7DBFE8F41}"/>
                </a:ext>
              </a:extLst>
            </p:cNvPr>
            <p:cNvSpPr txBox="1"/>
            <p:nvPr/>
          </p:nvSpPr>
          <p:spPr>
            <a:xfrm>
              <a:off x="7160886" y="4530509"/>
              <a:ext cx="828446" cy="369332"/>
            </a:xfrm>
            <a:prstGeom prst="rect">
              <a:avLst/>
            </a:prstGeom>
            <a:noFill/>
          </p:spPr>
          <p:txBody>
            <a:bodyPr wrap="square">
              <a:spAutoFit/>
            </a:bodyPr>
            <a:lstStyle/>
            <a:p>
              <a:r>
                <a:rPr lang="en-US" altLang="ja-JP" b="1" dirty="0"/>
                <a:t>ESTP</a:t>
              </a:r>
              <a:endParaRPr lang="ja-JP" altLang="en-US" b="1" dirty="0"/>
            </a:p>
          </p:txBody>
        </p:sp>
      </p:grpSp>
      <p:grpSp>
        <p:nvGrpSpPr>
          <p:cNvPr id="33" name="グループ化 32">
            <a:extLst>
              <a:ext uri="{FF2B5EF4-FFF2-40B4-BE49-F238E27FC236}">
                <a16:creationId xmlns:a16="http://schemas.microsoft.com/office/drawing/2014/main" id="{21F7F6B7-F2AD-15AA-61DF-D9D025C0A981}"/>
              </a:ext>
            </a:extLst>
          </p:cNvPr>
          <p:cNvGrpSpPr/>
          <p:nvPr/>
        </p:nvGrpSpPr>
        <p:grpSpPr>
          <a:xfrm>
            <a:off x="5721796" y="4182523"/>
            <a:ext cx="2211174" cy="856228"/>
            <a:chOff x="5501742" y="2915747"/>
            <a:chExt cx="2469162" cy="1017122"/>
          </a:xfrm>
        </p:grpSpPr>
        <p:pic>
          <p:nvPicPr>
            <p:cNvPr id="28" name="図 27" descr="アイコン&#10;&#10;AI 生成コンテンツは誤りを含む可能性があります。">
              <a:extLst>
                <a:ext uri="{FF2B5EF4-FFF2-40B4-BE49-F238E27FC236}">
                  <a16:creationId xmlns:a16="http://schemas.microsoft.com/office/drawing/2014/main" id="{FD0A5A9C-9721-81EF-4A3F-3AB6C46F6A25}"/>
                </a:ext>
              </a:extLst>
            </p:cNvPr>
            <p:cNvPicPr>
              <a:picLocks noChangeAspect="1"/>
            </p:cNvPicPr>
            <p:nvPr/>
          </p:nvPicPr>
          <p:blipFill>
            <a:blip r:embed="rId5">
              <a:clrChange>
                <a:clrFrom>
                  <a:srgbClr val="DCDCDC"/>
                </a:clrFrom>
                <a:clrTo>
                  <a:srgbClr val="DCDCDC">
                    <a:alpha val="0"/>
                  </a:srgbClr>
                </a:clrTo>
              </a:clrChange>
            </a:blip>
            <a:stretch>
              <a:fillRect/>
            </a:stretch>
          </p:blipFill>
          <p:spPr>
            <a:xfrm>
              <a:off x="5501742" y="3283435"/>
              <a:ext cx="743054" cy="647790"/>
            </a:xfrm>
            <a:prstGeom prst="rect">
              <a:avLst/>
            </a:prstGeom>
          </p:spPr>
        </p:pic>
        <p:sp>
          <p:nvSpPr>
            <p:cNvPr id="29" name="矢印: 右 28">
              <a:extLst>
                <a:ext uri="{FF2B5EF4-FFF2-40B4-BE49-F238E27FC236}">
                  <a16:creationId xmlns:a16="http://schemas.microsoft.com/office/drawing/2014/main" id="{67B297DB-79B8-FCB7-4FFF-FC5CF87B54E3}"/>
                </a:ext>
              </a:extLst>
            </p:cNvPr>
            <p:cNvSpPr/>
            <p:nvPr/>
          </p:nvSpPr>
          <p:spPr>
            <a:xfrm>
              <a:off x="6551146" y="3391433"/>
              <a:ext cx="401707" cy="43179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pic>
          <p:nvPicPr>
            <p:cNvPr id="30" name="図 29" descr="アイコン&#10;&#10;AI 生成コンテンツは誤りを含む可能性があります。">
              <a:extLst>
                <a:ext uri="{FF2B5EF4-FFF2-40B4-BE49-F238E27FC236}">
                  <a16:creationId xmlns:a16="http://schemas.microsoft.com/office/drawing/2014/main" id="{497BB7FE-D3B5-06A8-8123-2C5B51ADD122}"/>
                </a:ext>
              </a:extLst>
            </p:cNvPr>
            <p:cNvPicPr>
              <a:picLocks noChangeAspect="1"/>
            </p:cNvPicPr>
            <p:nvPr/>
          </p:nvPicPr>
          <p:blipFill>
            <a:blip r:embed="rId5">
              <a:clrChange>
                <a:clrFrom>
                  <a:srgbClr val="DCDCDC"/>
                </a:clrFrom>
                <a:clrTo>
                  <a:srgbClr val="DCDCDC">
                    <a:alpha val="0"/>
                  </a:srgbClr>
                </a:clrTo>
              </a:clrChange>
            </a:blip>
            <a:stretch>
              <a:fillRect/>
            </a:stretch>
          </p:blipFill>
          <p:spPr>
            <a:xfrm>
              <a:off x="7090352" y="3285079"/>
              <a:ext cx="743054" cy="647790"/>
            </a:xfrm>
            <a:prstGeom prst="rect">
              <a:avLst/>
            </a:prstGeom>
          </p:spPr>
        </p:pic>
        <p:sp>
          <p:nvSpPr>
            <p:cNvPr id="31" name="テキスト ボックス 30">
              <a:extLst>
                <a:ext uri="{FF2B5EF4-FFF2-40B4-BE49-F238E27FC236}">
                  <a16:creationId xmlns:a16="http://schemas.microsoft.com/office/drawing/2014/main" id="{2474791D-1764-04B6-937C-B301ED09D6AB}"/>
                </a:ext>
              </a:extLst>
            </p:cNvPr>
            <p:cNvSpPr txBox="1"/>
            <p:nvPr/>
          </p:nvSpPr>
          <p:spPr>
            <a:xfrm>
              <a:off x="5603573" y="2915747"/>
              <a:ext cx="618952" cy="369332"/>
            </a:xfrm>
            <a:prstGeom prst="rect">
              <a:avLst/>
            </a:prstGeom>
            <a:noFill/>
          </p:spPr>
          <p:txBody>
            <a:bodyPr wrap="none" rtlCol="0">
              <a:spAutoFit/>
            </a:bodyPr>
            <a:lstStyle/>
            <a:p>
              <a:r>
                <a:rPr lang="en-US" altLang="ja-JP" b="1" dirty="0"/>
                <a:t>INFJ</a:t>
              </a:r>
              <a:endParaRPr lang="ja-JP" altLang="en-US" b="1" dirty="0"/>
            </a:p>
          </p:txBody>
        </p:sp>
        <p:sp>
          <p:nvSpPr>
            <p:cNvPr id="32" name="テキスト ボックス 31">
              <a:extLst>
                <a:ext uri="{FF2B5EF4-FFF2-40B4-BE49-F238E27FC236}">
                  <a16:creationId xmlns:a16="http://schemas.microsoft.com/office/drawing/2014/main" id="{3DF5F406-BF98-8B3C-276D-531776CA6C90}"/>
                </a:ext>
              </a:extLst>
            </p:cNvPr>
            <p:cNvSpPr txBox="1"/>
            <p:nvPr/>
          </p:nvSpPr>
          <p:spPr>
            <a:xfrm>
              <a:off x="7194393" y="2915748"/>
              <a:ext cx="776511" cy="475254"/>
            </a:xfrm>
            <a:prstGeom prst="rect">
              <a:avLst/>
            </a:prstGeom>
            <a:noFill/>
          </p:spPr>
          <p:txBody>
            <a:bodyPr wrap="square">
              <a:spAutoFit/>
            </a:bodyPr>
            <a:lstStyle/>
            <a:p>
              <a:r>
                <a:rPr lang="en-US" altLang="ja-JP" b="1" dirty="0"/>
                <a:t>INFJ</a:t>
              </a:r>
              <a:endParaRPr lang="ja-JP" altLang="en-US" b="1" dirty="0"/>
            </a:p>
          </p:txBody>
        </p:sp>
      </p:grpSp>
      <p:sp>
        <p:nvSpPr>
          <p:cNvPr id="11" name="テキスト ボックス 10">
            <a:extLst>
              <a:ext uri="{FF2B5EF4-FFF2-40B4-BE49-F238E27FC236}">
                <a16:creationId xmlns:a16="http://schemas.microsoft.com/office/drawing/2014/main" id="{7E865C31-492B-B539-2C3C-A854B269F0B5}"/>
              </a:ext>
            </a:extLst>
          </p:cNvPr>
          <p:cNvSpPr txBox="1"/>
          <p:nvPr/>
        </p:nvSpPr>
        <p:spPr>
          <a:xfrm>
            <a:off x="371986" y="1216640"/>
            <a:ext cx="6364077" cy="1631216"/>
          </a:xfrm>
          <a:prstGeom prst="rect">
            <a:avLst/>
          </a:prstGeom>
          <a:noFill/>
        </p:spPr>
        <p:txBody>
          <a:bodyPr wrap="square">
            <a:spAutoFit/>
          </a:bodyPr>
          <a:lstStyle/>
          <a:p>
            <a:pPr algn="l" rtl="0" fontAlgn="base"/>
            <a:r>
              <a:rPr lang="ja-JP" altLang="en-US" sz="2000" b="1" i="0" u="none" strike="noStrike" dirty="0">
                <a:effectLst/>
                <a:latin typeface="+mn-ea"/>
              </a:rPr>
              <a:t>口調だけでは変化が気づかれない可能性</a:t>
            </a:r>
            <a:endParaRPr lang="en-US" altLang="ja-JP" sz="2000" b="1" i="0" u="none" strike="noStrike" dirty="0">
              <a:effectLst/>
              <a:latin typeface="+mn-ea"/>
            </a:endParaRPr>
          </a:p>
          <a:p>
            <a:pPr algn="l" rtl="0" fontAlgn="base"/>
            <a:r>
              <a:rPr lang="ja-JP" altLang="en-US" sz="2000" b="1" i="0" u="none" strike="noStrike" dirty="0">
                <a:effectLst/>
                <a:latin typeface="+mn-ea"/>
              </a:rPr>
              <a:t>　</a:t>
            </a:r>
            <a:r>
              <a:rPr lang="en-US" altLang="ja-JP" sz="2000" b="1" i="0" u="none" strike="noStrike" dirty="0">
                <a:effectLst/>
                <a:latin typeface="+mn-ea"/>
                <a:sym typeface="Wingdings" panose="05000000000000000000" pitchFamily="2" charset="2"/>
              </a:rPr>
              <a:t></a:t>
            </a:r>
            <a:r>
              <a:rPr lang="ja-JP" altLang="en-US" sz="2000" b="1" i="0" u="none" strike="noStrike" dirty="0">
                <a:effectLst/>
                <a:latin typeface="+mn-ea"/>
                <a:sym typeface="Wingdings" panose="05000000000000000000" pitchFamily="2" charset="2"/>
              </a:rPr>
              <a:t>名乗りをすることで</a:t>
            </a:r>
            <a:r>
              <a:rPr lang="ja-JP" altLang="en-US" sz="2000" b="1" i="0" u="none" strike="noStrike" dirty="0">
                <a:solidFill>
                  <a:srgbClr val="C00000"/>
                </a:solidFill>
                <a:effectLst/>
                <a:latin typeface="+mn-ea"/>
                <a:sym typeface="Wingdings" panose="05000000000000000000" pitchFamily="2" charset="2"/>
              </a:rPr>
              <a:t>切り替えの明確化</a:t>
            </a:r>
            <a:endParaRPr lang="en-US" altLang="ja-JP" sz="2000" b="1" i="0" u="none" strike="noStrike" dirty="0">
              <a:solidFill>
                <a:srgbClr val="C00000"/>
              </a:solidFill>
              <a:effectLst/>
              <a:latin typeface="+mn-ea"/>
              <a:sym typeface="Wingdings" panose="05000000000000000000" pitchFamily="2" charset="2"/>
            </a:endParaRPr>
          </a:p>
          <a:p>
            <a:pPr algn="l" rtl="0" fontAlgn="base"/>
            <a:endParaRPr lang="en-US" altLang="ja-JP" sz="2000" b="1" dirty="0">
              <a:latin typeface="+mn-ea"/>
              <a:sym typeface="Wingdings" panose="05000000000000000000" pitchFamily="2" charset="2"/>
            </a:endParaRPr>
          </a:p>
          <a:p>
            <a:pPr marL="176213" indent="-176213" algn="l" rtl="0" fontAlgn="base">
              <a:buFont typeface="Arial" panose="020B0604020202020204" pitchFamily="34" charset="0"/>
              <a:buChar char="•"/>
            </a:pPr>
            <a:r>
              <a:rPr lang="ja-JP" altLang="en-US" sz="2000" b="1" i="0" u="none" strike="noStrike" dirty="0">
                <a:effectLst/>
                <a:latin typeface="+mn-ea"/>
                <a:sym typeface="Wingdings" panose="05000000000000000000" pitchFamily="2" charset="2"/>
              </a:rPr>
              <a:t>名乗りあり水準：対話開始時に名前を名乗る</a:t>
            </a:r>
            <a:endParaRPr lang="en-US" altLang="ja-JP" sz="2000" b="1" i="0" u="none" strike="noStrike" dirty="0">
              <a:effectLst/>
              <a:latin typeface="+mn-ea"/>
              <a:sym typeface="Wingdings" panose="05000000000000000000" pitchFamily="2" charset="2"/>
            </a:endParaRPr>
          </a:p>
          <a:p>
            <a:pPr marL="176213" indent="-176213" algn="l" rtl="0" fontAlgn="base">
              <a:buFont typeface="Arial" panose="020B0604020202020204" pitchFamily="34" charset="0"/>
              <a:buChar char="•"/>
            </a:pPr>
            <a:r>
              <a:rPr lang="ja-JP" altLang="en-US" sz="2000" b="1" dirty="0">
                <a:latin typeface="+mn-ea"/>
                <a:sym typeface="Wingdings" panose="05000000000000000000" pitchFamily="2" charset="2"/>
              </a:rPr>
              <a:t>名乗りなし水準：対話開始時に名前を名乗らない</a:t>
            </a:r>
            <a:endParaRPr lang="en-US" altLang="ja-JP" sz="2000" b="1" i="0" u="none" strike="noStrike" dirty="0">
              <a:effectLst/>
              <a:latin typeface="+mn-ea"/>
            </a:endParaRPr>
          </a:p>
        </p:txBody>
      </p:sp>
    </p:spTree>
    <p:extLst>
      <p:ext uri="{BB962C8B-B14F-4D97-AF65-F5344CB8AC3E}">
        <p14:creationId xmlns:p14="http://schemas.microsoft.com/office/powerpoint/2010/main" val="33793285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BE1EA-525E-0FA4-B52A-C1957D268865}"/>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4E4CDE93-55ED-9DFC-AC14-A7064FF1FCD8}"/>
              </a:ext>
            </a:extLst>
          </p:cNvPr>
          <p:cNvSpPr>
            <a:spLocks noGrp="1"/>
          </p:cNvSpPr>
          <p:nvPr>
            <p:ph type="sldNum" sz="quarter" idx="12"/>
          </p:nvPr>
        </p:nvSpPr>
        <p:spPr/>
        <p:txBody>
          <a:bodyPr>
            <a:noAutofit/>
          </a:bodyPr>
          <a:lstStyle/>
          <a:p>
            <a:fld id="{18020408-E1FF-429E-A8D5-EB2A190A0D77}" type="slidenum">
              <a:rPr kumimoji="1" lang="ja-JP" altLang="en-US" smtClean="0"/>
              <a:t>20</a:t>
            </a:fld>
            <a:endParaRPr kumimoji="1" lang="ja-JP" altLang="en-US"/>
          </a:p>
        </p:txBody>
      </p:sp>
      <p:sp>
        <p:nvSpPr>
          <p:cNvPr id="5" name="タイトル 4">
            <a:extLst>
              <a:ext uri="{FF2B5EF4-FFF2-40B4-BE49-F238E27FC236}">
                <a16:creationId xmlns:a16="http://schemas.microsoft.com/office/drawing/2014/main" id="{AFC5F3D9-23F5-81F1-609C-0B185A4C7D92}"/>
              </a:ext>
            </a:extLst>
          </p:cNvPr>
          <p:cNvSpPr>
            <a:spLocks noGrp="1"/>
          </p:cNvSpPr>
          <p:nvPr>
            <p:ph type="title"/>
          </p:nvPr>
        </p:nvSpPr>
        <p:spPr/>
        <p:txBody>
          <a:bodyPr>
            <a:noAutofit/>
          </a:bodyPr>
          <a:lstStyle/>
          <a:p>
            <a:r>
              <a:rPr lang="ja-JP" altLang="en-US" sz="3600" b="1" dirty="0">
                <a:solidFill>
                  <a:schemeClr val="bg1"/>
                </a:solidFill>
                <a:latin typeface="+mn-ea"/>
                <a:ea typeface="+mn-ea"/>
              </a:rPr>
              <a:t>提示する対話の内容</a:t>
            </a:r>
          </a:p>
        </p:txBody>
      </p:sp>
      <p:sp>
        <p:nvSpPr>
          <p:cNvPr id="15" name="テキスト ボックス 14">
            <a:extLst>
              <a:ext uri="{FF2B5EF4-FFF2-40B4-BE49-F238E27FC236}">
                <a16:creationId xmlns:a16="http://schemas.microsoft.com/office/drawing/2014/main" id="{37FCE1B9-8821-CA71-975A-939FBEA52A4B}"/>
              </a:ext>
            </a:extLst>
          </p:cNvPr>
          <p:cNvSpPr txBox="1"/>
          <p:nvPr/>
        </p:nvSpPr>
        <p:spPr>
          <a:xfrm>
            <a:off x="234233" y="1109796"/>
            <a:ext cx="8610017" cy="1691257"/>
          </a:xfrm>
          <a:prstGeom prst="rect">
            <a:avLst/>
          </a:prstGeom>
          <a:noFill/>
        </p:spPr>
        <p:txBody>
          <a:bodyPr wrap="square">
            <a:noAutofit/>
          </a:bodyPr>
          <a:lstStyle/>
          <a:p>
            <a:pPr fontAlgn="base">
              <a:lnSpc>
                <a:spcPts val="2400"/>
              </a:lnSpc>
            </a:pPr>
            <a:r>
              <a:rPr lang="ja-JP" altLang="en-US" sz="2000" b="1" i="0" u="none" strike="noStrike" dirty="0">
                <a:solidFill>
                  <a:schemeClr val="accent1"/>
                </a:solidFill>
                <a:effectLst/>
                <a:latin typeface="+mn-ea"/>
              </a:rPr>
              <a:t>状況設定</a:t>
            </a:r>
            <a:endParaRPr lang="en-US" altLang="ja-JP" sz="2000" b="1" i="0" u="none" strike="noStrike" dirty="0">
              <a:solidFill>
                <a:schemeClr val="accent1"/>
              </a:solidFill>
              <a:effectLst/>
              <a:latin typeface="+mn-ea"/>
            </a:endParaRPr>
          </a:p>
          <a:p>
            <a:pPr marL="358775" indent="-271463" fontAlgn="base">
              <a:lnSpc>
                <a:spcPts val="2400"/>
              </a:lnSpc>
              <a:buFont typeface="+mj-lt"/>
              <a:buAutoNum type="arabicPeriod"/>
            </a:pPr>
            <a:r>
              <a:rPr lang="en-US" altLang="ja-JP" sz="2000" b="1" dirty="0">
                <a:latin typeface="+mn-ea"/>
              </a:rPr>
              <a:t>LLM</a:t>
            </a:r>
            <a:r>
              <a:rPr lang="ja-JP" altLang="en-US" sz="2000" b="1" dirty="0">
                <a:latin typeface="+mn-ea"/>
              </a:rPr>
              <a:t>に画像生成を依頼</a:t>
            </a:r>
            <a:endParaRPr lang="en-US" altLang="ja-JP" sz="2000" b="1" dirty="0">
              <a:latin typeface="+mn-ea"/>
            </a:endParaRPr>
          </a:p>
          <a:p>
            <a:pPr marL="358775" indent="-271463" fontAlgn="base">
              <a:lnSpc>
                <a:spcPts val="2400"/>
              </a:lnSpc>
              <a:buFont typeface="+mj-lt"/>
              <a:buAutoNum type="arabicPeriod"/>
            </a:pPr>
            <a:r>
              <a:rPr lang="ja-JP" altLang="en-US" sz="2000" b="1" dirty="0">
                <a:latin typeface="+mn-ea"/>
              </a:rPr>
              <a:t>要求の達成不可による対話の行き詰まり</a:t>
            </a:r>
            <a:endParaRPr lang="en-US" altLang="ja-JP" sz="2000" b="1" dirty="0">
              <a:latin typeface="+mn-ea"/>
            </a:endParaRPr>
          </a:p>
          <a:p>
            <a:pPr marL="358775" indent="-271463" fontAlgn="base">
              <a:lnSpc>
                <a:spcPts val="2400"/>
              </a:lnSpc>
              <a:buFont typeface="+mj-lt"/>
              <a:buAutoNum type="arabicPeriod"/>
            </a:pPr>
            <a:r>
              <a:rPr lang="ja-JP" altLang="en-US" sz="2000" b="1" dirty="0">
                <a:latin typeface="+mn-ea"/>
              </a:rPr>
              <a:t>セッション切り替え</a:t>
            </a:r>
            <a:endParaRPr lang="en-US" altLang="ja-JP" sz="2000" b="1" dirty="0">
              <a:latin typeface="+mn-ea"/>
            </a:endParaRPr>
          </a:p>
          <a:p>
            <a:pPr marL="358775" indent="-271463" fontAlgn="base">
              <a:lnSpc>
                <a:spcPts val="2400"/>
              </a:lnSpc>
              <a:buFont typeface="+mj-lt"/>
              <a:buAutoNum type="arabicPeriod"/>
            </a:pPr>
            <a:r>
              <a:rPr lang="ja-JP" altLang="en-US" sz="2000" b="1" dirty="0">
                <a:latin typeface="+mn-ea"/>
              </a:rPr>
              <a:t>依頼再開</a:t>
            </a:r>
            <a:endParaRPr lang="en-US" altLang="ja-JP" sz="2000" b="1" dirty="0">
              <a:latin typeface="+mn-ea"/>
            </a:endParaRPr>
          </a:p>
          <a:p>
            <a:pPr fontAlgn="base">
              <a:lnSpc>
                <a:spcPts val="2400"/>
              </a:lnSpc>
            </a:pPr>
            <a:endParaRPr lang="en-US" altLang="ja-JP" sz="2000" b="1" dirty="0">
              <a:solidFill>
                <a:schemeClr val="accent1"/>
              </a:solidFill>
              <a:latin typeface="+mn-ea"/>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p:txBody>
      </p:sp>
      <p:sp>
        <p:nvSpPr>
          <p:cNvPr id="3" name="四角形: 角を丸くする 2">
            <a:extLst>
              <a:ext uri="{FF2B5EF4-FFF2-40B4-BE49-F238E27FC236}">
                <a16:creationId xmlns:a16="http://schemas.microsoft.com/office/drawing/2014/main" id="{669A3136-E899-3611-CD86-9AA7CB712B6D}"/>
              </a:ext>
            </a:extLst>
          </p:cNvPr>
          <p:cNvSpPr/>
          <p:nvPr/>
        </p:nvSpPr>
        <p:spPr>
          <a:xfrm>
            <a:off x="471058" y="3757434"/>
            <a:ext cx="8485981" cy="2795766"/>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11" name="テキスト ボックス 10">
            <a:extLst>
              <a:ext uri="{FF2B5EF4-FFF2-40B4-BE49-F238E27FC236}">
                <a16:creationId xmlns:a16="http://schemas.microsoft.com/office/drawing/2014/main" id="{C72EB8AC-5996-0E92-36D0-90B567CC0A5D}"/>
              </a:ext>
            </a:extLst>
          </p:cNvPr>
          <p:cNvSpPr txBox="1"/>
          <p:nvPr/>
        </p:nvSpPr>
        <p:spPr>
          <a:xfrm>
            <a:off x="1064843" y="3588105"/>
            <a:ext cx="1215676" cy="437048"/>
          </a:xfrm>
          <a:prstGeom prst="rect">
            <a:avLst/>
          </a:prstGeom>
          <a:solidFill>
            <a:schemeClr val="bg1"/>
          </a:solidFill>
        </p:spPr>
        <p:txBody>
          <a:bodyPr wrap="square">
            <a:noAutofit/>
          </a:bodyPr>
          <a:lstStyle/>
          <a:p>
            <a:r>
              <a:rPr kumimoji="1" lang="ja-JP" altLang="en-US" sz="2000" b="1" dirty="0">
                <a:solidFill>
                  <a:schemeClr val="accent1"/>
                </a:solidFill>
                <a:latin typeface="+mn-ea"/>
              </a:rPr>
              <a:t>作成手順</a:t>
            </a:r>
            <a:endParaRPr kumimoji="1" lang="en-US" altLang="ja-JP" sz="2000" b="1" dirty="0">
              <a:solidFill>
                <a:schemeClr val="accent1"/>
              </a:solidFill>
            </a:endParaRPr>
          </a:p>
          <a:p>
            <a:endParaRPr lang="ja-JP" altLang="en-US" dirty="0">
              <a:solidFill>
                <a:schemeClr val="bg1"/>
              </a:solidFill>
            </a:endParaRPr>
          </a:p>
        </p:txBody>
      </p:sp>
      <p:pic>
        <p:nvPicPr>
          <p:cNvPr id="23" name="Picture 4" descr="ロゴ&#10;&#10;自動的に生成された説明">
            <a:extLst>
              <a:ext uri="{FF2B5EF4-FFF2-40B4-BE49-F238E27FC236}">
                <a16:creationId xmlns:a16="http://schemas.microsoft.com/office/drawing/2014/main" id="{22B1D52B-2DE8-B54B-CF72-C3007092DA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7253" y="4828214"/>
            <a:ext cx="1764231" cy="651329"/>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アイコン&#10;&#10;自動的に生成された説明">
            <a:extLst>
              <a:ext uri="{FF2B5EF4-FFF2-40B4-BE49-F238E27FC236}">
                <a16:creationId xmlns:a16="http://schemas.microsoft.com/office/drawing/2014/main" id="{F4461501-E628-F48E-4417-6E1338ABCB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2187" y="4674000"/>
            <a:ext cx="959757" cy="959757"/>
          </a:xfrm>
          <a:prstGeom prst="rect">
            <a:avLst/>
          </a:prstGeom>
          <a:noFill/>
          <a:extLst>
            <a:ext uri="{909E8E84-426E-40DD-AFC4-6F175D3DCCD1}">
              <a14:hiddenFill xmlns:a14="http://schemas.microsoft.com/office/drawing/2010/main">
                <a:solidFill>
                  <a:srgbClr val="FFFFFF"/>
                </a:solidFill>
              </a14:hiddenFill>
            </a:ext>
          </a:extLst>
        </p:spPr>
      </p:pic>
      <p:pic>
        <p:nvPicPr>
          <p:cNvPr id="25" name="グラフィックス 24" descr="クリップボード 単色塗りつぶし">
            <a:extLst>
              <a:ext uri="{FF2B5EF4-FFF2-40B4-BE49-F238E27FC236}">
                <a16:creationId xmlns:a16="http://schemas.microsoft.com/office/drawing/2014/main" id="{2F3AD956-C77E-36FB-D0E5-1432B34DD6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49863" y="4496708"/>
            <a:ext cx="1314341" cy="1314341"/>
          </a:xfrm>
          <a:prstGeom prst="rect">
            <a:avLst/>
          </a:prstGeom>
        </p:spPr>
      </p:pic>
      <p:sp>
        <p:nvSpPr>
          <p:cNvPr id="26" name="矢印: 右 25">
            <a:extLst>
              <a:ext uri="{FF2B5EF4-FFF2-40B4-BE49-F238E27FC236}">
                <a16:creationId xmlns:a16="http://schemas.microsoft.com/office/drawing/2014/main" id="{30CC4EFE-7A90-1818-8F73-F0520CF5B279}"/>
              </a:ext>
            </a:extLst>
          </p:cNvPr>
          <p:cNvSpPr/>
          <p:nvPr/>
        </p:nvSpPr>
        <p:spPr>
          <a:xfrm>
            <a:off x="3549973" y="5033015"/>
            <a:ext cx="355600" cy="370114"/>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27" name="矢印: 右 26">
            <a:extLst>
              <a:ext uri="{FF2B5EF4-FFF2-40B4-BE49-F238E27FC236}">
                <a16:creationId xmlns:a16="http://schemas.microsoft.com/office/drawing/2014/main" id="{CEB72CB0-22B3-CEFA-0281-B1FDEF143B61}"/>
              </a:ext>
            </a:extLst>
          </p:cNvPr>
          <p:cNvSpPr/>
          <p:nvPr/>
        </p:nvSpPr>
        <p:spPr>
          <a:xfrm>
            <a:off x="6086512" y="5033015"/>
            <a:ext cx="355600" cy="370114"/>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29" name="テキスト ボックス 28">
            <a:extLst>
              <a:ext uri="{FF2B5EF4-FFF2-40B4-BE49-F238E27FC236}">
                <a16:creationId xmlns:a16="http://schemas.microsoft.com/office/drawing/2014/main" id="{43CA1A26-20E3-CDDB-F4E2-294E1E439A73}"/>
              </a:ext>
            </a:extLst>
          </p:cNvPr>
          <p:cNvSpPr txBox="1"/>
          <p:nvPr/>
        </p:nvSpPr>
        <p:spPr>
          <a:xfrm>
            <a:off x="578634" y="5685038"/>
            <a:ext cx="2910086" cy="369332"/>
          </a:xfrm>
          <a:prstGeom prst="rect">
            <a:avLst/>
          </a:prstGeom>
          <a:noFill/>
        </p:spPr>
        <p:txBody>
          <a:bodyPr wrap="square">
            <a:noAutofit/>
          </a:bodyPr>
          <a:lstStyle/>
          <a:p>
            <a:r>
              <a:rPr kumimoji="1" lang="en-US" altLang="ja-JP" b="1" dirty="0">
                <a:latin typeface="+mn-ea"/>
              </a:rPr>
              <a:t>Gemini 2.5 Flash Image </a:t>
            </a:r>
            <a:endParaRPr lang="ja-JP" altLang="en-US" dirty="0"/>
          </a:p>
        </p:txBody>
      </p:sp>
      <p:sp>
        <p:nvSpPr>
          <p:cNvPr id="31" name="テキスト ボックス 30">
            <a:extLst>
              <a:ext uri="{FF2B5EF4-FFF2-40B4-BE49-F238E27FC236}">
                <a16:creationId xmlns:a16="http://schemas.microsoft.com/office/drawing/2014/main" id="{8BAA9C4C-CE7C-61BB-961D-67FD2219597A}"/>
              </a:ext>
            </a:extLst>
          </p:cNvPr>
          <p:cNvSpPr txBox="1"/>
          <p:nvPr/>
        </p:nvSpPr>
        <p:spPr>
          <a:xfrm>
            <a:off x="4535213" y="5685038"/>
            <a:ext cx="959757" cy="369332"/>
          </a:xfrm>
          <a:prstGeom prst="rect">
            <a:avLst/>
          </a:prstGeom>
          <a:noFill/>
        </p:spPr>
        <p:txBody>
          <a:bodyPr wrap="square">
            <a:noAutofit/>
          </a:bodyPr>
          <a:lstStyle/>
          <a:p>
            <a:r>
              <a:rPr kumimoji="1" lang="en-US" altLang="ja-JP" b="1" dirty="0">
                <a:latin typeface="+mn-ea"/>
              </a:rPr>
              <a:t>GPT-5</a:t>
            </a:r>
            <a:r>
              <a:rPr kumimoji="1" lang="en-US" altLang="ja-JP" sz="1800" b="1" dirty="0">
                <a:latin typeface="+mn-ea"/>
              </a:rPr>
              <a:t> </a:t>
            </a:r>
            <a:endParaRPr lang="ja-JP" altLang="en-US" sz="1800" dirty="0"/>
          </a:p>
        </p:txBody>
      </p:sp>
      <p:sp>
        <p:nvSpPr>
          <p:cNvPr id="33" name="テキスト ボックス 32">
            <a:extLst>
              <a:ext uri="{FF2B5EF4-FFF2-40B4-BE49-F238E27FC236}">
                <a16:creationId xmlns:a16="http://schemas.microsoft.com/office/drawing/2014/main" id="{BF8F69FD-9F5B-81F5-5366-75CEB8FBCF49}"/>
              </a:ext>
            </a:extLst>
          </p:cNvPr>
          <p:cNvSpPr txBox="1"/>
          <p:nvPr/>
        </p:nvSpPr>
        <p:spPr>
          <a:xfrm>
            <a:off x="6722570" y="5685038"/>
            <a:ext cx="1856654" cy="369332"/>
          </a:xfrm>
          <a:prstGeom prst="rect">
            <a:avLst/>
          </a:prstGeom>
          <a:noFill/>
        </p:spPr>
        <p:txBody>
          <a:bodyPr wrap="square">
            <a:noAutofit/>
          </a:bodyPr>
          <a:lstStyle/>
          <a:p>
            <a:r>
              <a:rPr kumimoji="1" lang="ja-JP" altLang="en-US" b="1" dirty="0">
                <a:latin typeface="+mn-ea"/>
              </a:rPr>
              <a:t>提示する対話</a:t>
            </a:r>
            <a:r>
              <a:rPr kumimoji="1" lang="en-US" altLang="ja-JP" b="1" dirty="0">
                <a:latin typeface="+mn-ea"/>
              </a:rPr>
              <a:t> </a:t>
            </a:r>
            <a:endParaRPr lang="ja-JP" altLang="en-US" dirty="0"/>
          </a:p>
        </p:txBody>
      </p:sp>
      <p:sp>
        <p:nvSpPr>
          <p:cNvPr id="35" name="テキスト ボックス 34">
            <a:extLst>
              <a:ext uri="{FF2B5EF4-FFF2-40B4-BE49-F238E27FC236}">
                <a16:creationId xmlns:a16="http://schemas.microsoft.com/office/drawing/2014/main" id="{4CE7B7B6-1D81-5346-8CCA-F851E0C1910D}"/>
              </a:ext>
            </a:extLst>
          </p:cNvPr>
          <p:cNvSpPr txBox="1"/>
          <p:nvPr/>
        </p:nvSpPr>
        <p:spPr>
          <a:xfrm>
            <a:off x="2798880" y="3890098"/>
            <a:ext cx="4217269" cy="543855"/>
          </a:xfrm>
          <a:prstGeom prst="rect">
            <a:avLst/>
          </a:prstGeom>
          <a:noFill/>
        </p:spPr>
        <p:txBody>
          <a:bodyPr wrap="square">
            <a:noAutofit/>
          </a:bodyPr>
          <a:lstStyle/>
          <a:p>
            <a:pPr>
              <a:lnSpc>
                <a:spcPct val="150000"/>
              </a:lnSpc>
            </a:pPr>
            <a:r>
              <a:rPr kumimoji="1" lang="en-US" altLang="ja-JP" sz="2000" b="1" dirty="0">
                <a:latin typeface="+mn-ea"/>
                <a:sym typeface="Wingdings" panose="05000000000000000000" pitchFamily="2" charset="2"/>
              </a:rPr>
              <a:t>MBTI</a:t>
            </a:r>
            <a:r>
              <a:rPr kumimoji="1" lang="ja-JP" altLang="en-US" sz="2000" b="1" dirty="0">
                <a:sym typeface="Wingdings" panose="05000000000000000000" pitchFamily="2" charset="2"/>
              </a:rPr>
              <a:t>特性に沿った口調に置き換え</a:t>
            </a:r>
            <a:endParaRPr lang="en-US" altLang="ja-JP" sz="2000" dirty="0">
              <a:latin typeface="Meiryo UI" panose="020B0604030504040204" pitchFamily="50" charset="-128"/>
              <a:ea typeface="Meiryo UI" panose="020B0604030504040204" pitchFamily="50" charset="-128"/>
            </a:endParaRPr>
          </a:p>
        </p:txBody>
      </p:sp>
      <p:sp>
        <p:nvSpPr>
          <p:cNvPr id="8" name="テキスト ボックス 7">
            <a:extLst>
              <a:ext uri="{FF2B5EF4-FFF2-40B4-BE49-F238E27FC236}">
                <a16:creationId xmlns:a16="http://schemas.microsoft.com/office/drawing/2014/main" id="{E485757E-EBB1-F7D1-11BD-96FD755C0C86}"/>
              </a:ext>
            </a:extLst>
          </p:cNvPr>
          <p:cNvSpPr txBox="1"/>
          <p:nvPr/>
        </p:nvSpPr>
        <p:spPr>
          <a:xfrm>
            <a:off x="234233" y="2802221"/>
            <a:ext cx="5318004" cy="707886"/>
          </a:xfrm>
          <a:prstGeom prst="rect">
            <a:avLst/>
          </a:prstGeom>
          <a:noFill/>
        </p:spPr>
        <p:txBody>
          <a:bodyPr wrap="square">
            <a:noAutofit/>
          </a:bodyPr>
          <a:lstStyle/>
          <a:p>
            <a:pPr algn="l" rtl="0" fontAlgn="base">
              <a:lnSpc>
                <a:spcPts val="2400"/>
              </a:lnSpc>
              <a:buNone/>
            </a:pPr>
            <a:r>
              <a:rPr lang="ja-JP" altLang="en-US" sz="2000" b="1" i="0" u="none" strike="noStrike" dirty="0">
                <a:solidFill>
                  <a:schemeClr val="accent1"/>
                </a:solidFill>
                <a:effectLst/>
                <a:latin typeface="+mn-ea"/>
              </a:rPr>
              <a:t>作成方法</a:t>
            </a:r>
            <a:endParaRPr lang="en-US" altLang="ja-JP" sz="2000" b="1" i="0" u="none" strike="noStrike" dirty="0">
              <a:solidFill>
                <a:schemeClr val="accent1"/>
              </a:solidFill>
              <a:effectLst/>
              <a:latin typeface="+mn-ea"/>
            </a:endParaRPr>
          </a:p>
          <a:p>
            <a:r>
              <a:rPr kumimoji="1" lang="en-US" altLang="ja-JP" sz="2000" b="1" dirty="0">
                <a:latin typeface="+mn-ea"/>
              </a:rPr>
              <a:t>Gemini 2.5 Flash Image </a:t>
            </a:r>
            <a:r>
              <a:rPr kumimoji="1" lang="ja-JP" altLang="en-US" sz="2000" b="1" dirty="0">
                <a:latin typeface="+mn-ea"/>
              </a:rPr>
              <a:t>と </a:t>
            </a:r>
            <a:r>
              <a:rPr kumimoji="1" lang="en-US" altLang="ja-JP" sz="2000" b="1" dirty="0">
                <a:latin typeface="+mn-ea"/>
              </a:rPr>
              <a:t>GPT-5</a:t>
            </a:r>
            <a:r>
              <a:rPr kumimoji="1" lang="ja-JP" altLang="en-US" sz="2000" b="1" dirty="0">
                <a:latin typeface="+mn-ea"/>
              </a:rPr>
              <a:t>を使用</a:t>
            </a:r>
            <a:endParaRPr lang="en-US" altLang="ja-JP" sz="2000" b="0" i="0" dirty="0">
              <a:solidFill>
                <a:srgbClr val="000000"/>
              </a:solidFill>
              <a:effectLst/>
              <a:latin typeface="+mn-ea"/>
            </a:endParaRPr>
          </a:p>
        </p:txBody>
      </p:sp>
    </p:spTree>
    <p:extLst>
      <p:ext uri="{BB962C8B-B14F-4D97-AF65-F5344CB8AC3E}">
        <p14:creationId xmlns:p14="http://schemas.microsoft.com/office/powerpoint/2010/main" val="39709100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9160A-962B-628D-36A2-DE903F8AFDC0}"/>
            </a:ext>
          </a:extLst>
        </p:cNvPr>
        <p:cNvGrpSpPr/>
        <p:nvPr/>
      </p:nvGrpSpPr>
      <p:grpSpPr>
        <a:xfrm>
          <a:off x="0" y="0"/>
          <a:ext cx="0" cy="0"/>
          <a:chOff x="0" y="0"/>
          <a:chExt cx="0" cy="0"/>
        </a:xfrm>
      </p:grpSpPr>
      <p:sp>
        <p:nvSpPr>
          <p:cNvPr id="9" name="スライド番号プレースホルダー 8">
            <a:extLst>
              <a:ext uri="{FF2B5EF4-FFF2-40B4-BE49-F238E27FC236}">
                <a16:creationId xmlns:a16="http://schemas.microsoft.com/office/drawing/2014/main" id="{AD2693C5-8757-8798-CADE-07C71E41B13E}"/>
              </a:ext>
            </a:extLst>
          </p:cNvPr>
          <p:cNvSpPr>
            <a:spLocks noGrp="1"/>
          </p:cNvSpPr>
          <p:nvPr>
            <p:ph type="sldNum" sz="quarter" idx="12"/>
          </p:nvPr>
        </p:nvSpPr>
        <p:spPr/>
        <p:txBody>
          <a:bodyPr/>
          <a:lstStyle/>
          <a:p>
            <a:fld id="{18020408-E1FF-429E-A8D5-EB2A190A0D77}" type="slidenum">
              <a:rPr kumimoji="1" lang="ja-JP" altLang="en-US" smtClean="0"/>
              <a:t>21</a:t>
            </a:fld>
            <a:endParaRPr kumimoji="1" lang="ja-JP" altLang="en-US"/>
          </a:p>
        </p:txBody>
      </p:sp>
      <p:sp>
        <p:nvSpPr>
          <p:cNvPr id="5" name="タイトル 4">
            <a:extLst>
              <a:ext uri="{FF2B5EF4-FFF2-40B4-BE49-F238E27FC236}">
                <a16:creationId xmlns:a16="http://schemas.microsoft.com/office/drawing/2014/main" id="{78112BA6-0BF2-147D-257E-FF0414FE061A}"/>
              </a:ext>
            </a:extLst>
          </p:cNvPr>
          <p:cNvSpPr>
            <a:spLocks noGrp="1"/>
          </p:cNvSpPr>
          <p:nvPr>
            <p:ph type="title"/>
          </p:nvPr>
        </p:nvSpPr>
        <p:spPr/>
        <p:txBody>
          <a:bodyPr>
            <a:noAutofit/>
          </a:bodyPr>
          <a:lstStyle/>
          <a:p>
            <a:r>
              <a:rPr lang="ja-JP" altLang="en-US" sz="3600" b="1" dirty="0">
                <a:solidFill>
                  <a:schemeClr val="bg1"/>
                </a:solidFill>
                <a:latin typeface="+mn-ea"/>
                <a:ea typeface="+mn-ea"/>
              </a:rPr>
              <a:t>評価指標：人格切替の知覚について</a:t>
            </a:r>
          </a:p>
        </p:txBody>
      </p:sp>
      <p:sp>
        <p:nvSpPr>
          <p:cNvPr id="15" name="テキスト ボックス 14">
            <a:extLst>
              <a:ext uri="{FF2B5EF4-FFF2-40B4-BE49-F238E27FC236}">
                <a16:creationId xmlns:a16="http://schemas.microsoft.com/office/drawing/2014/main" id="{92BA424B-5D4F-765E-30A8-2150AE813C5E}"/>
              </a:ext>
            </a:extLst>
          </p:cNvPr>
          <p:cNvSpPr txBox="1"/>
          <p:nvPr/>
        </p:nvSpPr>
        <p:spPr>
          <a:xfrm>
            <a:off x="160484" y="1470364"/>
            <a:ext cx="8610017" cy="627715"/>
          </a:xfrm>
          <a:prstGeom prst="rect">
            <a:avLst/>
          </a:prstGeom>
          <a:noFill/>
        </p:spPr>
        <p:txBody>
          <a:bodyPr wrap="square">
            <a:noAutofit/>
          </a:bodyPr>
          <a:lstStyle/>
          <a:p>
            <a:pPr marL="85725" fontAlgn="base">
              <a:lnSpc>
                <a:spcPts val="2400"/>
              </a:lnSpc>
            </a:pPr>
            <a:r>
              <a:rPr lang="en-US" altLang="ja-JP" sz="2000" b="1" dirty="0">
                <a:latin typeface="+mn-ea"/>
              </a:rPr>
              <a:t>LLM</a:t>
            </a:r>
            <a:r>
              <a:rPr lang="ja-JP" altLang="en-US" sz="2000" b="1" dirty="0">
                <a:latin typeface="+mn-ea"/>
              </a:rPr>
              <a:t>の人格切り替えの知覚度合いに関する</a:t>
            </a:r>
            <a:r>
              <a:rPr lang="en-US" altLang="ja-JP" sz="2000" b="1" dirty="0">
                <a:latin typeface="+mn-ea"/>
              </a:rPr>
              <a:t>1</a:t>
            </a:r>
            <a:r>
              <a:rPr lang="ja-JP" altLang="en-US" sz="2000" b="1" dirty="0">
                <a:latin typeface="+mn-ea"/>
              </a:rPr>
              <a:t>項目，選択式</a:t>
            </a:r>
            <a:endParaRPr lang="en-US" altLang="ja-JP" sz="2000" b="1" i="0" dirty="0">
              <a:effectLst/>
              <a:latin typeface="+mn-ea"/>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44D0D6E0-793A-9DD4-A49B-A10DC510EA0C}"/>
              </a:ext>
            </a:extLst>
          </p:cNvPr>
          <p:cNvSpPr txBox="1"/>
          <p:nvPr/>
        </p:nvSpPr>
        <p:spPr>
          <a:xfrm>
            <a:off x="160484" y="2259270"/>
            <a:ext cx="8304459" cy="3249159"/>
          </a:xfrm>
          <a:prstGeom prst="rect">
            <a:avLst/>
          </a:prstGeom>
          <a:noFill/>
        </p:spPr>
        <p:txBody>
          <a:bodyPr wrap="square">
            <a:spAutoFit/>
          </a:bodyPr>
          <a:lstStyle/>
          <a:p>
            <a:r>
              <a:rPr lang="ja-JP" altLang="en-US" sz="2800" b="1" dirty="0">
                <a:solidFill>
                  <a:schemeClr val="accent1"/>
                </a:solidFill>
                <a:latin typeface="+mn-ea"/>
              </a:rPr>
              <a:t>質問</a:t>
            </a:r>
            <a:endParaRPr lang="en-US" altLang="ja-JP" sz="2800" b="1" dirty="0">
              <a:solidFill>
                <a:schemeClr val="accent1"/>
              </a:solidFill>
              <a:latin typeface="+mn-ea"/>
            </a:endParaRPr>
          </a:p>
          <a:p>
            <a:r>
              <a:rPr lang="en-US" altLang="ja-JP" sz="2000" b="1" dirty="0">
                <a:latin typeface="+mn-ea"/>
              </a:rPr>
              <a:t>Q</a:t>
            </a:r>
            <a:r>
              <a:rPr lang="ja-JP" altLang="en-US" sz="2000" b="1" dirty="0">
                <a:latin typeface="+mn-ea"/>
              </a:rPr>
              <a:t>．あなたが体験したものにもっとも当てはまるものを１つ選択してください</a:t>
            </a:r>
            <a:endParaRPr lang="en-US" altLang="ja-JP" sz="2000" b="1" dirty="0">
              <a:latin typeface="+mn-ea"/>
            </a:endParaRPr>
          </a:p>
          <a:p>
            <a:endParaRPr lang="en-US" altLang="ja-JP" sz="2000" b="1" dirty="0">
              <a:latin typeface="+mn-ea"/>
            </a:endParaRPr>
          </a:p>
          <a:p>
            <a:pPr marL="342900" indent="-342900">
              <a:lnSpc>
                <a:spcPct val="150000"/>
              </a:lnSpc>
              <a:buFont typeface="+mj-lt"/>
              <a:buAutoNum type="arabicPeriod"/>
            </a:pPr>
            <a:r>
              <a:rPr lang="en-US" altLang="ja-JP" sz="2000" b="1" dirty="0">
                <a:latin typeface="+mn-ea"/>
              </a:rPr>
              <a:t>AI</a:t>
            </a:r>
            <a:r>
              <a:rPr lang="ja-JP" altLang="en-US" sz="2000" b="1" dirty="0">
                <a:latin typeface="+mn-ea"/>
              </a:rPr>
              <a:t>の性格は変わっていない</a:t>
            </a:r>
            <a:endParaRPr lang="en-US" altLang="ja-JP" sz="2000" b="1" dirty="0">
              <a:latin typeface="+mn-ea"/>
            </a:endParaRPr>
          </a:p>
          <a:p>
            <a:pPr marL="342900" indent="-342900">
              <a:lnSpc>
                <a:spcPct val="150000"/>
              </a:lnSpc>
              <a:buFont typeface="+mj-lt"/>
              <a:buAutoNum type="arabicPeriod"/>
            </a:pPr>
            <a:r>
              <a:rPr lang="en-US" altLang="ja-JP" sz="2000" b="1" dirty="0">
                <a:latin typeface="+mn-ea"/>
              </a:rPr>
              <a:t>AI</a:t>
            </a:r>
            <a:r>
              <a:rPr lang="ja-JP" altLang="en-US" sz="2000" b="1" dirty="0">
                <a:latin typeface="+mn-ea"/>
              </a:rPr>
              <a:t>の性格は初めのチャットの途中で変わった</a:t>
            </a:r>
            <a:endParaRPr lang="en-US" altLang="ja-JP" sz="2000" b="1" dirty="0">
              <a:latin typeface="+mn-ea"/>
            </a:endParaRPr>
          </a:p>
          <a:p>
            <a:pPr marL="342900" indent="-342900">
              <a:lnSpc>
                <a:spcPct val="150000"/>
              </a:lnSpc>
              <a:buFont typeface="+mj-lt"/>
              <a:buAutoNum type="arabicPeriod"/>
            </a:pPr>
            <a:r>
              <a:rPr lang="en-US" altLang="ja-JP" sz="2000" b="1" dirty="0">
                <a:latin typeface="+mn-ea"/>
              </a:rPr>
              <a:t>AI</a:t>
            </a:r>
            <a:r>
              <a:rPr lang="ja-JP" altLang="en-US" sz="2000" b="1" dirty="0">
                <a:latin typeface="+mn-ea"/>
              </a:rPr>
              <a:t>の性格はチャットを新規作成した際に変わった</a:t>
            </a:r>
            <a:endParaRPr lang="en-US" altLang="ja-JP" sz="2000" b="1" dirty="0">
              <a:latin typeface="+mn-ea"/>
            </a:endParaRPr>
          </a:p>
          <a:p>
            <a:pPr marL="342900" indent="-342900">
              <a:lnSpc>
                <a:spcPct val="150000"/>
              </a:lnSpc>
              <a:buFont typeface="+mj-lt"/>
              <a:buAutoNum type="arabicPeriod"/>
            </a:pPr>
            <a:r>
              <a:rPr lang="en-US" altLang="ja-JP" sz="2000" b="1" dirty="0">
                <a:latin typeface="+mn-ea"/>
              </a:rPr>
              <a:t>AI</a:t>
            </a:r>
            <a:r>
              <a:rPr lang="ja-JP" altLang="en-US" sz="2000" b="1" dirty="0">
                <a:latin typeface="+mn-ea"/>
              </a:rPr>
              <a:t>の性格はチャットを新規作成後のチャットの途中に変わった</a:t>
            </a:r>
          </a:p>
        </p:txBody>
      </p:sp>
    </p:spTree>
    <p:extLst>
      <p:ext uri="{BB962C8B-B14F-4D97-AF65-F5344CB8AC3E}">
        <p14:creationId xmlns:p14="http://schemas.microsoft.com/office/powerpoint/2010/main" val="12784330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A3B02-D6BA-E035-FB70-6BAD0B8B487D}"/>
            </a:ext>
          </a:extLst>
        </p:cNvPr>
        <p:cNvGrpSpPr/>
        <p:nvPr/>
      </p:nvGrpSpPr>
      <p:grpSpPr>
        <a:xfrm>
          <a:off x="0" y="0"/>
          <a:ext cx="0" cy="0"/>
          <a:chOff x="0" y="0"/>
          <a:chExt cx="0" cy="0"/>
        </a:xfrm>
      </p:grpSpPr>
      <p:sp>
        <p:nvSpPr>
          <p:cNvPr id="9" name="スライド番号プレースホルダー 8">
            <a:extLst>
              <a:ext uri="{FF2B5EF4-FFF2-40B4-BE49-F238E27FC236}">
                <a16:creationId xmlns:a16="http://schemas.microsoft.com/office/drawing/2014/main" id="{D1C74F31-145B-9DC1-6AE3-6A3A30FB2097}"/>
              </a:ext>
            </a:extLst>
          </p:cNvPr>
          <p:cNvSpPr>
            <a:spLocks noGrp="1"/>
          </p:cNvSpPr>
          <p:nvPr>
            <p:ph type="sldNum" sz="quarter" idx="12"/>
          </p:nvPr>
        </p:nvSpPr>
        <p:spPr/>
        <p:txBody>
          <a:bodyPr/>
          <a:lstStyle/>
          <a:p>
            <a:fld id="{18020408-E1FF-429E-A8D5-EB2A190A0D77}" type="slidenum">
              <a:rPr kumimoji="1" lang="ja-JP" altLang="en-US" smtClean="0">
                <a:latin typeface="+mn-ea"/>
              </a:rPr>
              <a:t>22</a:t>
            </a:fld>
            <a:endParaRPr kumimoji="1" lang="ja-JP" altLang="en-US">
              <a:latin typeface="+mn-ea"/>
            </a:endParaRPr>
          </a:p>
        </p:txBody>
      </p:sp>
      <p:sp>
        <p:nvSpPr>
          <p:cNvPr id="5" name="タイトル 4">
            <a:extLst>
              <a:ext uri="{FF2B5EF4-FFF2-40B4-BE49-F238E27FC236}">
                <a16:creationId xmlns:a16="http://schemas.microsoft.com/office/drawing/2014/main" id="{EE0837CA-78F3-28D4-6EAC-5EE2875BB3D4}"/>
              </a:ext>
            </a:extLst>
          </p:cNvPr>
          <p:cNvSpPr>
            <a:spLocks noGrp="1"/>
          </p:cNvSpPr>
          <p:nvPr>
            <p:ph type="title"/>
          </p:nvPr>
        </p:nvSpPr>
        <p:spPr/>
        <p:txBody>
          <a:bodyPr>
            <a:noAutofit/>
          </a:bodyPr>
          <a:lstStyle/>
          <a:p>
            <a:r>
              <a:rPr lang="ja-JP" altLang="en-US" sz="3600" b="1" dirty="0">
                <a:solidFill>
                  <a:schemeClr val="bg1"/>
                </a:solidFill>
              </a:rPr>
              <a:t>評価指標：</a:t>
            </a:r>
            <a:r>
              <a:rPr lang="en-US" altLang="ja-JP" sz="3600" b="1" dirty="0">
                <a:solidFill>
                  <a:schemeClr val="bg1"/>
                </a:solidFill>
              </a:rPr>
              <a:t>LLM</a:t>
            </a:r>
            <a:r>
              <a:rPr lang="ja-JP" altLang="en-US" sz="3600" b="1" dirty="0">
                <a:solidFill>
                  <a:schemeClr val="bg1"/>
                </a:solidFill>
              </a:rPr>
              <a:t>への印象について</a:t>
            </a:r>
          </a:p>
        </p:txBody>
      </p:sp>
      <p:sp>
        <p:nvSpPr>
          <p:cNvPr id="15" name="テキスト ボックス 14">
            <a:extLst>
              <a:ext uri="{FF2B5EF4-FFF2-40B4-BE49-F238E27FC236}">
                <a16:creationId xmlns:a16="http://schemas.microsoft.com/office/drawing/2014/main" id="{D74169F8-F5F4-EDD6-B3B0-AA6B61E11626}"/>
              </a:ext>
            </a:extLst>
          </p:cNvPr>
          <p:cNvSpPr txBox="1"/>
          <p:nvPr/>
        </p:nvSpPr>
        <p:spPr>
          <a:xfrm>
            <a:off x="266989" y="1135362"/>
            <a:ext cx="8610017" cy="1592744"/>
          </a:xfrm>
          <a:prstGeom prst="rect">
            <a:avLst/>
          </a:prstGeom>
          <a:noFill/>
        </p:spPr>
        <p:txBody>
          <a:bodyPr wrap="square">
            <a:noAutofit/>
          </a:bodyPr>
          <a:lstStyle/>
          <a:p>
            <a:pPr fontAlgn="base">
              <a:lnSpc>
                <a:spcPts val="2400"/>
              </a:lnSpc>
            </a:pPr>
            <a:r>
              <a:rPr lang="en-US" altLang="ja-JP" sz="2000" b="1" dirty="0">
                <a:latin typeface="+mn-ea"/>
              </a:rPr>
              <a:t>LLM</a:t>
            </a:r>
            <a:r>
              <a:rPr lang="ja-JP" altLang="en-US" sz="2000" b="1" dirty="0">
                <a:latin typeface="+mn-ea"/>
              </a:rPr>
              <a:t>の印象に関する</a:t>
            </a:r>
            <a:r>
              <a:rPr lang="en-US" altLang="ja-JP" sz="2000" b="1" dirty="0">
                <a:latin typeface="+mn-ea"/>
              </a:rPr>
              <a:t>19</a:t>
            </a:r>
            <a:r>
              <a:rPr lang="ja-JP" altLang="en-US" sz="2000" b="1" dirty="0">
                <a:latin typeface="+mn-ea"/>
              </a:rPr>
              <a:t>の質問項目（</a:t>
            </a:r>
            <a:r>
              <a:rPr lang="en-US" altLang="ja-JP" sz="2000" b="1" dirty="0">
                <a:latin typeface="+mn-ea"/>
              </a:rPr>
              <a:t>11</a:t>
            </a:r>
            <a:r>
              <a:rPr lang="ja-JP" altLang="en-US" sz="2000" b="1" dirty="0">
                <a:latin typeface="+mn-ea"/>
              </a:rPr>
              <a:t>件法）</a:t>
            </a:r>
            <a:endParaRPr lang="en-US" altLang="ja-JP" sz="2000" b="1" dirty="0">
              <a:latin typeface="+mn-ea"/>
            </a:endParaRPr>
          </a:p>
          <a:p>
            <a:pPr marL="271463" indent="-185738" fontAlgn="base">
              <a:lnSpc>
                <a:spcPts val="2400"/>
              </a:lnSpc>
              <a:buFont typeface="Aptos" panose="020B0004020202020204" pitchFamily="34" charset="0"/>
              <a:buChar char="•"/>
            </a:pPr>
            <a:r>
              <a:rPr lang="en-US" altLang="ja-JP" b="1" dirty="0">
                <a:solidFill>
                  <a:schemeClr val="accent1"/>
                </a:solidFill>
                <a:latin typeface="+mn-ea"/>
              </a:rPr>
              <a:t>LLM</a:t>
            </a:r>
            <a:r>
              <a:rPr lang="ja-JP" altLang="ja-JP" b="1" dirty="0">
                <a:solidFill>
                  <a:schemeClr val="accent1"/>
                </a:solidFill>
                <a:latin typeface="+mn-ea"/>
              </a:rPr>
              <a:t>の一般的な印象に関する</a:t>
            </a:r>
            <a:r>
              <a:rPr lang="en-US" altLang="ja-JP" b="1" dirty="0">
                <a:solidFill>
                  <a:schemeClr val="accent1"/>
                </a:solidFill>
                <a:latin typeface="+mn-ea"/>
              </a:rPr>
              <a:t>19</a:t>
            </a:r>
            <a:r>
              <a:rPr lang="ja-JP" altLang="ja-JP" b="1" dirty="0">
                <a:solidFill>
                  <a:schemeClr val="accent1"/>
                </a:solidFill>
                <a:latin typeface="+mn-ea"/>
              </a:rPr>
              <a:t>項目 </a:t>
            </a:r>
            <a:r>
              <a:rPr lang="en-US" altLang="ja-JP" b="1" dirty="0">
                <a:solidFill>
                  <a:schemeClr val="accent1"/>
                </a:solidFill>
                <a:latin typeface="+mn-ea"/>
              </a:rPr>
              <a:t>[</a:t>
            </a:r>
            <a:r>
              <a:rPr lang="en-US" altLang="ja-JP" b="1" dirty="0" err="1">
                <a:solidFill>
                  <a:schemeClr val="accent1"/>
                </a:solidFill>
                <a:latin typeface="+mn-ea"/>
              </a:rPr>
              <a:t>Fitrianie</a:t>
            </a:r>
            <a:r>
              <a:rPr lang="ja-JP" altLang="ja-JP" b="1" dirty="0">
                <a:solidFill>
                  <a:schemeClr val="accent1"/>
                </a:solidFill>
                <a:latin typeface="+mn-ea"/>
              </a:rPr>
              <a:t>ら </a:t>
            </a:r>
            <a:r>
              <a:rPr lang="en-US" altLang="ja-JP" b="1" dirty="0">
                <a:solidFill>
                  <a:schemeClr val="accent1"/>
                </a:solidFill>
                <a:latin typeface="+mn-ea"/>
              </a:rPr>
              <a:t>‘20]</a:t>
            </a:r>
            <a:endParaRPr lang="en-US" altLang="ja-JP" b="0" i="0" dirty="0">
              <a:solidFill>
                <a:schemeClr val="accent2"/>
              </a:solidFill>
              <a:effectLst/>
              <a:latin typeface="+mn-ea"/>
            </a:endParaRPr>
          </a:p>
          <a:p>
            <a:pPr algn="l" rtl="0" fontAlgn="base">
              <a:lnSpc>
                <a:spcPts val="2100"/>
              </a:lnSpc>
              <a:buNone/>
            </a:pPr>
            <a:r>
              <a:rPr lang="en-US" altLang="ja-JP" sz="1800" b="0" i="0" dirty="0">
                <a:solidFill>
                  <a:srgbClr val="000000"/>
                </a:solidFill>
                <a:effectLst/>
                <a:latin typeface="+mn-ea"/>
              </a:rPr>
              <a:t>​</a:t>
            </a:r>
            <a:endParaRPr lang="en-US" altLang="ja-JP" b="0" i="0" dirty="0">
              <a:solidFill>
                <a:srgbClr val="000000"/>
              </a:solidFill>
              <a:effectLst/>
              <a:latin typeface="+mn-ea"/>
            </a:endParaRPr>
          </a:p>
        </p:txBody>
      </p:sp>
      <p:sp>
        <p:nvSpPr>
          <p:cNvPr id="3" name="Rectangle 1">
            <a:extLst>
              <a:ext uri="{FF2B5EF4-FFF2-40B4-BE49-F238E27FC236}">
                <a16:creationId xmlns:a16="http://schemas.microsoft.com/office/drawing/2014/main" id="{1DC3B257-E413-E127-6490-0880A76F7453}"/>
              </a:ext>
            </a:extLst>
          </p:cNvPr>
          <p:cNvSpPr>
            <a:spLocks noChangeArrowheads="1"/>
          </p:cNvSpPr>
          <p:nvPr/>
        </p:nvSpPr>
        <p:spPr bwMode="auto">
          <a:xfrm>
            <a:off x="-6774455" y="2056045"/>
            <a:ext cx="220155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mn-ea"/>
              </a:rPr>
              <a:t> </a:t>
            </a:r>
            <a:endParaRPr kumimoji="0" lang="ja-JP" altLang="ja-JP" sz="1800" b="0" i="0" u="none" strike="noStrike" cap="none" normalizeH="0" baseline="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mn-ea"/>
            </a:endParaRPr>
          </a:p>
        </p:txBody>
      </p:sp>
      <p:graphicFrame>
        <p:nvGraphicFramePr>
          <p:cNvPr id="7" name="表 6">
            <a:extLst>
              <a:ext uri="{FF2B5EF4-FFF2-40B4-BE49-F238E27FC236}">
                <a16:creationId xmlns:a16="http://schemas.microsoft.com/office/drawing/2014/main" id="{08EC102C-69B5-06B0-8627-F50951FE6F83}"/>
              </a:ext>
            </a:extLst>
          </p:cNvPr>
          <p:cNvGraphicFramePr>
            <a:graphicFrameLocks noGrp="1"/>
          </p:cNvGraphicFramePr>
          <p:nvPr>
            <p:extLst>
              <p:ext uri="{D42A27DB-BD31-4B8C-83A1-F6EECF244321}">
                <p14:modId xmlns:p14="http://schemas.microsoft.com/office/powerpoint/2010/main" val="3232456239"/>
              </p:ext>
            </p:extLst>
          </p:nvPr>
        </p:nvGraphicFramePr>
        <p:xfrm>
          <a:off x="266990" y="1931734"/>
          <a:ext cx="8610017" cy="4656761"/>
        </p:xfrm>
        <a:graphic>
          <a:graphicData uri="http://schemas.openxmlformats.org/drawingml/2006/table">
            <a:tbl>
              <a:tblPr firstRow="1" bandRow="1">
                <a:tableStyleId>{9D7B26C5-4107-4FEC-AEDC-1716B250A1EF}</a:tableStyleId>
              </a:tblPr>
              <a:tblGrid>
                <a:gridCol w="536090">
                  <a:extLst>
                    <a:ext uri="{9D8B030D-6E8A-4147-A177-3AD203B41FA5}">
                      <a16:colId xmlns:a16="http://schemas.microsoft.com/office/drawing/2014/main" val="1744655011"/>
                    </a:ext>
                  </a:extLst>
                </a:gridCol>
                <a:gridCol w="3333750">
                  <a:extLst>
                    <a:ext uri="{9D8B030D-6E8A-4147-A177-3AD203B41FA5}">
                      <a16:colId xmlns:a16="http://schemas.microsoft.com/office/drawing/2014/main" val="2345229164"/>
                    </a:ext>
                  </a:extLst>
                </a:gridCol>
                <a:gridCol w="552450">
                  <a:extLst>
                    <a:ext uri="{9D8B030D-6E8A-4147-A177-3AD203B41FA5}">
                      <a16:colId xmlns:a16="http://schemas.microsoft.com/office/drawing/2014/main" val="1176248396"/>
                    </a:ext>
                  </a:extLst>
                </a:gridCol>
                <a:gridCol w="4187727">
                  <a:extLst>
                    <a:ext uri="{9D8B030D-6E8A-4147-A177-3AD203B41FA5}">
                      <a16:colId xmlns:a16="http://schemas.microsoft.com/office/drawing/2014/main" val="3522896799"/>
                    </a:ext>
                  </a:extLst>
                </a:gridCol>
              </a:tblGrid>
              <a:tr h="394251">
                <a:tc>
                  <a:txBody>
                    <a:bodyPr/>
                    <a:lstStyle/>
                    <a:p>
                      <a:r>
                        <a:rPr kumimoji="1" lang="en-US" altLang="ja-JP" sz="1400" dirty="0">
                          <a:latin typeface="+mn-ea"/>
                          <a:ea typeface="+mn-ea"/>
                        </a:rPr>
                        <a:t>No.</a:t>
                      </a:r>
                      <a:endParaRPr kumimoji="1" lang="ja-JP" altLang="en-US" sz="1400" dirty="0">
                        <a:latin typeface="+mn-ea"/>
                        <a:ea typeface="+mn-ea"/>
                      </a:endParaRPr>
                    </a:p>
                  </a:txBody>
                  <a:tcPr/>
                </a:tc>
                <a:tc>
                  <a:txBody>
                    <a:bodyPr/>
                    <a:lstStyle/>
                    <a:p>
                      <a:r>
                        <a:rPr kumimoji="1" lang="ja-JP" altLang="en-US" sz="1400" dirty="0">
                          <a:latin typeface="+mn-ea"/>
                          <a:ea typeface="+mn-ea"/>
                        </a:rPr>
                        <a:t>質問</a:t>
                      </a:r>
                    </a:p>
                  </a:txBody>
                  <a:tcPr/>
                </a:tc>
                <a:tc>
                  <a:txBody>
                    <a:bodyPr/>
                    <a:lstStyle/>
                    <a:p>
                      <a:r>
                        <a:rPr kumimoji="1" lang="en-US" altLang="ja-JP" sz="1400" dirty="0">
                          <a:latin typeface="+mn-ea"/>
                          <a:ea typeface="+mn-ea"/>
                        </a:rPr>
                        <a:t>No.</a:t>
                      </a:r>
                      <a:endParaRPr kumimoji="1" lang="ja-JP" altLang="en-US" sz="1400" dirty="0">
                        <a:latin typeface="+mn-ea"/>
                        <a:ea typeface="+mn-ea"/>
                      </a:endParaRPr>
                    </a:p>
                  </a:txBody>
                  <a:tcPr/>
                </a:tc>
                <a:tc>
                  <a:txBody>
                    <a:bodyPr/>
                    <a:lstStyle/>
                    <a:p>
                      <a:r>
                        <a:rPr kumimoji="1" lang="ja-JP" altLang="en-US" sz="1400" dirty="0">
                          <a:latin typeface="+mn-ea"/>
                          <a:ea typeface="+mn-ea"/>
                        </a:rPr>
                        <a:t>質問</a:t>
                      </a:r>
                    </a:p>
                  </a:txBody>
                  <a:tcPr/>
                </a:tc>
                <a:extLst>
                  <a:ext uri="{0D108BD9-81ED-4DB2-BD59-A6C34878D82A}">
                    <a16:rowId xmlns:a16="http://schemas.microsoft.com/office/drawing/2014/main" val="1246061242"/>
                  </a:ext>
                </a:extLst>
              </a:tr>
              <a:tr h="394251">
                <a:tc>
                  <a:txBody>
                    <a:bodyPr/>
                    <a:lstStyle/>
                    <a:p>
                      <a:r>
                        <a:rPr kumimoji="1" lang="en-US" altLang="ja-JP" sz="1400" b="1" dirty="0">
                          <a:solidFill>
                            <a:schemeClr val="accent1"/>
                          </a:solidFill>
                          <a:latin typeface="+mn-ea"/>
                          <a:ea typeface="+mn-ea"/>
                        </a:rPr>
                        <a:t>Q1</a:t>
                      </a:r>
                      <a:endParaRPr kumimoji="1" lang="ja-JP" altLang="en-US" sz="1400" b="1" dirty="0">
                        <a:solidFill>
                          <a:schemeClr val="accent1"/>
                        </a:solidFill>
                        <a:latin typeface="+mn-ea"/>
                        <a:ea typeface="+mn-ea"/>
                      </a:endParaRPr>
                    </a:p>
                  </a:txBody>
                  <a:tcPr>
                    <a:solidFill>
                      <a:schemeClr val="bg1"/>
                    </a:solidFill>
                  </a:tcPr>
                </a:tc>
                <a:tc>
                  <a:txBody>
                    <a:bodyPr/>
                    <a:lstStyle/>
                    <a:p>
                      <a:r>
                        <a:rPr kumimoji="1" lang="en-US" altLang="ja-JP" sz="1400" b="1" dirty="0">
                          <a:solidFill>
                            <a:schemeClr val="accent1"/>
                          </a:solidFill>
                          <a:latin typeface="+mn-ea"/>
                          <a:ea typeface="+mn-ea"/>
                        </a:rPr>
                        <a:t>AI</a:t>
                      </a:r>
                      <a:r>
                        <a:rPr kumimoji="1" lang="ja-JP" altLang="en-US" sz="1400" b="1" dirty="0">
                          <a:solidFill>
                            <a:schemeClr val="accent1"/>
                          </a:solidFill>
                          <a:latin typeface="+mn-ea"/>
                          <a:ea typeface="+mn-ea"/>
                        </a:rPr>
                        <a:t>は人間らしい振る舞いをする</a:t>
                      </a:r>
                    </a:p>
                  </a:txBody>
                  <a:tcPr>
                    <a:solidFill>
                      <a:schemeClr val="bg1"/>
                    </a:solidFill>
                  </a:tcPr>
                </a:tc>
                <a:tc>
                  <a:txBody>
                    <a:bodyPr/>
                    <a:lstStyle/>
                    <a:p>
                      <a:r>
                        <a:rPr kumimoji="1" lang="en-US" altLang="ja-JP" sz="1400" b="1" dirty="0">
                          <a:solidFill>
                            <a:schemeClr val="accent1"/>
                          </a:solidFill>
                          <a:latin typeface="+mn-ea"/>
                          <a:ea typeface="+mn-ea"/>
                        </a:rPr>
                        <a:t>Q11</a:t>
                      </a:r>
                      <a:endParaRPr kumimoji="1" lang="ja-JP" altLang="en-US" sz="1400" b="1" dirty="0">
                        <a:solidFill>
                          <a:schemeClr val="accent1"/>
                        </a:solidFill>
                        <a:latin typeface="+mn-ea"/>
                        <a:ea typeface="+mn-ea"/>
                      </a:endParaRPr>
                    </a:p>
                  </a:txBody>
                  <a:tcPr>
                    <a:solidFill>
                      <a:schemeClr val="bg1"/>
                    </a:solidFill>
                  </a:tcPr>
                </a:tc>
                <a:tc>
                  <a:txBody>
                    <a:bodyPr/>
                    <a:lstStyle/>
                    <a:p>
                      <a:r>
                        <a:rPr kumimoji="1" lang="en-US" altLang="ja-JP" sz="1400" b="1" dirty="0">
                          <a:solidFill>
                            <a:schemeClr val="accent1"/>
                          </a:solidFill>
                          <a:latin typeface="+mn-ea"/>
                          <a:ea typeface="+mn-ea"/>
                        </a:rPr>
                        <a:t>AI</a:t>
                      </a:r>
                      <a:r>
                        <a:rPr kumimoji="1" lang="ja-JP" altLang="en-US" sz="1400" b="1" dirty="0">
                          <a:solidFill>
                            <a:schemeClr val="accent1"/>
                          </a:solidFill>
                          <a:latin typeface="+mn-ea"/>
                          <a:ea typeface="+mn-ea"/>
                        </a:rPr>
                        <a:t>は信頼できる</a:t>
                      </a:r>
                    </a:p>
                  </a:txBody>
                  <a:tcPr>
                    <a:solidFill>
                      <a:schemeClr val="bg1"/>
                    </a:solidFill>
                  </a:tcPr>
                </a:tc>
                <a:extLst>
                  <a:ext uri="{0D108BD9-81ED-4DB2-BD59-A6C34878D82A}">
                    <a16:rowId xmlns:a16="http://schemas.microsoft.com/office/drawing/2014/main" val="3258938384"/>
                  </a:ext>
                </a:extLst>
              </a:tr>
              <a:tr h="394251">
                <a:tc>
                  <a:txBody>
                    <a:bodyPr/>
                    <a:lstStyle/>
                    <a:p>
                      <a:r>
                        <a:rPr kumimoji="1" lang="en-US" altLang="ja-JP" sz="1400" b="1" dirty="0">
                          <a:solidFill>
                            <a:schemeClr val="accent1"/>
                          </a:solidFill>
                          <a:latin typeface="+mn-ea"/>
                          <a:ea typeface="+mn-ea"/>
                        </a:rPr>
                        <a:t>Q2</a:t>
                      </a:r>
                      <a:endParaRPr kumimoji="1" lang="ja-JP" altLang="en-US" sz="1400" b="1" dirty="0">
                        <a:solidFill>
                          <a:schemeClr val="accent1"/>
                        </a:solidFill>
                        <a:latin typeface="+mn-ea"/>
                        <a:ea typeface="+mn-ea"/>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dirty="0">
                          <a:solidFill>
                            <a:schemeClr val="accent1"/>
                          </a:solidFill>
                          <a:latin typeface="+mn-ea"/>
                          <a:ea typeface="+mn-ea"/>
                        </a:rPr>
                        <a:t>AI</a:t>
                      </a:r>
                      <a:r>
                        <a:rPr kumimoji="1" lang="ja-JP" altLang="en-US" sz="1400" b="1" dirty="0">
                          <a:solidFill>
                            <a:schemeClr val="accent1"/>
                          </a:solidFill>
                          <a:latin typeface="+mn-ea"/>
                          <a:ea typeface="+mn-ea"/>
                        </a:rPr>
                        <a:t>は生き物のように反応する</a:t>
                      </a:r>
                    </a:p>
                  </a:txBody>
                  <a:tcPr>
                    <a:solidFill>
                      <a:schemeClr val="bg1"/>
                    </a:solidFill>
                  </a:tcPr>
                </a:tc>
                <a:tc>
                  <a:txBody>
                    <a:bodyPr/>
                    <a:lstStyle/>
                    <a:p>
                      <a:r>
                        <a:rPr kumimoji="1" lang="en-US" altLang="ja-JP" sz="1400" b="1" dirty="0">
                          <a:solidFill>
                            <a:schemeClr val="accent1"/>
                          </a:solidFill>
                          <a:latin typeface="+mn-ea"/>
                          <a:ea typeface="+mn-ea"/>
                        </a:rPr>
                        <a:t>Q12</a:t>
                      </a:r>
                      <a:endParaRPr kumimoji="1" lang="ja-JP" altLang="en-US" sz="1400" b="1" dirty="0">
                        <a:solidFill>
                          <a:schemeClr val="accent1"/>
                        </a:solidFill>
                        <a:latin typeface="+mn-ea"/>
                        <a:ea typeface="+mn-ea"/>
                      </a:endParaRPr>
                    </a:p>
                  </a:txBody>
                  <a:tcPr>
                    <a:solidFill>
                      <a:schemeClr val="bg1"/>
                    </a:solidFill>
                  </a:tcPr>
                </a:tc>
                <a:tc>
                  <a:txBody>
                    <a:bodyPr/>
                    <a:lstStyle/>
                    <a:p>
                      <a:r>
                        <a:rPr kumimoji="1" lang="en-US" altLang="ja-JP" sz="1400" b="1" dirty="0">
                          <a:solidFill>
                            <a:schemeClr val="accent1"/>
                          </a:solidFill>
                          <a:latin typeface="+mn-ea"/>
                          <a:ea typeface="+mn-ea"/>
                        </a:rPr>
                        <a:t>AI</a:t>
                      </a:r>
                      <a:r>
                        <a:rPr kumimoji="1" lang="ja-JP" altLang="en-US" sz="1400" b="1" dirty="0">
                          <a:solidFill>
                            <a:schemeClr val="accent1"/>
                          </a:solidFill>
                          <a:latin typeface="+mn-ea"/>
                          <a:ea typeface="+mn-ea"/>
                        </a:rPr>
                        <a:t>と協力して作業を行うことができる</a:t>
                      </a:r>
                    </a:p>
                  </a:txBody>
                  <a:tcPr>
                    <a:solidFill>
                      <a:schemeClr val="bg1"/>
                    </a:solidFill>
                  </a:tcPr>
                </a:tc>
                <a:extLst>
                  <a:ext uri="{0D108BD9-81ED-4DB2-BD59-A6C34878D82A}">
                    <a16:rowId xmlns:a16="http://schemas.microsoft.com/office/drawing/2014/main" val="191722908"/>
                  </a:ext>
                </a:extLst>
              </a:tr>
              <a:tr h="554251">
                <a:tc>
                  <a:txBody>
                    <a:bodyPr/>
                    <a:lstStyle/>
                    <a:p>
                      <a:r>
                        <a:rPr kumimoji="1" lang="en-US" altLang="ja-JP" sz="1400" b="1" dirty="0">
                          <a:solidFill>
                            <a:schemeClr val="accent1"/>
                          </a:solidFill>
                          <a:latin typeface="+mn-ea"/>
                          <a:ea typeface="+mn-ea"/>
                        </a:rPr>
                        <a:t>Q3</a:t>
                      </a:r>
                      <a:endParaRPr kumimoji="1" lang="ja-JP" altLang="en-US" sz="1400" b="1" dirty="0">
                        <a:solidFill>
                          <a:schemeClr val="accent1"/>
                        </a:solidFill>
                        <a:latin typeface="+mn-ea"/>
                        <a:ea typeface="+mn-ea"/>
                      </a:endParaRPr>
                    </a:p>
                  </a:txBody>
                  <a:tcPr>
                    <a:solidFill>
                      <a:schemeClr val="bg1"/>
                    </a:solidFill>
                  </a:tcPr>
                </a:tc>
                <a:tc>
                  <a:txBody>
                    <a:bodyPr/>
                    <a:lstStyle/>
                    <a:p>
                      <a:r>
                        <a:rPr kumimoji="1" lang="en-US" altLang="ja-JP" sz="1400" b="1" dirty="0">
                          <a:solidFill>
                            <a:schemeClr val="accent1"/>
                          </a:solidFill>
                          <a:latin typeface="+mn-ea"/>
                          <a:ea typeface="+mn-ea"/>
                        </a:rPr>
                        <a:t>AI</a:t>
                      </a:r>
                      <a:r>
                        <a:rPr kumimoji="1" lang="ja-JP" altLang="en-US" sz="1400" b="1" dirty="0">
                          <a:solidFill>
                            <a:schemeClr val="accent1"/>
                          </a:solidFill>
                          <a:latin typeface="+mn-ea"/>
                          <a:ea typeface="+mn-ea"/>
                        </a:rPr>
                        <a:t>は利用しやすい</a:t>
                      </a:r>
                    </a:p>
                  </a:txBody>
                  <a:tcPr>
                    <a:solidFill>
                      <a:schemeClr val="bg1"/>
                    </a:solidFill>
                  </a:tcPr>
                </a:tc>
                <a:tc>
                  <a:txBody>
                    <a:bodyPr/>
                    <a:lstStyle/>
                    <a:p>
                      <a:r>
                        <a:rPr kumimoji="1" lang="en-US" altLang="ja-JP" sz="1400" b="1" dirty="0">
                          <a:solidFill>
                            <a:schemeClr val="accent1"/>
                          </a:solidFill>
                          <a:latin typeface="+mn-ea"/>
                          <a:ea typeface="+mn-ea"/>
                        </a:rPr>
                        <a:t>Q13</a:t>
                      </a:r>
                      <a:endParaRPr kumimoji="1" lang="ja-JP" altLang="en-US" sz="1400" b="1" dirty="0">
                        <a:solidFill>
                          <a:schemeClr val="accent1"/>
                        </a:solidFill>
                        <a:latin typeface="+mn-ea"/>
                        <a:ea typeface="+mn-ea"/>
                      </a:endParaRPr>
                    </a:p>
                  </a:txBody>
                  <a:tcPr>
                    <a:solidFill>
                      <a:schemeClr val="bg1"/>
                    </a:solidFill>
                  </a:tcPr>
                </a:tc>
                <a:tc>
                  <a:txBody>
                    <a:bodyPr/>
                    <a:lstStyle/>
                    <a:p>
                      <a:r>
                        <a:rPr kumimoji="1" lang="en-US" altLang="ja-JP" sz="1400" b="1" dirty="0">
                          <a:solidFill>
                            <a:schemeClr val="accent1"/>
                          </a:solidFill>
                          <a:latin typeface="+mn-ea"/>
                          <a:ea typeface="+mn-ea"/>
                        </a:rPr>
                        <a:t>AI</a:t>
                      </a:r>
                      <a:r>
                        <a:rPr kumimoji="1" lang="ja-JP" altLang="en-US" sz="1400" b="1" dirty="0">
                          <a:solidFill>
                            <a:schemeClr val="accent1"/>
                          </a:solidFill>
                          <a:latin typeface="+mn-ea"/>
                          <a:ea typeface="+mn-ea"/>
                        </a:rPr>
                        <a:t>は気を配っている</a:t>
                      </a:r>
                    </a:p>
                  </a:txBody>
                  <a:tcPr>
                    <a:solidFill>
                      <a:schemeClr val="bg1"/>
                    </a:solidFill>
                  </a:tcPr>
                </a:tc>
                <a:extLst>
                  <a:ext uri="{0D108BD9-81ED-4DB2-BD59-A6C34878D82A}">
                    <a16:rowId xmlns:a16="http://schemas.microsoft.com/office/drawing/2014/main" val="3653240321"/>
                  </a:ext>
                </a:extLst>
              </a:tr>
              <a:tr h="394251">
                <a:tc>
                  <a:txBody>
                    <a:bodyPr/>
                    <a:lstStyle/>
                    <a:p>
                      <a:r>
                        <a:rPr kumimoji="1" lang="en-US" altLang="ja-JP" sz="1400" b="1" dirty="0">
                          <a:solidFill>
                            <a:schemeClr val="accent1"/>
                          </a:solidFill>
                          <a:latin typeface="+mn-ea"/>
                          <a:ea typeface="+mn-ea"/>
                        </a:rPr>
                        <a:t>Q4</a:t>
                      </a:r>
                      <a:endParaRPr kumimoji="1" lang="ja-JP" altLang="en-US" sz="1400" b="1" dirty="0">
                        <a:solidFill>
                          <a:schemeClr val="accent1"/>
                        </a:solidFill>
                        <a:latin typeface="+mn-ea"/>
                        <a:ea typeface="+mn-ea"/>
                      </a:endParaRPr>
                    </a:p>
                  </a:txBody>
                  <a:tcPr>
                    <a:solidFill>
                      <a:schemeClr val="bg1"/>
                    </a:solidFill>
                  </a:tcPr>
                </a:tc>
                <a:tc>
                  <a:txBody>
                    <a:bodyPr/>
                    <a:lstStyle/>
                    <a:p>
                      <a:r>
                        <a:rPr kumimoji="1" lang="en-US" altLang="ja-JP" sz="1400" b="1" dirty="0">
                          <a:solidFill>
                            <a:schemeClr val="accent1"/>
                          </a:solidFill>
                          <a:latin typeface="+mn-ea"/>
                          <a:ea typeface="+mn-ea"/>
                        </a:rPr>
                        <a:t>AI</a:t>
                      </a:r>
                      <a:r>
                        <a:rPr kumimoji="1" lang="ja-JP" altLang="en-US" sz="1400" b="1" dirty="0">
                          <a:solidFill>
                            <a:schemeClr val="accent1"/>
                          </a:solidFill>
                          <a:latin typeface="+mn-ea"/>
                          <a:ea typeface="+mn-ea"/>
                        </a:rPr>
                        <a:t>は作業をうまく行う</a:t>
                      </a:r>
                    </a:p>
                  </a:txBody>
                  <a:tcPr>
                    <a:solidFill>
                      <a:schemeClr val="bg1"/>
                    </a:solidFill>
                  </a:tcPr>
                </a:tc>
                <a:tc>
                  <a:txBody>
                    <a:bodyPr/>
                    <a:lstStyle/>
                    <a:p>
                      <a:r>
                        <a:rPr kumimoji="1" lang="en-US" altLang="ja-JP" sz="1400" b="1" dirty="0">
                          <a:solidFill>
                            <a:schemeClr val="accent1"/>
                          </a:solidFill>
                          <a:latin typeface="+mn-ea"/>
                          <a:ea typeface="+mn-ea"/>
                        </a:rPr>
                        <a:t>Q14</a:t>
                      </a:r>
                      <a:endParaRPr kumimoji="1" lang="ja-JP" altLang="en-US" sz="1400" b="1" dirty="0">
                        <a:solidFill>
                          <a:schemeClr val="accent1"/>
                        </a:solidFill>
                        <a:latin typeface="+mn-ea"/>
                        <a:ea typeface="+mn-ea"/>
                      </a:endParaRPr>
                    </a:p>
                  </a:txBody>
                  <a:tcPr>
                    <a:solidFill>
                      <a:schemeClr val="bg1"/>
                    </a:solidFill>
                  </a:tcPr>
                </a:tc>
                <a:tc>
                  <a:txBody>
                    <a:bodyPr/>
                    <a:lstStyle/>
                    <a:p>
                      <a:r>
                        <a:rPr kumimoji="1" lang="en-US" altLang="ja-JP" sz="1400" b="1" dirty="0">
                          <a:solidFill>
                            <a:schemeClr val="accent1"/>
                          </a:solidFill>
                          <a:latin typeface="+mn-ea"/>
                          <a:ea typeface="+mn-ea"/>
                        </a:rPr>
                        <a:t>AI</a:t>
                      </a:r>
                      <a:r>
                        <a:rPr kumimoji="1" lang="ja-JP" altLang="en-US" sz="1400" b="1" dirty="0">
                          <a:solidFill>
                            <a:schemeClr val="accent1"/>
                          </a:solidFill>
                          <a:latin typeface="+mn-ea"/>
                          <a:ea typeface="+mn-ea"/>
                        </a:rPr>
                        <a:t>の言動は合理的である</a:t>
                      </a:r>
                      <a:endParaRPr kumimoji="1" lang="en-US" altLang="ja-JP" sz="1400" b="1" dirty="0">
                        <a:solidFill>
                          <a:schemeClr val="accent1"/>
                        </a:solidFill>
                        <a:latin typeface="+mn-ea"/>
                        <a:ea typeface="+mn-ea"/>
                      </a:endParaRPr>
                    </a:p>
                  </a:txBody>
                  <a:tcPr>
                    <a:solidFill>
                      <a:schemeClr val="bg1"/>
                    </a:solidFill>
                  </a:tcPr>
                </a:tc>
                <a:extLst>
                  <a:ext uri="{0D108BD9-81ED-4DB2-BD59-A6C34878D82A}">
                    <a16:rowId xmlns:a16="http://schemas.microsoft.com/office/drawing/2014/main" val="3459790237"/>
                  </a:ext>
                </a:extLst>
              </a:tr>
              <a:tr h="394251">
                <a:tc>
                  <a:txBody>
                    <a:bodyPr/>
                    <a:lstStyle/>
                    <a:p>
                      <a:r>
                        <a:rPr kumimoji="1" lang="en-US" altLang="ja-JP" sz="1400" b="1" dirty="0">
                          <a:solidFill>
                            <a:schemeClr val="accent1"/>
                          </a:solidFill>
                          <a:latin typeface="+mn-ea"/>
                          <a:ea typeface="+mn-ea"/>
                        </a:rPr>
                        <a:t>Q5</a:t>
                      </a:r>
                      <a:endParaRPr kumimoji="1" lang="ja-JP" altLang="en-US" sz="1400" b="1" dirty="0">
                        <a:solidFill>
                          <a:schemeClr val="accent1"/>
                        </a:solidFill>
                        <a:latin typeface="+mn-ea"/>
                        <a:ea typeface="+mn-ea"/>
                      </a:endParaRPr>
                    </a:p>
                  </a:txBody>
                  <a:tcPr>
                    <a:solidFill>
                      <a:schemeClr val="bg1"/>
                    </a:solidFill>
                  </a:tcPr>
                </a:tc>
                <a:tc>
                  <a:txBody>
                    <a:bodyPr/>
                    <a:lstStyle/>
                    <a:p>
                      <a:r>
                        <a:rPr kumimoji="1" lang="en-US" altLang="ja-JP" sz="1400" b="1" dirty="0">
                          <a:solidFill>
                            <a:schemeClr val="accent1"/>
                          </a:solidFill>
                          <a:latin typeface="+mn-ea"/>
                          <a:ea typeface="+mn-ea"/>
                        </a:rPr>
                        <a:t>AI</a:t>
                      </a:r>
                      <a:r>
                        <a:rPr kumimoji="1" lang="ja-JP" altLang="en-US" sz="1400" b="1" dirty="0">
                          <a:solidFill>
                            <a:schemeClr val="accent1"/>
                          </a:solidFill>
                          <a:latin typeface="+mn-ea"/>
                          <a:ea typeface="+mn-ea"/>
                        </a:rPr>
                        <a:t>は好感が持てる</a:t>
                      </a:r>
                    </a:p>
                  </a:txBody>
                  <a:tcPr>
                    <a:solidFill>
                      <a:schemeClr val="bg1"/>
                    </a:solidFill>
                  </a:tcPr>
                </a:tc>
                <a:tc>
                  <a:txBody>
                    <a:bodyPr/>
                    <a:lstStyle/>
                    <a:p>
                      <a:r>
                        <a:rPr kumimoji="1" lang="en-US" altLang="ja-JP" sz="1400" b="1" dirty="0">
                          <a:solidFill>
                            <a:schemeClr val="accent1"/>
                          </a:solidFill>
                          <a:latin typeface="+mn-ea"/>
                          <a:ea typeface="+mn-ea"/>
                        </a:rPr>
                        <a:t>Q15</a:t>
                      </a:r>
                      <a:endParaRPr kumimoji="1" lang="ja-JP" altLang="en-US" sz="1400" b="1" dirty="0">
                        <a:solidFill>
                          <a:schemeClr val="accent1"/>
                        </a:solidFill>
                        <a:latin typeface="+mn-ea"/>
                        <a:ea typeface="+mn-ea"/>
                      </a:endParaRPr>
                    </a:p>
                  </a:txBody>
                  <a:tcPr>
                    <a:solidFill>
                      <a:schemeClr val="bg1"/>
                    </a:solidFill>
                  </a:tcPr>
                </a:tc>
                <a:tc>
                  <a:txBody>
                    <a:bodyPr/>
                    <a:lstStyle/>
                    <a:p>
                      <a:r>
                        <a:rPr kumimoji="1" lang="en-US" altLang="ja-JP" sz="1400" b="1" dirty="0">
                          <a:solidFill>
                            <a:schemeClr val="accent1"/>
                          </a:solidFill>
                          <a:latin typeface="+mn-ea"/>
                          <a:ea typeface="+mn-ea"/>
                        </a:rPr>
                        <a:t>AI</a:t>
                      </a:r>
                      <a:r>
                        <a:rPr kumimoji="1" lang="ja-JP" altLang="en-US" sz="1400" b="1" dirty="0">
                          <a:solidFill>
                            <a:schemeClr val="accent1"/>
                          </a:solidFill>
                          <a:latin typeface="+mn-ea"/>
                          <a:ea typeface="+mn-ea"/>
                        </a:rPr>
                        <a:t>の言動には意図がある</a:t>
                      </a:r>
                    </a:p>
                  </a:txBody>
                  <a:tcPr>
                    <a:solidFill>
                      <a:schemeClr val="bg1"/>
                    </a:solidFill>
                  </a:tcPr>
                </a:tc>
                <a:extLst>
                  <a:ext uri="{0D108BD9-81ED-4DB2-BD59-A6C34878D82A}">
                    <a16:rowId xmlns:a16="http://schemas.microsoft.com/office/drawing/2014/main" val="3633688860"/>
                  </a:ext>
                </a:extLst>
              </a:tr>
              <a:tr h="394251">
                <a:tc>
                  <a:txBody>
                    <a:bodyPr/>
                    <a:lstStyle/>
                    <a:p>
                      <a:r>
                        <a:rPr kumimoji="1" lang="en-US" altLang="ja-JP" sz="1400" b="1" dirty="0">
                          <a:solidFill>
                            <a:schemeClr val="accent1"/>
                          </a:solidFill>
                          <a:latin typeface="+mn-ea"/>
                          <a:ea typeface="+mn-ea"/>
                        </a:rPr>
                        <a:t>Q6</a:t>
                      </a:r>
                      <a:endParaRPr kumimoji="1" lang="ja-JP" altLang="en-US" sz="1400" b="1" dirty="0">
                        <a:solidFill>
                          <a:schemeClr val="accent1"/>
                        </a:solidFill>
                        <a:latin typeface="+mn-ea"/>
                        <a:ea typeface="+mn-ea"/>
                      </a:endParaRPr>
                    </a:p>
                  </a:txBody>
                  <a:tcPr>
                    <a:solidFill>
                      <a:schemeClr val="bg1"/>
                    </a:solidFill>
                  </a:tcPr>
                </a:tc>
                <a:tc>
                  <a:txBody>
                    <a:bodyPr/>
                    <a:lstStyle/>
                    <a:p>
                      <a:r>
                        <a:rPr kumimoji="1" lang="en-US" altLang="ja-JP" sz="1400" b="1" dirty="0">
                          <a:solidFill>
                            <a:schemeClr val="accent1"/>
                          </a:solidFill>
                          <a:latin typeface="+mn-ea"/>
                          <a:ea typeface="+mn-ea"/>
                        </a:rPr>
                        <a:t>AI</a:t>
                      </a:r>
                      <a:r>
                        <a:rPr kumimoji="1" lang="ja-JP" altLang="en-US" sz="1400" b="1" dirty="0">
                          <a:solidFill>
                            <a:schemeClr val="accent1"/>
                          </a:solidFill>
                          <a:latin typeface="+mn-ea"/>
                          <a:ea typeface="+mn-ea"/>
                        </a:rPr>
                        <a:t>は社会に馴染むことができる</a:t>
                      </a:r>
                    </a:p>
                  </a:txBody>
                  <a:tcPr>
                    <a:solidFill>
                      <a:schemeClr val="bg1"/>
                    </a:solidFill>
                  </a:tcPr>
                </a:tc>
                <a:tc>
                  <a:txBody>
                    <a:bodyPr/>
                    <a:lstStyle/>
                    <a:p>
                      <a:r>
                        <a:rPr kumimoji="1" lang="en-US" altLang="ja-JP" sz="1400" b="1" dirty="0">
                          <a:solidFill>
                            <a:schemeClr val="accent1"/>
                          </a:solidFill>
                          <a:latin typeface="+mn-ea"/>
                          <a:ea typeface="+mn-ea"/>
                        </a:rPr>
                        <a:t>Q16</a:t>
                      </a:r>
                      <a:endParaRPr kumimoji="1" lang="ja-JP" altLang="en-US" sz="1400" b="1" dirty="0">
                        <a:solidFill>
                          <a:schemeClr val="accent1"/>
                        </a:solidFill>
                        <a:latin typeface="+mn-ea"/>
                        <a:ea typeface="+mn-ea"/>
                      </a:endParaRPr>
                    </a:p>
                  </a:txBody>
                  <a:tcPr>
                    <a:solidFill>
                      <a:schemeClr val="bg1"/>
                    </a:solidFill>
                  </a:tcPr>
                </a:tc>
                <a:tc>
                  <a:txBody>
                    <a:bodyPr/>
                    <a:lstStyle/>
                    <a:p>
                      <a:r>
                        <a:rPr kumimoji="1" lang="en-US" altLang="ja-JP" sz="1400" b="1" dirty="0">
                          <a:solidFill>
                            <a:schemeClr val="accent1"/>
                          </a:solidFill>
                          <a:latin typeface="+mn-ea"/>
                          <a:ea typeface="+mn-ea"/>
                        </a:rPr>
                        <a:t>AI</a:t>
                      </a:r>
                      <a:r>
                        <a:rPr kumimoji="1" lang="ja-JP" altLang="en-US" sz="1400" b="1" dirty="0">
                          <a:solidFill>
                            <a:schemeClr val="accent1"/>
                          </a:solidFill>
                          <a:latin typeface="+mn-ea"/>
                          <a:ea typeface="+mn-ea"/>
                        </a:rPr>
                        <a:t>とのやりとりを好意的に受け止めている</a:t>
                      </a:r>
                    </a:p>
                  </a:txBody>
                  <a:tcPr>
                    <a:solidFill>
                      <a:schemeClr val="bg1"/>
                    </a:solidFill>
                  </a:tcPr>
                </a:tc>
                <a:extLst>
                  <a:ext uri="{0D108BD9-81ED-4DB2-BD59-A6C34878D82A}">
                    <a16:rowId xmlns:a16="http://schemas.microsoft.com/office/drawing/2014/main" val="781971190"/>
                  </a:ext>
                </a:extLst>
              </a:tr>
              <a:tr h="394251">
                <a:tc>
                  <a:txBody>
                    <a:bodyPr/>
                    <a:lstStyle/>
                    <a:p>
                      <a:r>
                        <a:rPr kumimoji="1" lang="en-US" altLang="ja-JP" sz="1400" b="1" dirty="0">
                          <a:solidFill>
                            <a:schemeClr val="accent1"/>
                          </a:solidFill>
                          <a:latin typeface="+mn-ea"/>
                          <a:ea typeface="+mn-ea"/>
                        </a:rPr>
                        <a:t>Q7</a:t>
                      </a:r>
                      <a:endParaRPr kumimoji="1" lang="ja-JP" altLang="en-US" sz="1400" b="1" dirty="0">
                        <a:solidFill>
                          <a:schemeClr val="accent1"/>
                        </a:solidFill>
                        <a:latin typeface="+mn-ea"/>
                        <a:ea typeface="+mn-ea"/>
                      </a:endParaRPr>
                    </a:p>
                  </a:txBody>
                  <a:tcPr>
                    <a:solidFill>
                      <a:schemeClr val="bg1"/>
                    </a:solidFill>
                  </a:tcPr>
                </a:tc>
                <a:tc>
                  <a:txBody>
                    <a:bodyPr/>
                    <a:lstStyle/>
                    <a:p>
                      <a:r>
                        <a:rPr kumimoji="1" lang="en-US" altLang="ja-JP" sz="1400" b="1" dirty="0">
                          <a:solidFill>
                            <a:schemeClr val="accent1"/>
                          </a:solidFill>
                          <a:latin typeface="+mn-ea"/>
                          <a:ea typeface="+mn-ea"/>
                        </a:rPr>
                        <a:t>AI</a:t>
                      </a:r>
                      <a:r>
                        <a:rPr kumimoji="1" lang="ja-JP" altLang="en-US" sz="1400" b="1" dirty="0">
                          <a:solidFill>
                            <a:schemeClr val="accent1"/>
                          </a:solidFill>
                          <a:latin typeface="+mn-ea"/>
                          <a:ea typeface="+mn-ea"/>
                        </a:rPr>
                        <a:t>には独自の個性がある</a:t>
                      </a:r>
                    </a:p>
                  </a:txBody>
                  <a:tcPr>
                    <a:solidFill>
                      <a:schemeClr val="bg1"/>
                    </a:solidFill>
                  </a:tcPr>
                </a:tc>
                <a:tc>
                  <a:txBody>
                    <a:bodyPr/>
                    <a:lstStyle/>
                    <a:p>
                      <a:r>
                        <a:rPr kumimoji="1" lang="en-US" altLang="ja-JP" sz="1400" b="1" dirty="0">
                          <a:solidFill>
                            <a:schemeClr val="accent1"/>
                          </a:solidFill>
                          <a:latin typeface="+mn-ea"/>
                          <a:ea typeface="+mn-ea"/>
                        </a:rPr>
                        <a:t>Q17</a:t>
                      </a:r>
                      <a:endParaRPr kumimoji="1" lang="ja-JP" altLang="en-US" sz="1400" b="1" dirty="0">
                        <a:solidFill>
                          <a:schemeClr val="accent1"/>
                        </a:solidFill>
                        <a:latin typeface="+mn-ea"/>
                        <a:ea typeface="+mn-ea"/>
                      </a:endParaRPr>
                    </a:p>
                  </a:txBody>
                  <a:tcPr>
                    <a:solidFill>
                      <a:schemeClr val="bg1"/>
                    </a:solidFill>
                  </a:tcPr>
                </a:tc>
                <a:tc>
                  <a:txBody>
                    <a:bodyPr/>
                    <a:lstStyle/>
                    <a:p>
                      <a:r>
                        <a:rPr kumimoji="1" lang="en-US" altLang="ja-JP" sz="1400" b="1" dirty="0">
                          <a:solidFill>
                            <a:schemeClr val="accent1"/>
                          </a:solidFill>
                          <a:latin typeface="+mn-ea"/>
                          <a:ea typeface="+mn-ea"/>
                        </a:rPr>
                        <a:t>AI</a:t>
                      </a:r>
                      <a:r>
                        <a:rPr kumimoji="1" lang="ja-JP" altLang="en-US" sz="1400" b="1" dirty="0">
                          <a:solidFill>
                            <a:schemeClr val="accent1"/>
                          </a:solidFill>
                          <a:latin typeface="+mn-ea"/>
                          <a:ea typeface="+mn-ea"/>
                        </a:rPr>
                        <a:t>は社会的な存在感がある</a:t>
                      </a:r>
                    </a:p>
                  </a:txBody>
                  <a:tcPr>
                    <a:solidFill>
                      <a:schemeClr val="bg1"/>
                    </a:solidFill>
                  </a:tcPr>
                </a:tc>
                <a:extLst>
                  <a:ext uri="{0D108BD9-81ED-4DB2-BD59-A6C34878D82A}">
                    <a16:rowId xmlns:a16="http://schemas.microsoft.com/office/drawing/2014/main" val="3093623646"/>
                  </a:ext>
                </a:extLst>
              </a:tr>
              <a:tr h="554251">
                <a:tc>
                  <a:txBody>
                    <a:bodyPr/>
                    <a:lstStyle/>
                    <a:p>
                      <a:r>
                        <a:rPr kumimoji="1" lang="en-US" altLang="ja-JP" sz="1400" b="1" dirty="0">
                          <a:solidFill>
                            <a:schemeClr val="accent1"/>
                          </a:solidFill>
                          <a:latin typeface="+mn-ea"/>
                          <a:ea typeface="+mn-ea"/>
                        </a:rPr>
                        <a:t>Q8</a:t>
                      </a:r>
                      <a:endParaRPr kumimoji="1" lang="ja-JP" altLang="en-US" sz="1400" b="1" dirty="0">
                        <a:solidFill>
                          <a:schemeClr val="accent1"/>
                        </a:solidFill>
                        <a:latin typeface="+mn-ea"/>
                        <a:ea typeface="+mn-ea"/>
                      </a:endParaRPr>
                    </a:p>
                  </a:txBody>
                  <a:tcPr>
                    <a:solidFill>
                      <a:schemeClr val="bg1"/>
                    </a:solidFill>
                  </a:tcPr>
                </a:tc>
                <a:tc>
                  <a:txBody>
                    <a:bodyPr/>
                    <a:lstStyle/>
                    <a:p>
                      <a:r>
                        <a:rPr kumimoji="1" lang="ja-JP" altLang="en-US" sz="1400" b="1" dirty="0">
                          <a:solidFill>
                            <a:schemeClr val="accent1"/>
                          </a:solidFill>
                          <a:latin typeface="+mn-ea"/>
                          <a:ea typeface="+mn-ea"/>
                        </a:rPr>
                        <a:t>将来またこの</a:t>
                      </a:r>
                      <a:r>
                        <a:rPr kumimoji="1" lang="en-US" altLang="ja-JP" sz="1400" b="1" dirty="0">
                          <a:solidFill>
                            <a:schemeClr val="accent1"/>
                          </a:solidFill>
                          <a:latin typeface="+mn-ea"/>
                          <a:ea typeface="+mn-ea"/>
                        </a:rPr>
                        <a:t>AI</a:t>
                      </a:r>
                      <a:r>
                        <a:rPr kumimoji="1" lang="ja-JP" altLang="en-US" sz="1400" b="1" dirty="0">
                          <a:solidFill>
                            <a:schemeClr val="accent1"/>
                          </a:solidFill>
                          <a:latin typeface="+mn-ea"/>
                          <a:ea typeface="+mn-ea"/>
                        </a:rPr>
                        <a:t>を利用したいと思う</a:t>
                      </a:r>
                    </a:p>
                  </a:txBody>
                  <a:tcPr>
                    <a:solidFill>
                      <a:schemeClr val="bg1"/>
                    </a:solidFill>
                  </a:tcPr>
                </a:tc>
                <a:tc>
                  <a:txBody>
                    <a:bodyPr/>
                    <a:lstStyle/>
                    <a:p>
                      <a:r>
                        <a:rPr kumimoji="1" lang="en-US" altLang="ja-JP" sz="1400" b="1" dirty="0">
                          <a:solidFill>
                            <a:schemeClr val="accent1"/>
                          </a:solidFill>
                          <a:latin typeface="+mn-ea"/>
                          <a:ea typeface="+mn-ea"/>
                        </a:rPr>
                        <a:t>Q18</a:t>
                      </a:r>
                      <a:endParaRPr kumimoji="1" lang="ja-JP" altLang="en-US" sz="1400" b="1" dirty="0">
                        <a:solidFill>
                          <a:schemeClr val="accent1"/>
                        </a:solidFill>
                        <a:latin typeface="+mn-ea"/>
                        <a:ea typeface="+mn-ea"/>
                      </a:endParaRPr>
                    </a:p>
                  </a:txBody>
                  <a:tcPr>
                    <a:solidFill>
                      <a:schemeClr val="bg1"/>
                    </a:solidFill>
                  </a:tcPr>
                </a:tc>
                <a:tc>
                  <a:txBody>
                    <a:bodyPr/>
                    <a:lstStyle/>
                    <a:p>
                      <a:r>
                        <a:rPr kumimoji="1" lang="ja-JP" altLang="en-US" sz="1400" b="1" dirty="0">
                          <a:solidFill>
                            <a:schemeClr val="accent1"/>
                          </a:solidFill>
                          <a:latin typeface="+mn-ea"/>
                          <a:ea typeface="+mn-ea"/>
                        </a:rPr>
                        <a:t>多くの人はこの</a:t>
                      </a:r>
                      <a:r>
                        <a:rPr kumimoji="1" lang="en-US" altLang="ja-JP" sz="1400" b="1" dirty="0">
                          <a:solidFill>
                            <a:schemeClr val="accent1"/>
                          </a:solidFill>
                          <a:latin typeface="+mn-ea"/>
                          <a:ea typeface="+mn-ea"/>
                        </a:rPr>
                        <a:t>AI</a:t>
                      </a:r>
                      <a:r>
                        <a:rPr kumimoji="1" lang="ja-JP" altLang="en-US" sz="1400" b="1" dirty="0">
                          <a:solidFill>
                            <a:schemeClr val="accent1"/>
                          </a:solidFill>
                          <a:latin typeface="+mn-ea"/>
                          <a:ea typeface="+mn-ea"/>
                        </a:rPr>
                        <a:t>を使うことを勧めると思う</a:t>
                      </a:r>
                    </a:p>
                  </a:txBody>
                  <a:tcPr>
                    <a:solidFill>
                      <a:schemeClr val="bg1"/>
                    </a:solidFill>
                  </a:tcPr>
                </a:tc>
                <a:extLst>
                  <a:ext uri="{0D108BD9-81ED-4DB2-BD59-A6C34878D82A}">
                    <a16:rowId xmlns:a16="http://schemas.microsoft.com/office/drawing/2014/main" val="2177886145"/>
                  </a:ext>
                </a:extLst>
              </a:tr>
              <a:tr h="394251">
                <a:tc>
                  <a:txBody>
                    <a:bodyPr/>
                    <a:lstStyle/>
                    <a:p>
                      <a:r>
                        <a:rPr kumimoji="1" lang="en-US" altLang="ja-JP" sz="1400" b="1" dirty="0">
                          <a:solidFill>
                            <a:schemeClr val="accent1"/>
                          </a:solidFill>
                          <a:latin typeface="+mn-ea"/>
                          <a:ea typeface="+mn-ea"/>
                        </a:rPr>
                        <a:t>Q9</a:t>
                      </a:r>
                      <a:endParaRPr kumimoji="1" lang="ja-JP" altLang="en-US" sz="1400" b="1" dirty="0">
                        <a:solidFill>
                          <a:schemeClr val="accent1"/>
                        </a:solidFill>
                        <a:latin typeface="+mn-ea"/>
                        <a:ea typeface="+mn-ea"/>
                      </a:endParaRPr>
                    </a:p>
                  </a:txBody>
                  <a:tcPr>
                    <a:solidFill>
                      <a:schemeClr val="bg1"/>
                    </a:solidFill>
                  </a:tcPr>
                </a:tc>
                <a:tc>
                  <a:txBody>
                    <a:bodyPr/>
                    <a:lstStyle/>
                    <a:p>
                      <a:r>
                        <a:rPr kumimoji="1" lang="en-US" altLang="ja-JP" sz="1400" b="1" dirty="0">
                          <a:solidFill>
                            <a:schemeClr val="accent1"/>
                          </a:solidFill>
                          <a:latin typeface="+mn-ea"/>
                          <a:ea typeface="+mn-ea"/>
                        </a:rPr>
                        <a:t>AI</a:t>
                      </a:r>
                      <a:r>
                        <a:rPr kumimoji="1" lang="ja-JP" altLang="en-US" sz="1400" b="1" dirty="0">
                          <a:solidFill>
                            <a:schemeClr val="accent1"/>
                          </a:solidFill>
                          <a:latin typeface="+mn-ea"/>
                          <a:ea typeface="+mn-ea"/>
                        </a:rPr>
                        <a:t>の言動は見ていて楽しい</a:t>
                      </a:r>
                    </a:p>
                  </a:txBody>
                  <a:tcPr>
                    <a:solidFill>
                      <a:schemeClr val="bg1"/>
                    </a:solidFill>
                  </a:tcPr>
                </a:tc>
                <a:tc>
                  <a:txBody>
                    <a:bodyPr/>
                    <a:lstStyle/>
                    <a:p>
                      <a:r>
                        <a:rPr kumimoji="1" lang="en-US" altLang="ja-JP" sz="1400" b="1" dirty="0">
                          <a:solidFill>
                            <a:schemeClr val="accent1"/>
                          </a:solidFill>
                          <a:latin typeface="+mn-ea"/>
                          <a:ea typeface="+mn-ea"/>
                        </a:rPr>
                        <a:t>Q19</a:t>
                      </a:r>
                      <a:endParaRPr kumimoji="1" lang="ja-JP" altLang="en-US" sz="1400" b="1" dirty="0">
                        <a:solidFill>
                          <a:schemeClr val="accent1"/>
                        </a:solidFill>
                        <a:latin typeface="+mn-ea"/>
                        <a:ea typeface="+mn-ea"/>
                      </a:endParaRPr>
                    </a:p>
                  </a:txBody>
                  <a:tcPr>
                    <a:solidFill>
                      <a:schemeClr val="bg1"/>
                    </a:solidFill>
                  </a:tcPr>
                </a:tc>
                <a:tc>
                  <a:txBody>
                    <a:bodyPr/>
                    <a:lstStyle/>
                    <a:p>
                      <a:r>
                        <a:rPr kumimoji="1" lang="en-US" altLang="ja-JP" sz="1400" b="1" dirty="0">
                          <a:solidFill>
                            <a:schemeClr val="accent1"/>
                          </a:solidFill>
                          <a:latin typeface="+mn-ea"/>
                          <a:ea typeface="+mn-ea"/>
                        </a:rPr>
                        <a:t>AI</a:t>
                      </a:r>
                      <a:r>
                        <a:rPr kumimoji="1" lang="ja-JP" altLang="en-US" sz="1400" b="1" dirty="0">
                          <a:solidFill>
                            <a:schemeClr val="accent1"/>
                          </a:solidFill>
                          <a:latin typeface="+mn-ea"/>
                          <a:ea typeface="+mn-ea"/>
                        </a:rPr>
                        <a:t>には感情がある</a:t>
                      </a:r>
                    </a:p>
                  </a:txBody>
                  <a:tcPr>
                    <a:solidFill>
                      <a:schemeClr val="bg1"/>
                    </a:solidFill>
                  </a:tcPr>
                </a:tc>
                <a:extLst>
                  <a:ext uri="{0D108BD9-81ED-4DB2-BD59-A6C34878D82A}">
                    <a16:rowId xmlns:a16="http://schemas.microsoft.com/office/drawing/2014/main" val="2153456940"/>
                  </a:ext>
                </a:extLst>
              </a:tr>
              <a:tr h="394251">
                <a:tc>
                  <a:txBody>
                    <a:bodyPr/>
                    <a:lstStyle/>
                    <a:p>
                      <a:r>
                        <a:rPr kumimoji="1" lang="en-US" altLang="ja-JP" sz="1400" b="1" dirty="0">
                          <a:solidFill>
                            <a:schemeClr val="accent1"/>
                          </a:solidFill>
                          <a:latin typeface="+mn-ea"/>
                          <a:ea typeface="+mn-ea"/>
                        </a:rPr>
                        <a:t>Q10</a:t>
                      </a:r>
                      <a:endParaRPr kumimoji="1" lang="ja-JP" altLang="en-US" sz="1400" b="1" dirty="0">
                        <a:solidFill>
                          <a:schemeClr val="accent1"/>
                        </a:solidFill>
                        <a:latin typeface="+mn-ea"/>
                        <a:ea typeface="+mn-ea"/>
                      </a:endParaRPr>
                    </a:p>
                  </a:txBody>
                  <a:tcPr>
                    <a:solidFill>
                      <a:schemeClr val="bg1"/>
                    </a:solidFill>
                  </a:tcPr>
                </a:tc>
                <a:tc>
                  <a:txBody>
                    <a:bodyPr/>
                    <a:lstStyle/>
                    <a:p>
                      <a:r>
                        <a:rPr kumimoji="1" lang="en-US" altLang="ja-JP" sz="1400" b="1" dirty="0">
                          <a:solidFill>
                            <a:schemeClr val="accent1"/>
                          </a:solidFill>
                          <a:latin typeface="+mn-ea"/>
                          <a:ea typeface="+mn-ea"/>
                        </a:rPr>
                        <a:t>AI</a:t>
                      </a:r>
                      <a:r>
                        <a:rPr kumimoji="1" lang="ja-JP" altLang="en-US" sz="1400" b="1" dirty="0">
                          <a:solidFill>
                            <a:schemeClr val="accent1"/>
                          </a:solidFill>
                          <a:latin typeface="+mn-ea"/>
                          <a:ea typeface="+mn-ea"/>
                        </a:rPr>
                        <a:t>とのやりとりは注意を引く</a:t>
                      </a:r>
                    </a:p>
                  </a:txBody>
                  <a:tcPr>
                    <a:solidFill>
                      <a:schemeClr val="bg1"/>
                    </a:solidFill>
                  </a:tcPr>
                </a:tc>
                <a:tc>
                  <a:txBody>
                    <a:bodyPr/>
                    <a:lstStyle/>
                    <a:p>
                      <a:endParaRPr kumimoji="1" lang="ja-JP" altLang="en-US" sz="1400" b="1" dirty="0">
                        <a:solidFill>
                          <a:schemeClr val="accent1"/>
                        </a:solidFill>
                        <a:latin typeface="+mn-ea"/>
                        <a:ea typeface="+mn-ea"/>
                      </a:endParaRPr>
                    </a:p>
                  </a:txBody>
                  <a:tcPr>
                    <a:solidFill>
                      <a:schemeClr val="bg1"/>
                    </a:solidFill>
                  </a:tcPr>
                </a:tc>
                <a:tc>
                  <a:txBody>
                    <a:bodyPr/>
                    <a:lstStyle/>
                    <a:p>
                      <a:endParaRPr kumimoji="1" lang="ja-JP" altLang="en-US" sz="1400" b="1" dirty="0">
                        <a:solidFill>
                          <a:schemeClr val="accent1"/>
                        </a:solidFill>
                        <a:latin typeface="+mn-ea"/>
                        <a:ea typeface="+mn-ea"/>
                      </a:endParaRPr>
                    </a:p>
                  </a:txBody>
                  <a:tcPr>
                    <a:solidFill>
                      <a:schemeClr val="bg1"/>
                    </a:solidFill>
                  </a:tcPr>
                </a:tc>
                <a:extLst>
                  <a:ext uri="{0D108BD9-81ED-4DB2-BD59-A6C34878D82A}">
                    <a16:rowId xmlns:a16="http://schemas.microsoft.com/office/drawing/2014/main" val="3945818408"/>
                  </a:ext>
                </a:extLst>
              </a:tr>
            </a:tbl>
          </a:graphicData>
        </a:graphic>
      </p:graphicFrame>
    </p:spTree>
    <p:extLst>
      <p:ext uri="{BB962C8B-B14F-4D97-AF65-F5344CB8AC3E}">
        <p14:creationId xmlns:p14="http://schemas.microsoft.com/office/powerpoint/2010/main" val="2614177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75928-F87F-37AB-0292-78E929EEAB33}"/>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665B39CA-FC98-3EAA-4823-B3EEB6B4E134}"/>
              </a:ext>
            </a:extLst>
          </p:cNvPr>
          <p:cNvSpPr>
            <a:spLocks noGrp="1"/>
          </p:cNvSpPr>
          <p:nvPr>
            <p:ph type="sldNum" sz="quarter" idx="12"/>
          </p:nvPr>
        </p:nvSpPr>
        <p:spPr/>
        <p:txBody>
          <a:bodyPr/>
          <a:lstStyle/>
          <a:p>
            <a:fld id="{18020408-E1FF-429E-A8D5-EB2A190A0D77}" type="slidenum">
              <a:rPr kumimoji="1" lang="ja-JP" altLang="en-US" smtClean="0"/>
              <a:pPr/>
              <a:t>23</a:t>
            </a:fld>
            <a:endParaRPr kumimoji="1" lang="ja-JP" altLang="en-US" sz="2400" dirty="0"/>
          </a:p>
        </p:txBody>
      </p:sp>
      <p:sp>
        <p:nvSpPr>
          <p:cNvPr id="3" name="タイトル 2">
            <a:extLst>
              <a:ext uri="{FF2B5EF4-FFF2-40B4-BE49-F238E27FC236}">
                <a16:creationId xmlns:a16="http://schemas.microsoft.com/office/drawing/2014/main" id="{A8E16434-F0B5-A817-3D71-60195A1FE4FD}"/>
              </a:ext>
            </a:extLst>
          </p:cNvPr>
          <p:cNvSpPr>
            <a:spLocks noGrp="1"/>
          </p:cNvSpPr>
          <p:nvPr>
            <p:ph type="title"/>
          </p:nvPr>
        </p:nvSpPr>
        <p:spPr/>
        <p:txBody>
          <a:bodyPr/>
          <a:lstStyle/>
          <a:p>
            <a:r>
              <a:rPr kumimoji="1" lang="ja-JP" altLang="en-US" sz="3600" dirty="0"/>
              <a:t>実験結果：人格切替</a:t>
            </a:r>
            <a:r>
              <a:rPr lang="ja-JP" altLang="en-US" sz="3600" dirty="0"/>
              <a:t>と名乗りの自覚</a:t>
            </a:r>
            <a:endParaRPr kumimoji="1" lang="ja-JP" altLang="en-US" sz="3600" dirty="0"/>
          </a:p>
        </p:txBody>
      </p:sp>
      <p:graphicFrame>
        <p:nvGraphicFramePr>
          <p:cNvPr id="4" name="表 3">
            <a:extLst>
              <a:ext uri="{FF2B5EF4-FFF2-40B4-BE49-F238E27FC236}">
                <a16:creationId xmlns:a16="http://schemas.microsoft.com/office/drawing/2014/main" id="{A7954E0A-0825-3481-0016-FAAC504DA949}"/>
              </a:ext>
            </a:extLst>
          </p:cNvPr>
          <p:cNvGraphicFramePr>
            <a:graphicFrameLocks noGrp="1"/>
          </p:cNvGraphicFramePr>
          <p:nvPr>
            <p:extLst>
              <p:ext uri="{D42A27DB-BD31-4B8C-83A1-F6EECF244321}">
                <p14:modId xmlns:p14="http://schemas.microsoft.com/office/powerpoint/2010/main" val="272494600"/>
              </p:ext>
            </p:extLst>
          </p:nvPr>
        </p:nvGraphicFramePr>
        <p:xfrm>
          <a:off x="409492" y="1171298"/>
          <a:ext cx="8325016" cy="4549993"/>
        </p:xfrm>
        <a:graphic>
          <a:graphicData uri="http://schemas.openxmlformats.org/drawingml/2006/table">
            <a:tbl>
              <a:tblPr firstRow="1" bandRow="1">
                <a:tableStyleId>{9D7B26C5-4107-4FEC-AEDC-1716B250A1EF}</a:tableStyleId>
              </a:tblPr>
              <a:tblGrid>
                <a:gridCol w="4312980">
                  <a:extLst>
                    <a:ext uri="{9D8B030D-6E8A-4147-A177-3AD203B41FA5}">
                      <a16:colId xmlns:a16="http://schemas.microsoft.com/office/drawing/2014/main" val="2853157113"/>
                    </a:ext>
                  </a:extLst>
                </a:gridCol>
                <a:gridCol w="1003009">
                  <a:extLst>
                    <a:ext uri="{9D8B030D-6E8A-4147-A177-3AD203B41FA5}">
                      <a16:colId xmlns:a16="http://schemas.microsoft.com/office/drawing/2014/main" val="2198488987"/>
                    </a:ext>
                  </a:extLst>
                </a:gridCol>
                <a:gridCol w="1003009">
                  <a:extLst>
                    <a:ext uri="{9D8B030D-6E8A-4147-A177-3AD203B41FA5}">
                      <a16:colId xmlns:a16="http://schemas.microsoft.com/office/drawing/2014/main" val="3645245759"/>
                    </a:ext>
                  </a:extLst>
                </a:gridCol>
                <a:gridCol w="1003009">
                  <a:extLst>
                    <a:ext uri="{9D8B030D-6E8A-4147-A177-3AD203B41FA5}">
                      <a16:colId xmlns:a16="http://schemas.microsoft.com/office/drawing/2014/main" val="4200389172"/>
                    </a:ext>
                  </a:extLst>
                </a:gridCol>
                <a:gridCol w="1003009">
                  <a:extLst>
                    <a:ext uri="{9D8B030D-6E8A-4147-A177-3AD203B41FA5}">
                      <a16:colId xmlns:a16="http://schemas.microsoft.com/office/drawing/2014/main" val="3745847308"/>
                    </a:ext>
                  </a:extLst>
                </a:gridCol>
              </a:tblGrid>
              <a:tr h="391394">
                <a:tc>
                  <a:txBody>
                    <a:bodyPr/>
                    <a:lstStyle/>
                    <a:p>
                      <a:r>
                        <a:rPr kumimoji="1" lang="ja-JP" altLang="en-US" sz="1600" b="1" dirty="0">
                          <a:latin typeface="+mn-ea"/>
                          <a:ea typeface="+mn-ea"/>
                        </a:rPr>
                        <a:t>人格切り替え</a:t>
                      </a:r>
                    </a:p>
                  </a:txBody>
                  <a:tcPr/>
                </a:tc>
                <a:tc gridSpan="2">
                  <a:txBody>
                    <a:bodyPr/>
                    <a:lstStyle/>
                    <a:p>
                      <a:pPr algn="ctr"/>
                      <a:r>
                        <a:rPr kumimoji="1" lang="ja-JP" altLang="en-US" sz="1600" b="1" dirty="0">
                          <a:latin typeface="+mn-ea"/>
                          <a:ea typeface="+mn-ea"/>
                        </a:rPr>
                        <a:t>固定</a:t>
                      </a:r>
                    </a:p>
                  </a:txBody>
                  <a:tcPr/>
                </a:tc>
                <a:tc hMerge="1">
                  <a:txBody>
                    <a:bodyPr/>
                    <a:lstStyle/>
                    <a:p>
                      <a:endParaRPr kumimoji="1" lang="ja-JP" altLang="en-US" dirty="0"/>
                    </a:p>
                  </a:txBody>
                  <a:tcPr/>
                </a:tc>
                <a:tc gridSpan="2">
                  <a:txBody>
                    <a:bodyPr/>
                    <a:lstStyle/>
                    <a:p>
                      <a:pPr algn="ctr"/>
                      <a:r>
                        <a:rPr kumimoji="1" lang="ja-JP" altLang="en-US" sz="1600" b="1" dirty="0">
                          <a:latin typeface="+mn-ea"/>
                          <a:ea typeface="+mn-ea"/>
                        </a:rPr>
                        <a:t>切り替え</a:t>
                      </a:r>
                    </a:p>
                  </a:txBody>
                  <a:tcPr/>
                </a:tc>
                <a:tc hMerge="1">
                  <a:txBody>
                    <a:bodyPr/>
                    <a:lstStyle/>
                    <a:p>
                      <a:endParaRPr kumimoji="1" lang="ja-JP" altLang="en-US" dirty="0"/>
                    </a:p>
                  </a:txBody>
                  <a:tcPr/>
                </a:tc>
                <a:extLst>
                  <a:ext uri="{0D108BD9-81ED-4DB2-BD59-A6C34878D82A}">
                    <a16:rowId xmlns:a16="http://schemas.microsoft.com/office/drawing/2014/main" val="1255672035"/>
                  </a:ext>
                </a:extLst>
              </a:tr>
              <a:tr h="391394">
                <a:tc>
                  <a:txBody>
                    <a:bodyPr/>
                    <a:lstStyle/>
                    <a:p>
                      <a:r>
                        <a:rPr kumimoji="1" lang="ja-JP" altLang="en-US" sz="1600" b="1" dirty="0">
                          <a:latin typeface="+mn-ea"/>
                          <a:ea typeface="+mn-ea"/>
                        </a:rPr>
                        <a:t>名乗り</a:t>
                      </a: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あり</a:t>
                      </a: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なし</a:t>
                      </a: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あり</a:t>
                      </a: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なし</a:t>
                      </a:r>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232592"/>
                  </a:ext>
                </a:extLst>
              </a:tr>
              <a:tr h="391394">
                <a:tc>
                  <a:txBody>
                    <a:bodyPr/>
                    <a:lstStyle/>
                    <a:p>
                      <a:r>
                        <a:rPr kumimoji="1" lang="ja-JP" altLang="en-US" sz="1600" b="1" dirty="0">
                          <a:latin typeface="+mn-ea"/>
                          <a:ea typeface="+mn-ea"/>
                        </a:rPr>
                        <a:t>合計人数</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1800" b="1" dirty="0">
                          <a:latin typeface="+mn-ea"/>
                          <a:ea typeface="+mn-ea"/>
                        </a:rPr>
                        <a:t>49</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1800" b="1" dirty="0">
                          <a:latin typeface="+mn-ea"/>
                          <a:ea typeface="+mn-ea"/>
                        </a:rPr>
                        <a:t>38</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1800" b="1" dirty="0">
                          <a:latin typeface="+mn-ea"/>
                          <a:ea typeface="+mn-ea"/>
                        </a:rPr>
                        <a:t>32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1800" b="1" dirty="0">
                          <a:latin typeface="+mn-ea"/>
                          <a:ea typeface="+mn-ea"/>
                        </a:rPr>
                        <a:t>42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8037185"/>
                  </a:ext>
                </a:extLst>
              </a:tr>
              <a:tr h="594101">
                <a:tc>
                  <a:txBody>
                    <a:bodyPr/>
                    <a:lstStyle/>
                    <a:p>
                      <a:r>
                        <a:rPr kumimoji="1" lang="ja-JP" altLang="en-US" sz="1600" b="1" dirty="0">
                          <a:latin typeface="+mn-ea"/>
                          <a:ea typeface="+mn-ea"/>
                        </a:rPr>
                        <a:t>項目</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回答割合</a:t>
                      </a:r>
                      <a:endParaRPr kumimoji="1" lang="en-US" altLang="ja-JP" sz="1600" b="1" dirty="0">
                        <a:latin typeface="+mn-ea"/>
                        <a:ea typeface="+mn-ea"/>
                      </a:endParaRPr>
                    </a:p>
                    <a:p>
                      <a:pPr algn="r"/>
                      <a:r>
                        <a:rPr kumimoji="1" lang="en-US" altLang="ja-JP" sz="1600" b="1" dirty="0">
                          <a:latin typeface="+mn-ea"/>
                          <a:ea typeface="+mn-ea"/>
                        </a:rPr>
                        <a:t>(%)</a:t>
                      </a:r>
                      <a:endParaRPr kumimoji="1" lang="ja-JP" altLang="en-US" sz="1600" b="1" dirty="0">
                        <a:latin typeface="+mn-ea"/>
                        <a:ea typeface="+mn-ea"/>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回答割合</a:t>
                      </a:r>
                      <a:endParaRPr kumimoji="1" lang="en-US" altLang="ja-JP" sz="1600" b="1" dirty="0">
                        <a:latin typeface="+mn-ea"/>
                        <a:ea typeface="+mn-ea"/>
                      </a:endParaRPr>
                    </a:p>
                    <a:p>
                      <a:pPr algn="r"/>
                      <a:r>
                        <a:rPr kumimoji="1" lang="en-US" altLang="ja-JP" sz="1600" b="1" dirty="0">
                          <a:latin typeface="+mn-ea"/>
                          <a:ea typeface="+mn-ea"/>
                        </a:rPr>
                        <a:t>(%)</a:t>
                      </a:r>
                      <a:endParaRPr kumimoji="1" lang="ja-JP" altLang="en-US" sz="1600" b="1" dirty="0">
                        <a:latin typeface="+mn-ea"/>
                        <a:ea typeface="+mn-ea"/>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回答割合</a:t>
                      </a:r>
                      <a:endParaRPr kumimoji="1" lang="en-US" altLang="ja-JP" sz="1600" b="1" dirty="0">
                        <a:latin typeface="+mn-ea"/>
                        <a:ea typeface="+mn-ea"/>
                      </a:endParaRPr>
                    </a:p>
                    <a:p>
                      <a:pPr algn="r"/>
                      <a:r>
                        <a:rPr kumimoji="1" lang="en-US" altLang="ja-JP" sz="1600" b="1" dirty="0">
                          <a:latin typeface="+mn-ea"/>
                          <a:ea typeface="+mn-ea"/>
                        </a:rPr>
                        <a:t>(%)</a:t>
                      </a:r>
                      <a:endParaRPr kumimoji="1" lang="ja-JP" altLang="en-US" sz="1600" b="1" dirty="0">
                        <a:latin typeface="+mn-ea"/>
                        <a:ea typeface="+mn-ea"/>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回答割合</a:t>
                      </a:r>
                      <a:endParaRPr kumimoji="1" lang="en-US" altLang="ja-JP" sz="1600" b="1" dirty="0">
                        <a:latin typeface="+mn-ea"/>
                        <a:ea typeface="+mn-ea"/>
                      </a:endParaRPr>
                    </a:p>
                    <a:p>
                      <a:pPr algn="r"/>
                      <a:r>
                        <a:rPr kumimoji="1" lang="en-US" altLang="ja-JP" sz="1600" b="1" dirty="0">
                          <a:latin typeface="+mn-ea"/>
                          <a:ea typeface="+mn-ea"/>
                        </a:rPr>
                        <a:t>(%)</a:t>
                      </a:r>
                      <a:endParaRPr kumimoji="1" lang="ja-JP" altLang="en-US" sz="1600" b="1" dirty="0">
                        <a:latin typeface="+mn-ea"/>
                        <a:ea typeface="+mn-ea"/>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2843654"/>
                  </a:ext>
                </a:extLst>
              </a:tr>
              <a:tr h="676898">
                <a:tc>
                  <a:txBody>
                    <a:bodyPr/>
                    <a:lstStyle/>
                    <a:p>
                      <a:r>
                        <a:rPr kumimoji="1" lang="en-US" altLang="ja-JP" sz="1600" b="1" dirty="0">
                          <a:solidFill>
                            <a:srgbClr val="C00000"/>
                          </a:solidFill>
                          <a:latin typeface="+mn-ea"/>
                          <a:ea typeface="+mn-ea"/>
                        </a:rPr>
                        <a:t>AI </a:t>
                      </a:r>
                      <a:r>
                        <a:rPr kumimoji="1" lang="ja-JP" altLang="en-US" sz="1600" b="1" dirty="0">
                          <a:solidFill>
                            <a:srgbClr val="C00000"/>
                          </a:solidFill>
                          <a:latin typeface="+mn-ea"/>
                          <a:ea typeface="+mn-ea"/>
                        </a:rPr>
                        <a:t>の性格は変わっていない</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2000" b="1" dirty="0">
                          <a:solidFill>
                            <a:srgbClr val="C00000"/>
                          </a:solidFill>
                          <a:latin typeface="+mn-ea"/>
                          <a:ea typeface="+mn-ea"/>
                        </a:rPr>
                        <a:t>95.9</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2000" b="1" dirty="0">
                          <a:solidFill>
                            <a:srgbClr val="C00000"/>
                          </a:solidFill>
                          <a:latin typeface="+mn-ea"/>
                          <a:ea typeface="+mn-ea"/>
                        </a:rPr>
                        <a:t>78.9</a:t>
                      </a:r>
                      <a:endParaRPr kumimoji="1" lang="ja-JP" altLang="en-US" sz="2000" b="1" dirty="0">
                        <a:solidFill>
                          <a:srgbClr val="C00000"/>
                        </a:solidFill>
                        <a:latin typeface="+mn-ea"/>
                        <a:ea typeface="+mn-ea"/>
                      </a:endParaRP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2000" b="1" dirty="0">
                          <a:latin typeface="+mn-ea"/>
                          <a:ea typeface="+mn-ea"/>
                        </a:rPr>
                        <a:t>37.5</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2000" b="1" dirty="0">
                          <a:solidFill>
                            <a:srgbClr val="C00000"/>
                          </a:solidFill>
                          <a:latin typeface="+mn-ea"/>
                          <a:ea typeface="+mn-ea"/>
                        </a:rPr>
                        <a:t>45.2</a:t>
                      </a:r>
                      <a:endParaRPr kumimoji="1" lang="ja-JP" altLang="en-US" sz="2000" b="1" dirty="0">
                        <a:solidFill>
                          <a:srgbClr val="C00000"/>
                        </a:solidFill>
                        <a:latin typeface="+mn-ea"/>
                        <a:ea typeface="+mn-ea"/>
                      </a:endParaRPr>
                    </a:p>
                  </a:txBody>
                  <a:tcP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621711327"/>
                  </a:ext>
                </a:extLst>
              </a:tr>
              <a:tr h="676898">
                <a:tc>
                  <a:txBody>
                    <a:bodyPr/>
                    <a:lstStyle/>
                    <a:p>
                      <a:r>
                        <a:rPr kumimoji="1" lang="en-US" altLang="ja-JP" sz="1600" b="1" dirty="0">
                          <a:latin typeface="+mn-ea"/>
                          <a:ea typeface="+mn-ea"/>
                        </a:rPr>
                        <a:t>AI </a:t>
                      </a:r>
                      <a:r>
                        <a:rPr kumimoji="1" lang="ja-JP" altLang="en-US" sz="1600" b="1" dirty="0">
                          <a:latin typeface="+mn-ea"/>
                          <a:ea typeface="+mn-ea"/>
                        </a:rPr>
                        <a:t>の性格は初めのチャットの途中で</a:t>
                      </a:r>
                      <a:endParaRPr kumimoji="1" lang="en-US" altLang="ja-JP" sz="1600" b="1" dirty="0">
                        <a:latin typeface="+mn-ea"/>
                        <a:ea typeface="+mn-ea"/>
                      </a:endParaRPr>
                    </a:p>
                    <a:p>
                      <a:r>
                        <a:rPr kumimoji="1" lang="ja-JP" altLang="en-US" sz="1600" b="1" dirty="0">
                          <a:latin typeface="+mn-ea"/>
                          <a:ea typeface="+mn-ea"/>
                        </a:rPr>
                        <a:t>変わった</a:t>
                      </a:r>
                    </a:p>
                  </a:txBody>
                  <a:tcPr>
                    <a:solidFill>
                      <a:schemeClr val="bg1"/>
                    </a:solidFill>
                  </a:tcPr>
                </a:tc>
                <a:tc>
                  <a:txBody>
                    <a:bodyPr/>
                    <a:lstStyle/>
                    <a:p>
                      <a:pPr algn="r"/>
                      <a:r>
                        <a:rPr kumimoji="1" lang="en-US" altLang="ja-JP" sz="2000" b="1" dirty="0">
                          <a:latin typeface="+mn-ea"/>
                          <a:ea typeface="+mn-ea"/>
                        </a:rPr>
                        <a:t>0.0</a:t>
                      </a:r>
                      <a:endParaRPr kumimoji="1" lang="ja-JP" altLang="en-US" sz="2000" b="1" dirty="0">
                        <a:latin typeface="+mn-ea"/>
                        <a:ea typeface="+mn-ea"/>
                      </a:endParaRPr>
                    </a:p>
                  </a:txBody>
                  <a:tcPr>
                    <a:solidFill>
                      <a:schemeClr val="bg1"/>
                    </a:solidFill>
                  </a:tcPr>
                </a:tc>
                <a:tc>
                  <a:txBody>
                    <a:bodyPr/>
                    <a:lstStyle/>
                    <a:p>
                      <a:pPr algn="r"/>
                      <a:r>
                        <a:rPr kumimoji="1" lang="en-US" altLang="ja-JP" sz="2000" b="1" dirty="0">
                          <a:latin typeface="+mn-ea"/>
                          <a:ea typeface="+mn-ea"/>
                        </a:rPr>
                        <a:t>7.9</a:t>
                      </a:r>
                      <a:endParaRPr kumimoji="1" lang="ja-JP" altLang="en-US" sz="2000" b="1" dirty="0">
                        <a:latin typeface="+mn-ea"/>
                        <a:ea typeface="+mn-ea"/>
                      </a:endParaRPr>
                    </a:p>
                  </a:txBody>
                  <a:tcPr>
                    <a:solidFill>
                      <a:schemeClr val="bg1"/>
                    </a:solidFill>
                  </a:tcPr>
                </a:tc>
                <a:tc>
                  <a:txBody>
                    <a:bodyPr/>
                    <a:lstStyle/>
                    <a:p>
                      <a:pPr algn="r"/>
                      <a:r>
                        <a:rPr kumimoji="1" lang="en-US" altLang="ja-JP" sz="2000" b="1" dirty="0">
                          <a:latin typeface="+mn-ea"/>
                          <a:ea typeface="+mn-ea"/>
                        </a:rPr>
                        <a:t>0.0</a:t>
                      </a:r>
                      <a:endParaRPr kumimoji="1" lang="ja-JP" altLang="en-US" sz="2000" b="1" dirty="0">
                        <a:latin typeface="+mn-ea"/>
                        <a:ea typeface="+mn-ea"/>
                      </a:endParaRPr>
                    </a:p>
                  </a:txBody>
                  <a:tcPr>
                    <a:solidFill>
                      <a:schemeClr val="bg1"/>
                    </a:solidFill>
                  </a:tcPr>
                </a:tc>
                <a:tc>
                  <a:txBody>
                    <a:bodyPr/>
                    <a:lstStyle/>
                    <a:p>
                      <a:pPr algn="r"/>
                      <a:r>
                        <a:rPr kumimoji="1" lang="en-US" altLang="ja-JP" sz="2000" b="1" dirty="0">
                          <a:latin typeface="+mn-ea"/>
                          <a:ea typeface="+mn-ea"/>
                        </a:rPr>
                        <a:t>4.8</a:t>
                      </a:r>
                      <a:endParaRPr kumimoji="1" lang="ja-JP" altLang="en-US" sz="2000" b="1" dirty="0">
                        <a:latin typeface="+mn-ea"/>
                        <a:ea typeface="+mn-ea"/>
                      </a:endParaRPr>
                    </a:p>
                  </a:txBody>
                  <a:tcPr>
                    <a:solidFill>
                      <a:schemeClr val="bg1"/>
                    </a:solidFill>
                  </a:tcPr>
                </a:tc>
                <a:extLst>
                  <a:ext uri="{0D108BD9-81ED-4DB2-BD59-A6C34878D82A}">
                    <a16:rowId xmlns:a16="http://schemas.microsoft.com/office/drawing/2014/main" val="2303202971"/>
                  </a:ext>
                </a:extLst>
              </a:tr>
              <a:tr h="676898">
                <a:tc>
                  <a:txBody>
                    <a:bodyPr/>
                    <a:lstStyle/>
                    <a:p>
                      <a:r>
                        <a:rPr kumimoji="1" lang="en-US" altLang="ja-JP" sz="1600" b="1" dirty="0">
                          <a:solidFill>
                            <a:srgbClr val="C00000"/>
                          </a:solidFill>
                          <a:latin typeface="+mn-ea"/>
                          <a:ea typeface="+mn-ea"/>
                        </a:rPr>
                        <a:t>AI </a:t>
                      </a:r>
                      <a:r>
                        <a:rPr kumimoji="1" lang="ja-JP" altLang="en-US" sz="1600" b="1" dirty="0">
                          <a:solidFill>
                            <a:srgbClr val="C00000"/>
                          </a:solidFill>
                          <a:latin typeface="+mn-ea"/>
                          <a:ea typeface="+mn-ea"/>
                        </a:rPr>
                        <a:t>の性格はチャットを新規作成した際に</a:t>
                      </a:r>
                      <a:endParaRPr kumimoji="1" lang="en-US" altLang="ja-JP" sz="1600" b="1" dirty="0">
                        <a:solidFill>
                          <a:srgbClr val="C00000"/>
                        </a:solidFill>
                        <a:latin typeface="+mn-ea"/>
                        <a:ea typeface="+mn-ea"/>
                      </a:endParaRPr>
                    </a:p>
                    <a:p>
                      <a:r>
                        <a:rPr kumimoji="1" lang="ja-JP" altLang="en-US" sz="1600" b="1" dirty="0">
                          <a:solidFill>
                            <a:srgbClr val="C00000"/>
                          </a:solidFill>
                          <a:latin typeface="+mn-ea"/>
                          <a:ea typeface="+mn-ea"/>
                        </a:rPr>
                        <a:t>変わった</a:t>
                      </a:r>
                    </a:p>
                  </a:txBody>
                  <a:tcPr>
                    <a:solidFill>
                      <a:schemeClr val="bg1"/>
                    </a:solidFill>
                  </a:tcPr>
                </a:tc>
                <a:tc>
                  <a:txBody>
                    <a:bodyPr/>
                    <a:lstStyle/>
                    <a:p>
                      <a:pPr algn="r"/>
                      <a:r>
                        <a:rPr kumimoji="1" lang="en-US" altLang="ja-JP" sz="2000" b="1" dirty="0">
                          <a:latin typeface="+mn-ea"/>
                          <a:ea typeface="+mn-ea"/>
                        </a:rPr>
                        <a:t>2.0</a:t>
                      </a:r>
                      <a:endParaRPr kumimoji="1" lang="ja-JP" altLang="en-US" sz="2000" b="1" dirty="0">
                        <a:latin typeface="+mn-ea"/>
                        <a:ea typeface="+mn-ea"/>
                      </a:endParaRPr>
                    </a:p>
                  </a:txBody>
                  <a:tcPr>
                    <a:solidFill>
                      <a:schemeClr val="bg1"/>
                    </a:solidFill>
                  </a:tcPr>
                </a:tc>
                <a:tc>
                  <a:txBody>
                    <a:bodyPr/>
                    <a:lstStyle/>
                    <a:p>
                      <a:pPr algn="r"/>
                      <a:r>
                        <a:rPr kumimoji="1" lang="en-US" altLang="ja-JP" sz="2000" b="1" dirty="0">
                          <a:latin typeface="+mn-ea"/>
                          <a:ea typeface="+mn-ea"/>
                        </a:rPr>
                        <a:t>7.9</a:t>
                      </a:r>
                    </a:p>
                  </a:txBody>
                  <a:tcPr>
                    <a:solidFill>
                      <a:schemeClr val="bg1"/>
                    </a:solidFill>
                  </a:tcPr>
                </a:tc>
                <a:tc>
                  <a:txBody>
                    <a:bodyPr/>
                    <a:lstStyle/>
                    <a:p>
                      <a:pPr algn="r"/>
                      <a:r>
                        <a:rPr kumimoji="1" lang="en-US" altLang="ja-JP" sz="2000" b="1" dirty="0">
                          <a:solidFill>
                            <a:srgbClr val="C00000"/>
                          </a:solidFill>
                          <a:latin typeface="+mn-ea"/>
                          <a:ea typeface="+mn-ea"/>
                        </a:rPr>
                        <a:t>62.5</a:t>
                      </a:r>
                      <a:endParaRPr kumimoji="1" lang="ja-JP" altLang="en-US" sz="2000" b="1" dirty="0">
                        <a:solidFill>
                          <a:srgbClr val="C00000"/>
                        </a:solidFill>
                        <a:latin typeface="+mn-ea"/>
                        <a:ea typeface="+mn-ea"/>
                      </a:endParaRPr>
                    </a:p>
                  </a:txBody>
                  <a:tcPr>
                    <a:solidFill>
                      <a:schemeClr val="bg1"/>
                    </a:solidFill>
                  </a:tcPr>
                </a:tc>
                <a:tc>
                  <a:txBody>
                    <a:bodyPr/>
                    <a:lstStyle/>
                    <a:p>
                      <a:pPr algn="r"/>
                      <a:r>
                        <a:rPr kumimoji="1" lang="en-US" altLang="ja-JP" sz="2000" b="1" dirty="0">
                          <a:solidFill>
                            <a:srgbClr val="C00000"/>
                          </a:solidFill>
                          <a:latin typeface="+mn-ea"/>
                          <a:ea typeface="+mn-ea"/>
                        </a:rPr>
                        <a:t>45.2</a:t>
                      </a:r>
                      <a:endParaRPr kumimoji="1" lang="ja-JP" altLang="en-US" sz="2000" b="1" dirty="0">
                        <a:solidFill>
                          <a:srgbClr val="C00000"/>
                        </a:solidFill>
                        <a:latin typeface="+mn-ea"/>
                        <a:ea typeface="+mn-ea"/>
                      </a:endParaRPr>
                    </a:p>
                  </a:txBody>
                  <a:tcPr>
                    <a:solidFill>
                      <a:schemeClr val="bg1"/>
                    </a:solidFill>
                  </a:tcPr>
                </a:tc>
                <a:extLst>
                  <a:ext uri="{0D108BD9-81ED-4DB2-BD59-A6C34878D82A}">
                    <a16:rowId xmlns:a16="http://schemas.microsoft.com/office/drawing/2014/main" val="557467001"/>
                  </a:ext>
                </a:extLst>
              </a:tr>
              <a:tr h="751016">
                <a:tc>
                  <a:txBody>
                    <a:bodyPr/>
                    <a:lstStyle/>
                    <a:p>
                      <a:r>
                        <a:rPr kumimoji="1" lang="en-US" altLang="ja-JP" sz="1600" b="1" dirty="0">
                          <a:latin typeface="+mn-ea"/>
                          <a:ea typeface="+mn-ea"/>
                        </a:rPr>
                        <a:t>AI </a:t>
                      </a:r>
                      <a:r>
                        <a:rPr kumimoji="1" lang="ja-JP" altLang="en-US" sz="1600" b="1" dirty="0">
                          <a:latin typeface="+mn-ea"/>
                          <a:ea typeface="+mn-ea"/>
                        </a:rPr>
                        <a:t>の性格はチャットを新規作成後の</a:t>
                      </a:r>
                      <a:endParaRPr kumimoji="1" lang="en-US" altLang="ja-JP" sz="1600" b="1" dirty="0">
                        <a:latin typeface="+mn-ea"/>
                        <a:ea typeface="+mn-ea"/>
                      </a:endParaRPr>
                    </a:p>
                    <a:p>
                      <a:r>
                        <a:rPr kumimoji="1" lang="ja-JP" altLang="en-US" sz="1600" b="1" dirty="0">
                          <a:latin typeface="+mn-ea"/>
                          <a:ea typeface="+mn-ea"/>
                        </a:rPr>
                        <a:t>チャットの途中に変わった </a:t>
                      </a:r>
                      <a:endParaRPr kumimoji="1" lang="en-US" altLang="ja-JP" sz="1600" b="1" dirty="0">
                        <a:latin typeface="+mn-ea"/>
                        <a:ea typeface="+mn-ea"/>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2000" b="1" dirty="0">
                          <a:latin typeface="+mn-ea"/>
                          <a:ea typeface="+mn-ea"/>
                        </a:rPr>
                        <a:t>2.0</a:t>
                      </a:r>
                      <a:endParaRPr kumimoji="1" lang="ja-JP" altLang="en-US" sz="2000" b="1" dirty="0">
                        <a:latin typeface="+mn-ea"/>
                        <a:ea typeface="+mn-ea"/>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2000" b="1" dirty="0">
                          <a:latin typeface="+mn-ea"/>
                          <a:ea typeface="+mn-ea"/>
                        </a:rPr>
                        <a:t>5.3</a:t>
                      </a:r>
                      <a:endParaRPr kumimoji="1" lang="ja-JP" altLang="en-US" sz="2000" b="1" dirty="0">
                        <a:latin typeface="+mn-ea"/>
                        <a:ea typeface="+mn-ea"/>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2000" b="1" dirty="0">
                          <a:latin typeface="+mn-ea"/>
                          <a:ea typeface="+mn-ea"/>
                        </a:rPr>
                        <a:t>0.0</a:t>
                      </a:r>
                      <a:endParaRPr kumimoji="1" lang="ja-JP" altLang="en-US" sz="2000" b="1" dirty="0">
                        <a:latin typeface="+mn-ea"/>
                        <a:ea typeface="+mn-ea"/>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2000" b="1" dirty="0">
                          <a:latin typeface="+mn-ea"/>
                          <a:ea typeface="+mn-ea"/>
                        </a:rPr>
                        <a:t>4.8</a:t>
                      </a:r>
                      <a:endParaRPr kumimoji="1" lang="ja-JP" altLang="en-US" sz="2000" b="1" dirty="0">
                        <a:latin typeface="+mn-ea"/>
                        <a:ea typeface="+mn-ea"/>
                      </a:endParaRPr>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1895323"/>
                  </a:ext>
                </a:extLst>
              </a:tr>
            </a:tbl>
          </a:graphicData>
        </a:graphic>
      </p:graphicFrame>
      <p:sp>
        <p:nvSpPr>
          <p:cNvPr id="5" name="テキスト ボックス 4">
            <a:extLst>
              <a:ext uri="{FF2B5EF4-FFF2-40B4-BE49-F238E27FC236}">
                <a16:creationId xmlns:a16="http://schemas.microsoft.com/office/drawing/2014/main" id="{D5096BE5-9BBE-1DBF-E08A-E5A1CBC44C9A}"/>
              </a:ext>
            </a:extLst>
          </p:cNvPr>
          <p:cNvSpPr txBox="1"/>
          <p:nvPr/>
        </p:nvSpPr>
        <p:spPr>
          <a:xfrm>
            <a:off x="1339422" y="5994774"/>
            <a:ext cx="6923734" cy="461665"/>
          </a:xfrm>
          <a:prstGeom prst="rect">
            <a:avLst/>
          </a:prstGeom>
          <a:noFill/>
        </p:spPr>
        <p:txBody>
          <a:bodyPr wrap="square">
            <a:spAutoFit/>
          </a:bodyPr>
          <a:lstStyle/>
          <a:p>
            <a:r>
              <a:rPr lang="ja-JP" altLang="en-US" sz="2400" b="1" dirty="0"/>
              <a:t>参加者には</a:t>
            </a:r>
            <a:r>
              <a:rPr lang="ja-JP" altLang="en-US" sz="2400" b="1" dirty="0">
                <a:solidFill>
                  <a:srgbClr val="C00000"/>
                </a:solidFill>
              </a:rPr>
              <a:t>実験の意図</a:t>
            </a:r>
            <a:r>
              <a:rPr lang="ja-JP" altLang="en-US" sz="2400" b="1" dirty="0"/>
              <a:t>が一定程度</a:t>
            </a:r>
            <a:r>
              <a:rPr lang="ja-JP" altLang="en-US" sz="2400" b="1" dirty="0">
                <a:solidFill>
                  <a:srgbClr val="C00000"/>
                </a:solidFill>
              </a:rPr>
              <a:t>伝わっていた</a:t>
            </a:r>
          </a:p>
        </p:txBody>
      </p:sp>
    </p:spTree>
    <p:extLst>
      <p:ext uri="{BB962C8B-B14F-4D97-AF65-F5344CB8AC3E}">
        <p14:creationId xmlns:p14="http://schemas.microsoft.com/office/powerpoint/2010/main" val="3684344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D3406-7515-45B8-A965-89881A45C63E}"/>
            </a:ext>
          </a:extLst>
        </p:cNvPr>
        <p:cNvGrpSpPr/>
        <p:nvPr/>
      </p:nvGrpSpPr>
      <p:grpSpPr>
        <a:xfrm>
          <a:off x="0" y="0"/>
          <a:ext cx="0" cy="0"/>
          <a:chOff x="0" y="0"/>
          <a:chExt cx="0" cy="0"/>
        </a:xfrm>
      </p:grpSpPr>
      <p:pic>
        <p:nvPicPr>
          <p:cNvPr id="5" name="グラフィックス 4">
            <a:extLst>
              <a:ext uri="{FF2B5EF4-FFF2-40B4-BE49-F238E27FC236}">
                <a16:creationId xmlns:a16="http://schemas.microsoft.com/office/drawing/2014/main" id="{2D586F90-D48D-F257-10DD-2D0A512F44C2}"/>
              </a:ext>
            </a:extLst>
          </p:cNvPr>
          <p:cNvPicPr>
            <a:picLocks noChangeAspect="1"/>
          </p:cNvPicPr>
          <p:nvPr/>
        </p:nvPicPr>
        <p:blipFill>
          <a:blip r:embed="rId3">
            <a:extLst>
              <a:ext uri="{96DAC541-7B7A-43D3-8B79-37D633B846F1}">
                <asvg:svgBlip xmlns:asvg="http://schemas.microsoft.com/office/drawing/2016/SVG/main" r:embed="rId4"/>
              </a:ext>
            </a:extLst>
          </a:blip>
          <a:srcRect l="2780" t="704" r="986" b="1765"/>
          <a:stretch>
            <a:fillRect/>
          </a:stretch>
        </p:blipFill>
        <p:spPr>
          <a:xfrm rot="5400000">
            <a:off x="3507883" y="1254348"/>
            <a:ext cx="5397465" cy="5140897"/>
          </a:xfrm>
          <a:prstGeom prst="rect">
            <a:avLst/>
          </a:prstGeom>
        </p:spPr>
      </p:pic>
      <p:sp>
        <p:nvSpPr>
          <p:cNvPr id="2" name="スライド番号プレースホルダー 1">
            <a:extLst>
              <a:ext uri="{FF2B5EF4-FFF2-40B4-BE49-F238E27FC236}">
                <a16:creationId xmlns:a16="http://schemas.microsoft.com/office/drawing/2014/main" id="{4363346D-BCCE-F291-B32C-F99803593073}"/>
              </a:ext>
            </a:extLst>
          </p:cNvPr>
          <p:cNvSpPr>
            <a:spLocks noGrp="1"/>
          </p:cNvSpPr>
          <p:nvPr>
            <p:ph type="sldNum" sz="quarter" idx="12"/>
          </p:nvPr>
        </p:nvSpPr>
        <p:spPr/>
        <p:txBody>
          <a:bodyPr/>
          <a:lstStyle/>
          <a:p>
            <a:fld id="{18020408-E1FF-429E-A8D5-EB2A190A0D77}" type="slidenum">
              <a:rPr kumimoji="1" lang="ja-JP" altLang="en-US" smtClean="0"/>
              <a:pPr/>
              <a:t>24</a:t>
            </a:fld>
            <a:endParaRPr kumimoji="1" lang="ja-JP" altLang="en-US" sz="2400" dirty="0"/>
          </a:p>
        </p:txBody>
      </p:sp>
      <p:sp>
        <p:nvSpPr>
          <p:cNvPr id="3" name="タイトル 2">
            <a:extLst>
              <a:ext uri="{FF2B5EF4-FFF2-40B4-BE49-F238E27FC236}">
                <a16:creationId xmlns:a16="http://schemas.microsoft.com/office/drawing/2014/main" id="{F9DECB66-4C14-F09E-05AE-74540A4E2233}"/>
              </a:ext>
            </a:extLst>
          </p:cNvPr>
          <p:cNvSpPr>
            <a:spLocks noGrp="1"/>
          </p:cNvSpPr>
          <p:nvPr>
            <p:ph type="title"/>
          </p:nvPr>
        </p:nvSpPr>
        <p:spPr/>
        <p:txBody>
          <a:bodyPr/>
          <a:lstStyle/>
          <a:p>
            <a:r>
              <a:rPr lang="ja-JP" altLang="en-US" sz="3600" dirty="0"/>
              <a:t>実験結果：アンケート項目</a:t>
            </a:r>
            <a:endParaRPr kumimoji="1" lang="ja-JP" altLang="en-US" sz="3600" dirty="0"/>
          </a:p>
        </p:txBody>
      </p:sp>
      <p:sp>
        <p:nvSpPr>
          <p:cNvPr id="7" name="テキスト ボックス 6">
            <a:extLst>
              <a:ext uri="{FF2B5EF4-FFF2-40B4-BE49-F238E27FC236}">
                <a16:creationId xmlns:a16="http://schemas.microsoft.com/office/drawing/2014/main" id="{BD4B94E0-992F-E363-C79C-A12A810C38E3}"/>
              </a:ext>
            </a:extLst>
          </p:cNvPr>
          <p:cNvSpPr txBox="1"/>
          <p:nvPr/>
        </p:nvSpPr>
        <p:spPr>
          <a:xfrm>
            <a:off x="3486816" y="6316718"/>
            <a:ext cx="317716" cy="369332"/>
          </a:xfrm>
          <a:prstGeom prst="rect">
            <a:avLst/>
          </a:prstGeom>
          <a:noFill/>
        </p:spPr>
        <p:txBody>
          <a:bodyPr wrap="none" rtlCol="0">
            <a:spAutoFit/>
          </a:bodyPr>
          <a:lstStyle/>
          <a:p>
            <a:r>
              <a:rPr kumimoji="1" lang="en-US" altLang="ja-JP" b="1" dirty="0">
                <a:latin typeface="+mn-ea"/>
              </a:rPr>
              <a:t>0</a:t>
            </a:r>
            <a:endParaRPr kumimoji="1" lang="ja-JP" altLang="en-US" b="1" dirty="0">
              <a:latin typeface="+mn-ea"/>
            </a:endParaRPr>
          </a:p>
        </p:txBody>
      </p:sp>
      <p:sp>
        <p:nvSpPr>
          <p:cNvPr id="9" name="テキスト ボックス 8">
            <a:extLst>
              <a:ext uri="{FF2B5EF4-FFF2-40B4-BE49-F238E27FC236}">
                <a16:creationId xmlns:a16="http://schemas.microsoft.com/office/drawing/2014/main" id="{5E974009-72BA-0C88-622A-FF436DB94E7F}"/>
              </a:ext>
            </a:extLst>
          </p:cNvPr>
          <p:cNvSpPr txBox="1"/>
          <p:nvPr/>
        </p:nvSpPr>
        <p:spPr>
          <a:xfrm>
            <a:off x="8042598" y="6316718"/>
            <a:ext cx="318867" cy="369332"/>
          </a:xfrm>
          <a:prstGeom prst="rect">
            <a:avLst/>
          </a:prstGeom>
          <a:noFill/>
        </p:spPr>
        <p:txBody>
          <a:bodyPr wrap="square">
            <a:spAutoFit/>
          </a:bodyPr>
          <a:lstStyle/>
          <a:p>
            <a:r>
              <a:rPr kumimoji="1" lang="en-US" altLang="ja-JP" b="1" dirty="0">
                <a:latin typeface="+mn-ea"/>
              </a:rPr>
              <a:t>9</a:t>
            </a:r>
            <a:endParaRPr kumimoji="1" lang="ja-JP" altLang="en-US" b="1" dirty="0">
              <a:latin typeface="+mn-ea"/>
            </a:endParaRPr>
          </a:p>
        </p:txBody>
      </p:sp>
      <p:sp>
        <p:nvSpPr>
          <p:cNvPr id="11" name="テキスト ボックス 10">
            <a:extLst>
              <a:ext uri="{FF2B5EF4-FFF2-40B4-BE49-F238E27FC236}">
                <a16:creationId xmlns:a16="http://schemas.microsoft.com/office/drawing/2014/main" id="{EABB90EB-6B8B-BF3C-1D31-2E406E39B9C1}"/>
              </a:ext>
            </a:extLst>
          </p:cNvPr>
          <p:cNvSpPr txBox="1"/>
          <p:nvPr/>
        </p:nvSpPr>
        <p:spPr>
          <a:xfrm>
            <a:off x="7534328" y="6316718"/>
            <a:ext cx="318867" cy="369332"/>
          </a:xfrm>
          <a:prstGeom prst="rect">
            <a:avLst/>
          </a:prstGeom>
          <a:noFill/>
        </p:spPr>
        <p:txBody>
          <a:bodyPr wrap="square">
            <a:spAutoFit/>
          </a:bodyPr>
          <a:lstStyle/>
          <a:p>
            <a:r>
              <a:rPr kumimoji="1" lang="en-US" altLang="ja-JP" b="1" dirty="0">
                <a:latin typeface="+mn-ea"/>
              </a:rPr>
              <a:t>8</a:t>
            </a:r>
            <a:endParaRPr kumimoji="1" lang="ja-JP" altLang="en-US" b="1" dirty="0">
              <a:latin typeface="+mn-ea"/>
            </a:endParaRPr>
          </a:p>
        </p:txBody>
      </p:sp>
      <p:sp>
        <p:nvSpPr>
          <p:cNvPr id="13" name="テキスト ボックス 12">
            <a:extLst>
              <a:ext uri="{FF2B5EF4-FFF2-40B4-BE49-F238E27FC236}">
                <a16:creationId xmlns:a16="http://schemas.microsoft.com/office/drawing/2014/main" id="{59202C1B-3F89-234C-3480-DDE617C978A2}"/>
              </a:ext>
            </a:extLst>
          </p:cNvPr>
          <p:cNvSpPr txBox="1"/>
          <p:nvPr/>
        </p:nvSpPr>
        <p:spPr>
          <a:xfrm>
            <a:off x="7026058" y="6316718"/>
            <a:ext cx="318867" cy="369332"/>
          </a:xfrm>
          <a:prstGeom prst="rect">
            <a:avLst/>
          </a:prstGeom>
          <a:noFill/>
        </p:spPr>
        <p:txBody>
          <a:bodyPr wrap="square">
            <a:spAutoFit/>
          </a:bodyPr>
          <a:lstStyle/>
          <a:p>
            <a:r>
              <a:rPr kumimoji="1" lang="en-US" altLang="ja-JP" b="1" dirty="0">
                <a:latin typeface="+mn-ea"/>
              </a:rPr>
              <a:t>7</a:t>
            </a:r>
            <a:endParaRPr kumimoji="1" lang="ja-JP" altLang="en-US" b="1" dirty="0">
              <a:latin typeface="+mn-ea"/>
            </a:endParaRPr>
          </a:p>
        </p:txBody>
      </p:sp>
      <p:sp>
        <p:nvSpPr>
          <p:cNvPr id="15" name="テキスト ボックス 14">
            <a:extLst>
              <a:ext uri="{FF2B5EF4-FFF2-40B4-BE49-F238E27FC236}">
                <a16:creationId xmlns:a16="http://schemas.microsoft.com/office/drawing/2014/main" id="{AA1FDE41-67B7-5902-C390-2FB07DD6489F}"/>
              </a:ext>
            </a:extLst>
          </p:cNvPr>
          <p:cNvSpPr txBox="1"/>
          <p:nvPr/>
        </p:nvSpPr>
        <p:spPr>
          <a:xfrm>
            <a:off x="6525672" y="6316718"/>
            <a:ext cx="318867" cy="369332"/>
          </a:xfrm>
          <a:prstGeom prst="rect">
            <a:avLst/>
          </a:prstGeom>
          <a:noFill/>
        </p:spPr>
        <p:txBody>
          <a:bodyPr wrap="square">
            <a:spAutoFit/>
          </a:bodyPr>
          <a:lstStyle/>
          <a:p>
            <a:r>
              <a:rPr kumimoji="1" lang="en-US" altLang="ja-JP" b="1" dirty="0">
                <a:latin typeface="+mn-ea"/>
              </a:rPr>
              <a:t>6</a:t>
            </a:r>
            <a:endParaRPr kumimoji="1" lang="ja-JP" altLang="en-US" b="1" dirty="0">
              <a:latin typeface="+mn-ea"/>
            </a:endParaRPr>
          </a:p>
        </p:txBody>
      </p:sp>
      <p:sp>
        <p:nvSpPr>
          <p:cNvPr id="17" name="テキスト ボックス 16">
            <a:extLst>
              <a:ext uri="{FF2B5EF4-FFF2-40B4-BE49-F238E27FC236}">
                <a16:creationId xmlns:a16="http://schemas.microsoft.com/office/drawing/2014/main" id="{103132D6-5D32-6D4F-B237-2A7EB0C5B6D1}"/>
              </a:ext>
            </a:extLst>
          </p:cNvPr>
          <p:cNvSpPr txBox="1"/>
          <p:nvPr/>
        </p:nvSpPr>
        <p:spPr>
          <a:xfrm>
            <a:off x="6014362" y="6316718"/>
            <a:ext cx="281666" cy="369332"/>
          </a:xfrm>
          <a:prstGeom prst="rect">
            <a:avLst/>
          </a:prstGeom>
          <a:noFill/>
        </p:spPr>
        <p:txBody>
          <a:bodyPr wrap="square">
            <a:spAutoFit/>
          </a:bodyPr>
          <a:lstStyle/>
          <a:p>
            <a:r>
              <a:rPr kumimoji="1" lang="en-US" altLang="ja-JP" b="1" dirty="0">
                <a:latin typeface="+mn-ea"/>
              </a:rPr>
              <a:t>5</a:t>
            </a:r>
            <a:endParaRPr kumimoji="1" lang="ja-JP" altLang="en-US" b="1" dirty="0">
              <a:latin typeface="+mn-ea"/>
            </a:endParaRPr>
          </a:p>
        </p:txBody>
      </p:sp>
      <p:sp>
        <p:nvSpPr>
          <p:cNvPr id="19" name="テキスト ボックス 18">
            <a:extLst>
              <a:ext uri="{FF2B5EF4-FFF2-40B4-BE49-F238E27FC236}">
                <a16:creationId xmlns:a16="http://schemas.microsoft.com/office/drawing/2014/main" id="{5D83C37D-533E-2677-B890-BD4008ED3AE6}"/>
              </a:ext>
            </a:extLst>
          </p:cNvPr>
          <p:cNvSpPr txBox="1"/>
          <p:nvPr/>
        </p:nvSpPr>
        <p:spPr>
          <a:xfrm>
            <a:off x="5507832" y="6316718"/>
            <a:ext cx="315386" cy="369332"/>
          </a:xfrm>
          <a:prstGeom prst="rect">
            <a:avLst/>
          </a:prstGeom>
          <a:noFill/>
        </p:spPr>
        <p:txBody>
          <a:bodyPr wrap="square">
            <a:spAutoFit/>
          </a:bodyPr>
          <a:lstStyle/>
          <a:p>
            <a:r>
              <a:rPr kumimoji="1" lang="en-US" altLang="ja-JP" b="1" dirty="0">
                <a:latin typeface="+mn-ea"/>
              </a:rPr>
              <a:t>4</a:t>
            </a:r>
            <a:endParaRPr kumimoji="1" lang="ja-JP" altLang="en-US" b="1" dirty="0">
              <a:latin typeface="+mn-ea"/>
            </a:endParaRPr>
          </a:p>
        </p:txBody>
      </p:sp>
      <p:sp>
        <p:nvSpPr>
          <p:cNvPr id="21" name="テキスト ボックス 20">
            <a:extLst>
              <a:ext uri="{FF2B5EF4-FFF2-40B4-BE49-F238E27FC236}">
                <a16:creationId xmlns:a16="http://schemas.microsoft.com/office/drawing/2014/main" id="{05055E13-8344-0E35-9103-C4DC503BFCD5}"/>
              </a:ext>
            </a:extLst>
          </p:cNvPr>
          <p:cNvSpPr txBox="1"/>
          <p:nvPr/>
        </p:nvSpPr>
        <p:spPr>
          <a:xfrm>
            <a:off x="5001302" y="6316718"/>
            <a:ext cx="315386" cy="369332"/>
          </a:xfrm>
          <a:prstGeom prst="rect">
            <a:avLst/>
          </a:prstGeom>
          <a:noFill/>
        </p:spPr>
        <p:txBody>
          <a:bodyPr wrap="square">
            <a:spAutoFit/>
          </a:bodyPr>
          <a:lstStyle/>
          <a:p>
            <a:r>
              <a:rPr kumimoji="1" lang="en-US" altLang="ja-JP" b="1" dirty="0">
                <a:latin typeface="+mn-ea"/>
              </a:rPr>
              <a:t>3</a:t>
            </a:r>
            <a:endParaRPr kumimoji="1" lang="ja-JP" altLang="en-US" b="1" dirty="0">
              <a:latin typeface="+mn-ea"/>
            </a:endParaRPr>
          </a:p>
        </p:txBody>
      </p:sp>
      <p:sp>
        <p:nvSpPr>
          <p:cNvPr id="23" name="テキスト ボックス 22">
            <a:extLst>
              <a:ext uri="{FF2B5EF4-FFF2-40B4-BE49-F238E27FC236}">
                <a16:creationId xmlns:a16="http://schemas.microsoft.com/office/drawing/2014/main" id="{322CBBFB-6ADC-2470-7D14-D693DD3FFFE4}"/>
              </a:ext>
            </a:extLst>
          </p:cNvPr>
          <p:cNvSpPr txBox="1"/>
          <p:nvPr/>
        </p:nvSpPr>
        <p:spPr>
          <a:xfrm>
            <a:off x="4540172" y="6316718"/>
            <a:ext cx="315386" cy="369332"/>
          </a:xfrm>
          <a:prstGeom prst="rect">
            <a:avLst/>
          </a:prstGeom>
          <a:noFill/>
        </p:spPr>
        <p:txBody>
          <a:bodyPr wrap="square">
            <a:spAutoFit/>
          </a:bodyPr>
          <a:lstStyle/>
          <a:p>
            <a:r>
              <a:rPr kumimoji="1" lang="en-US" altLang="ja-JP" b="1" dirty="0">
                <a:latin typeface="+mn-ea"/>
              </a:rPr>
              <a:t>2</a:t>
            </a:r>
            <a:endParaRPr kumimoji="1" lang="ja-JP" altLang="en-US" b="1" dirty="0">
              <a:latin typeface="+mn-ea"/>
            </a:endParaRPr>
          </a:p>
        </p:txBody>
      </p:sp>
      <p:sp>
        <p:nvSpPr>
          <p:cNvPr id="25" name="テキスト ボックス 24">
            <a:extLst>
              <a:ext uri="{FF2B5EF4-FFF2-40B4-BE49-F238E27FC236}">
                <a16:creationId xmlns:a16="http://schemas.microsoft.com/office/drawing/2014/main" id="{A258FBE5-10E4-752E-E0C7-9270681A817E}"/>
              </a:ext>
            </a:extLst>
          </p:cNvPr>
          <p:cNvSpPr txBox="1"/>
          <p:nvPr/>
        </p:nvSpPr>
        <p:spPr>
          <a:xfrm>
            <a:off x="3976053" y="6316718"/>
            <a:ext cx="315386" cy="369332"/>
          </a:xfrm>
          <a:prstGeom prst="rect">
            <a:avLst/>
          </a:prstGeom>
          <a:noFill/>
        </p:spPr>
        <p:txBody>
          <a:bodyPr wrap="square">
            <a:spAutoFit/>
          </a:bodyPr>
          <a:lstStyle/>
          <a:p>
            <a:r>
              <a:rPr kumimoji="1" lang="en-US" altLang="ja-JP" b="1" dirty="0">
                <a:latin typeface="+mn-ea"/>
              </a:rPr>
              <a:t>1</a:t>
            </a:r>
            <a:endParaRPr kumimoji="1" lang="ja-JP" altLang="en-US" b="1" dirty="0">
              <a:latin typeface="+mn-ea"/>
            </a:endParaRPr>
          </a:p>
        </p:txBody>
      </p:sp>
      <p:sp>
        <p:nvSpPr>
          <p:cNvPr id="26" name="テキスト ボックス 25">
            <a:extLst>
              <a:ext uri="{FF2B5EF4-FFF2-40B4-BE49-F238E27FC236}">
                <a16:creationId xmlns:a16="http://schemas.microsoft.com/office/drawing/2014/main" id="{0FC41B43-1877-2053-FA79-1B7186B49F2B}"/>
              </a:ext>
            </a:extLst>
          </p:cNvPr>
          <p:cNvSpPr txBox="1"/>
          <p:nvPr/>
        </p:nvSpPr>
        <p:spPr>
          <a:xfrm>
            <a:off x="8475873" y="6316718"/>
            <a:ext cx="489933" cy="369332"/>
          </a:xfrm>
          <a:prstGeom prst="rect">
            <a:avLst/>
          </a:prstGeom>
          <a:noFill/>
        </p:spPr>
        <p:txBody>
          <a:bodyPr wrap="square">
            <a:spAutoFit/>
          </a:bodyPr>
          <a:lstStyle/>
          <a:p>
            <a:r>
              <a:rPr kumimoji="1" lang="en-US" altLang="ja-JP" b="1" dirty="0">
                <a:latin typeface="+mn-ea"/>
              </a:rPr>
              <a:t>10</a:t>
            </a:r>
            <a:endParaRPr kumimoji="1" lang="ja-JP" altLang="en-US" b="1" dirty="0">
              <a:latin typeface="+mn-ea"/>
            </a:endParaRPr>
          </a:p>
        </p:txBody>
      </p:sp>
      <p:sp>
        <p:nvSpPr>
          <p:cNvPr id="27" name="テキスト ボックス 1">
            <a:extLst>
              <a:ext uri="{FF2B5EF4-FFF2-40B4-BE49-F238E27FC236}">
                <a16:creationId xmlns:a16="http://schemas.microsoft.com/office/drawing/2014/main" id="{712FBCF6-7619-8047-33DE-1FD303C5B6E0}"/>
              </a:ext>
            </a:extLst>
          </p:cNvPr>
          <p:cNvSpPr txBox="1"/>
          <p:nvPr/>
        </p:nvSpPr>
        <p:spPr>
          <a:xfrm>
            <a:off x="323476" y="1070754"/>
            <a:ext cx="5991539" cy="5452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t">
              <a:lnSpc>
                <a:spcPts val="2200"/>
              </a:lnSpc>
            </a:pPr>
            <a:r>
              <a:rPr kumimoji="1" lang="en-US" altLang="ja-JP" sz="1400" b="1" dirty="0">
                <a:latin typeface="游ゴシック" panose="020B0400000000000000" pitchFamily="50" charset="-128"/>
              </a:rPr>
              <a:t>Q1 AI </a:t>
            </a:r>
            <a:r>
              <a:rPr kumimoji="1" lang="ja-JP" altLang="en-US" sz="1400" b="1" dirty="0">
                <a:latin typeface="游ゴシック" panose="020B0400000000000000" pitchFamily="50" charset="-128"/>
              </a:rPr>
              <a:t>は人間らしい振る舞いをする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Q2 AI </a:t>
            </a:r>
            <a:r>
              <a:rPr kumimoji="1" lang="ja-JP" altLang="en-US" sz="1400" b="1" dirty="0">
                <a:latin typeface="游ゴシック" panose="020B0400000000000000" pitchFamily="50" charset="-128"/>
              </a:rPr>
              <a:t>は生き物のように反応する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Q3 AI </a:t>
            </a:r>
            <a:r>
              <a:rPr kumimoji="1" lang="ja-JP" altLang="en-US" sz="1400" b="1" dirty="0">
                <a:latin typeface="游ゴシック" panose="020B0400000000000000" pitchFamily="50" charset="-128"/>
              </a:rPr>
              <a:t>は利用しやすい</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Q4 AI </a:t>
            </a:r>
            <a:r>
              <a:rPr kumimoji="1" lang="ja-JP" altLang="en-US" sz="1400" b="1" dirty="0">
                <a:latin typeface="游ゴシック" panose="020B0400000000000000" pitchFamily="50" charset="-128"/>
              </a:rPr>
              <a:t>は作業をうまく行う</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Q5 AI </a:t>
            </a:r>
            <a:r>
              <a:rPr kumimoji="1" lang="ja-JP" altLang="en-US" sz="1400" b="1" dirty="0">
                <a:latin typeface="游ゴシック" panose="020B0400000000000000" pitchFamily="50" charset="-128"/>
              </a:rPr>
              <a:t>は好感が持てる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Q6 AI </a:t>
            </a:r>
            <a:r>
              <a:rPr kumimoji="1" lang="ja-JP" altLang="en-US" sz="1400" b="1" dirty="0">
                <a:latin typeface="游ゴシック" panose="020B0400000000000000" pitchFamily="50" charset="-128"/>
              </a:rPr>
              <a:t>は社会に馴染むことができる</a:t>
            </a:r>
            <a:endParaRPr kumimoji="1" lang="en-US" altLang="ja-JP" sz="1400" b="1" dirty="0">
              <a:latin typeface="游ゴシック" panose="020B0400000000000000" pitchFamily="50" charset="-128"/>
            </a:endParaRPr>
          </a:p>
          <a:p>
            <a:pPr fontAlgn="t">
              <a:lnSpc>
                <a:spcPts val="2200"/>
              </a:lnSpc>
            </a:pPr>
            <a:r>
              <a:rPr kumimoji="1" lang="en-US" altLang="ja-JP" sz="1400" b="1" dirty="0">
                <a:solidFill>
                  <a:srgbClr val="C00000"/>
                </a:solidFill>
                <a:latin typeface="游ゴシック" panose="020B0400000000000000" pitchFamily="50" charset="-128"/>
              </a:rPr>
              <a:t>Q7 AI </a:t>
            </a:r>
            <a:r>
              <a:rPr kumimoji="1" lang="ja-JP" altLang="en-US" sz="1400" b="1" dirty="0">
                <a:solidFill>
                  <a:srgbClr val="C00000"/>
                </a:solidFill>
                <a:latin typeface="游ゴシック" panose="020B0400000000000000" pitchFamily="50" charset="-128"/>
              </a:rPr>
              <a:t>には独自の個性がある</a:t>
            </a:r>
            <a:endParaRPr kumimoji="1" lang="en-US" altLang="ja-JP" sz="1400" b="1" dirty="0">
              <a:solidFill>
                <a:srgbClr val="C00000"/>
              </a:solidFill>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Q8 </a:t>
            </a:r>
            <a:r>
              <a:rPr kumimoji="1" lang="ja-JP" altLang="en-US" sz="1400" b="1" dirty="0">
                <a:latin typeface="游ゴシック" panose="020B0400000000000000" pitchFamily="50" charset="-128"/>
              </a:rPr>
              <a:t>将来またこの </a:t>
            </a:r>
            <a:r>
              <a:rPr kumimoji="1" lang="en-US" altLang="ja-JP" sz="1400" b="1" dirty="0">
                <a:latin typeface="游ゴシック" panose="020B0400000000000000" pitchFamily="50" charset="-128"/>
              </a:rPr>
              <a:t>AI </a:t>
            </a:r>
            <a:r>
              <a:rPr kumimoji="1" lang="ja-JP" altLang="en-US" sz="1400" b="1" dirty="0">
                <a:latin typeface="游ゴシック" panose="020B0400000000000000" pitchFamily="50" charset="-128"/>
              </a:rPr>
              <a:t>を利用したいと思う</a:t>
            </a:r>
            <a:endParaRPr kumimoji="1" lang="en-US" altLang="ja-JP" sz="1400" b="1" dirty="0">
              <a:latin typeface="游ゴシック" panose="020B0400000000000000" pitchFamily="50" charset="-128"/>
            </a:endParaRPr>
          </a:p>
          <a:p>
            <a:pPr fontAlgn="t">
              <a:lnSpc>
                <a:spcPts val="2200"/>
              </a:lnSpc>
            </a:pPr>
            <a:r>
              <a:rPr kumimoji="1" lang="en-US" altLang="ja-JP" sz="1400" b="1" dirty="0">
                <a:solidFill>
                  <a:srgbClr val="C00000"/>
                </a:solidFill>
                <a:latin typeface="游ゴシック" panose="020B0400000000000000" pitchFamily="50" charset="-128"/>
              </a:rPr>
              <a:t>Q9 AI </a:t>
            </a:r>
            <a:r>
              <a:rPr kumimoji="1" lang="ja-JP" altLang="en-US" sz="1400" b="1" dirty="0">
                <a:solidFill>
                  <a:srgbClr val="C00000"/>
                </a:solidFill>
                <a:latin typeface="游ゴシック" panose="020B0400000000000000" pitchFamily="50" charset="-128"/>
              </a:rPr>
              <a:t>の言動は見ていて楽しい</a:t>
            </a:r>
            <a:endParaRPr kumimoji="1" lang="en-US" altLang="ja-JP" sz="1400" b="1" dirty="0">
              <a:solidFill>
                <a:srgbClr val="C00000"/>
              </a:solidFill>
              <a:latin typeface="游ゴシック" panose="020B0400000000000000" pitchFamily="50" charset="-128"/>
            </a:endParaRPr>
          </a:p>
          <a:p>
            <a:pPr fontAlgn="t">
              <a:lnSpc>
                <a:spcPts val="2200"/>
              </a:lnSpc>
            </a:pPr>
            <a:r>
              <a:rPr kumimoji="1" lang="en-US" altLang="ja-JP" sz="1400" b="1" dirty="0">
                <a:solidFill>
                  <a:srgbClr val="C00000"/>
                </a:solidFill>
                <a:latin typeface="游ゴシック" panose="020B0400000000000000" pitchFamily="50" charset="-128"/>
              </a:rPr>
              <a:t>Q10 AI </a:t>
            </a:r>
            <a:r>
              <a:rPr kumimoji="1" lang="ja-JP" altLang="en-US" sz="1400" b="1" dirty="0">
                <a:solidFill>
                  <a:srgbClr val="C00000"/>
                </a:solidFill>
                <a:latin typeface="游ゴシック" panose="020B0400000000000000" pitchFamily="50" charset="-128"/>
              </a:rPr>
              <a:t>とのやりとりは注意を引く</a:t>
            </a:r>
            <a:endParaRPr kumimoji="1" lang="en-US" altLang="ja-JP" sz="1400" b="1" dirty="0">
              <a:solidFill>
                <a:srgbClr val="C00000"/>
              </a:solidFill>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Q11 AI </a:t>
            </a:r>
            <a:r>
              <a:rPr kumimoji="1" lang="ja-JP" altLang="en-US" sz="1400" b="1" dirty="0">
                <a:latin typeface="游ゴシック" panose="020B0400000000000000" pitchFamily="50" charset="-128"/>
              </a:rPr>
              <a:t>は信頼できる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Q12 AI </a:t>
            </a:r>
            <a:r>
              <a:rPr kumimoji="1" lang="ja-JP" altLang="en-US" sz="1400" b="1" dirty="0">
                <a:latin typeface="游ゴシック" panose="020B0400000000000000" pitchFamily="50" charset="-128"/>
              </a:rPr>
              <a:t>と協力して作業を行うことができる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Q13 AI </a:t>
            </a:r>
            <a:r>
              <a:rPr kumimoji="1" lang="ja-JP" altLang="en-US" sz="1400" b="1" dirty="0">
                <a:latin typeface="游ゴシック" panose="020B0400000000000000" pitchFamily="50" charset="-128"/>
              </a:rPr>
              <a:t>は気を配っている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Q14 AI </a:t>
            </a:r>
            <a:r>
              <a:rPr kumimoji="1" lang="ja-JP" altLang="en-US" sz="1400" b="1" dirty="0">
                <a:latin typeface="游ゴシック" panose="020B0400000000000000" pitchFamily="50" charset="-128"/>
              </a:rPr>
              <a:t>の言動は合理的である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Q15 AI </a:t>
            </a:r>
            <a:r>
              <a:rPr kumimoji="1" lang="ja-JP" altLang="en-US" sz="1400" b="1" dirty="0">
                <a:latin typeface="游ゴシック" panose="020B0400000000000000" pitchFamily="50" charset="-128"/>
              </a:rPr>
              <a:t>の言動には意図がある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Q16 AI </a:t>
            </a:r>
            <a:r>
              <a:rPr kumimoji="1" lang="ja-JP" altLang="en-US" sz="1400" b="1" dirty="0">
                <a:latin typeface="游ゴシック" panose="020B0400000000000000" pitchFamily="50" charset="-128"/>
              </a:rPr>
              <a:t>とのやりとりを好意的に受け止めている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Q17 AI </a:t>
            </a:r>
            <a:r>
              <a:rPr kumimoji="1" lang="ja-JP" altLang="en-US" sz="1400" b="1" dirty="0">
                <a:latin typeface="游ゴシック" panose="020B0400000000000000" pitchFamily="50" charset="-128"/>
              </a:rPr>
              <a:t>は社会的な存在感がある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Q18 </a:t>
            </a:r>
            <a:r>
              <a:rPr kumimoji="1" lang="ja-JP" altLang="en-US" sz="1400" b="1" dirty="0">
                <a:latin typeface="游ゴシック" panose="020B0400000000000000" pitchFamily="50" charset="-128"/>
              </a:rPr>
              <a:t>多くの人はこの </a:t>
            </a:r>
            <a:r>
              <a:rPr kumimoji="1" lang="en-US" altLang="ja-JP" sz="1400" b="1" dirty="0">
                <a:latin typeface="游ゴシック" panose="020B0400000000000000" pitchFamily="50" charset="-128"/>
              </a:rPr>
              <a:t>AI </a:t>
            </a:r>
            <a:r>
              <a:rPr kumimoji="1" lang="ja-JP" altLang="en-US" sz="1400" b="1" dirty="0">
                <a:latin typeface="游ゴシック" panose="020B0400000000000000" pitchFamily="50" charset="-128"/>
              </a:rPr>
              <a:t>を使うことを勧めると思う</a:t>
            </a:r>
            <a:endParaRPr kumimoji="1" lang="en-US" altLang="ja-JP" sz="1400" b="1" dirty="0">
              <a:latin typeface="游ゴシック" panose="020B0400000000000000" pitchFamily="50" charset="-128"/>
            </a:endParaRPr>
          </a:p>
          <a:p>
            <a:pPr fontAlgn="t">
              <a:lnSpc>
                <a:spcPts val="2200"/>
              </a:lnSpc>
            </a:pPr>
            <a:r>
              <a:rPr kumimoji="1" lang="en-US" altLang="ja-JP" sz="1400" b="1" dirty="0">
                <a:solidFill>
                  <a:srgbClr val="C00000"/>
                </a:solidFill>
                <a:latin typeface="游ゴシック" panose="020B0400000000000000" pitchFamily="50" charset="-128"/>
              </a:rPr>
              <a:t>Q19 AI </a:t>
            </a:r>
            <a:r>
              <a:rPr kumimoji="1" lang="ja-JP" altLang="en-US" sz="1400" b="1" dirty="0">
                <a:solidFill>
                  <a:srgbClr val="C00000"/>
                </a:solidFill>
                <a:latin typeface="游ゴシック" panose="020B0400000000000000" pitchFamily="50" charset="-128"/>
              </a:rPr>
              <a:t>には感情がある</a:t>
            </a:r>
            <a:endParaRPr kumimoji="1" lang="ja-JP" altLang="en-US" sz="1400" b="1" i="0" u="none" strike="noStrike" kern="1200" dirty="0">
              <a:solidFill>
                <a:srgbClr val="C00000"/>
              </a:solidFill>
              <a:effectLst/>
              <a:latin typeface="游ゴシック" panose="020B0400000000000000" pitchFamily="50" charset="-128"/>
              <a:ea typeface="游ゴシック" panose="020B0400000000000000" pitchFamily="50" charset="-128"/>
            </a:endParaRPr>
          </a:p>
        </p:txBody>
      </p:sp>
      <p:grpSp>
        <p:nvGrpSpPr>
          <p:cNvPr id="39" name="グループ化 38">
            <a:extLst>
              <a:ext uri="{FF2B5EF4-FFF2-40B4-BE49-F238E27FC236}">
                <a16:creationId xmlns:a16="http://schemas.microsoft.com/office/drawing/2014/main" id="{B2516C06-A746-7FAE-E793-2B563F6B9D3F}"/>
              </a:ext>
            </a:extLst>
          </p:cNvPr>
          <p:cNvGrpSpPr/>
          <p:nvPr/>
        </p:nvGrpSpPr>
        <p:grpSpPr>
          <a:xfrm>
            <a:off x="7045006" y="1192698"/>
            <a:ext cx="2035744" cy="1497844"/>
            <a:chOff x="7115473" y="4650382"/>
            <a:chExt cx="2035744" cy="1497844"/>
          </a:xfrm>
        </p:grpSpPr>
        <p:sp>
          <p:nvSpPr>
            <p:cNvPr id="32" name="テキスト ボックス 31">
              <a:extLst>
                <a:ext uri="{FF2B5EF4-FFF2-40B4-BE49-F238E27FC236}">
                  <a16:creationId xmlns:a16="http://schemas.microsoft.com/office/drawing/2014/main" id="{1EF474BF-F0C3-F628-0551-F9CA4F5F0F9A}"/>
                </a:ext>
              </a:extLst>
            </p:cNvPr>
            <p:cNvSpPr txBox="1"/>
            <p:nvPr/>
          </p:nvSpPr>
          <p:spPr>
            <a:xfrm>
              <a:off x="7115474" y="4650382"/>
              <a:ext cx="2035743" cy="374461"/>
            </a:xfrm>
            <a:prstGeom prst="rect">
              <a:avLst/>
            </a:prstGeom>
            <a:solidFill>
              <a:schemeClr val="accent1">
                <a:lumMod val="60000"/>
                <a:lumOff val="40000"/>
              </a:schemeClr>
            </a:solidFill>
          </p:spPr>
          <p:txBody>
            <a:bodyPr wrap="square">
              <a:spAutoFit/>
            </a:bodyPr>
            <a:lstStyle/>
            <a:p>
              <a:pPr fontAlgn="t">
                <a:lnSpc>
                  <a:spcPts val="2200"/>
                </a:lnSpc>
              </a:pPr>
              <a:r>
                <a:rPr kumimoji="1" lang="ja-JP" altLang="en-US" sz="1800" b="1" dirty="0">
                  <a:solidFill>
                    <a:schemeClr val="bg1"/>
                  </a:solidFill>
                  <a:latin typeface="游ゴシック" panose="020B0400000000000000" pitchFamily="50" charset="-128"/>
                </a:rPr>
                <a:t>固定・名乗りあり</a:t>
              </a:r>
              <a:endParaRPr kumimoji="1" lang="en-US" altLang="ja-JP" sz="1800" b="1" dirty="0">
                <a:solidFill>
                  <a:schemeClr val="bg1"/>
                </a:solidFill>
                <a:latin typeface="游ゴシック" panose="020B0400000000000000" pitchFamily="50" charset="-128"/>
              </a:endParaRPr>
            </a:p>
          </p:txBody>
        </p:sp>
        <p:sp>
          <p:nvSpPr>
            <p:cNvPr id="33" name="テキスト ボックス 32">
              <a:extLst>
                <a:ext uri="{FF2B5EF4-FFF2-40B4-BE49-F238E27FC236}">
                  <a16:creationId xmlns:a16="http://schemas.microsoft.com/office/drawing/2014/main" id="{F1C63390-FC36-E0B6-ADA2-18ED438A9852}"/>
                </a:ext>
              </a:extLst>
            </p:cNvPr>
            <p:cNvSpPr txBox="1"/>
            <p:nvPr/>
          </p:nvSpPr>
          <p:spPr>
            <a:xfrm>
              <a:off x="7115474" y="5024843"/>
              <a:ext cx="2035743" cy="374461"/>
            </a:xfrm>
            <a:prstGeom prst="rect">
              <a:avLst/>
            </a:prstGeom>
            <a:solidFill>
              <a:schemeClr val="accent6">
                <a:lumMod val="75000"/>
              </a:schemeClr>
            </a:solidFill>
          </p:spPr>
          <p:txBody>
            <a:bodyPr wrap="square">
              <a:spAutoFit/>
            </a:bodyPr>
            <a:lstStyle/>
            <a:p>
              <a:pPr fontAlgn="t">
                <a:lnSpc>
                  <a:spcPts val="2200"/>
                </a:lnSpc>
              </a:pPr>
              <a:r>
                <a:rPr kumimoji="1" lang="ja-JP" altLang="en-US" sz="1800" b="1" dirty="0">
                  <a:solidFill>
                    <a:schemeClr val="bg1"/>
                  </a:solidFill>
                  <a:latin typeface="游ゴシック" panose="020B0400000000000000" pitchFamily="50" charset="-128"/>
                </a:rPr>
                <a:t>固定・名乗りなし</a:t>
              </a:r>
              <a:endParaRPr kumimoji="1" lang="en-US" altLang="ja-JP" sz="1800" b="1" dirty="0">
                <a:solidFill>
                  <a:schemeClr val="bg1"/>
                </a:solidFill>
                <a:latin typeface="游ゴシック" panose="020B0400000000000000" pitchFamily="50" charset="-128"/>
              </a:endParaRPr>
            </a:p>
          </p:txBody>
        </p:sp>
        <p:sp>
          <p:nvSpPr>
            <p:cNvPr id="34" name="テキスト ボックス 33">
              <a:extLst>
                <a:ext uri="{FF2B5EF4-FFF2-40B4-BE49-F238E27FC236}">
                  <a16:creationId xmlns:a16="http://schemas.microsoft.com/office/drawing/2014/main" id="{42E86C61-DCBF-F435-3823-3727A0F030F7}"/>
                </a:ext>
              </a:extLst>
            </p:cNvPr>
            <p:cNvSpPr txBox="1"/>
            <p:nvPr/>
          </p:nvSpPr>
          <p:spPr>
            <a:xfrm>
              <a:off x="7115473" y="5399304"/>
              <a:ext cx="2035743" cy="374461"/>
            </a:xfrm>
            <a:prstGeom prst="rect">
              <a:avLst/>
            </a:prstGeom>
            <a:solidFill>
              <a:schemeClr val="accent2"/>
            </a:solidFill>
          </p:spPr>
          <p:txBody>
            <a:bodyPr wrap="square">
              <a:spAutoFit/>
            </a:bodyPr>
            <a:lstStyle/>
            <a:p>
              <a:pPr fontAlgn="t">
                <a:lnSpc>
                  <a:spcPts val="2200"/>
                </a:lnSpc>
              </a:pPr>
              <a:r>
                <a:rPr kumimoji="1" lang="ja-JP" altLang="en-US" sz="1800" b="1" dirty="0">
                  <a:solidFill>
                    <a:schemeClr val="bg1"/>
                  </a:solidFill>
                  <a:latin typeface="游ゴシック" panose="020B0400000000000000" pitchFamily="50" charset="-128"/>
                </a:rPr>
                <a:t>切替・名乗りあり</a:t>
              </a:r>
              <a:endParaRPr kumimoji="1" lang="en-US" altLang="ja-JP" sz="1800" b="1" dirty="0">
                <a:solidFill>
                  <a:schemeClr val="bg1"/>
                </a:solidFill>
                <a:latin typeface="游ゴシック" panose="020B0400000000000000" pitchFamily="50" charset="-128"/>
              </a:endParaRPr>
            </a:p>
          </p:txBody>
        </p:sp>
        <p:sp>
          <p:nvSpPr>
            <p:cNvPr id="35" name="テキスト ボックス 34">
              <a:extLst>
                <a:ext uri="{FF2B5EF4-FFF2-40B4-BE49-F238E27FC236}">
                  <a16:creationId xmlns:a16="http://schemas.microsoft.com/office/drawing/2014/main" id="{F28CA163-DD78-8DB3-3B66-A93E322C3B5C}"/>
                </a:ext>
              </a:extLst>
            </p:cNvPr>
            <p:cNvSpPr txBox="1"/>
            <p:nvPr/>
          </p:nvSpPr>
          <p:spPr>
            <a:xfrm>
              <a:off x="7115473" y="5773765"/>
              <a:ext cx="2035743" cy="374461"/>
            </a:xfrm>
            <a:prstGeom prst="rect">
              <a:avLst/>
            </a:prstGeom>
            <a:solidFill>
              <a:schemeClr val="tx2">
                <a:lumMod val="75000"/>
                <a:lumOff val="25000"/>
              </a:schemeClr>
            </a:solidFill>
          </p:spPr>
          <p:txBody>
            <a:bodyPr wrap="square">
              <a:spAutoFit/>
            </a:bodyPr>
            <a:lstStyle/>
            <a:p>
              <a:pPr fontAlgn="t">
                <a:lnSpc>
                  <a:spcPts val="2200"/>
                </a:lnSpc>
              </a:pPr>
              <a:r>
                <a:rPr kumimoji="1" lang="ja-JP" altLang="en-US" sz="1800" b="1" dirty="0">
                  <a:solidFill>
                    <a:schemeClr val="bg1"/>
                  </a:solidFill>
                  <a:latin typeface="游ゴシック" panose="020B0400000000000000" pitchFamily="50" charset="-128"/>
                </a:rPr>
                <a:t>切替・名乗りなし</a:t>
              </a:r>
              <a:endParaRPr kumimoji="1" lang="en-US" altLang="ja-JP" sz="1800" b="1" dirty="0">
                <a:solidFill>
                  <a:schemeClr val="bg1"/>
                </a:solidFill>
                <a:latin typeface="游ゴシック" panose="020B0400000000000000" pitchFamily="50" charset="-128"/>
              </a:endParaRPr>
            </a:p>
          </p:txBody>
        </p:sp>
      </p:grpSp>
      <p:sp>
        <p:nvSpPr>
          <p:cNvPr id="37" name="テキスト ボックス 36">
            <a:extLst>
              <a:ext uri="{FF2B5EF4-FFF2-40B4-BE49-F238E27FC236}">
                <a16:creationId xmlns:a16="http://schemas.microsoft.com/office/drawing/2014/main" id="{0C014B48-94EC-1DEA-8E4F-D33F9A2890BD}"/>
              </a:ext>
            </a:extLst>
          </p:cNvPr>
          <p:cNvSpPr txBox="1"/>
          <p:nvPr/>
        </p:nvSpPr>
        <p:spPr>
          <a:xfrm>
            <a:off x="3013306" y="6558832"/>
            <a:ext cx="1266304" cy="283714"/>
          </a:xfrm>
          <a:prstGeom prst="rect">
            <a:avLst/>
          </a:prstGeom>
          <a:noFill/>
        </p:spPr>
        <p:txBody>
          <a:bodyPr wrap="square">
            <a:spAutoFit/>
          </a:bodyPr>
          <a:lstStyle/>
          <a:p>
            <a:r>
              <a:rPr kumimoji="1" lang="ja-JP" altLang="en-US" sz="1200" b="1" dirty="0">
                <a:latin typeface="游ゴシック" panose="020B0400000000000000" pitchFamily="50" charset="-128"/>
              </a:rPr>
              <a:t>あてはまらない</a:t>
            </a:r>
            <a:endParaRPr lang="ja-JP" altLang="en-US" sz="1200" dirty="0"/>
          </a:p>
        </p:txBody>
      </p:sp>
      <p:sp>
        <p:nvSpPr>
          <p:cNvPr id="38" name="テキスト ボックス 37">
            <a:extLst>
              <a:ext uri="{FF2B5EF4-FFF2-40B4-BE49-F238E27FC236}">
                <a16:creationId xmlns:a16="http://schemas.microsoft.com/office/drawing/2014/main" id="{021DA99E-0C12-721C-756D-711944289C98}"/>
              </a:ext>
            </a:extLst>
          </p:cNvPr>
          <p:cNvSpPr txBox="1"/>
          <p:nvPr/>
        </p:nvSpPr>
        <p:spPr>
          <a:xfrm>
            <a:off x="8256740" y="6558832"/>
            <a:ext cx="1266304" cy="283714"/>
          </a:xfrm>
          <a:prstGeom prst="rect">
            <a:avLst/>
          </a:prstGeom>
          <a:noFill/>
        </p:spPr>
        <p:txBody>
          <a:bodyPr wrap="square">
            <a:spAutoFit/>
          </a:bodyPr>
          <a:lstStyle/>
          <a:p>
            <a:r>
              <a:rPr kumimoji="1" lang="ja-JP" altLang="en-US" sz="1200" b="1" dirty="0">
                <a:latin typeface="游ゴシック" panose="020B0400000000000000" pitchFamily="50" charset="-128"/>
              </a:rPr>
              <a:t>あてはまる</a:t>
            </a:r>
            <a:endParaRPr lang="ja-JP" altLang="en-US" sz="1200" dirty="0"/>
          </a:p>
        </p:txBody>
      </p:sp>
      <p:sp>
        <p:nvSpPr>
          <p:cNvPr id="41" name="テキスト ボックス 40">
            <a:extLst>
              <a:ext uri="{FF2B5EF4-FFF2-40B4-BE49-F238E27FC236}">
                <a16:creationId xmlns:a16="http://schemas.microsoft.com/office/drawing/2014/main" id="{9B7FF883-51BD-30E7-14AF-A37E98C1E9D3}"/>
              </a:ext>
            </a:extLst>
          </p:cNvPr>
          <p:cNvSpPr txBox="1"/>
          <p:nvPr/>
        </p:nvSpPr>
        <p:spPr>
          <a:xfrm>
            <a:off x="6769211" y="2972916"/>
            <a:ext cx="2374789" cy="307777"/>
          </a:xfrm>
          <a:prstGeom prst="rect">
            <a:avLst/>
          </a:prstGeom>
          <a:noFill/>
          <a:ln>
            <a:solidFill>
              <a:srgbClr val="C00000"/>
            </a:solidFill>
          </a:ln>
        </p:spPr>
        <p:txBody>
          <a:bodyPr wrap="square">
            <a:spAutoFit/>
          </a:bodyPr>
          <a:lstStyle/>
          <a:p>
            <a:pPr algn="ctr"/>
            <a:r>
              <a:rPr kumimoji="1" lang="ja-JP" altLang="en-US" sz="1400" b="1" dirty="0">
                <a:solidFill>
                  <a:srgbClr val="C00000"/>
                </a:solidFill>
                <a:latin typeface="游ゴシック" panose="020B0400000000000000" pitchFamily="50" charset="-128"/>
              </a:rPr>
              <a:t>人格設定要因に主効果あり</a:t>
            </a:r>
            <a:endParaRPr lang="ja-JP" altLang="en-US" sz="1400" dirty="0">
              <a:solidFill>
                <a:srgbClr val="C00000"/>
              </a:solidFill>
            </a:endParaRPr>
          </a:p>
        </p:txBody>
      </p:sp>
      <p:sp>
        <p:nvSpPr>
          <p:cNvPr id="43" name="テキスト ボックス 42">
            <a:extLst>
              <a:ext uri="{FF2B5EF4-FFF2-40B4-BE49-F238E27FC236}">
                <a16:creationId xmlns:a16="http://schemas.microsoft.com/office/drawing/2014/main" id="{6EDC21B5-11C6-2608-2EF4-C21787024453}"/>
              </a:ext>
            </a:extLst>
          </p:cNvPr>
          <p:cNvSpPr txBox="1"/>
          <p:nvPr/>
        </p:nvSpPr>
        <p:spPr>
          <a:xfrm>
            <a:off x="6736168" y="3468427"/>
            <a:ext cx="1306430" cy="307777"/>
          </a:xfrm>
          <a:prstGeom prst="rect">
            <a:avLst/>
          </a:prstGeom>
          <a:noFill/>
          <a:ln>
            <a:solidFill>
              <a:srgbClr val="C00000"/>
            </a:solidFill>
          </a:ln>
        </p:spPr>
        <p:txBody>
          <a:bodyPr wrap="square">
            <a:spAutoFit/>
          </a:bodyPr>
          <a:lstStyle/>
          <a:p>
            <a:r>
              <a:rPr kumimoji="1" lang="ja-JP" altLang="en-US" sz="1400" b="1" dirty="0">
                <a:solidFill>
                  <a:srgbClr val="C00000"/>
                </a:solidFill>
                <a:latin typeface="游ゴシック" panose="020B0400000000000000" pitchFamily="50" charset="-128"/>
              </a:rPr>
              <a:t>交互作用あり</a:t>
            </a:r>
            <a:endParaRPr lang="ja-JP" altLang="en-US" sz="1400" dirty="0">
              <a:solidFill>
                <a:srgbClr val="C00000"/>
              </a:solidFill>
            </a:endParaRPr>
          </a:p>
        </p:txBody>
      </p:sp>
      <p:sp>
        <p:nvSpPr>
          <p:cNvPr id="45" name="テキスト ボックス 44">
            <a:extLst>
              <a:ext uri="{FF2B5EF4-FFF2-40B4-BE49-F238E27FC236}">
                <a16:creationId xmlns:a16="http://schemas.microsoft.com/office/drawing/2014/main" id="{96B3B278-A1C8-3C12-FF8F-5ECD479DC365}"/>
              </a:ext>
            </a:extLst>
          </p:cNvPr>
          <p:cNvSpPr txBox="1"/>
          <p:nvPr/>
        </p:nvSpPr>
        <p:spPr>
          <a:xfrm>
            <a:off x="6806437" y="4250227"/>
            <a:ext cx="1306430" cy="306768"/>
          </a:xfrm>
          <a:prstGeom prst="rect">
            <a:avLst/>
          </a:prstGeom>
          <a:noFill/>
          <a:ln>
            <a:solidFill>
              <a:srgbClr val="C00000"/>
            </a:solidFill>
          </a:ln>
        </p:spPr>
        <p:txBody>
          <a:bodyPr wrap="square">
            <a:spAutoFit/>
          </a:bodyPr>
          <a:lstStyle/>
          <a:p>
            <a:r>
              <a:rPr kumimoji="1" lang="ja-JP" altLang="en-US" sz="1400" b="1" dirty="0">
                <a:solidFill>
                  <a:srgbClr val="C00000"/>
                </a:solidFill>
                <a:latin typeface="游ゴシック" panose="020B0400000000000000" pitchFamily="50" charset="-128"/>
              </a:rPr>
              <a:t>交互作用あり</a:t>
            </a:r>
            <a:endParaRPr kumimoji="1" lang="en-US" altLang="ja-JP" sz="1400" b="1" dirty="0">
              <a:solidFill>
                <a:srgbClr val="C00000"/>
              </a:solidFill>
              <a:latin typeface="游ゴシック" panose="020B0400000000000000" pitchFamily="50" charset="-128"/>
            </a:endParaRPr>
          </a:p>
        </p:txBody>
      </p:sp>
      <p:sp>
        <p:nvSpPr>
          <p:cNvPr id="47" name="テキスト ボックス 46">
            <a:extLst>
              <a:ext uri="{FF2B5EF4-FFF2-40B4-BE49-F238E27FC236}">
                <a16:creationId xmlns:a16="http://schemas.microsoft.com/office/drawing/2014/main" id="{068A7CB6-8CC1-9973-6710-661BD316BDBF}"/>
              </a:ext>
            </a:extLst>
          </p:cNvPr>
          <p:cNvSpPr txBox="1"/>
          <p:nvPr/>
        </p:nvSpPr>
        <p:spPr>
          <a:xfrm>
            <a:off x="6482934" y="5805479"/>
            <a:ext cx="1306430" cy="307777"/>
          </a:xfrm>
          <a:prstGeom prst="rect">
            <a:avLst/>
          </a:prstGeom>
          <a:noFill/>
          <a:ln>
            <a:solidFill>
              <a:srgbClr val="C00000"/>
            </a:solidFill>
          </a:ln>
        </p:spPr>
        <p:txBody>
          <a:bodyPr wrap="square">
            <a:spAutoFit/>
          </a:bodyPr>
          <a:lstStyle/>
          <a:p>
            <a:r>
              <a:rPr kumimoji="1" lang="ja-JP" altLang="en-US" sz="1400" b="1" dirty="0">
                <a:solidFill>
                  <a:srgbClr val="C00000"/>
                </a:solidFill>
                <a:latin typeface="游ゴシック" panose="020B0400000000000000" pitchFamily="50" charset="-128"/>
              </a:rPr>
              <a:t>交互作用あり</a:t>
            </a:r>
            <a:endParaRPr kumimoji="1" lang="en-US" altLang="ja-JP" sz="1400" b="1" dirty="0">
              <a:solidFill>
                <a:srgbClr val="C00000"/>
              </a:solidFill>
              <a:latin typeface="游ゴシック" panose="020B0400000000000000" pitchFamily="50" charset="-128"/>
            </a:endParaRPr>
          </a:p>
        </p:txBody>
      </p:sp>
      <p:cxnSp>
        <p:nvCxnSpPr>
          <p:cNvPr id="49" name="直線矢印コネクタ 48">
            <a:extLst>
              <a:ext uri="{FF2B5EF4-FFF2-40B4-BE49-F238E27FC236}">
                <a16:creationId xmlns:a16="http://schemas.microsoft.com/office/drawing/2014/main" id="{361388CA-246F-5DB5-85B0-1F0F4704C82B}"/>
              </a:ext>
            </a:extLst>
          </p:cNvPr>
          <p:cNvCxnSpPr>
            <a:cxnSpLocks/>
          </p:cNvCxnSpPr>
          <p:nvPr/>
        </p:nvCxnSpPr>
        <p:spPr>
          <a:xfrm flipH="1">
            <a:off x="5507832" y="6067088"/>
            <a:ext cx="899999" cy="249630"/>
          </a:xfrm>
          <a:prstGeom prst="straightConnector1">
            <a:avLst/>
          </a:prstGeom>
          <a:ln w="635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50" name="直線矢印コネクタ 49">
            <a:extLst>
              <a:ext uri="{FF2B5EF4-FFF2-40B4-BE49-F238E27FC236}">
                <a16:creationId xmlns:a16="http://schemas.microsoft.com/office/drawing/2014/main" id="{BF7C9E2A-7419-0750-83F2-7D5A06D7CD59}"/>
              </a:ext>
            </a:extLst>
          </p:cNvPr>
          <p:cNvCxnSpPr>
            <a:cxnSpLocks/>
          </p:cNvCxnSpPr>
          <p:nvPr/>
        </p:nvCxnSpPr>
        <p:spPr>
          <a:xfrm flipH="1" flipV="1">
            <a:off x="6606879" y="3875765"/>
            <a:ext cx="438127" cy="306768"/>
          </a:xfrm>
          <a:prstGeom prst="straightConnector1">
            <a:avLst/>
          </a:prstGeom>
          <a:ln w="635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53" name="直線矢印コネクタ 52">
            <a:extLst>
              <a:ext uri="{FF2B5EF4-FFF2-40B4-BE49-F238E27FC236}">
                <a16:creationId xmlns:a16="http://schemas.microsoft.com/office/drawing/2014/main" id="{69026413-6440-EE2C-5C22-0E40704EC104}"/>
              </a:ext>
            </a:extLst>
          </p:cNvPr>
          <p:cNvCxnSpPr>
            <a:cxnSpLocks/>
          </p:cNvCxnSpPr>
          <p:nvPr/>
        </p:nvCxnSpPr>
        <p:spPr>
          <a:xfrm flipH="1" flipV="1">
            <a:off x="6155195" y="3521215"/>
            <a:ext cx="522687" cy="62488"/>
          </a:xfrm>
          <a:prstGeom prst="straightConnector1">
            <a:avLst/>
          </a:prstGeom>
          <a:ln w="635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56" name="直線矢印コネクタ 55">
            <a:extLst>
              <a:ext uri="{FF2B5EF4-FFF2-40B4-BE49-F238E27FC236}">
                <a16:creationId xmlns:a16="http://schemas.microsoft.com/office/drawing/2014/main" id="{7E3684B5-53EA-8D42-306D-5026BFCDE08D}"/>
              </a:ext>
            </a:extLst>
          </p:cNvPr>
          <p:cNvCxnSpPr>
            <a:cxnSpLocks/>
          </p:cNvCxnSpPr>
          <p:nvPr/>
        </p:nvCxnSpPr>
        <p:spPr>
          <a:xfrm flipH="1" flipV="1">
            <a:off x="6499868" y="2977595"/>
            <a:ext cx="253233" cy="134795"/>
          </a:xfrm>
          <a:prstGeom prst="straightConnector1">
            <a:avLst/>
          </a:prstGeom>
          <a:ln w="635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4174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DEC96-1201-21FF-1836-E4D8B40C4059}"/>
            </a:ext>
          </a:extLst>
        </p:cNvPr>
        <p:cNvGrpSpPr/>
        <p:nvPr/>
      </p:nvGrpSpPr>
      <p:grpSpPr>
        <a:xfrm>
          <a:off x="0" y="0"/>
          <a:ext cx="0" cy="0"/>
          <a:chOff x="0" y="0"/>
          <a:chExt cx="0" cy="0"/>
        </a:xfrm>
      </p:grpSpPr>
      <p:pic>
        <p:nvPicPr>
          <p:cNvPr id="5" name="グラフィックス 4">
            <a:extLst>
              <a:ext uri="{FF2B5EF4-FFF2-40B4-BE49-F238E27FC236}">
                <a16:creationId xmlns:a16="http://schemas.microsoft.com/office/drawing/2014/main" id="{575D36CF-E126-DC3E-1735-C7860D5C128B}"/>
              </a:ext>
            </a:extLst>
          </p:cNvPr>
          <p:cNvPicPr>
            <a:picLocks noChangeAspect="1"/>
          </p:cNvPicPr>
          <p:nvPr/>
        </p:nvPicPr>
        <p:blipFill>
          <a:blip r:embed="rId3">
            <a:extLst>
              <a:ext uri="{96DAC541-7B7A-43D3-8B79-37D633B846F1}">
                <asvg:svgBlip xmlns:asvg="http://schemas.microsoft.com/office/drawing/2016/SVG/main" r:embed="rId4"/>
              </a:ext>
            </a:extLst>
          </a:blip>
          <a:srcRect l="2780" t="704" r="986" b="1765"/>
          <a:stretch>
            <a:fillRect/>
          </a:stretch>
        </p:blipFill>
        <p:spPr>
          <a:xfrm rot="5400000">
            <a:off x="3407215" y="1254348"/>
            <a:ext cx="5397465" cy="5140897"/>
          </a:xfrm>
          <a:prstGeom prst="rect">
            <a:avLst/>
          </a:prstGeom>
        </p:spPr>
      </p:pic>
      <p:sp>
        <p:nvSpPr>
          <p:cNvPr id="2" name="スライド番号プレースホルダー 1">
            <a:extLst>
              <a:ext uri="{FF2B5EF4-FFF2-40B4-BE49-F238E27FC236}">
                <a16:creationId xmlns:a16="http://schemas.microsoft.com/office/drawing/2014/main" id="{184264FE-0F08-8BB1-3AE6-96E152BEA92B}"/>
              </a:ext>
            </a:extLst>
          </p:cNvPr>
          <p:cNvSpPr>
            <a:spLocks noGrp="1"/>
          </p:cNvSpPr>
          <p:nvPr>
            <p:ph type="sldNum" sz="quarter" idx="12"/>
          </p:nvPr>
        </p:nvSpPr>
        <p:spPr/>
        <p:txBody>
          <a:bodyPr/>
          <a:lstStyle/>
          <a:p>
            <a:fld id="{18020408-E1FF-429E-A8D5-EB2A190A0D77}" type="slidenum">
              <a:rPr kumimoji="1" lang="ja-JP" altLang="en-US" smtClean="0"/>
              <a:pPr/>
              <a:t>25</a:t>
            </a:fld>
            <a:endParaRPr kumimoji="1" lang="ja-JP" altLang="en-US" sz="2400" dirty="0"/>
          </a:p>
        </p:txBody>
      </p:sp>
      <p:sp>
        <p:nvSpPr>
          <p:cNvPr id="3" name="タイトル 2">
            <a:extLst>
              <a:ext uri="{FF2B5EF4-FFF2-40B4-BE49-F238E27FC236}">
                <a16:creationId xmlns:a16="http://schemas.microsoft.com/office/drawing/2014/main" id="{105617EE-2DAC-49B9-DA40-1759499F0A90}"/>
              </a:ext>
            </a:extLst>
          </p:cNvPr>
          <p:cNvSpPr>
            <a:spLocks noGrp="1"/>
          </p:cNvSpPr>
          <p:nvPr>
            <p:ph type="title"/>
          </p:nvPr>
        </p:nvSpPr>
        <p:spPr/>
        <p:txBody>
          <a:bodyPr/>
          <a:lstStyle/>
          <a:p>
            <a:r>
              <a:rPr lang="ja-JP" altLang="en-US" sz="3600" dirty="0"/>
              <a:t>結果：</a:t>
            </a:r>
            <a:r>
              <a:rPr lang="en-US" altLang="ja-JP" sz="3600" dirty="0"/>
              <a:t>LLM</a:t>
            </a:r>
            <a:r>
              <a:rPr lang="ja-JP" altLang="en-US" sz="3600" dirty="0"/>
              <a:t>の認識について</a:t>
            </a:r>
            <a:endParaRPr kumimoji="1" lang="ja-JP" altLang="en-US" sz="3600" dirty="0"/>
          </a:p>
        </p:txBody>
      </p:sp>
      <p:sp>
        <p:nvSpPr>
          <p:cNvPr id="7" name="テキスト ボックス 6">
            <a:extLst>
              <a:ext uri="{FF2B5EF4-FFF2-40B4-BE49-F238E27FC236}">
                <a16:creationId xmlns:a16="http://schemas.microsoft.com/office/drawing/2014/main" id="{EE28D68F-3606-67ED-4B82-C7EBB784228F}"/>
              </a:ext>
            </a:extLst>
          </p:cNvPr>
          <p:cNvSpPr txBox="1"/>
          <p:nvPr/>
        </p:nvSpPr>
        <p:spPr>
          <a:xfrm>
            <a:off x="3386148" y="6316718"/>
            <a:ext cx="317716" cy="369332"/>
          </a:xfrm>
          <a:prstGeom prst="rect">
            <a:avLst/>
          </a:prstGeom>
          <a:noFill/>
        </p:spPr>
        <p:txBody>
          <a:bodyPr wrap="none" rtlCol="0">
            <a:spAutoFit/>
          </a:bodyPr>
          <a:lstStyle/>
          <a:p>
            <a:r>
              <a:rPr kumimoji="1" lang="en-US" altLang="ja-JP" b="1" dirty="0">
                <a:latin typeface="+mn-ea"/>
              </a:rPr>
              <a:t>0</a:t>
            </a:r>
            <a:endParaRPr kumimoji="1" lang="ja-JP" altLang="en-US" b="1" dirty="0">
              <a:latin typeface="+mn-ea"/>
            </a:endParaRPr>
          </a:p>
        </p:txBody>
      </p:sp>
      <p:sp>
        <p:nvSpPr>
          <p:cNvPr id="9" name="テキスト ボックス 8">
            <a:extLst>
              <a:ext uri="{FF2B5EF4-FFF2-40B4-BE49-F238E27FC236}">
                <a16:creationId xmlns:a16="http://schemas.microsoft.com/office/drawing/2014/main" id="{6148158E-D7EA-5F38-1B73-0B271207398E}"/>
              </a:ext>
            </a:extLst>
          </p:cNvPr>
          <p:cNvSpPr txBox="1"/>
          <p:nvPr/>
        </p:nvSpPr>
        <p:spPr>
          <a:xfrm>
            <a:off x="7941930" y="6316718"/>
            <a:ext cx="318867" cy="369332"/>
          </a:xfrm>
          <a:prstGeom prst="rect">
            <a:avLst/>
          </a:prstGeom>
          <a:noFill/>
        </p:spPr>
        <p:txBody>
          <a:bodyPr wrap="square">
            <a:spAutoFit/>
          </a:bodyPr>
          <a:lstStyle/>
          <a:p>
            <a:r>
              <a:rPr kumimoji="1" lang="en-US" altLang="ja-JP" b="1" dirty="0">
                <a:latin typeface="+mn-ea"/>
              </a:rPr>
              <a:t>9</a:t>
            </a:r>
            <a:endParaRPr kumimoji="1" lang="ja-JP" altLang="en-US" b="1" dirty="0">
              <a:latin typeface="+mn-ea"/>
            </a:endParaRPr>
          </a:p>
        </p:txBody>
      </p:sp>
      <p:sp>
        <p:nvSpPr>
          <p:cNvPr id="11" name="テキスト ボックス 10">
            <a:extLst>
              <a:ext uri="{FF2B5EF4-FFF2-40B4-BE49-F238E27FC236}">
                <a16:creationId xmlns:a16="http://schemas.microsoft.com/office/drawing/2014/main" id="{527F279A-44F2-2F9F-B3B0-308B0A1E8DD4}"/>
              </a:ext>
            </a:extLst>
          </p:cNvPr>
          <p:cNvSpPr txBox="1"/>
          <p:nvPr/>
        </p:nvSpPr>
        <p:spPr>
          <a:xfrm>
            <a:off x="7433660" y="6316718"/>
            <a:ext cx="318867" cy="369332"/>
          </a:xfrm>
          <a:prstGeom prst="rect">
            <a:avLst/>
          </a:prstGeom>
          <a:noFill/>
        </p:spPr>
        <p:txBody>
          <a:bodyPr wrap="square">
            <a:spAutoFit/>
          </a:bodyPr>
          <a:lstStyle/>
          <a:p>
            <a:r>
              <a:rPr kumimoji="1" lang="en-US" altLang="ja-JP" b="1" dirty="0">
                <a:latin typeface="+mn-ea"/>
              </a:rPr>
              <a:t>8</a:t>
            </a:r>
            <a:endParaRPr kumimoji="1" lang="ja-JP" altLang="en-US" b="1" dirty="0">
              <a:latin typeface="+mn-ea"/>
            </a:endParaRPr>
          </a:p>
        </p:txBody>
      </p:sp>
      <p:sp>
        <p:nvSpPr>
          <p:cNvPr id="13" name="テキスト ボックス 12">
            <a:extLst>
              <a:ext uri="{FF2B5EF4-FFF2-40B4-BE49-F238E27FC236}">
                <a16:creationId xmlns:a16="http://schemas.microsoft.com/office/drawing/2014/main" id="{92AA21B6-BD38-D932-8F2A-EF6B38E09AFF}"/>
              </a:ext>
            </a:extLst>
          </p:cNvPr>
          <p:cNvSpPr txBox="1"/>
          <p:nvPr/>
        </p:nvSpPr>
        <p:spPr>
          <a:xfrm>
            <a:off x="6925390" y="6316718"/>
            <a:ext cx="318867" cy="369332"/>
          </a:xfrm>
          <a:prstGeom prst="rect">
            <a:avLst/>
          </a:prstGeom>
          <a:noFill/>
        </p:spPr>
        <p:txBody>
          <a:bodyPr wrap="square">
            <a:spAutoFit/>
          </a:bodyPr>
          <a:lstStyle/>
          <a:p>
            <a:r>
              <a:rPr kumimoji="1" lang="en-US" altLang="ja-JP" b="1" dirty="0">
                <a:latin typeface="+mn-ea"/>
              </a:rPr>
              <a:t>7</a:t>
            </a:r>
            <a:endParaRPr kumimoji="1" lang="ja-JP" altLang="en-US" b="1" dirty="0">
              <a:latin typeface="+mn-ea"/>
            </a:endParaRPr>
          </a:p>
        </p:txBody>
      </p:sp>
      <p:sp>
        <p:nvSpPr>
          <p:cNvPr id="15" name="テキスト ボックス 14">
            <a:extLst>
              <a:ext uri="{FF2B5EF4-FFF2-40B4-BE49-F238E27FC236}">
                <a16:creationId xmlns:a16="http://schemas.microsoft.com/office/drawing/2014/main" id="{767A3514-267A-B3E9-1417-80D3A2071ABB}"/>
              </a:ext>
            </a:extLst>
          </p:cNvPr>
          <p:cNvSpPr txBox="1"/>
          <p:nvPr/>
        </p:nvSpPr>
        <p:spPr>
          <a:xfrm>
            <a:off x="6425004" y="6316718"/>
            <a:ext cx="318867" cy="369332"/>
          </a:xfrm>
          <a:prstGeom prst="rect">
            <a:avLst/>
          </a:prstGeom>
          <a:noFill/>
        </p:spPr>
        <p:txBody>
          <a:bodyPr wrap="square">
            <a:spAutoFit/>
          </a:bodyPr>
          <a:lstStyle/>
          <a:p>
            <a:r>
              <a:rPr kumimoji="1" lang="en-US" altLang="ja-JP" b="1" dirty="0">
                <a:latin typeface="+mn-ea"/>
              </a:rPr>
              <a:t>6</a:t>
            </a:r>
            <a:endParaRPr kumimoji="1" lang="ja-JP" altLang="en-US" b="1" dirty="0">
              <a:latin typeface="+mn-ea"/>
            </a:endParaRPr>
          </a:p>
        </p:txBody>
      </p:sp>
      <p:sp>
        <p:nvSpPr>
          <p:cNvPr id="17" name="テキスト ボックス 16">
            <a:extLst>
              <a:ext uri="{FF2B5EF4-FFF2-40B4-BE49-F238E27FC236}">
                <a16:creationId xmlns:a16="http://schemas.microsoft.com/office/drawing/2014/main" id="{1D79F8BC-E5CD-5843-1649-40B0AEE1CA3B}"/>
              </a:ext>
            </a:extLst>
          </p:cNvPr>
          <p:cNvSpPr txBox="1"/>
          <p:nvPr/>
        </p:nvSpPr>
        <p:spPr>
          <a:xfrm>
            <a:off x="5913694" y="6316718"/>
            <a:ext cx="281666" cy="369332"/>
          </a:xfrm>
          <a:prstGeom prst="rect">
            <a:avLst/>
          </a:prstGeom>
          <a:noFill/>
        </p:spPr>
        <p:txBody>
          <a:bodyPr wrap="square">
            <a:spAutoFit/>
          </a:bodyPr>
          <a:lstStyle/>
          <a:p>
            <a:r>
              <a:rPr kumimoji="1" lang="en-US" altLang="ja-JP" b="1" dirty="0">
                <a:latin typeface="+mn-ea"/>
              </a:rPr>
              <a:t>5</a:t>
            </a:r>
            <a:endParaRPr kumimoji="1" lang="ja-JP" altLang="en-US" b="1" dirty="0">
              <a:latin typeface="+mn-ea"/>
            </a:endParaRPr>
          </a:p>
        </p:txBody>
      </p:sp>
      <p:sp>
        <p:nvSpPr>
          <p:cNvPr id="19" name="テキスト ボックス 18">
            <a:extLst>
              <a:ext uri="{FF2B5EF4-FFF2-40B4-BE49-F238E27FC236}">
                <a16:creationId xmlns:a16="http://schemas.microsoft.com/office/drawing/2014/main" id="{D4432052-6A21-24BD-F5D6-0C63A57231F8}"/>
              </a:ext>
            </a:extLst>
          </p:cNvPr>
          <p:cNvSpPr txBox="1"/>
          <p:nvPr/>
        </p:nvSpPr>
        <p:spPr>
          <a:xfrm>
            <a:off x="5407164" y="6316718"/>
            <a:ext cx="315386" cy="369332"/>
          </a:xfrm>
          <a:prstGeom prst="rect">
            <a:avLst/>
          </a:prstGeom>
          <a:noFill/>
        </p:spPr>
        <p:txBody>
          <a:bodyPr wrap="square">
            <a:spAutoFit/>
          </a:bodyPr>
          <a:lstStyle/>
          <a:p>
            <a:r>
              <a:rPr kumimoji="1" lang="en-US" altLang="ja-JP" b="1" dirty="0">
                <a:latin typeface="+mn-ea"/>
              </a:rPr>
              <a:t>4</a:t>
            </a:r>
            <a:endParaRPr kumimoji="1" lang="ja-JP" altLang="en-US" b="1" dirty="0">
              <a:latin typeface="+mn-ea"/>
            </a:endParaRPr>
          </a:p>
        </p:txBody>
      </p:sp>
      <p:sp>
        <p:nvSpPr>
          <p:cNvPr id="21" name="テキスト ボックス 20">
            <a:extLst>
              <a:ext uri="{FF2B5EF4-FFF2-40B4-BE49-F238E27FC236}">
                <a16:creationId xmlns:a16="http://schemas.microsoft.com/office/drawing/2014/main" id="{63F9193C-DB6D-D7A2-39CA-31A3DEB85131}"/>
              </a:ext>
            </a:extLst>
          </p:cNvPr>
          <p:cNvSpPr txBox="1"/>
          <p:nvPr/>
        </p:nvSpPr>
        <p:spPr>
          <a:xfrm>
            <a:off x="4900634" y="6316718"/>
            <a:ext cx="315386" cy="369332"/>
          </a:xfrm>
          <a:prstGeom prst="rect">
            <a:avLst/>
          </a:prstGeom>
          <a:noFill/>
        </p:spPr>
        <p:txBody>
          <a:bodyPr wrap="square">
            <a:spAutoFit/>
          </a:bodyPr>
          <a:lstStyle/>
          <a:p>
            <a:r>
              <a:rPr kumimoji="1" lang="en-US" altLang="ja-JP" b="1" dirty="0">
                <a:latin typeface="+mn-ea"/>
              </a:rPr>
              <a:t>3</a:t>
            </a:r>
            <a:endParaRPr kumimoji="1" lang="ja-JP" altLang="en-US" b="1" dirty="0">
              <a:latin typeface="+mn-ea"/>
            </a:endParaRPr>
          </a:p>
        </p:txBody>
      </p:sp>
      <p:sp>
        <p:nvSpPr>
          <p:cNvPr id="23" name="テキスト ボックス 22">
            <a:extLst>
              <a:ext uri="{FF2B5EF4-FFF2-40B4-BE49-F238E27FC236}">
                <a16:creationId xmlns:a16="http://schemas.microsoft.com/office/drawing/2014/main" id="{4FA798F8-96D4-609F-E33D-D13CFD1AC4C1}"/>
              </a:ext>
            </a:extLst>
          </p:cNvPr>
          <p:cNvSpPr txBox="1"/>
          <p:nvPr/>
        </p:nvSpPr>
        <p:spPr>
          <a:xfrm>
            <a:off x="4439504" y="6316718"/>
            <a:ext cx="315386" cy="369332"/>
          </a:xfrm>
          <a:prstGeom prst="rect">
            <a:avLst/>
          </a:prstGeom>
          <a:noFill/>
        </p:spPr>
        <p:txBody>
          <a:bodyPr wrap="square">
            <a:spAutoFit/>
          </a:bodyPr>
          <a:lstStyle/>
          <a:p>
            <a:r>
              <a:rPr kumimoji="1" lang="en-US" altLang="ja-JP" b="1" dirty="0">
                <a:latin typeface="+mn-ea"/>
              </a:rPr>
              <a:t>2</a:t>
            </a:r>
            <a:endParaRPr kumimoji="1" lang="ja-JP" altLang="en-US" b="1" dirty="0">
              <a:latin typeface="+mn-ea"/>
            </a:endParaRPr>
          </a:p>
        </p:txBody>
      </p:sp>
      <p:sp>
        <p:nvSpPr>
          <p:cNvPr id="25" name="テキスト ボックス 24">
            <a:extLst>
              <a:ext uri="{FF2B5EF4-FFF2-40B4-BE49-F238E27FC236}">
                <a16:creationId xmlns:a16="http://schemas.microsoft.com/office/drawing/2014/main" id="{D3D4576E-8101-5ED4-F7E1-11D6F5140CB1}"/>
              </a:ext>
            </a:extLst>
          </p:cNvPr>
          <p:cNvSpPr txBox="1"/>
          <p:nvPr/>
        </p:nvSpPr>
        <p:spPr>
          <a:xfrm>
            <a:off x="3875385" y="6316718"/>
            <a:ext cx="315386" cy="369332"/>
          </a:xfrm>
          <a:prstGeom prst="rect">
            <a:avLst/>
          </a:prstGeom>
          <a:noFill/>
        </p:spPr>
        <p:txBody>
          <a:bodyPr wrap="square">
            <a:spAutoFit/>
          </a:bodyPr>
          <a:lstStyle/>
          <a:p>
            <a:r>
              <a:rPr kumimoji="1" lang="en-US" altLang="ja-JP" b="1" dirty="0">
                <a:latin typeface="+mn-ea"/>
              </a:rPr>
              <a:t>1</a:t>
            </a:r>
            <a:endParaRPr kumimoji="1" lang="ja-JP" altLang="en-US" b="1" dirty="0">
              <a:latin typeface="+mn-ea"/>
            </a:endParaRPr>
          </a:p>
        </p:txBody>
      </p:sp>
      <p:sp>
        <p:nvSpPr>
          <p:cNvPr id="26" name="テキスト ボックス 25">
            <a:extLst>
              <a:ext uri="{FF2B5EF4-FFF2-40B4-BE49-F238E27FC236}">
                <a16:creationId xmlns:a16="http://schemas.microsoft.com/office/drawing/2014/main" id="{97EA3F7D-E825-A861-A7A6-97EA5B3AE7AF}"/>
              </a:ext>
            </a:extLst>
          </p:cNvPr>
          <p:cNvSpPr txBox="1"/>
          <p:nvPr/>
        </p:nvSpPr>
        <p:spPr>
          <a:xfrm>
            <a:off x="8375205" y="6316718"/>
            <a:ext cx="489933" cy="369332"/>
          </a:xfrm>
          <a:prstGeom prst="rect">
            <a:avLst/>
          </a:prstGeom>
          <a:noFill/>
        </p:spPr>
        <p:txBody>
          <a:bodyPr wrap="square">
            <a:spAutoFit/>
          </a:bodyPr>
          <a:lstStyle/>
          <a:p>
            <a:r>
              <a:rPr kumimoji="1" lang="en-US" altLang="ja-JP" b="1" dirty="0">
                <a:latin typeface="+mn-ea"/>
              </a:rPr>
              <a:t>10</a:t>
            </a:r>
            <a:endParaRPr kumimoji="1" lang="ja-JP" altLang="en-US" b="1" dirty="0">
              <a:latin typeface="+mn-ea"/>
            </a:endParaRPr>
          </a:p>
        </p:txBody>
      </p:sp>
      <p:sp>
        <p:nvSpPr>
          <p:cNvPr id="27" name="テキスト ボックス 1">
            <a:extLst>
              <a:ext uri="{FF2B5EF4-FFF2-40B4-BE49-F238E27FC236}">
                <a16:creationId xmlns:a16="http://schemas.microsoft.com/office/drawing/2014/main" id="{D2FC4D39-5236-4B66-91FB-6E2BBE29850C}"/>
              </a:ext>
            </a:extLst>
          </p:cNvPr>
          <p:cNvSpPr txBox="1"/>
          <p:nvPr/>
        </p:nvSpPr>
        <p:spPr>
          <a:xfrm>
            <a:off x="323476" y="1070754"/>
            <a:ext cx="5991539" cy="5452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t">
              <a:lnSpc>
                <a:spcPts val="2200"/>
              </a:lnSpc>
            </a:pPr>
            <a:r>
              <a:rPr kumimoji="1" lang="en-US" altLang="ja-JP" sz="1400" b="1" dirty="0">
                <a:latin typeface="游ゴシック" panose="020B0400000000000000" pitchFamily="50" charset="-128"/>
              </a:rPr>
              <a:t>Q1 AI </a:t>
            </a:r>
            <a:r>
              <a:rPr kumimoji="1" lang="ja-JP" altLang="en-US" sz="1400" b="1" dirty="0">
                <a:latin typeface="游ゴシック" panose="020B0400000000000000" pitchFamily="50" charset="-128"/>
              </a:rPr>
              <a:t>は人間らしい振る舞いをする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Q2 AI </a:t>
            </a:r>
            <a:r>
              <a:rPr kumimoji="1" lang="ja-JP" altLang="en-US" sz="1400" b="1" dirty="0">
                <a:latin typeface="游ゴシック" panose="020B0400000000000000" pitchFamily="50" charset="-128"/>
              </a:rPr>
              <a:t>は生き物のように反応する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Q3 AI </a:t>
            </a:r>
            <a:r>
              <a:rPr kumimoji="1" lang="ja-JP" altLang="en-US" sz="1400" b="1" dirty="0">
                <a:latin typeface="游ゴシック" panose="020B0400000000000000" pitchFamily="50" charset="-128"/>
              </a:rPr>
              <a:t>は利用しやすい</a:t>
            </a:r>
            <a:endParaRPr kumimoji="1" lang="en-US" altLang="ja-JP" sz="1400" b="1" dirty="0">
              <a:latin typeface="游ゴシック" panose="020B0400000000000000" pitchFamily="50" charset="-128"/>
            </a:endParaRPr>
          </a:p>
          <a:p>
            <a:pPr fontAlgn="t">
              <a:lnSpc>
                <a:spcPts val="2200"/>
              </a:lnSpc>
            </a:pPr>
            <a:r>
              <a:rPr kumimoji="1" lang="en-US" altLang="ja-JP" sz="1400" b="1" dirty="0">
                <a:solidFill>
                  <a:srgbClr val="C00000"/>
                </a:solidFill>
                <a:latin typeface="游ゴシック" panose="020B0400000000000000" pitchFamily="50" charset="-128"/>
              </a:rPr>
              <a:t>Q4 AI </a:t>
            </a:r>
            <a:r>
              <a:rPr kumimoji="1" lang="ja-JP" altLang="en-US" sz="1400" b="1" dirty="0">
                <a:solidFill>
                  <a:srgbClr val="C00000"/>
                </a:solidFill>
                <a:latin typeface="游ゴシック" panose="020B0400000000000000" pitchFamily="50" charset="-128"/>
              </a:rPr>
              <a:t>は作業をうまく行う</a:t>
            </a:r>
            <a:endParaRPr kumimoji="1" lang="en-US" altLang="ja-JP" sz="1400" b="1" dirty="0">
              <a:solidFill>
                <a:srgbClr val="C00000"/>
              </a:solidFill>
              <a:latin typeface="游ゴシック" panose="020B0400000000000000" pitchFamily="50" charset="-128"/>
            </a:endParaRPr>
          </a:p>
          <a:p>
            <a:pPr fontAlgn="t">
              <a:lnSpc>
                <a:spcPts val="2200"/>
              </a:lnSpc>
            </a:pPr>
            <a:r>
              <a:rPr kumimoji="1" lang="en-US" altLang="ja-JP" sz="1400" b="1" dirty="0">
                <a:solidFill>
                  <a:srgbClr val="C00000"/>
                </a:solidFill>
                <a:latin typeface="游ゴシック" panose="020B0400000000000000" pitchFamily="50" charset="-128"/>
              </a:rPr>
              <a:t>Q5 AI </a:t>
            </a:r>
            <a:r>
              <a:rPr kumimoji="1" lang="ja-JP" altLang="en-US" sz="1400" b="1" dirty="0">
                <a:solidFill>
                  <a:srgbClr val="C00000"/>
                </a:solidFill>
                <a:latin typeface="游ゴシック" panose="020B0400000000000000" pitchFamily="50" charset="-128"/>
              </a:rPr>
              <a:t>は好感が持てる</a:t>
            </a:r>
            <a:endParaRPr kumimoji="1" lang="en-US" altLang="ja-JP" sz="1400" b="1" dirty="0">
              <a:solidFill>
                <a:srgbClr val="C00000"/>
              </a:solidFill>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Q6 AI </a:t>
            </a:r>
            <a:r>
              <a:rPr kumimoji="1" lang="ja-JP" altLang="en-US" sz="1400" b="1" dirty="0">
                <a:latin typeface="游ゴシック" panose="020B0400000000000000" pitchFamily="50" charset="-128"/>
              </a:rPr>
              <a:t>は社会に馴染むことができる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Q7 AI </a:t>
            </a:r>
            <a:r>
              <a:rPr kumimoji="1" lang="ja-JP" altLang="en-US" sz="1400" b="1" dirty="0">
                <a:latin typeface="游ゴシック" panose="020B0400000000000000" pitchFamily="50" charset="-128"/>
              </a:rPr>
              <a:t>には独自の個性がある</a:t>
            </a:r>
            <a:endParaRPr kumimoji="1" lang="en-US" altLang="ja-JP" sz="1400" b="1" dirty="0">
              <a:latin typeface="游ゴシック" panose="020B0400000000000000" pitchFamily="50" charset="-128"/>
            </a:endParaRPr>
          </a:p>
          <a:p>
            <a:pPr fontAlgn="t">
              <a:lnSpc>
                <a:spcPts val="2200"/>
              </a:lnSpc>
            </a:pPr>
            <a:r>
              <a:rPr kumimoji="1" lang="en-US" altLang="ja-JP" sz="1400" b="1" dirty="0">
                <a:solidFill>
                  <a:srgbClr val="C00000"/>
                </a:solidFill>
                <a:latin typeface="游ゴシック" panose="020B0400000000000000" pitchFamily="50" charset="-128"/>
              </a:rPr>
              <a:t>Q8 </a:t>
            </a:r>
            <a:r>
              <a:rPr kumimoji="1" lang="ja-JP" altLang="en-US" sz="1400" b="1" dirty="0">
                <a:solidFill>
                  <a:srgbClr val="C00000"/>
                </a:solidFill>
                <a:latin typeface="游ゴシック" panose="020B0400000000000000" pitchFamily="50" charset="-128"/>
              </a:rPr>
              <a:t>将来またこの </a:t>
            </a:r>
            <a:r>
              <a:rPr kumimoji="1" lang="en-US" altLang="ja-JP" sz="1400" b="1" dirty="0">
                <a:solidFill>
                  <a:srgbClr val="C00000"/>
                </a:solidFill>
                <a:latin typeface="游ゴシック" panose="020B0400000000000000" pitchFamily="50" charset="-128"/>
              </a:rPr>
              <a:t>AI </a:t>
            </a:r>
            <a:r>
              <a:rPr kumimoji="1" lang="ja-JP" altLang="en-US" sz="1400" b="1" dirty="0">
                <a:solidFill>
                  <a:srgbClr val="C00000"/>
                </a:solidFill>
                <a:latin typeface="游ゴシック" panose="020B0400000000000000" pitchFamily="50" charset="-128"/>
              </a:rPr>
              <a:t>を利用したいと思う</a:t>
            </a:r>
            <a:endParaRPr kumimoji="1" lang="en-US" altLang="ja-JP" sz="1400" b="1" dirty="0">
              <a:solidFill>
                <a:srgbClr val="C00000"/>
              </a:solidFill>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Q9 AI </a:t>
            </a:r>
            <a:r>
              <a:rPr kumimoji="1" lang="ja-JP" altLang="en-US" sz="1400" b="1" dirty="0">
                <a:latin typeface="游ゴシック" panose="020B0400000000000000" pitchFamily="50" charset="-128"/>
              </a:rPr>
              <a:t>の言動は見ていて楽しい</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Q10 AI </a:t>
            </a:r>
            <a:r>
              <a:rPr kumimoji="1" lang="ja-JP" altLang="en-US" sz="1400" b="1" dirty="0">
                <a:latin typeface="游ゴシック" panose="020B0400000000000000" pitchFamily="50" charset="-128"/>
              </a:rPr>
              <a:t>とのやりとりは注意を引く</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Q11 AI </a:t>
            </a:r>
            <a:r>
              <a:rPr kumimoji="1" lang="ja-JP" altLang="en-US" sz="1400" b="1" dirty="0">
                <a:latin typeface="游ゴシック" panose="020B0400000000000000" pitchFamily="50" charset="-128"/>
              </a:rPr>
              <a:t>は信頼できる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Q12 AI </a:t>
            </a:r>
            <a:r>
              <a:rPr kumimoji="1" lang="ja-JP" altLang="en-US" sz="1400" b="1" dirty="0">
                <a:latin typeface="游ゴシック" panose="020B0400000000000000" pitchFamily="50" charset="-128"/>
              </a:rPr>
              <a:t>と協力して作業を行うことができる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Q13 AI </a:t>
            </a:r>
            <a:r>
              <a:rPr kumimoji="1" lang="ja-JP" altLang="en-US" sz="1400" b="1" dirty="0">
                <a:latin typeface="游ゴシック" panose="020B0400000000000000" pitchFamily="50" charset="-128"/>
              </a:rPr>
              <a:t>は気を配っている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Q14 AI </a:t>
            </a:r>
            <a:r>
              <a:rPr kumimoji="1" lang="ja-JP" altLang="en-US" sz="1400" b="1" dirty="0">
                <a:latin typeface="游ゴシック" panose="020B0400000000000000" pitchFamily="50" charset="-128"/>
              </a:rPr>
              <a:t>の言動は合理的である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Q15 AI </a:t>
            </a:r>
            <a:r>
              <a:rPr kumimoji="1" lang="ja-JP" altLang="en-US" sz="1400" b="1" dirty="0">
                <a:latin typeface="游ゴシック" panose="020B0400000000000000" pitchFamily="50" charset="-128"/>
              </a:rPr>
              <a:t>の言動には意図がある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Q16 AI </a:t>
            </a:r>
            <a:r>
              <a:rPr kumimoji="1" lang="ja-JP" altLang="en-US" sz="1400" b="1" dirty="0">
                <a:latin typeface="游ゴシック" panose="020B0400000000000000" pitchFamily="50" charset="-128"/>
              </a:rPr>
              <a:t>とのやりとりを好意的に受け止めている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Q17 AI </a:t>
            </a:r>
            <a:r>
              <a:rPr kumimoji="1" lang="ja-JP" altLang="en-US" sz="1400" b="1" dirty="0">
                <a:latin typeface="游ゴシック" panose="020B0400000000000000" pitchFamily="50" charset="-128"/>
              </a:rPr>
              <a:t>は社会的な存在感がある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Q18 </a:t>
            </a:r>
            <a:r>
              <a:rPr kumimoji="1" lang="ja-JP" altLang="en-US" sz="1400" b="1" dirty="0">
                <a:latin typeface="游ゴシック" panose="020B0400000000000000" pitchFamily="50" charset="-128"/>
              </a:rPr>
              <a:t>多くの人はこの </a:t>
            </a:r>
            <a:r>
              <a:rPr kumimoji="1" lang="en-US" altLang="ja-JP" sz="1400" b="1" dirty="0">
                <a:latin typeface="游ゴシック" panose="020B0400000000000000" pitchFamily="50" charset="-128"/>
              </a:rPr>
              <a:t>AI </a:t>
            </a:r>
            <a:r>
              <a:rPr kumimoji="1" lang="ja-JP" altLang="en-US" sz="1400" b="1" dirty="0">
                <a:latin typeface="游ゴシック" panose="020B0400000000000000" pitchFamily="50" charset="-128"/>
              </a:rPr>
              <a:t>を使うことを勧めると思う</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Q19 AI </a:t>
            </a:r>
            <a:r>
              <a:rPr kumimoji="1" lang="ja-JP" altLang="en-US" sz="1400" b="1" dirty="0">
                <a:latin typeface="游ゴシック" panose="020B0400000000000000" pitchFamily="50" charset="-128"/>
              </a:rPr>
              <a:t>には感情がある</a:t>
            </a:r>
            <a:endParaRPr kumimoji="1" lang="ja-JP" altLang="en-US" sz="1400" b="1" i="0" u="none" strike="noStrike" kern="1200" dirty="0">
              <a:effectLst/>
              <a:latin typeface="游ゴシック" panose="020B0400000000000000" pitchFamily="50" charset="-128"/>
              <a:ea typeface="游ゴシック" panose="020B0400000000000000" pitchFamily="50" charset="-128"/>
            </a:endParaRPr>
          </a:p>
        </p:txBody>
      </p:sp>
      <p:grpSp>
        <p:nvGrpSpPr>
          <p:cNvPr id="39" name="グループ化 38">
            <a:extLst>
              <a:ext uri="{FF2B5EF4-FFF2-40B4-BE49-F238E27FC236}">
                <a16:creationId xmlns:a16="http://schemas.microsoft.com/office/drawing/2014/main" id="{F1BF6CD3-5D4F-F569-B574-0193BFD840A2}"/>
              </a:ext>
            </a:extLst>
          </p:cNvPr>
          <p:cNvGrpSpPr/>
          <p:nvPr/>
        </p:nvGrpSpPr>
        <p:grpSpPr>
          <a:xfrm>
            <a:off x="6944338" y="1192698"/>
            <a:ext cx="2035744" cy="1497844"/>
            <a:chOff x="7115473" y="4650382"/>
            <a:chExt cx="2035744" cy="1497844"/>
          </a:xfrm>
        </p:grpSpPr>
        <p:sp>
          <p:nvSpPr>
            <p:cNvPr id="32" name="テキスト ボックス 31">
              <a:extLst>
                <a:ext uri="{FF2B5EF4-FFF2-40B4-BE49-F238E27FC236}">
                  <a16:creationId xmlns:a16="http://schemas.microsoft.com/office/drawing/2014/main" id="{29C8D298-D170-EAAE-CD33-7DC757880049}"/>
                </a:ext>
              </a:extLst>
            </p:cNvPr>
            <p:cNvSpPr txBox="1"/>
            <p:nvPr/>
          </p:nvSpPr>
          <p:spPr>
            <a:xfrm>
              <a:off x="7115474" y="4650382"/>
              <a:ext cx="2035743" cy="374461"/>
            </a:xfrm>
            <a:prstGeom prst="rect">
              <a:avLst/>
            </a:prstGeom>
            <a:solidFill>
              <a:schemeClr val="accent1">
                <a:lumMod val="60000"/>
                <a:lumOff val="40000"/>
              </a:schemeClr>
            </a:solidFill>
          </p:spPr>
          <p:txBody>
            <a:bodyPr wrap="square">
              <a:spAutoFit/>
            </a:bodyPr>
            <a:lstStyle/>
            <a:p>
              <a:pPr fontAlgn="t">
                <a:lnSpc>
                  <a:spcPts val="2200"/>
                </a:lnSpc>
              </a:pPr>
              <a:r>
                <a:rPr kumimoji="1" lang="ja-JP" altLang="en-US" sz="1800" b="1" dirty="0">
                  <a:solidFill>
                    <a:schemeClr val="bg1"/>
                  </a:solidFill>
                  <a:latin typeface="游ゴシック" panose="020B0400000000000000" pitchFamily="50" charset="-128"/>
                </a:rPr>
                <a:t>固定・名乗りあり</a:t>
              </a:r>
              <a:endParaRPr kumimoji="1" lang="en-US" altLang="ja-JP" sz="1800" b="1" dirty="0">
                <a:solidFill>
                  <a:schemeClr val="bg1"/>
                </a:solidFill>
                <a:latin typeface="游ゴシック" panose="020B0400000000000000" pitchFamily="50" charset="-128"/>
              </a:endParaRPr>
            </a:p>
          </p:txBody>
        </p:sp>
        <p:sp>
          <p:nvSpPr>
            <p:cNvPr id="33" name="テキスト ボックス 32">
              <a:extLst>
                <a:ext uri="{FF2B5EF4-FFF2-40B4-BE49-F238E27FC236}">
                  <a16:creationId xmlns:a16="http://schemas.microsoft.com/office/drawing/2014/main" id="{EAB27563-F78B-83BA-31D2-E07932268F6B}"/>
                </a:ext>
              </a:extLst>
            </p:cNvPr>
            <p:cNvSpPr txBox="1"/>
            <p:nvPr/>
          </p:nvSpPr>
          <p:spPr>
            <a:xfrm>
              <a:off x="7115474" y="5024843"/>
              <a:ext cx="2035743" cy="374461"/>
            </a:xfrm>
            <a:prstGeom prst="rect">
              <a:avLst/>
            </a:prstGeom>
            <a:solidFill>
              <a:schemeClr val="accent6">
                <a:lumMod val="75000"/>
              </a:schemeClr>
            </a:solidFill>
          </p:spPr>
          <p:txBody>
            <a:bodyPr wrap="square">
              <a:spAutoFit/>
            </a:bodyPr>
            <a:lstStyle/>
            <a:p>
              <a:pPr fontAlgn="t">
                <a:lnSpc>
                  <a:spcPts val="2200"/>
                </a:lnSpc>
              </a:pPr>
              <a:r>
                <a:rPr kumimoji="1" lang="ja-JP" altLang="en-US" sz="1800" b="1" dirty="0">
                  <a:solidFill>
                    <a:schemeClr val="bg1"/>
                  </a:solidFill>
                  <a:latin typeface="游ゴシック" panose="020B0400000000000000" pitchFamily="50" charset="-128"/>
                </a:rPr>
                <a:t>固定・名乗りなし</a:t>
              </a:r>
              <a:endParaRPr kumimoji="1" lang="en-US" altLang="ja-JP" sz="1800" b="1" dirty="0">
                <a:solidFill>
                  <a:schemeClr val="bg1"/>
                </a:solidFill>
                <a:latin typeface="游ゴシック" panose="020B0400000000000000" pitchFamily="50" charset="-128"/>
              </a:endParaRPr>
            </a:p>
          </p:txBody>
        </p:sp>
        <p:sp>
          <p:nvSpPr>
            <p:cNvPr id="34" name="テキスト ボックス 33">
              <a:extLst>
                <a:ext uri="{FF2B5EF4-FFF2-40B4-BE49-F238E27FC236}">
                  <a16:creationId xmlns:a16="http://schemas.microsoft.com/office/drawing/2014/main" id="{70F1F200-F5EB-CD6A-C0BA-93CFA49C5F68}"/>
                </a:ext>
              </a:extLst>
            </p:cNvPr>
            <p:cNvSpPr txBox="1"/>
            <p:nvPr/>
          </p:nvSpPr>
          <p:spPr>
            <a:xfrm>
              <a:off x="7115473" y="5399304"/>
              <a:ext cx="2035743" cy="374461"/>
            </a:xfrm>
            <a:prstGeom prst="rect">
              <a:avLst/>
            </a:prstGeom>
            <a:solidFill>
              <a:schemeClr val="accent2"/>
            </a:solidFill>
          </p:spPr>
          <p:txBody>
            <a:bodyPr wrap="square">
              <a:spAutoFit/>
            </a:bodyPr>
            <a:lstStyle/>
            <a:p>
              <a:pPr fontAlgn="t">
                <a:lnSpc>
                  <a:spcPts val="2200"/>
                </a:lnSpc>
              </a:pPr>
              <a:r>
                <a:rPr kumimoji="1" lang="ja-JP" altLang="en-US" sz="1800" b="1" dirty="0">
                  <a:solidFill>
                    <a:schemeClr val="bg1"/>
                  </a:solidFill>
                  <a:latin typeface="游ゴシック" panose="020B0400000000000000" pitchFamily="50" charset="-128"/>
                </a:rPr>
                <a:t>切替・名乗りあり</a:t>
              </a:r>
              <a:endParaRPr kumimoji="1" lang="en-US" altLang="ja-JP" sz="1800" b="1" dirty="0">
                <a:solidFill>
                  <a:schemeClr val="bg1"/>
                </a:solidFill>
                <a:latin typeface="游ゴシック" panose="020B0400000000000000" pitchFamily="50" charset="-128"/>
              </a:endParaRPr>
            </a:p>
          </p:txBody>
        </p:sp>
        <p:sp>
          <p:nvSpPr>
            <p:cNvPr id="35" name="テキスト ボックス 34">
              <a:extLst>
                <a:ext uri="{FF2B5EF4-FFF2-40B4-BE49-F238E27FC236}">
                  <a16:creationId xmlns:a16="http://schemas.microsoft.com/office/drawing/2014/main" id="{8836FAC4-E061-B342-99F6-2FAA529C5784}"/>
                </a:ext>
              </a:extLst>
            </p:cNvPr>
            <p:cNvSpPr txBox="1"/>
            <p:nvPr/>
          </p:nvSpPr>
          <p:spPr>
            <a:xfrm>
              <a:off x="7115473" y="5773765"/>
              <a:ext cx="2035743" cy="374461"/>
            </a:xfrm>
            <a:prstGeom prst="rect">
              <a:avLst/>
            </a:prstGeom>
            <a:solidFill>
              <a:schemeClr val="tx2">
                <a:lumMod val="75000"/>
                <a:lumOff val="25000"/>
              </a:schemeClr>
            </a:solidFill>
          </p:spPr>
          <p:txBody>
            <a:bodyPr wrap="square">
              <a:spAutoFit/>
            </a:bodyPr>
            <a:lstStyle/>
            <a:p>
              <a:pPr fontAlgn="t">
                <a:lnSpc>
                  <a:spcPts val="2200"/>
                </a:lnSpc>
              </a:pPr>
              <a:r>
                <a:rPr kumimoji="1" lang="ja-JP" altLang="en-US" sz="1800" b="1" dirty="0">
                  <a:solidFill>
                    <a:schemeClr val="bg1"/>
                  </a:solidFill>
                  <a:latin typeface="游ゴシック" panose="020B0400000000000000" pitchFamily="50" charset="-128"/>
                </a:rPr>
                <a:t>切替・名乗りなし</a:t>
              </a:r>
              <a:endParaRPr kumimoji="1" lang="en-US" altLang="ja-JP" sz="1800" b="1" dirty="0">
                <a:solidFill>
                  <a:schemeClr val="bg1"/>
                </a:solidFill>
                <a:latin typeface="游ゴシック" panose="020B0400000000000000" pitchFamily="50" charset="-128"/>
              </a:endParaRPr>
            </a:p>
          </p:txBody>
        </p:sp>
      </p:grpSp>
      <p:sp>
        <p:nvSpPr>
          <p:cNvPr id="37" name="テキスト ボックス 36">
            <a:extLst>
              <a:ext uri="{FF2B5EF4-FFF2-40B4-BE49-F238E27FC236}">
                <a16:creationId xmlns:a16="http://schemas.microsoft.com/office/drawing/2014/main" id="{A1B339A7-B38D-3FDA-4AC8-0363CA615CA4}"/>
              </a:ext>
            </a:extLst>
          </p:cNvPr>
          <p:cNvSpPr txBox="1"/>
          <p:nvPr/>
        </p:nvSpPr>
        <p:spPr>
          <a:xfrm>
            <a:off x="2912638" y="6558832"/>
            <a:ext cx="1266304" cy="283714"/>
          </a:xfrm>
          <a:prstGeom prst="rect">
            <a:avLst/>
          </a:prstGeom>
          <a:noFill/>
        </p:spPr>
        <p:txBody>
          <a:bodyPr wrap="square">
            <a:spAutoFit/>
          </a:bodyPr>
          <a:lstStyle/>
          <a:p>
            <a:r>
              <a:rPr kumimoji="1" lang="ja-JP" altLang="en-US" sz="1200" b="1" dirty="0">
                <a:latin typeface="游ゴシック" panose="020B0400000000000000" pitchFamily="50" charset="-128"/>
              </a:rPr>
              <a:t>あてはまらない</a:t>
            </a:r>
            <a:endParaRPr lang="ja-JP" altLang="en-US" sz="1200" dirty="0"/>
          </a:p>
        </p:txBody>
      </p:sp>
      <p:sp>
        <p:nvSpPr>
          <p:cNvPr id="38" name="テキスト ボックス 37">
            <a:extLst>
              <a:ext uri="{FF2B5EF4-FFF2-40B4-BE49-F238E27FC236}">
                <a16:creationId xmlns:a16="http://schemas.microsoft.com/office/drawing/2014/main" id="{49671C59-342D-0059-1903-72788C1DE455}"/>
              </a:ext>
            </a:extLst>
          </p:cNvPr>
          <p:cNvSpPr txBox="1"/>
          <p:nvPr/>
        </p:nvSpPr>
        <p:spPr>
          <a:xfrm>
            <a:off x="8156072" y="6558832"/>
            <a:ext cx="1266304" cy="283714"/>
          </a:xfrm>
          <a:prstGeom prst="rect">
            <a:avLst/>
          </a:prstGeom>
          <a:noFill/>
        </p:spPr>
        <p:txBody>
          <a:bodyPr wrap="square">
            <a:spAutoFit/>
          </a:bodyPr>
          <a:lstStyle/>
          <a:p>
            <a:r>
              <a:rPr kumimoji="1" lang="ja-JP" altLang="en-US" sz="1200" b="1" dirty="0">
                <a:latin typeface="游ゴシック" panose="020B0400000000000000" pitchFamily="50" charset="-128"/>
              </a:rPr>
              <a:t>あてはまる</a:t>
            </a:r>
            <a:endParaRPr lang="ja-JP" altLang="en-US" sz="1200" dirty="0"/>
          </a:p>
        </p:txBody>
      </p:sp>
      <p:cxnSp>
        <p:nvCxnSpPr>
          <p:cNvPr id="16" name="直線コネクタ 15">
            <a:extLst>
              <a:ext uri="{FF2B5EF4-FFF2-40B4-BE49-F238E27FC236}">
                <a16:creationId xmlns:a16="http://schemas.microsoft.com/office/drawing/2014/main" id="{CB80B868-673E-2103-3D81-DEE481F4FAB6}"/>
              </a:ext>
            </a:extLst>
          </p:cNvPr>
          <p:cNvCxnSpPr/>
          <p:nvPr/>
        </p:nvCxnSpPr>
        <p:spPr>
          <a:xfrm>
            <a:off x="2546350" y="2146300"/>
            <a:ext cx="1816100" cy="0"/>
          </a:xfrm>
          <a:prstGeom prst="line">
            <a:avLst/>
          </a:prstGeom>
          <a:ln w="19050"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直線コネクタ 17">
            <a:extLst>
              <a:ext uri="{FF2B5EF4-FFF2-40B4-BE49-F238E27FC236}">
                <a16:creationId xmlns:a16="http://schemas.microsoft.com/office/drawing/2014/main" id="{CC33614C-F9FD-9F01-B6F2-F87A662A3FB4}"/>
              </a:ext>
            </a:extLst>
          </p:cNvPr>
          <p:cNvCxnSpPr>
            <a:cxnSpLocks/>
          </p:cNvCxnSpPr>
          <p:nvPr/>
        </p:nvCxnSpPr>
        <p:spPr>
          <a:xfrm>
            <a:off x="2197100" y="2444750"/>
            <a:ext cx="2861733" cy="0"/>
          </a:xfrm>
          <a:prstGeom prst="line">
            <a:avLst/>
          </a:prstGeom>
          <a:ln w="19050"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4" name="直線コネクタ 23">
            <a:extLst>
              <a:ext uri="{FF2B5EF4-FFF2-40B4-BE49-F238E27FC236}">
                <a16:creationId xmlns:a16="http://schemas.microsoft.com/office/drawing/2014/main" id="{D17B35E2-04F0-AF14-0C54-6F688F5DBCE9}"/>
              </a:ext>
            </a:extLst>
          </p:cNvPr>
          <p:cNvCxnSpPr>
            <a:cxnSpLocks/>
          </p:cNvCxnSpPr>
          <p:nvPr/>
        </p:nvCxnSpPr>
        <p:spPr>
          <a:xfrm>
            <a:off x="3638126" y="3266016"/>
            <a:ext cx="734484" cy="0"/>
          </a:xfrm>
          <a:prstGeom prst="line">
            <a:avLst/>
          </a:prstGeom>
          <a:ln w="19050"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直線コネクタ 7">
            <a:extLst>
              <a:ext uri="{FF2B5EF4-FFF2-40B4-BE49-F238E27FC236}">
                <a16:creationId xmlns:a16="http://schemas.microsoft.com/office/drawing/2014/main" id="{1B9CC92D-C6CB-4AAF-126A-35084DD82154}"/>
              </a:ext>
            </a:extLst>
          </p:cNvPr>
          <p:cNvCxnSpPr>
            <a:cxnSpLocks/>
          </p:cNvCxnSpPr>
          <p:nvPr/>
        </p:nvCxnSpPr>
        <p:spPr>
          <a:xfrm>
            <a:off x="6073367" y="1275127"/>
            <a:ext cx="0" cy="5108895"/>
          </a:xfrm>
          <a:prstGeom prst="line">
            <a:avLst/>
          </a:prstGeom>
          <a:ln w="19050"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 name="四角形: 角を丸くする 3">
            <a:extLst>
              <a:ext uri="{FF2B5EF4-FFF2-40B4-BE49-F238E27FC236}">
                <a16:creationId xmlns:a16="http://schemas.microsoft.com/office/drawing/2014/main" id="{009D3845-55FE-0409-569A-E446C1710F1A}"/>
              </a:ext>
            </a:extLst>
          </p:cNvPr>
          <p:cNvSpPr/>
          <p:nvPr/>
        </p:nvSpPr>
        <p:spPr>
          <a:xfrm>
            <a:off x="5816512" y="4289847"/>
            <a:ext cx="3194801" cy="1087604"/>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A3594361-4DAB-704E-29B4-E9CB9B87AFA9}"/>
              </a:ext>
            </a:extLst>
          </p:cNvPr>
          <p:cNvSpPr txBox="1"/>
          <p:nvPr/>
        </p:nvSpPr>
        <p:spPr>
          <a:xfrm>
            <a:off x="5848709" y="4409831"/>
            <a:ext cx="3194801" cy="830997"/>
          </a:xfrm>
          <a:prstGeom prst="rect">
            <a:avLst/>
          </a:prstGeom>
          <a:noFill/>
        </p:spPr>
        <p:txBody>
          <a:bodyPr wrap="square">
            <a:spAutoFit/>
          </a:bodyPr>
          <a:lstStyle/>
          <a:p>
            <a:r>
              <a:rPr lang="en-US" altLang="ja-JP" sz="2400" b="1" dirty="0">
                <a:solidFill>
                  <a:srgbClr val="000000"/>
                </a:solidFill>
                <a:latin typeface="+mn-ea"/>
              </a:rPr>
              <a:t>LLM</a:t>
            </a:r>
            <a:r>
              <a:rPr lang="ja-JP" altLang="en-US" sz="2400" b="1" dirty="0">
                <a:solidFill>
                  <a:srgbClr val="000000"/>
                </a:solidFill>
                <a:latin typeface="+mn-ea"/>
              </a:rPr>
              <a:t>を</a:t>
            </a:r>
            <a:r>
              <a:rPr lang="ja-JP" altLang="en-US" sz="2400" b="1" dirty="0">
                <a:solidFill>
                  <a:srgbClr val="C00000"/>
                </a:solidFill>
                <a:latin typeface="+mn-ea"/>
              </a:rPr>
              <a:t>役に立たない</a:t>
            </a:r>
            <a:endParaRPr lang="en-US" altLang="ja-JP" sz="2400" b="1" dirty="0">
              <a:solidFill>
                <a:srgbClr val="C00000"/>
              </a:solidFill>
              <a:latin typeface="+mn-ea"/>
            </a:endParaRPr>
          </a:p>
          <a:p>
            <a:r>
              <a:rPr lang="ja-JP" altLang="en-US" sz="2400" b="1" dirty="0">
                <a:solidFill>
                  <a:srgbClr val="000000"/>
                </a:solidFill>
                <a:latin typeface="+mn-ea"/>
              </a:rPr>
              <a:t>と認識した可能性</a:t>
            </a:r>
            <a:endParaRPr lang="ja-JP" altLang="en-US" sz="2400" b="1" dirty="0">
              <a:latin typeface="+mn-ea"/>
            </a:endParaRPr>
          </a:p>
        </p:txBody>
      </p:sp>
    </p:spTree>
    <p:extLst>
      <p:ext uri="{BB962C8B-B14F-4D97-AF65-F5344CB8AC3E}">
        <p14:creationId xmlns:p14="http://schemas.microsoft.com/office/powerpoint/2010/main" val="31002201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C0775C9-462C-0265-CD15-F8159B5B7316}"/>
              </a:ext>
            </a:extLst>
          </p:cNvPr>
          <p:cNvSpPr>
            <a:spLocks noGrp="1"/>
          </p:cNvSpPr>
          <p:nvPr>
            <p:ph type="sldNum" sz="quarter" idx="12"/>
          </p:nvPr>
        </p:nvSpPr>
        <p:spPr/>
        <p:txBody>
          <a:bodyPr/>
          <a:lstStyle/>
          <a:p>
            <a:fld id="{18020408-E1FF-429E-A8D5-EB2A190A0D77}" type="slidenum">
              <a:rPr kumimoji="1" lang="ja-JP" altLang="en-US" smtClean="0"/>
              <a:pPr/>
              <a:t>26</a:t>
            </a:fld>
            <a:endParaRPr kumimoji="1" lang="ja-JP" altLang="en-US" sz="2400" dirty="0"/>
          </a:p>
        </p:txBody>
      </p:sp>
      <p:sp>
        <p:nvSpPr>
          <p:cNvPr id="3" name="タイトル 2">
            <a:extLst>
              <a:ext uri="{FF2B5EF4-FFF2-40B4-BE49-F238E27FC236}">
                <a16:creationId xmlns:a16="http://schemas.microsoft.com/office/drawing/2014/main" id="{A65F4499-AA48-2C1E-A11B-602CC93008CB}"/>
              </a:ext>
            </a:extLst>
          </p:cNvPr>
          <p:cNvSpPr>
            <a:spLocks noGrp="1"/>
          </p:cNvSpPr>
          <p:nvPr>
            <p:ph type="title"/>
          </p:nvPr>
        </p:nvSpPr>
        <p:spPr/>
        <p:txBody>
          <a:bodyPr/>
          <a:lstStyle/>
          <a:p>
            <a:r>
              <a:rPr lang="ja-JP" altLang="en-US" sz="3600" dirty="0"/>
              <a:t>結果・考察：独自の個性について</a:t>
            </a:r>
            <a:endParaRPr kumimoji="1" lang="ja-JP" altLang="en-US" sz="3600" dirty="0"/>
          </a:p>
        </p:txBody>
      </p:sp>
      <p:sp>
        <p:nvSpPr>
          <p:cNvPr id="7" name="テキスト ボックス 6">
            <a:extLst>
              <a:ext uri="{FF2B5EF4-FFF2-40B4-BE49-F238E27FC236}">
                <a16:creationId xmlns:a16="http://schemas.microsoft.com/office/drawing/2014/main" id="{DCA2E641-7C3C-0CD1-C9E1-8F9704D0988D}"/>
              </a:ext>
            </a:extLst>
          </p:cNvPr>
          <p:cNvSpPr txBox="1"/>
          <p:nvPr/>
        </p:nvSpPr>
        <p:spPr>
          <a:xfrm>
            <a:off x="313263" y="2996503"/>
            <a:ext cx="5698069" cy="369332"/>
          </a:xfrm>
          <a:prstGeom prst="rect">
            <a:avLst/>
          </a:prstGeom>
          <a:noFill/>
        </p:spPr>
        <p:txBody>
          <a:bodyPr wrap="square">
            <a:spAutoFit/>
          </a:bodyPr>
          <a:lstStyle/>
          <a:p>
            <a:r>
              <a:rPr lang="ja-JP" altLang="en-US" b="1" dirty="0"/>
              <a:t>人格設定要因での平均値と標準偏差</a:t>
            </a:r>
          </a:p>
        </p:txBody>
      </p:sp>
      <p:sp>
        <p:nvSpPr>
          <p:cNvPr id="9" name="Rectangle 1">
            <a:extLst>
              <a:ext uri="{FF2B5EF4-FFF2-40B4-BE49-F238E27FC236}">
                <a16:creationId xmlns:a16="http://schemas.microsoft.com/office/drawing/2014/main" id="{3766ECB7-FC83-7F8C-6321-C98C895E2BD3}"/>
              </a:ext>
            </a:extLst>
          </p:cNvPr>
          <p:cNvSpPr>
            <a:spLocks noChangeArrowheads="1"/>
          </p:cNvSpPr>
          <p:nvPr/>
        </p:nvSpPr>
        <p:spPr bwMode="auto">
          <a:xfrm>
            <a:off x="2362200" y="250391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3" name="テキスト ボックス 12">
            <a:extLst>
              <a:ext uri="{FF2B5EF4-FFF2-40B4-BE49-F238E27FC236}">
                <a16:creationId xmlns:a16="http://schemas.microsoft.com/office/drawing/2014/main" id="{A5FE28B1-5360-96AF-0BC4-2E2D55D9636E}"/>
              </a:ext>
            </a:extLst>
          </p:cNvPr>
          <p:cNvSpPr txBox="1"/>
          <p:nvPr/>
        </p:nvSpPr>
        <p:spPr>
          <a:xfrm>
            <a:off x="313263" y="1247017"/>
            <a:ext cx="6680203" cy="646331"/>
          </a:xfrm>
          <a:prstGeom prst="rect">
            <a:avLst/>
          </a:prstGeom>
          <a:noFill/>
        </p:spPr>
        <p:txBody>
          <a:bodyPr wrap="square">
            <a:spAutoFit/>
          </a:bodyPr>
          <a:lstStyle/>
          <a:p>
            <a:r>
              <a:rPr lang="ja-JP" altLang="en-US" b="1" dirty="0">
                <a:latin typeface="+mn-ea"/>
              </a:rPr>
              <a:t>「</a:t>
            </a:r>
            <a:r>
              <a:rPr lang="en-US" altLang="ja-JP" b="1" dirty="0">
                <a:latin typeface="+mn-ea"/>
              </a:rPr>
              <a:t>Q7</a:t>
            </a:r>
            <a:r>
              <a:rPr lang="ja-JP" altLang="en-US" b="1" dirty="0">
                <a:latin typeface="+mn-ea"/>
              </a:rPr>
              <a:t>．</a:t>
            </a:r>
            <a:r>
              <a:rPr kumimoji="1" lang="en-US" altLang="ja-JP" b="1" dirty="0">
                <a:latin typeface="游ゴシック" panose="020B0400000000000000" pitchFamily="50" charset="-128"/>
              </a:rPr>
              <a:t>AI </a:t>
            </a:r>
            <a:r>
              <a:rPr kumimoji="1" lang="ja-JP" altLang="en-US" b="1" dirty="0">
                <a:latin typeface="游ゴシック" panose="020B0400000000000000" pitchFamily="50" charset="-128"/>
              </a:rPr>
              <a:t>には独自の個性がある」について</a:t>
            </a:r>
            <a:endParaRPr kumimoji="1" lang="en-US" altLang="ja-JP" b="1" dirty="0">
              <a:latin typeface="游ゴシック" panose="020B0400000000000000" pitchFamily="50" charset="-128"/>
            </a:endParaRPr>
          </a:p>
          <a:p>
            <a:r>
              <a:rPr kumimoji="1" lang="en-US" altLang="ja-JP" b="1" dirty="0">
                <a:latin typeface="游ゴシック" panose="020B0400000000000000" pitchFamily="50" charset="-128"/>
                <a:sym typeface="Wingdings" panose="05000000000000000000" pitchFamily="2" charset="2"/>
              </a:rPr>
              <a:t></a:t>
            </a:r>
            <a:r>
              <a:rPr kumimoji="1" lang="ja-JP" altLang="en-US" b="1" dirty="0">
                <a:solidFill>
                  <a:srgbClr val="C00000"/>
                </a:solidFill>
                <a:latin typeface="游ゴシック" panose="020B0400000000000000" pitchFamily="50" charset="-128"/>
                <a:sym typeface="Wingdings" panose="05000000000000000000" pitchFamily="2" charset="2"/>
              </a:rPr>
              <a:t>人格設定要因の主効果が有意</a:t>
            </a:r>
            <a:endParaRPr kumimoji="1" lang="en-US" altLang="ja-JP" b="1" dirty="0">
              <a:solidFill>
                <a:srgbClr val="C00000"/>
              </a:solidFill>
              <a:latin typeface="游ゴシック" panose="020B0400000000000000" pitchFamily="50" charset="-128"/>
            </a:endParaRPr>
          </a:p>
        </p:txBody>
      </p:sp>
      <p:graphicFrame>
        <p:nvGraphicFramePr>
          <p:cNvPr id="14" name="表 13">
            <a:extLst>
              <a:ext uri="{FF2B5EF4-FFF2-40B4-BE49-F238E27FC236}">
                <a16:creationId xmlns:a16="http://schemas.microsoft.com/office/drawing/2014/main" id="{5DAC36CE-0329-9EB6-27CD-BF0F0638916E}"/>
              </a:ext>
            </a:extLst>
          </p:cNvPr>
          <p:cNvGraphicFramePr>
            <a:graphicFrameLocks noGrp="1"/>
          </p:cNvGraphicFramePr>
          <p:nvPr>
            <p:extLst>
              <p:ext uri="{D42A27DB-BD31-4B8C-83A1-F6EECF244321}">
                <p14:modId xmlns:p14="http://schemas.microsoft.com/office/powerpoint/2010/main" val="1974558692"/>
              </p:ext>
            </p:extLst>
          </p:nvPr>
        </p:nvGraphicFramePr>
        <p:xfrm>
          <a:off x="436035" y="1980780"/>
          <a:ext cx="4507924" cy="731520"/>
        </p:xfrm>
        <a:graphic>
          <a:graphicData uri="http://schemas.openxmlformats.org/drawingml/2006/table">
            <a:tbl>
              <a:tblPr firstRow="1" bandRow="1">
                <a:tableStyleId>{9D7B26C5-4107-4FEC-AEDC-1716B250A1EF}</a:tableStyleId>
              </a:tblPr>
              <a:tblGrid>
                <a:gridCol w="1507544">
                  <a:extLst>
                    <a:ext uri="{9D8B030D-6E8A-4147-A177-3AD203B41FA5}">
                      <a16:colId xmlns:a16="http://schemas.microsoft.com/office/drawing/2014/main" val="2253055787"/>
                    </a:ext>
                  </a:extLst>
                </a:gridCol>
                <a:gridCol w="925127">
                  <a:extLst>
                    <a:ext uri="{9D8B030D-6E8A-4147-A177-3AD203B41FA5}">
                      <a16:colId xmlns:a16="http://schemas.microsoft.com/office/drawing/2014/main" val="4189014961"/>
                    </a:ext>
                  </a:extLst>
                </a:gridCol>
                <a:gridCol w="948272">
                  <a:extLst>
                    <a:ext uri="{9D8B030D-6E8A-4147-A177-3AD203B41FA5}">
                      <a16:colId xmlns:a16="http://schemas.microsoft.com/office/drawing/2014/main" val="3674438810"/>
                    </a:ext>
                  </a:extLst>
                </a:gridCol>
                <a:gridCol w="1126981">
                  <a:extLst>
                    <a:ext uri="{9D8B030D-6E8A-4147-A177-3AD203B41FA5}">
                      <a16:colId xmlns:a16="http://schemas.microsoft.com/office/drawing/2014/main" val="678252903"/>
                    </a:ext>
                  </a:extLst>
                </a:gridCol>
              </a:tblGrid>
              <a:tr h="299852">
                <a:tc>
                  <a:txBody>
                    <a:bodyPr/>
                    <a:lstStyle/>
                    <a:p>
                      <a:endParaRPr kumimoji="1" lang="ja-JP" altLang="en-US" sz="1800" dirty="0"/>
                    </a:p>
                  </a:txBody>
                  <a:tcPr>
                    <a:noFill/>
                  </a:tcPr>
                </a:tc>
                <a:tc>
                  <a:txBody>
                    <a:bodyPr/>
                    <a:lstStyle/>
                    <a:p>
                      <a:pPr algn="r" fontAlgn="base">
                        <a:lnSpc>
                          <a:spcPts val="1350"/>
                        </a:lnSpc>
                        <a:buNone/>
                      </a:pPr>
                      <a:r>
                        <a:rPr lang="ja-JP" altLang="en-US" sz="1800" b="1" i="0" dirty="0">
                          <a:solidFill>
                            <a:srgbClr val="000000"/>
                          </a:solidFill>
                          <a:effectLst/>
                          <a:latin typeface="游ゴシック" panose="020B0400000000000000" pitchFamily="50" charset="-128"/>
                          <a:ea typeface="游ゴシック" panose="020B0400000000000000" pitchFamily="50" charset="-128"/>
                        </a:rPr>
                        <a:t>自由度</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rPr>
                        <a:t>F</a:t>
                      </a:r>
                      <a:r>
                        <a:rPr lang="ja-JP" altLang="en-US" sz="1800" b="1" i="0" dirty="0">
                          <a:solidFill>
                            <a:srgbClr val="000000"/>
                          </a:solidFill>
                          <a:effectLst/>
                          <a:latin typeface="游ゴシック" panose="020B0400000000000000" pitchFamily="50" charset="-128"/>
                        </a:rPr>
                        <a:t>値</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tc>
                  <a:txBody>
                    <a:bodyPr/>
                    <a:lstStyle/>
                    <a:p>
                      <a:pPr algn="r" fontAlgn="base">
                        <a:lnSpc>
                          <a:spcPts val="1350"/>
                        </a:lnSpc>
                        <a:buNone/>
                      </a:pPr>
                      <a:r>
                        <a:rPr lang="en-US" altLang="ja-JP" sz="1800" b="1" i="0" dirty="0">
                          <a:solidFill>
                            <a:srgbClr val="000000"/>
                          </a:solidFill>
                          <a:effectLst/>
                          <a:latin typeface="游ゴシック" panose="020B0400000000000000" pitchFamily="50" charset="-128"/>
                        </a:rPr>
                        <a:t>p</a:t>
                      </a:r>
                      <a:r>
                        <a:rPr lang="ja-JP" altLang="en-US" sz="1800" b="1" i="0" dirty="0">
                          <a:solidFill>
                            <a:srgbClr val="000000"/>
                          </a:solidFill>
                          <a:effectLst/>
                          <a:latin typeface="游ゴシック" panose="020B0400000000000000" pitchFamily="50" charset="-128"/>
                        </a:rPr>
                        <a:t>値</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extLst>
                  <a:ext uri="{0D108BD9-81ED-4DB2-BD59-A6C34878D82A}">
                    <a16:rowId xmlns:a16="http://schemas.microsoft.com/office/drawing/2014/main" val="2809685238"/>
                  </a:ext>
                </a:extLst>
              </a:tr>
              <a:tr h="284612">
                <a:tc>
                  <a:txBody>
                    <a:bodyPr/>
                    <a:lstStyle/>
                    <a:p>
                      <a:r>
                        <a:rPr lang="ja-JP" altLang="en-US" sz="1800" b="1" i="0" dirty="0">
                          <a:solidFill>
                            <a:srgbClr val="000000"/>
                          </a:solidFill>
                          <a:effectLst/>
                          <a:latin typeface="游ゴシック" panose="020B0400000000000000" pitchFamily="50" charset="-128"/>
                          <a:ea typeface="+mn-ea"/>
                        </a:rPr>
                        <a:t>人格設定</a:t>
                      </a:r>
                      <a:endParaRPr kumimoji="1" lang="ja-JP" altLang="en-US" sz="1800" dirty="0"/>
                    </a:p>
                  </a:txBody>
                  <a:tcP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ea typeface="游ゴシック" panose="020B0400000000000000" pitchFamily="50" charset="-128"/>
                        </a:rPr>
                        <a:t>1</a:t>
                      </a:r>
                      <a:endParaRPr lang="en-US" altLang="ja-JP" sz="1800" b="1" i="0" dirty="0">
                        <a:solidFill>
                          <a:srgbClr val="000000"/>
                        </a:solidFill>
                        <a:effectLst/>
                      </a:endParaRPr>
                    </a:p>
                  </a:txBody>
                  <a:tcPr anchor="ct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rPr>
                        <a:t>6.2871​</a:t>
                      </a:r>
                      <a:endParaRPr lang="en-US" sz="1800" b="1" i="0" dirty="0">
                        <a:solidFill>
                          <a:srgbClr val="000000"/>
                        </a:solidFill>
                        <a:effectLst/>
                      </a:endParaRPr>
                    </a:p>
                  </a:txBody>
                  <a:tcPr anchor="ctr">
                    <a:noFill/>
                  </a:tcPr>
                </a:tc>
                <a:tc>
                  <a:txBody>
                    <a:bodyPr/>
                    <a:lstStyle/>
                    <a:p>
                      <a:pPr algn="r" fontAlgn="base">
                        <a:lnSpc>
                          <a:spcPts val="1350"/>
                        </a:lnSpc>
                        <a:buNone/>
                      </a:pPr>
                      <a:r>
                        <a:rPr lang="en-US" sz="1800" b="1" i="0" dirty="0">
                          <a:solidFill>
                            <a:srgbClr val="C00000"/>
                          </a:solidFill>
                          <a:effectLst/>
                          <a:latin typeface="游ゴシック" panose="020B0400000000000000" pitchFamily="50" charset="-128"/>
                        </a:rPr>
                        <a:t>0.013</a:t>
                      </a:r>
                      <a:r>
                        <a:rPr lang="en-US" sz="1800" b="1" i="0" dirty="0">
                          <a:solidFill>
                            <a:srgbClr val="000000"/>
                          </a:solidFill>
                          <a:effectLst/>
                          <a:latin typeface="游ゴシック" panose="020B0400000000000000" pitchFamily="50" charset="-128"/>
                        </a:rPr>
                        <a:t>​</a:t>
                      </a:r>
                      <a:endParaRPr lang="en-US" sz="1800" b="1" i="0" dirty="0">
                        <a:solidFill>
                          <a:srgbClr val="000000"/>
                        </a:solidFill>
                        <a:effectLst/>
                      </a:endParaRPr>
                    </a:p>
                  </a:txBody>
                  <a:tcPr anchor="ctr">
                    <a:noFill/>
                  </a:tcPr>
                </a:tc>
                <a:extLst>
                  <a:ext uri="{0D108BD9-81ED-4DB2-BD59-A6C34878D82A}">
                    <a16:rowId xmlns:a16="http://schemas.microsoft.com/office/drawing/2014/main" val="2808757430"/>
                  </a:ext>
                </a:extLst>
              </a:tr>
            </a:tbl>
          </a:graphicData>
        </a:graphic>
      </p:graphicFrame>
      <p:graphicFrame>
        <p:nvGraphicFramePr>
          <p:cNvPr id="15" name="表 14">
            <a:extLst>
              <a:ext uri="{FF2B5EF4-FFF2-40B4-BE49-F238E27FC236}">
                <a16:creationId xmlns:a16="http://schemas.microsoft.com/office/drawing/2014/main" id="{8B72513F-5432-BFEE-3532-D4F385241D3B}"/>
              </a:ext>
            </a:extLst>
          </p:cNvPr>
          <p:cNvGraphicFramePr>
            <a:graphicFrameLocks noGrp="1"/>
          </p:cNvGraphicFramePr>
          <p:nvPr>
            <p:extLst>
              <p:ext uri="{D42A27DB-BD31-4B8C-83A1-F6EECF244321}">
                <p14:modId xmlns:p14="http://schemas.microsoft.com/office/powerpoint/2010/main" val="1565034847"/>
              </p:ext>
            </p:extLst>
          </p:nvPr>
        </p:nvGraphicFramePr>
        <p:xfrm>
          <a:off x="436035" y="3537280"/>
          <a:ext cx="4004229" cy="1019918"/>
        </p:xfrm>
        <a:graphic>
          <a:graphicData uri="http://schemas.openxmlformats.org/drawingml/2006/table">
            <a:tbl>
              <a:tblPr firstRow="1" bandRow="1">
                <a:tableStyleId>{9D7B26C5-4107-4FEC-AEDC-1716B250A1EF}</a:tableStyleId>
              </a:tblPr>
              <a:tblGrid>
                <a:gridCol w="1442745">
                  <a:extLst>
                    <a:ext uri="{9D8B030D-6E8A-4147-A177-3AD203B41FA5}">
                      <a16:colId xmlns:a16="http://schemas.microsoft.com/office/drawing/2014/main" val="4143698353"/>
                    </a:ext>
                  </a:extLst>
                </a:gridCol>
                <a:gridCol w="1280742">
                  <a:extLst>
                    <a:ext uri="{9D8B030D-6E8A-4147-A177-3AD203B41FA5}">
                      <a16:colId xmlns:a16="http://schemas.microsoft.com/office/drawing/2014/main" val="2801815050"/>
                    </a:ext>
                  </a:extLst>
                </a:gridCol>
                <a:gridCol w="1280742">
                  <a:extLst>
                    <a:ext uri="{9D8B030D-6E8A-4147-A177-3AD203B41FA5}">
                      <a16:colId xmlns:a16="http://schemas.microsoft.com/office/drawing/2014/main" val="3674438810"/>
                    </a:ext>
                  </a:extLst>
                </a:gridCol>
              </a:tblGrid>
              <a:tr h="394870">
                <a:tc>
                  <a:txBody>
                    <a:bodyPr/>
                    <a:lstStyle/>
                    <a:p>
                      <a:pPr algn="l" fontAlgn="base">
                        <a:lnSpc>
                          <a:spcPts val="1350"/>
                        </a:lnSpc>
                        <a:buNone/>
                      </a:pPr>
                      <a:r>
                        <a:rPr lang="ja-JP" altLang="en-US" sz="1600" b="1" i="0" dirty="0">
                          <a:solidFill>
                            <a:srgbClr val="000000"/>
                          </a:solidFill>
                          <a:effectLst/>
                          <a:latin typeface="+mn-ea"/>
                          <a:ea typeface="+mn-ea"/>
                        </a:rPr>
                        <a:t>人格設定要因</a:t>
                      </a:r>
                      <a:r>
                        <a:rPr lang="ja-JP" altLang="en-US" sz="1600" b="1" i="0" dirty="0">
                          <a:solidFill>
                            <a:srgbClr val="FFFFFF"/>
                          </a:solidFill>
                          <a:effectLst/>
                          <a:latin typeface="+mn-ea"/>
                          <a:ea typeface="+mn-ea"/>
                        </a:rPr>
                        <a:t>​</a:t>
                      </a:r>
                    </a:p>
                  </a:txBody>
                  <a:tcPr anchor="ctr">
                    <a:noFill/>
                  </a:tcPr>
                </a:tc>
                <a:tc>
                  <a:txBody>
                    <a:bodyPr/>
                    <a:lstStyle/>
                    <a:p>
                      <a:pPr algn="r" fontAlgn="base">
                        <a:lnSpc>
                          <a:spcPts val="1350"/>
                        </a:lnSpc>
                        <a:buNone/>
                      </a:pPr>
                      <a:r>
                        <a:rPr lang="ja-JP" altLang="en-US" sz="1600" b="1" i="0" dirty="0">
                          <a:solidFill>
                            <a:srgbClr val="000000"/>
                          </a:solidFill>
                          <a:effectLst/>
                          <a:latin typeface="+mn-ea"/>
                          <a:ea typeface="+mn-ea"/>
                        </a:rPr>
                        <a:t>平均値</a:t>
                      </a:r>
                      <a:endParaRPr lang="ja-JP" altLang="en-US" sz="1600" b="1" i="0" dirty="0">
                        <a:solidFill>
                          <a:srgbClr val="FFFFFF"/>
                        </a:solidFill>
                        <a:effectLst/>
                        <a:latin typeface="+mn-ea"/>
                        <a:ea typeface="+mn-ea"/>
                      </a:endParaRPr>
                    </a:p>
                  </a:txBody>
                  <a:tcPr anchor="ctr">
                    <a:noFill/>
                  </a:tcPr>
                </a:tc>
                <a:tc>
                  <a:txBody>
                    <a:bodyPr/>
                    <a:lstStyle/>
                    <a:p>
                      <a:pPr algn="r" fontAlgn="base">
                        <a:lnSpc>
                          <a:spcPts val="1350"/>
                        </a:lnSpc>
                        <a:buNone/>
                      </a:pPr>
                      <a:r>
                        <a:rPr lang="ja-JP" altLang="en-US" sz="1600" b="1" i="0" dirty="0">
                          <a:solidFill>
                            <a:srgbClr val="000000"/>
                          </a:solidFill>
                          <a:effectLst/>
                          <a:latin typeface="+mn-ea"/>
                          <a:ea typeface="+mn-ea"/>
                        </a:rPr>
                        <a:t>標準偏差</a:t>
                      </a:r>
                      <a:r>
                        <a:rPr lang="en-US" altLang="ja-JP" sz="1600" b="1" i="0" dirty="0">
                          <a:solidFill>
                            <a:srgbClr val="FFFFFF"/>
                          </a:solidFill>
                          <a:effectLst/>
                          <a:latin typeface="+mn-ea"/>
                          <a:ea typeface="+mn-ea"/>
                        </a:rPr>
                        <a:t>​</a:t>
                      </a:r>
                    </a:p>
                  </a:txBody>
                  <a:tcPr anchor="ctr">
                    <a:noFill/>
                  </a:tcPr>
                </a:tc>
                <a:extLst>
                  <a:ext uri="{0D108BD9-81ED-4DB2-BD59-A6C34878D82A}">
                    <a16:rowId xmlns:a16="http://schemas.microsoft.com/office/drawing/2014/main" val="2809685238"/>
                  </a:ext>
                </a:extLst>
              </a:tr>
              <a:tr h="312524">
                <a:tc>
                  <a:txBody>
                    <a:bodyPr/>
                    <a:lstStyle/>
                    <a:p>
                      <a:pPr algn="l" fontAlgn="base">
                        <a:lnSpc>
                          <a:spcPts val="1350"/>
                        </a:lnSpc>
                        <a:buNone/>
                      </a:pPr>
                      <a:r>
                        <a:rPr lang="ja-JP" altLang="en-US" sz="1600" b="1" i="0" dirty="0">
                          <a:solidFill>
                            <a:srgbClr val="000000"/>
                          </a:solidFill>
                          <a:effectLst/>
                          <a:latin typeface="+mn-ea"/>
                          <a:ea typeface="+mn-ea"/>
                        </a:rPr>
                        <a:t>固定​</a:t>
                      </a:r>
                    </a:p>
                  </a:txBody>
                  <a:tcPr anchor="ctr">
                    <a:noFill/>
                  </a:tcPr>
                </a:tc>
                <a:tc>
                  <a:txBody>
                    <a:bodyPr/>
                    <a:lstStyle/>
                    <a:p>
                      <a:pPr algn="r" fontAlgn="base">
                        <a:lnSpc>
                          <a:spcPts val="1350"/>
                        </a:lnSpc>
                        <a:buNone/>
                      </a:pPr>
                      <a:r>
                        <a:rPr lang="en-US" altLang="ja-JP" sz="1600" b="1" i="0" dirty="0">
                          <a:solidFill>
                            <a:srgbClr val="000000"/>
                          </a:solidFill>
                          <a:effectLst/>
                          <a:latin typeface="+mn-ea"/>
                          <a:ea typeface="+mn-ea"/>
                        </a:rPr>
                        <a:t>4.23</a:t>
                      </a:r>
                    </a:p>
                  </a:txBody>
                  <a:tcPr anchor="ctr">
                    <a:noFill/>
                  </a:tcPr>
                </a:tc>
                <a:tc>
                  <a:txBody>
                    <a:bodyPr/>
                    <a:lstStyle/>
                    <a:p>
                      <a:pPr algn="r" fontAlgn="base">
                        <a:lnSpc>
                          <a:spcPts val="1350"/>
                        </a:lnSpc>
                        <a:buNone/>
                      </a:pPr>
                      <a:r>
                        <a:rPr lang="en-US" sz="1600" b="1" i="0" dirty="0">
                          <a:solidFill>
                            <a:srgbClr val="000000"/>
                          </a:solidFill>
                          <a:effectLst/>
                          <a:latin typeface="+mn-ea"/>
                          <a:ea typeface="+mn-ea"/>
                        </a:rPr>
                        <a:t>2.12</a:t>
                      </a:r>
                    </a:p>
                  </a:txBody>
                  <a:tcPr anchor="ctr">
                    <a:noFill/>
                  </a:tcPr>
                </a:tc>
                <a:extLst>
                  <a:ext uri="{0D108BD9-81ED-4DB2-BD59-A6C34878D82A}">
                    <a16:rowId xmlns:a16="http://schemas.microsoft.com/office/drawing/2014/main" val="2808757430"/>
                  </a:ext>
                </a:extLst>
              </a:tr>
              <a:tr h="312524">
                <a:tc>
                  <a:txBody>
                    <a:bodyPr/>
                    <a:lstStyle/>
                    <a:p>
                      <a:pPr algn="l" fontAlgn="base">
                        <a:lnSpc>
                          <a:spcPts val="1350"/>
                        </a:lnSpc>
                        <a:buNone/>
                      </a:pPr>
                      <a:r>
                        <a:rPr lang="ja-JP" altLang="en-US" sz="1600" b="1" i="0" dirty="0">
                          <a:solidFill>
                            <a:srgbClr val="000000"/>
                          </a:solidFill>
                          <a:effectLst/>
                          <a:latin typeface="+mn-ea"/>
                          <a:ea typeface="+mn-ea"/>
                        </a:rPr>
                        <a:t>切り替え</a:t>
                      </a:r>
                    </a:p>
                  </a:txBody>
                  <a:tcPr anchor="ctr">
                    <a:noFill/>
                  </a:tcPr>
                </a:tc>
                <a:tc>
                  <a:txBody>
                    <a:bodyPr/>
                    <a:lstStyle/>
                    <a:p>
                      <a:pPr algn="r" fontAlgn="base">
                        <a:lnSpc>
                          <a:spcPts val="1350"/>
                        </a:lnSpc>
                        <a:buNone/>
                      </a:pPr>
                      <a:r>
                        <a:rPr lang="en-US" altLang="ja-JP" sz="1600" b="1" i="0" dirty="0">
                          <a:solidFill>
                            <a:srgbClr val="000000"/>
                          </a:solidFill>
                          <a:effectLst/>
                          <a:latin typeface="+mn-ea"/>
                          <a:ea typeface="+mn-ea"/>
                        </a:rPr>
                        <a:t>5.15</a:t>
                      </a:r>
                    </a:p>
                  </a:txBody>
                  <a:tcPr anchor="ctr">
                    <a:noFill/>
                  </a:tcPr>
                </a:tc>
                <a:tc>
                  <a:txBody>
                    <a:bodyPr/>
                    <a:lstStyle/>
                    <a:p>
                      <a:pPr algn="r" fontAlgn="base">
                        <a:lnSpc>
                          <a:spcPts val="1350"/>
                        </a:lnSpc>
                        <a:buNone/>
                      </a:pPr>
                      <a:r>
                        <a:rPr lang="en-US" sz="1600" b="1" i="0" dirty="0">
                          <a:solidFill>
                            <a:srgbClr val="000000"/>
                          </a:solidFill>
                          <a:effectLst/>
                          <a:latin typeface="+mn-ea"/>
                          <a:ea typeface="+mn-ea"/>
                        </a:rPr>
                        <a:t>2.57</a:t>
                      </a:r>
                    </a:p>
                  </a:txBody>
                  <a:tcPr anchor="ctr">
                    <a:noFill/>
                  </a:tcPr>
                </a:tc>
                <a:extLst>
                  <a:ext uri="{0D108BD9-81ED-4DB2-BD59-A6C34878D82A}">
                    <a16:rowId xmlns:a16="http://schemas.microsoft.com/office/drawing/2014/main" val="928760967"/>
                  </a:ext>
                </a:extLst>
              </a:tr>
            </a:tbl>
          </a:graphicData>
        </a:graphic>
      </p:graphicFrame>
      <p:sp>
        <p:nvSpPr>
          <p:cNvPr id="16" name="四角形: 角を丸くする 15">
            <a:extLst>
              <a:ext uri="{FF2B5EF4-FFF2-40B4-BE49-F238E27FC236}">
                <a16:creationId xmlns:a16="http://schemas.microsoft.com/office/drawing/2014/main" id="{77D51368-ED22-DE09-BD6C-0A5A020160F7}"/>
              </a:ext>
            </a:extLst>
          </p:cNvPr>
          <p:cNvSpPr/>
          <p:nvPr/>
        </p:nvSpPr>
        <p:spPr>
          <a:xfrm>
            <a:off x="1550960" y="5493796"/>
            <a:ext cx="6059222" cy="1108975"/>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E2B3682C-FEC3-D236-C369-EA55CFC481D5}"/>
              </a:ext>
            </a:extLst>
          </p:cNvPr>
          <p:cNvSpPr txBox="1"/>
          <p:nvPr/>
        </p:nvSpPr>
        <p:spPr>
          <a:xfrm>
            <a:off x="1645945" y="5666373"/>
            <a:ext cx="5837035" cy="830997"/>
          </a:xfrm>
          <a:prstGeom prst="rect">
            <a:avLst/>
          </a:prstGeom>
          <a:noFill/>
        </p:spPr>
        <p:txBody>
          <a:bodyPr wrap="square">
            <a:spAutoFit/>
          </a:bodyPr>
          <a:lstStyle/>
          <a:p>
            <a:r>
              <a:rPr lang="ja-JP" altLang="en-US" sz="2400" b="1" dirty="0"/>
              <a:t>人格の変化による</a:t>
            </a:r>
            <a:r>
              <a:rPr lang="ja-JP" altLang="en-US" sz="2400" b="1" dirty="0">
                <a:solidFill>
                  <a:srgbClr val="C00000"/>
                </a:solidFill>
              </a:rPr>
              <a:t>対比が特徴を際立たせ</a:t>
            </a:r>
            <a:endParaRPr lang="en-US" altLang="ja-JP" sz="2400" b="1" dirty="0">
              <a:solidFill>
                <a:srgbClr val="C00000"/>
              </a:solidFill>
            </a:endParaRPr>
          </a:p>
          <a:p>
            <a:r>
              <a:rPr lang="ja-JP" altLang="en-US" sz="2400" b="1" dirty="0"/>
              <a:t>個性をより強く知覚させた可能性</a:t>
            </a:r>
          </a:p>
        </p:txBody>
      </p:sp>
      <p:pic>
        <p:nvPicPr>
          <p:cNvPr id="8" name="グラフィックス 7">
            <a:extLst>
              <a:ext uri="{FF2B5EF4-FFF2-40B4-BE49-F238E27FC236}">
                <a16:creationId xmlns:a16="http://schemas.microsoft.com/office/drawing/2014/main" id="{9DD2B238-FEE4-C9B2-D960-E064267C9EA7}"/>
              </a:ext>
            </a:extLst>
          </p:cNvPr>
          <p:cNvPicPr>
            <a:picLocks noChangeAspect="1"/>
          </p:cNvPicPr>
          <p:nvPr/>
        </p:nvPicPr>
        <p:blipFill>
          <a:blip r:embed="rId3">
            <a:extLst>
              <a:ext uri="{96DAC541-7B7A-43D3-8B79-37D633B846F1}">
                <asvg:svgBlip xmlns:asvg="http://schemas.microsoft.com/office/drawing/2016/SVG/main" r:embed="rId4"/>
              </a:ext>
            </a:extLst>
          </a:blip>
          <a:srcRect l="5104" t="2648" r="1598" b="2193"/>
          <a:stretch>
            <a:fillRect/>
          </a:stretch>
        </p:blipFill>
        <p:spPr>
          <a:xfrm>
            <a:off x="5038165" y="2747363"/>
            <a:ext cx="3039812" cy="1862536"/>
          </a:xfrm>
          <a:prstGeom prst="rect">
            <a:avLst/>
          </a:prstGeom>
        </p:spPr>
      </p:pic>
      <p:sp>
        <p:nvSpPr>
          <p:cNvPr id="12" name="テキスト ボックス 11">
            <a:extLst>
              <a:ext uri="{FF2B5EF4-FFF2-40B4-BE49-F238E27FC236}">
                <a16:creationId xmlns:a16="http://schemas.microsoft.com/office/drawing/2014/main" id="{50DBBBDA-5990-93C5-F97E-28738922357A}"/>
              </a:ext>
            </a:extLst>
          </p:cNvPr>
          <p:cNvSpPr txBox="1"/>
          <p:nvPr/>
        </p:nvSpPr>
        <p:spPr>
          <a:xfrm>
            <a:off x="5559421" y="4510506"/>
            <a:ext cx="566737" cy="307777"/>
          </a:xfrm>
          <a:prstGeom prst="rect">
            <a:avLst/>
          </a:prstGeom>
          <a:noFill/>
        </p:spPr>
        <p:txBody>
          <a:bodyPr wrap="square">
            <a:spAutoFit/>
          </a:bodyPr>
          <a:lstStyle/>
          <a:p>
            <a:r>
              <a:rPr lang="ja-JP" altLang="en-US" sz="1400" b="1" dirty="0"/>
              <a:t>固定</a:t>
            </a:r>
            <a:endParaRPr lang="ja-JP" altLang="en-US" sz="1400" dirty="0"/>
          </a:p>
        </p:txBody>
      </p:sp>
      <p:sp>
        <p:nvSpPr>
          <p:cNvPr id="17" name="テキスト ボックス 16">
            <a:extLst>
              <a:ext uri="{FF2B5EF4-FFF2-40B4-BE49-F238E27FC236}">
                <a16:creationId xmlns:a16="http://schemas.microsoft.com/office/drawing/2014/main" id="{19BFE4F3-E88F-F66E-7DB0-7CD152BC5BFB}"/>
              </a:ext>
            </a:extLst>
          </p:cNvPr>
          <p:cNvSpPr txBox="1"/>
          <p:nvPr/>
        </p:nvSpPr>
        <p:spPr>
          <a:xfrm>
            <a:off x="6842653" y="4506827"/>
            <a:ext cx="938740" cy="307777"/>
          </a:xfrm>
          <a:prstGeom prst="rect">
            <a:avLst/>
          </a:prstGeom>
          <a:noFill/>
        </p:spPr>
        <p:txBody>
          <a:bodyPr wrap="square">
            <a:spAutoFit/>
          </a:bodyPr>
          <a:lstStyle/>
          <a:p>
            <a:r>
              <a:rPr lang="ja-JP" altLang="en-US" sz="1400" b="1" dirty="0"/>
              <a:t>切り替え</a:t>
            </a:r>
            <a:endParaRPr lang="ja-JP" altLang="en-US" sz="1400" dirty="0"/>
          </a:p>
        </p:txBody>
      </p:sp>
      <p:sp>
        <p:nvSpPr>
          <p:cNvPr id="20" name="矢印: 右 19">
            <a:extLst>
              <a:ext uri="{FF2B5EF4-FFF2-40B4-BE49-F238E27FC236}">
                <a16:creationId xmlns:a16="http://schemas.microsoft.com/office/drawing/2014/main" id="{6461C519-1EC2-FD9F-1A8F-7AFD13F51855}"/>
              </a:ext>
            </a:extLst>
          </p:cNvPr>
          <p:cNvSpPr/>
          <p:nvPr/>
        </p:nvSpPr>
        <p:spPr>
          <a:xfrm rot="16200000">
            <a:off x="8228831" y="2712616"/>
            <a:ext cx="369329" cy="4270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21" name="矢印: 右 20">
            <a:extLst>
              <a:ext uri="{FF2B5EF4-FFF2-40B4-BE49-F238E27FC236}">
                <a16:creationId xmlns:a16="http://schemas.microsoft.com/office/drawing/2014/main" id="{562ADE2A-14A7-C178-E9C9-1AD01CE19344}"/>
              </a:ext>
            </a:extLst>
          </p:cNvPr>
          <p:cNvSpPr/>
          <p:nvPr/>
        </p:nvSpPr>
        <p:spPr>
          <a:xfrm rot="5400000">
            <a:off x="8228830" y="4188654"/>
            <a:ext cx="369329" cy="4270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24" name="テキスト ボックス 23">
            <a:extLst>
              <a:ext uri="{FF2B5EF4-FFF2-40B4-BE49-F238E27FC236}">
                <a16:creationId xmlns:a16="http://schemas.microsoft.com/office/drawing/2014/main" id="{0C9D022C-6363-507F-2E86-A10E8B07334B}"/>
              </a:ext>
            </a:extLst>
          </p:cNvPr>
          <p:cNvSpPr txBox="1"/>
          <p:nvPr/>
        </p:nvSpPr>
        <p:spPr>
          <a:xfrm>
            <a:off x="7832742" y="2465873"/>
            <a:ext cx="1074214" cy="307777"/>
          </a:xfrm>
          <a:prstGeom prst="rect">
            <a:avLst/>
          </a:prstGeom>
          <a:noFill/>
        </p:spPr>
        <p:txBody>
          <a:bodyPr wrap="square">
            <a:spAutoFit/>
          </a:bodyPr>
          <a:lstStyle/>
          <a:p>
            <a:r>
              <a:rPr lang="ja-JP" altLang="en-US" sz="1400" b="1" dirty="0"/>
              <a:t>あてはまる</a:t>
            </a:r>
            <a:endParaRPr lang="ja-JP" altLang="en-US" sz="1400" dirty="0"/>
          </a:p>
        </p:txBody>
      </p:sp>
      <p:sp>
        <p:nvSpPr>
          <p:cNvPr id="25" name="テキスト ボックス 24">
            <a:extLst>
              <a:ext uri="{FF2B5EF4-FFF2-40B4-BE49-F238E27FC236}">
                <a16:creationId xmlns:a16="http://schemas.microsoft.com/office/drawing/2014/main" id="{10706696-33BA-3128-B696-A46B60BC300A}"/>
              </a:ext>
            </a:extLst>
          </p:cNvPr>
          <p:cNvSpPr txBox="1"/>
          <p:nvPr/>
        </p:nvSpPr>
        <p:spPr>
          <a:xfrm>
            <a:off x="7766320" y="4601898"/>
            <a:ext cx="1487746" cy="307776"/>
          </a:xfrm>
          <a:prstGeom prst="rect">
            <a:avLst/>
          </a:prstGeom>
          <a:noFill/>
        </p:spPr>
        <p:txBody>
          <a:bodyPr wrap="square">
            <a:spAutoFit/>
          </a:bodyPr>
          <a:lstStyle/>
          <a:p>
            <a:r>
              <a:rPr lang="ja-JP" altLang="en-US" sz="1400" b="1" dirty="0"/>
              <a:t>あてはまらない</a:t>
            </a:r>
            <a:endParaRPr lang="ja-JP" altLang="en-US" sz="1400" dirty="0"/>
          </a:p>
        </p:txBody>
      </p:sp>
      <p:sp>
        <p:nvSpPr>
          <p:cNvPr id="27" name="テキスト ボックス 26">
            <a:extLst>
              <a:ext uri="{FF2B5EF4-FFF2-40B4-BE49-F238E27FC236}">
                <a16:creationId xmlns:a16="http://schemas.microsoft.com/office/drawing/2014/main" id="{BDC4B688-6738-18FE-A09E-280EF9D70A3C}"/>
              </a:ext>
            </a:extLst>
          </p:cNvPr>
          <p:cNvSpPr txBox="1"/>
          <p:nvPr/>
        </p:nvSpPr>
        <p:spPr>
          <a:xfrm>
            <a:off x="4693420" y="4398543"/>
            <a:ext cx="499309" cy="338554"/>
          </a:xfrm>
          <a:prstGeom prst="rect">
            <a:avLst/>
          </a:prstGeom>
          <a:noFill/>
        </p:spPr>
        <p:txBody>
          <a:bodyPr wrap="square">
            <a:spAutoFit/>
          </a:bodyPr>
          <a:lstStyle/>
          <a:p>
            <a:r>
              <a:rPr lang="en-US" altLang="ja-JP" sz="1600" b="1" dirty="0">
                <a:latin typeface="+mn-ea"/>
              </a:rPr>
              <a:t>3.5</a:t>
            </a:r>
            <a:endParaRPr lang="ja-JP" altLang="en-US" sz="1600" b="1" dirty="0">
              <a:latin typeface="+mn-ea"/>
            </a:endParaRPr>
          </a:p>
        </p:txBody>
      </p:sp>
      <p:sp>
        <p:nvSpPr>
          <p:cNvPr id="28" name="テキスト ボックス 27">
            <a:extLst>
              <a:ext uri="{FF2B5EF4-FFF2-40B4-BE49-F238E27FC236}">
                <a16:creationId xmlns:a16="http://schemas.microsoft.com/office/drawing/2014/main" id="{D93F9E14-A25A-16B4-5058-2635E78F34E5}"/>
              </a:ext>
            </a:extLst>
          </p:cNvPr>
          <p:cNvSpPr txBox="1"/>
          <p:nvPr/>
        </p:nvSpPr>
        <p:spPr>
          <a:xfrm>
            <a:off x="4694301" y="4027655"/>
            <a:ext cx="499309" cy="338554"/>
          </a:xfrm>
          <a:prstGeom prst="rect">
            <a:avLst/>
          </a:prstGeom>
          <a:noFill/>
        </p:spPr>
        <p:txBody>
          <a:bodyPr wrap="square">
            <a:spAutoFit/>
          </a:bodyPr>
          <a:lstStyle/>
          <a:p>
            <a:r>
              <a:rPr lang="en-US" altLang="ja-JP" sz="1600" b="1" dirty="0">
                <a:latin typeface="+mn-ea"/>
              </a:rPr>
              <a:t>4.0</a:t>
            </a:r>
            <a:endParaRPr lang="ja-JP" altLang="en-US" sz="1600" b="1" dirty="0">
              <a:latin typeface="+mn-ea"/>
            </a:endParaRPr>
          </a:p>
        </p:txBody>
      </p:sp>
      <p:sp>
        <p:nvSpPr>
          <p:cNvPr id="29" name="テキスト ボックス 28">
            <a:extLst>
              <a:ext uri="{FF2B5EF4-FFF2-40B4-BE49-F238E27FC236}">
                <a16:creationId xmlns:a16="http://schemas.microsoft.com/office/drawing/2014/main" id="{711FF7E3-5533-0831-1031-A249E32840BC}"/>
              </a:ext>
            </a:extLst>
          </p:cNvPr>
          <p:cNvSpPr txBox="1"/>
          <p:nvPr/>
        </p:nvSpPr>
        <p:spPr>
          <a:xfrm>
            <a:off x="4694302" y="3676745"/>
            <a:ext cx="499309" cy="338554"/>
          </a:xfrm>
          <a:prstGeom prst="rect">
            <a:avLst/>
          </a:prstGeom>
          <a:noFill/>
        </p:spPr>
        <p:txBody>
          <a:bodyPr wrap="square">
            <a:spAutoFit/>
          </a:bodyPr>
          <a:lstStyle/>
          <a:p>
            <a:r>
              <a:rPr lang="en-US" altLang="ja-JP" sz="1600" b="1" dirty="0">
                <a:latin typeface="+mn-ea"/>
              </a:rPr>
              <a:t>4.5</a:t>
            </a:r>
            <a:endParaRPr lang="ja-JP" altLang="en-US" sz="1600" b="1" dirty="0">
              <a:latin typeface="+mn-ea"/>
            </a:endParaRPr>
          </a:p>
        </p:txBody>
      </p:sp>
      <p:sp>
        <p:nvSpPr>
          <p:cNvPr id="30" name="テキスト ボックス 29">
            <a:extLst>
              <a:ext uri="{FF2B5EF4-FFF2-40B4-BE49-F238E27FC236}">
                <a16:creationId xmlns:a16="http://schemas.microsoft.com/office/drawing/2014/main" id="{0D1456AA-9214-1A08-F715-BA64E915E536}"/>
              </a:ext>
            </a:extLst>
          </p:cNvPr>
          <p:cNvSpPr txBox="1"/>
          <p:nvPr/>
        </p:nvSpPr>
        <p:spPr>
          <a:xfrm>
            <a:off x="4694302" y="3322867"/>
            <a:ext cx="499309" cy="338554"/>
          </a:xfrm>
          <a:prstGeom prst="rect">
            <a:avLst/>
          </a:prstGeom>
          <a:noFill/>
        </p:spPr>
        <p:txBody>
          <a:bodyPr wrap="square">
            <a:spAutoFit/>
          </a:bodyPr>
          <a:lstStyle/>
          <a:p>
            <a:r>
              <a:rPr lang="en-US" altLang="ja-JP" sz="1600" b="1" dirty="0">
                <a:latin typeface="+mn-ea"/>
              </a:rPr>
              <a:t>5.0</a:t>
            </a:r>
            <a:endParaRPr lang="ja-JP" altLang="en-US" sz="1600" b="1" dirty="0">
              <a:latin typeface="+mn-ea"/>
            </a:endParaRPr>
          </a:p>
        </p:txBody>
      </p:sp>
      <p:sp>
        <p:nvSpPr>
          <p:cNvPr id="31" name="テキスト ボックス 30">
            <a:extLst>
              <a:ext uri="{FF2B5EF4-FFF2-40B4-BE49-F238E27FC236}">
                <a16:creationId xmlns:a16="http://schemas.microsoft.com/office/drawing/2014/main" id="{68C70392-A15B-2B9F-342F-29AECDDE6B8C}"/>
              </a:ext>
            </a:extLst>
          </p:cNvPr>
          <p:cNvSpPr txBox="1"/>
          <p:nvPr/>
        </p:nvSpPr>
        <p:spPr>
          <a:xfrm>
            <a:off x="4694303" y="2977908"/>
            <a:ext cx="499309" cy="338554"/>
          </a:xfrm>
          <a:prstGeom prst="rect">
            <a:avLst/>
          </a:prstGeom>
          <a:noFill/>
        </p:spPr>
        <p:txBody>
          <a:bodyPr wrap="square">
            <a:spAutoFit/>
          </a:bodyPr>
          <a:lstStyle/>
          <a:p>
            <a:r>
              <a:rPr lang="en-US" altLang="ja-JP" sz="1600" b="1" dirty="0">
                <a:latin typeface="+mn-ea"/>
              </a:rPr>
              <a:t>5.5</a:t>
            </a:r>
            <a:endParaRPr lang="ja-JP" altLang="en-US" sz="1600" b="1" dirty="0">
              <a:latin typeface="+mn-ea"/>
            </a:endParaRPr>
          </a:p>
        </p:txBody>
      </p:sp>
      <p:sp>
        <p:nvSpPr>
          <p:cNvPr id="32" name="テキスト ボックス 31">
            <a:extLst>
              <a:ext uri="{FF2B5EF4-FFF2-40B4-BE49-F238E27FC236}">
                <a16:creationId xmlns:a16="http://schemas.microsoft.com/office/drawing/2014/main" id="{EDA03572-5E85-89C5-EE98-D971344134A3}"/>
              </a:ext>
            </a:extLst>
          </p:cNvPr>
          <p:cNvSpPr txBox="1"/>
          <p:nvPr/>
        </p:nvSpPr>
        <p:spPr>
          <a:xfrm>
            <a:off x="4694304" y="2649138"/>
            <a:ext cx="499309" cy="338554"/>
          </a:xfrm>
          <a:prstGeom prst="rect">
            <a:avLst/>
          </a:prstGeom>
          <a:noFill/>
        </p:spPr>
        <p:txBody>
          <a:bodyPr wrap="square">
            <a:spAutoFit/>
          </a:bodyPr>
          <a:lstStyle/>
          <a:p>
            <a:r>
              <a:rPr lang="en-US" altLang="ja-JP" sz="1600" b="1" dirty="0">
                <a:latin typeface="+mn-ea"/>
              </a:rPr>
              <a:t>6.0</a:t>
            </a:r>
          </a:p>
        </p:txBody>
      </p:sp>
      <p:sp>
        <p:nvSpPr>
          <p:cNvPr id="33" name="テキスト ボックス 32">
            <a:extLst>
              <a:ext uri="{FF2B5EF4-FFF2-40B4-BE49-F238E27FC236}">
                <a16:creationId xmlns:a16="http://schemas.microsoft.com/office/drawing/2014/main" id="{7EE93887-3CC4-D104-4497-A47ED57C0778}"/>
              </a:ext>
            </a:extLst>
          </p:cNvPr>
          <p:cNvSpPr txBox="1"/>
          <p:nvPr/>
        </p:nvSpPr>
        <p:spPr>
          <a:xfrm>
            <a:off x="1843294" y="5262963"/>
            <a:ext cx="851647" cy="461665"/>
          </a:xfrm>
          <a:prstGeom prst="rect">
            <a:avLst/>
          </a:prstGeom>
          <a:solidFill>
            <a:schemeClr val="bg1"/>
          </a:solidFill>
        </p:spPr>
        <p:txBody>
          <a:bodyPr wrap="square">
            <a:spAutoFit/>
          </a:bodyPr>
          <a:lstStyle/>
          <a:p>
            <a:r>
              <a:rPr lang="ja-JP" altLang="en-US" sz="2400" b="1" dirty="0">
                <a:solidFill>
                  <a:schemeClr val="accent1"/>
                </a:solidFill>
              </a:rPr>
              <a:t>考察</a:t>
            </a:r>
          </a:p>
        </p:txBody>
      </p:sp>
      <p:sp>
        <p:nvSpPr>
          <p:cNvPr id="5" name="テキスト ボックス 4">
            <a:extLst>
              <a:ext uri="{FF2B5EF4-FFF2-40B4-BE49-F238E27FC236}">
                <a16:creationId xmlns:a16="http://schemas.microsoft.com/office/drawing/2014/main" id="{DFF146E2-497D-35C2-243D-DC0A039FA77E}"/>
              </a:ext>
            </a:extLst>
          </p:cNvPr>
          <p:cNvSpPr txBox="1"/>
          <p:nvPr/>
        </p:nvSpPr>
        <p:spPr>
          <a:xfrm>
            <a:off x="771047" y="4845911"/>
            <a:ext cx="3792384" cy="400110"/>
          </a:xfrm>
          <a:prstGeom prst="rect">
            <a:avLst/>
          </a:prstGeom>
          <a:noFill/>
        </p:spPr>
        <p:txBody>
          <a:bodyPr wrap="square">
            <a:spAutoFit/>
          </a:bodyPr>
          <a:lstStyle/>
          <a:p>
            <a:r>
              <a:rPr lang="ja-JP" altLang="en-US" sz="2000" b="1" dirty="0"/>
              <a:t>人格固定 ＜ 人格切り替え</a:t>
            </a:r>
          </a:p>
        </p:txBody>
      </p:sp>
    </p:spTree>
    <p:extLst>
      <p:ext uri="{BB962C8B-B14F-4D97-AF65-F5344CB8AC3E}">
        <p14:creationId xmlns:p14="http://schemas.microsoft.com/office/powerpoint/2010/main" val="13622379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E6C6D-4DD5-951E-642D-1910F4D61817}"/>
            </a:ext>
          </a:extLst>
        </p:cNvPr>
        <p:cNvGrpSpPr/>
        <p:nvPr/>
      </p:nvGrpSpPr>
      <p:grpSpPr>
        <a:xfrm>
          <a:off x="0" y="0"/>
          <a:ext cx="0" cy="0"/>
          <a:chOff x="0" y="0"/>
          <a:chExt cx="0" cy="0"/>
        </a:xfrm>
      </p:grpSpPr>
      <p:sp>
        <p:nvSpPr>
          <p:cNvPr id="23" name="四角形: 角を丸くする 22">
            <a:extLst>
              <a:ext uri="{FF2B5EF4-FFF2-40B4-BE49-F238E27FC236}">
                <a16:creationId xmlns:a16="http://schemas.microsoft.com/office/drawing/2014/main" id="{937AF2D4-40EF-49DC-2E1B-726752C5B3C4}"/>
              </a:ext>
            </a:extLst>
          </p:cNvPr>
          <p:cNvSpPr/>
          <p:nvPr/>
        </p:nvSpPr>
        <p:spPr>
          <a:xfrm>
            <a:off x="562062" y="5541518"/>
            <a:ext cx="8162488" cy="1103677"/>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スライド番号プレースホルダー 1">
            <a:extLst>
              <a:ext uri="{FF2B5EF4-FFF2-40B4-BE49-F238E27FC236}">
                <a16:creationId xmlns:a16="http://schemas.microsoft.com/office/drawing/2014/main" id="{8BCB336E-FBA5-0D44-A22A-385B3EA871EB}"/>
              </a:ext>
            </a:extLst>
          </p:cNvPr>
          <p:cNvSpPr>
            <a:spLocks noGrp="1"/>
          </p:cNvSpPr>
          <p:nvPr>
            <p:ph type="sldNum" sz="quarter" idx="12"/>
          </p:nvPr>
        </p:nvSpPr>
        <p:spPr/>
        <p:txBody>
          <a:bodyPr/>
          <a:lstStyle/>
          <a:p>
            <a:fld id="{18020408-E1FF-429E-A8D5-EB2A190A0D77}" type="slidenum">
              <a:rPr kumimoji="1" lang="ja-JP" altLang="en-US" smtClean="0"/>
              <a:pPr/>
              <a:t>27</a:t>
            </a:fld>
            <a:endParaRPr kumimoji="1" lang="ja-JP" altLang="en-US" sz="2400" dirty="0"/>
          </a:p>
        </p:txBody>
      </p:sp>
      <p:sp>
        <p:nvSpPr>
          <p:cNvPr id="3" name="タイトル 2">
            <a:extLst>
              <a:ext uri="{FF2B5EF4-FFF2-40B4-BE49-F238E27FC236}">
                <a16:creationId xmlns:a16="http://schemas.microsoft.com/office/drawing/2014/main" id="{553A26B2-689F-1B81-C5EB-F863E83E6B25}"/>
              </a:ext>
            </a:extLst>
          </p:cNvPr>
          <p:cNvSpPr>
            <a:spLocks noGrp="1"/>
          </p:cNvSpPr>
          <p:nvPr>
            <p:ph type="title"/>
          </p:nvPr>
        </p:nvSpPr>
        <p:spPr/>
        <p:txBody>
          <a:bodyPr/>
          <a:lstStyle/>
          <a:p>
            <a:r>
              <a:rPr lang="ja-JP" altLang="en-US" sz="3600" dirty="0"/>
              <a:t>結果・考察：言動を見ていて楽しい</a:t>
            </a:r>
            <a:endParaRPr kumimoji="1" lang="ja-JP" altLang="en-US" sz="3600" dirty="0"/>
          </a:p>
        </p:txBody>
      </p:sp>
      <p:sp>
        <p:nvSpPr>
          <p:cNvPr id="7" name="テキスト ボックス 6">
            <a:extLst>
              <a:ext uri="{FF2B5EF4-FFF2-40B4-BE49-F238E27FC236}">
                <a16:creationId xmlns:a16="http://schemas.microsoft.com/office/drawing/2014/main" id="{904DF26B-8867-E98A-15CD-0DB9024E1874}"/>
              </a:ext>
            </a:extLst>
          </p:cNvPr>
          <p:cNvSpPr txBox="1"/>
          <p:nvPr/>
        </p:nvSpPr>
        <p:spPr>
          <a:xfrm>
            <a:off x="313263" y="3113047"/>
            <a:ext cx="5698069" cy="646331"/>
          </a:xfrm>
          <a:prstGeom prst="rect">
            <a:avLst/>
          </a:prstGeom>
          <a:noFill/>
        </p:spPr>
        <p:txBody>
          <a:bodyPr wrap="square">
            <a:spAutoFit/>
          </a:bodyPr>
          <a:lstStyle/>
          <a:p>
            <a:r>
              <a:rPr lang="ja-JP" altLang="en-US" b="1" dirty="0"/>
              <a:t>名乗りなし水準における</a:t>
            </a:r>
            <a:endParaRPr lang="en-US" altLang="ja-JP" b="1" dirty="0"/>
          </a:p>
          <a:p>
            <a:r>
              <a:rPr lang="ja-JP" altLang="en-US" b="1" dirty="0"/>
              <a:t>人格設定要因での平均値と標準偏差</a:t>
            </a:r>
          </a:p>
        </p:txBody>
      </p:sp>
      <p:sp>
        <p:nvSpPr>
          <p:cNvPr id="9" name="Rectangle 1">
            <a:extLst>
              <a:ext uri="{FF2B5EF4-FFF2-40B4-BE49-F238E27FC236}">
                <a16:creationId xmlns:a16="http://schemas.microsoft.com/office/drawing/2014/main" id="{9D952575-3B51-7BED-4021-DC84735B46CC}"/>
              </a:ext>
            </a:extLst>
          </p:cNvPr>
          <p:cNvSpPr>
            <a:spLocks noChangeArrowheads="1"/>
          </p:cNvSpPr>
          <p:nvPr/>
        </p:nvSpPr>
        <p:spPr bwMode="auto">
          <a:xfrm>
            <a:off x="2362200" y="250391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3" name="テキスト ボックス 12">
            <a:extLst>
              <a:ext uri="{FF2B5EF4-FFF2-40B4-BE49-F238E27FC236}">
                <a16:creationId xmlns:a16="http://schemas.microsoft.com/office/drawing/2014/main" id="{1984802C-43A6-67E9-3FF8-04A15F131890}"/>
              </a:ext>
            </a:extLst>
          </p:cNvPr>
          <p:cNvSpPr txBox="1"/>
          <p:nvPr/>
        </p:nvSpPr>
        <p:spPr>
          <a:xfrm>
            <a:off x="313263" y="1247017"/>
            <a:ext cx="6680203" cy="646331"/>
          </a:xfrm>
          <a:prstGeom prst="rect">
            <a:avLst/>
          </a:prstGeom>
          <a:noFill/>
        </p:spPr>
        <p:txBody>
          <a:bodyPr wrap="square">
            <a:spAutoFit/>
          </a:bodyPr>
          <a:lstStyle/>
          <a:p>
            <a:r>
              <a:rPr lang="ja-JP" altLang="en-US" b="1" dirty="0">
                <a:latin typeface="+mn-ea"/>
              </a:rPr>
              <a:t>「</a:t>
            </a:r>
            <a:r>
              <a:rPr lang="en-US" altLang="ja-JP" b="1" dirty="0">
                <a:latin typeface="+mn-ea"/>
              </a:rPr>
              <a:t>Q9</a:t>
            </a:r>
            <a:r>
              <a:rPr lang="ja-JP" altLang="en-US" b="1" dirty="0">
                <a:latin typeface="+mn-ea"/>
              </a:rPr>
              <a:t>．</a:t>
            </a:r>
            <a:r>
              <a:rPr kumimoji="1" lang="en-US" altLang="ja-JP" b="1" dirty="0">
                <a:latin typeface="游ゴシック" panose="020B0400000000000000" pitchFamily="50" charset="-128"/>
              </a:rPr>
              <a:t>AI </a:t>
            </a:r>
            <a:r>
              <a:rPr kumimoji="1" lang="ja-JP" altLang="en-US" b="1" dirty="0">
                <a:latin typeface="游ゴシック" panose="020B0400000000000000" pitchFamily="50" charset="-128"/>
              </a:rPr>
              <a:t>の言動を見ていて楽しい」について</a:t>
            </a:r>
            <a:endParaRPr kumimoji="1" lang="en-US" altLang="ja-JP" b="1" dirty="0">
              <a:latin typeface="游ゴシック" panose="020B0400000000000000" pitchFamily="50" charset="-128"/>
            </a:endParaRPr>
          </a:p>
          <a:p>
            <a:r>
              <a:rPr kumimoji="1" lang="en-US" altLang="ja-JP" b="1" dirty="0">
                <a:latin typeface="游ゴシック" panose="020B0400000000000000" pitchFamily="50" charset="-128"/>
                <a:sym typeface="Wingdings" panose="05000000000000000000" pitchFamily="2" charset="2"/>
              </a:rPr>
              <a:t></a:t>
            </a:r>
            <a:r>
              <a:rPr kumimoji="1" lang="ja-JP" altLang="en-US" b="1" dirty="0">
                <a:solidFill>
                  <a:srgbClr val="C00000"/>
                </a:solidFill>
                <a:latin typeface="游ゴシック" panose="020B0400000000000000" pitchFamily="50" charset="-128"/>
                <a:sym typeface="Wingdings" panose="05000000000000000000" pitchFamily="2" charset="2"/>
              </a:rPr>
              <a:t>交互作用が有意</a:t>
            </a:r>
            <a:endParaRPr kumimoji="1" lang="en-US" altLang="ja-JP" b="1" dirty="0">
              <a:solidFill>
                <a:srgbClr val="C00000"/>
              </a:solidFill>
              <a:latin typeface="游ゴシック" panose="020B0400000000000000" pitchFamily="50" charset="-128"/>
            </a:endParaRPr>
          </a:p>
        </p:txBody>
      </p:sp>
      <p:graphicFrame>
        <p:nvGraphicFramePr>
          <p:cNvPr id="14" name="表 13">
            <a:extLst>
              <a:ext uri="{FF2B5EF4-FFF2-40B4-BE49-F238E27FC236}">
                <a16:creationId xmlns:a16="http://schemas.microsoft.com/office/drawing/2014/main" id="{25D05A0B-FBC4-8B8B-F954-32884E62A631}"/>
              </a:ext>
            </a:extLst>
          </p:cNvPr>
          <p:cNvGraphicFramePr>
            <a:graphicFrameLocks noGrp="1"/>
          </p:cNvGraphicFramePr>
          <p:nvPr>
            <p:extLst>
              <p:ext uri="{D42A27DB-BD31-4B8C-83A1-F6EECF244321}">
                <p14:modId xmlns:p14="http://schemas.microsoft.com/office/powerpoint/2010/main" val="342398537"/>
              </p:ext>
            </p:extLst>
          </p:nvPr>
        </p:nvGraphicFramePr>
        <p:xfrm>
          <a:off x="436034" y="1980780"/>
          <a:ext cx="5690122" cy="731520"/>
        </p:xfrm>
        <a:graphic>
          <a:graphicData uri="http://schemas.openxmlformats.org/drawingml/2006/table">
            <a:tbl>
              <a:tblPr firstRow="1" bandRow="1">
                <a:tableStyleId>{9D7B26C5-4107-4FEC-AEDC-1716B250A1EF}</a:tableStyleId>
              </a:tblPr>
              <a:tblGrid>
                <a:gridCol w="2155938">
                  <a:extLst>
                    <a:ext uri="{9D8B030D-6E8A-4147-A177-3AD203B41FA5}">
                      <a16:colId xmlns:a16="http://schemas.microsoft.com/office/drawing/2014/main" val="2253055787"/>
                    </a:ext>
                  </a:extLst>
                </a:gridCol>
                <a:gridCol w="906237">
                  <a:extLst>
                    <a:ext uri="{9D8B030D-6E8A-4147-A177-3AD203B41FA5}">
                      <a16:colId xmlns:a16="http://schemas.microsoft.com/office/drawing/2014/main" val="4189014961"/>
                    </a:ext>
                  </a:extLst>
                </a:gridCol>
                <a:gridCol w="1205416">
                  <a:extLst>
                    <a:ext uri="{9D8B030D-6E8A-4147-A177-3AD203B41FA5}">
                      <a16:colId xmlns:a16="http://schemas.microsoft.com/office/drawing/2014/main" val="3674438810"/>
                    </a:ext>
                  </a:extLst>
                </a:gridCol>
                <a:gridCol w="1422531">
                  <a:extLst>
                    <a:ext uri="{9D8B030D-6E8A-4147-A177-3AD203B41FA5}">
                      <a16:colId xmlns:a16="http://schemas.microsoft.com/office/drawing/2014/main" val="678252903"/>
                    </a:ext>
                  </a:extLst>
                </a:gridCol>
              </a:tblGrid>
              <a:tr h="299852">
                <a:tc>
                  <a:txBody>
                    <a:bodyPr/>
                    <a:lstStyle/>
                    <a:p>
                      <a:endParaRPr kumimoji="1" lang="ja-JP" altLang="en-US" sz="1800" dirty="0"/>
                    </a:p>
                  </a:txBody>
                  <a:tcPr>
                    <a:noFill/>
                  </a:tcPr>
                </a:tc>
                <a:tc>
                  <a:txBody>
                    <a:bodyPr/>
                    <a:lstStyle/>
                    <a:p>
                      <a:pPr algn="r" fontAlgn="base">
                        <a:lnSpc>
                          <a:spcPts val="1350"/>
                        </a:lnSpc>
                        <a:buNone/>
                      </a:pPr>
                      <a:r>
                        <a:rPr lang="ja-JP" altLang="en-US" sz="1800" b="1" i="0" dirty="0">
                          <a:solidFill>
                            <a:srgbClr val="000000"/>
                          </a:solidFill>
                          <a:effectLst/>
                          <a:latin typeface="游ゴシック" panose="020B0400000000000000" pitchFamily="50" charset="-128"/>
                          <a:ea typeface="游ゴシック" panose="020B0400000000000000" pitchFamily="50" charset="-128"/>
                        </a:rPr>
                        <a:t>自由度</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rPr>
                        <a:t>F</a:t>
                      </a:r>
                      <a:r>
                        <a:rPr lang="ja-JP" altLang="en-US" sz="1800" b="1" i="0" dirty="0">
                          <a:solidFill>
                            <a:srgbClr val="000000"/>
                          </a:solidFill>
                          <a:effectLst/>
                          <a:latin typeface="游ゴシック" panose="020B0400000000000000" pitchFamily="50" charset="-128"/>
                        </a:rPr>
                        <a:t>値</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tc>
                  <a:txBody>
                    <a:bodyPr/>
                    <a:lstStyle/>
                    <a:p>
                      <a:pPr algn="r" fontAlgn="base">
                        <a:lnSpc>
                          <a:spcPts val="1350"/>
                        </a:lnSpc>
                        <a:buNone/>
                      </a:pPr>
                      <a:r>
                        <a:rPr lang="en-US" altLang="ja-JP" sz="1800" b="1" i="0" dirty="0">
                          <a:solidFill>
                            <a:srgbClr val="000000"/>
                          </a:solidFill>
                          <a:effectLst/>
                          <a:latin typeface="游ゴシック" panose="020B0400000000000000" pitchFamily="50" charset="-128"/>
                        </a:rPr>
                        <a:t>p</a:t>
                      </a:r>
                      <a:r>
                        <a:rPr lang="ja-JP" altLang="en-US" sz="1800" b="1" i="0" dirty="0">
                          <a:solidFill>
                            <a:srgbClr val="000000"/>
                          </a:solidFill>
                          <a:effectLst/>
                          <a:latin typeface="游ゴシック" panose="020B0400000000000000" pitchFamily="50" charset="-128"/>
                        </a:rPr>
                        <a:t>値</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extLst>
                  <a:ext uri="{0D108BD9-81ED-4DB2-BD59-A6C34878D82A}">
                    <a16:rowId xmlns:a16="http://schemas.microsoft.com/office/drawing/2014/main" val="2809685238"/>
                  </a:ext>
                </a:extLst>
              </a:tr>
              <a:tr h="2846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dirty="0">
                          <a:solidFill>
                            <a:srgbClr val="000000"/>
                          </a:solidFill>
                          <a:effectLst/>
                          <a:latin typeface="游ゴシック" panose="020B0400000000000000" pitchFamily="50" charset="-128"/>
                          <a:ea typeface="+mn-ea"/>
                        </a:rPr>
                        <a:t>名乗り</a:t>
                      </a:r>
                      <a:r>
                        <a:rPr kumimoji="1" lang="en-US" altLang="ja-JP" sz="1800" b="1" i="0" dirty="0">
                          <a:solidFill>
                            <a:srgbClr val="000000"/>
                          </a:solidFill>
                          <a:effectLst/>
                          <a:latin typeface="游ゴシック" panose="020B0400000000000000" pitchFamily="50" charset="-128"/>
                          <a:ea typeface="+mn-ea"/>
                        </a:rPr>
                        <a:t>*</a:t>
                      </a:r>
                      <a:r>
                        <a:rPr kumimoji="1" lang="ja-JP" altLang="en-US" sz="1800" b="1" i="0" dirty="0">
                          <a:solidFill>
                            <a:srgbClr val="000000"/>
                          </a:solidFill>
                          <a:effectLst/>
                          <a:latin typeface="游ゴシック" panose="020B0400000000000000" pitchFamily="50" charset="-128"/>
                          <a:ea typeface="+mn-ea"/>
                        </a:rPr>
                        <a:t>人格設定</a:t>
                      </a:r>
                      <a:endParaRPr kumimoji="1" lang="ja-JP" altLang="en-US" sz="1800" dirty="0"/>
                    </a:p>
                  </a:txBody>
                  <a:tcP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ea typeface="游ゴシック" panose="020B0400000000000000" pitchFamily="50" charset="-128"/>
                        </a:rPr>
                        <a:t>1</a:t>
                      </a:r>
                      <a:endParaRPr lang="en-US" altLang="ja-JP" sz="1800" b="1" i="0" dirty="0">
                        <a:solidFill>
                          <a:srgbClr val="000000"/>
                        </a:solidFill>
                        <a:effectLst/>
                      </a:endParaRPr>
                    </a:p>
                  </a:txBody>
                  <a:tcPr anchor="ct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rPr>
                        <a:t>4.86​</a:t>
                      </a:r>
                      <a:endParaRPr lang="en-US" sz="1800" b="1" i="0" dirty="0">
                        <a:solidFill>
                          <a:srgbClr val="000000"/>
                        </a:solidFill>
                        <a:effectLst/>
                      </a:endParaRPr>
                    </a:p>
                  </a:txBody>
                  <a:tcPr anchor="ctr">
                    <a:noFill/>
                  </a:tcPr>
                </a:tc>
                <a:tc>
                  <a:txBody>
                    <a:bodyPr/>
                    <a:lstStyle/>
                    <a:p>
                      <a:pPr algn="r" fontAlgn="base">
                        <a:lnSpc>
                          <a:spcPts val="1350"/>
                        </a:lnSpc>
                        <a:buNone/>
                      </a:pPr>
                      <a:r>
                        <a:rPr lang="en-US" sz="1800" b="1" i="0" dirty="0">
                          <a:solidFill>
                            <a:srgbClr val="C00000"/>
                          </a:solidFill>
                          <a:effectLst/>
                          <a:latin typeface="游ゴシック" panose="020B0400000000000000" pitchFamily="50" charset="-128"/>
                        </a:rPr>
                        <a:t>0.029</a:t>
                      </a:r>
                      <a:r>
                        <a:rPr lang="en-US" sz="1800" b="1" i="0" dirty="0">
                          <a:solidFill>
                            <a:srgbClr val="000000"/>
                          </a:solidFill>
                          <a:effectLst/>
                          <a:latin typeface="游ゴシック" panose="020B0400000000000000" pitchFamily="50" charset="-128"/>
                        </a:rPr>
                        <a:t>​</a:t>
                      </a:r>
                      <a:endParaRPr lang="en-US" sz="1800" b="1" i="0" dirty="0">
                        <a:solidFill>
                          <a:srgbClr val="000000"/>
                        </a:solidFill>
                        <a:effectLst/>
                      </a:endParaRPr>
                    </a:p>
                  </a:txBody>
                  <a:tcPr anchor="ctr">
                    <a:noFill/>
                  </a:tcPr>
                </a:tc>
                <a:extLst>
                  <a:ext uri="{0D108BD9-81ED-4DB2-BD59-A6C34878D82A}">
                    <a16:rowId xmlns:a16="http://schemas.microsoft.com/office/drawing/2014/main" val="2808757430"/>
                  </a:ext>
                </a:extLst>
              </a:tr>
            </a:tbl>
          </a:graphicData>
        </a:graphic>
      </p:graphicFrame>
      <p:graphicFrame>
        <p:nvGraphicFramePr>
          <p:cNvPr id="15" name="表 14">
            <a:extLst>
              <a:ext uri="{FF2B5EF4-FFF2-40B4-BE49-F238E27FC236}">
                <a16:creationId xmlns:a16="http://schemas.microsoft.com/office/drawing/2014/main" id="{5378E0D3-BC04-6F15-CAE6-ED32427BDBE8}"/>
              </a:ext>
            </a:extLst>
          </p:cNvPr>
          <p:cNvGraphicFramePr>
            <a:graphicFrameLocks noGrp="1"/>
          </p:cNvGraphicFramePr>
          <p:nvPr>
            <p:extLst>
              <p:ext uri="{D42A27DB-BD31-4B8C-83A1-F6EECF244321}">
                <p14:modId xmlns:p14="http://schemas.microsoft.com/office/powerpoint/2010/main" val="1622061497"/>
              </p:ext>
            </p:extLst>
          </p:nvPr>
        </p:nvGraphicFramePr>
        <p:xfrm>
          <a:off x="436035" y="3822506"/>
          <a:ext cx="4004229" cy="1019918"/>
        </p:xfrm>
        <a:graphic>
          <a:graphicData uri="http://schemas.openxmlformats.org/drawingml/2006/table">
            <a:tbl>
              <a:tblPr firstRow="1" bandRow="1">
                <a:tableStyleId>{9D7B26C5-4107-4FEC-AEDC-1716B250A1EF}</a:tableStyleId>
              </a:tblPr>
              <a:tblGrid>
                <a:gridCol w="1442745">
                  <a:extLst>
                    <a:ext uri="{9D8B030D-6E8A-4147-A177-3AD203B41FA5}">
                      <a16:colId xmlns:a16="http://schemas.microsoft.com/office/drawing/2014/main" val="4143698353"/>
                    </a:ext>
                  </a:extLst>
                </a:gridCol>
                <a:gridCol w="1280742">
                  <a:extLst>
                    <a:ext uri="{9D8B030D-6E8A-4147-A177-3AD203B41FA5}">
                      <a16:colId xmlns:a16="http://schemas.microsoft.com/office/drawing/2014/main" val="2801815050"/>
                    </a:ext>
                  </a:extLst>
                </a:gridCol>
                <a:gridCol w="1280742">
                  <a:extLst>
                    <a:ext uri="{9D8B030D-6E8A-4147-A177-3AD203B41FA5}">
                      <a16:colId xmlns:a16="http://schemas.microsoft.com/office/drawing/2014/main" val="3674438810"/>
                    </a:ext>
                  </a:extLst>
                </a:gridCol>
              </a:tblGrid>
              <a:tr h="394870">
                <a:tc>
                  <a:txBody>
                    <a:bodyPr/>
                    <a:lstStyle/>
                    <a:p>
                      <a:pPr algn="l" fontAlgn="base">
                        <a:lnSpc>
                          <a:spcPts val="1350"/>
                        </a:lnSpc>
                        <a:buNone/>
                      </a:pPr>
                      <a:r>
                        <a:rPr lang="ja-JP" altLang="en-US" sz="1600" b="1" i="0" dirty="0">
                          <a:solidFill>
                            <a:srgbClr val="000000"/>
                          </a:solidFill>
                          <a:effectLst/>
                          <a:latin typeface="+mn-ea"/>
                          <a:ea typeface="+mn-ea"/>
                        </a:rPr>
                        <a:t>人格設定要因</a:t>
                      </a:r>
                      <a:r>
                        <a:rPr lang="ja-JP" altLang="en-US" sz="1600" b="1" i="0" dirty="0">
                          <a:solidFill>
                            <a:srgbClr val="FFFFFF"/>
                          </a:solidFill>
                          <a:effectLst/>
                          <a:latin typeface="+mn-ea"/>
                          <a:ea typeface="+mn-ea"/>
                        </a:rPr>
                        <a:t>​</a:t>
                      </a:r>
                    </a:p>
                  </a:txBody>
                  <a:tcPr anchor="ctr">
                    <a:noFill/>
                  </a:tcPr>
                </a:tc>
                <a:tc>
                  <a:txBody>
                    <a:bodyPr/>
                    <a:lstStyle/>
                    <a:p>
                      <a:pPr algn="r" fontAlgn="base">
                        <a:lnSpc>
                          <a:spcPts val="1350"/>
                        </a:lnSpc>
                        <a:buNone/>
                      </a:pPr>
                      <a:r>
                        <a:rPr lang="ja-JP" altLang="en-US" sz="1600" b="1" i="0" dirty="0">
                          <a:solidFill>
                            <a:srgbClr val="000000"/>
                          </a:solidFill>
                          <a:effectLst/>
                          <a:latin typeface="+mn-ea"/>
                          <a:ea typeface="+mn-ea"/>
                        </a:rPr>
                        <a:t>平均値</a:t>
                      </a:r>
                      <a:endParaRPr lang="ja-JP" altLang="en-US" sz="1600" b="1" i="0" dirty="0">
                        <a:solidFill>
                          <a:srgbClr val="FFFFFF"/>
                        </a:solidFill>
                        <a:effectLst/>
                        <a:latin typeface="+mn-ea"/>
                        <a:ea typeface="+mn-ea"/>
                      </a:endParaRPr>
                    </a:p>
                  </a:txBody>
                  <a:tcPr anchor="ctr">
                    <a:noFill/>
                  </a:tcPr>
                </a:tc>
                <a:tc>
                  <a:txBody>
                    <a:bodyPr/>
                    <a:lstStyle/>
                    <a:p>
                      <a:pPr algn="r" fontAlgn="base">
                        <a:lnSpc>
                          <a:spcPts val="1350"/>
                        </a:lnSpc>
                        <a:buNone/>
                      </a:pPr>
                      <a:r>
                        <a:rPr lang="ja-JP" altLang="en-US" sz="1600" b="1" i="0" dirty="0">
                          <a:solidFill>
                            <a:srgbClr val="000000"/>
                          </a:solidFill>
                          <a:effectLst/>
                          <a:latin typeface="+mn-ea"/>
                          <a:ea typeface="+mn-ea"/>
                        </a:rPr>
                        <a:t>標準偏差</a:t>
                      </a:r>
                      <a:r>
                        <a:rPr lang="en-US" altLang="ja-JP" sz="1600" b="1" i="0" dirty="0">
                          <a:solidFill>
                            <a:srgbClr val="FFFFFF"/>
                          </a:solidFill>
                          <a:effectLst/>
                          <a:latin typeface="+mn-ea"/>
                          <a:ea typeface="+mn-ea"/>
                        </a:rPr>
                        <a:t>​</a:t>
                      </a:r>
                    </a:p>
                  </a:txBody>
                  <a:tcPr anchor="ctr">
                    <a:noFill/>
                  </a:tcPr>
                </a:tc>
                <a:extLst>
                  <a:ext uri="{0D108BD9-81ED-4DB2-BD59-A6C34878D82A}">
                    <a16:rowId xmlns:a16="http://schemas.microsoft.com/office/drawing/2014/main" val="2809685238"/>
                  </a:ext>
                </a:extLst>
              </a:tr>
              <a:tr h="312524">
                <a:tc>
                  <a:txBody>
                    <a:bodyPr/>
                    <a:lstStyle/>
                    <a:p>
                      <a:pPr algn="l" fontAlgn="base">
                        <a:lnSpc>
                          <a:spcPts val="1350"/>
                        </a:lnSpc>
                        <a:buNone/>
                      </a:pPr>
                      <a:r>
                        <a:rPr lang="ja-JP" altLang="en-US" sz="1600" b="1" i="0" dirty="0">
                          <a:solidFill>
                            <a:srgbClr val="000000"/>
                          </a:solidFill>
                          <a:effectLst/>
                          <a:latin typeface="+mn-ea"/>
                          <a:ea typeface="+mn-ea"/>
                        </a:rPr>
                        <a:t>固定​</a:t>
                      </a:r>
                    </a:p>
                  </a:txBody>
                  <a:tcPr anchor="ctr">
                    <a:noFill/>
                  </a:tcPr>
                </a:tc>
                <a:tc>
                  <a:txBody>
                    <a:bodyPr/>
                    <a:lstStyle/>
                    <a:p>
                      <a:pPr algn="r" fontAlgn="base">
                        <a:lnSpc>
                          <a:spcPts val="1350"/>
                        </a:lnSpc>
                        <a:buNone/>
                      </a:pPr>
                      <a:r>
                        <a:rPr lang="en-US" altLang="ja-JP" sz="1600" b="1" i="0" dirty="0">
                          <a:solidFill>
                            <a:srgbClr val="000000"/>
                          </a:solidFill>
                          <a:effectLst/>
                          <a:latin typeface="+mn-ea"/>
                          <a:ea typeface="+mn-ea"/>
                        </a:rPr>
                        <a:t>4.82</a:t>
                      </a:r>
                    </a:p>
                  </a:txBody>
                  <a:tcPr anchor="ctr">
                    <a:noFill/>
                  </a:tcPr>
                </a:tc>
                <a:tc>
                  <a:txBody>
                    <a:bodyPr/>
                    <a:lstStyle/>
                    <a:p>
                      <a:pPr algn="r" fontAlgn="base">
                        <a:lnSpc>
                          <a:spcPts val="1350"/>
                        </a:lnSpc>
                        <a:buNone/>
                      </a:pPr>
                      <a:r>
                        <a:rPr lang="en-US" sz="1600" b="1" i="0" dirty="0">
                          <a:solidFill>
                            <a:srgbClr val="000000"/>
                          </a:solidFill>
                          <a:effectLst/>
                          <a:latin typeface="+mn-ea"/>
                          <a:ea typeface="+mn-ea"/>
                        </a:rPr>
                        <a:t>2.71</a:t>
                      </a:r>
                    </a:p>
                  </a:txBody>
                  <a:tcPr anchor="ctr">
                    <a:noFill/>
                  </a:tcPr>
                </a:tc>
                <a:extLst>
                  <a:ext uri="{0D108BD9-81ED-4DB2-BD59-A6C34878D82A}">
                    <a16:rowId xmlns:a16="http://schemas.microsoft.com/office/drawing/2014/main" val="2808757430"/>
                  </a:ext>
                </a:extLst>
              </a:tr>
              <a:tr h="312524">
                <a:tc>
                  <a:txBody>
                    <a:bodyPr/>
                    <a:lstStyle/>
                    <a:p>
                      <a:pPr algn="l" fontAlgn="base">
                        <a:lnSpc>
                          <a:spcPts val="1350"/>
                        </a:lnSpc>
                        <a:buNone/>
                      </a:pPr>
                      <a:r>
                        <a:rPr lang="ja-JP" altLang="en-US" sz="1600" b="1" i="0" dirty="0">
                          <a:solidFill>
                            <a:srgbClr val="000000"/>
                          </a:solidFill>
                          <a:effectLst/>
                          <a:latin typeface="+mn-ea"/>
                          <a:ea typeface="+mn-ea"/>
                        </a:rPr>
                        <a:t>切り替え</a:t>
                      </a:r>
                    </a:p>
                  </a:txBody>
                  <a:tcPr anchor="ctr">
                    <a:noFill/>
                  </a:tcPr>
                </a:tc>
                <a:tc>
                  <a:txBody>
                    <a:bodyPr/>
                    <a:lstStyle/>
                    <a:p>
                      <a:pPr algn="r" fontAlgn="base">
                        <a:lnSpc>
                          <a:spcPts val="1350"/>
                        </a:lnSpc>
                        <a:buNone/>
                      </a:pPr>
                      <a:r>
                        <a:rPr lang="en-US" altLang="ja-JP" sz="1600" b="1" i="0" dirty="0">
                          <a:solidFill>
                            <a:srgbClr val="000000"/>
                          </a:solidFill>
                          <a:effectLst/>
                          <a:latin typeface="+mn-ea"/>
                          <a:ea typeface="+mn-ea"/>
                        </a:rPr>
                        <a:t>3.33</a:t>
                      </a:r>
                    </a:p>
                  </a:txBody>
                  <a:tcPr anchor="ctr">
                    <a:noFill/>
                  </a:tcPr>
                </a:tc>
                <a:tc>
                  <a:txBody>
                    <a:bodyPr/>
                    <a:lstStyle/>
                    <a:p>
                      <a:pPr algn="r" fontAlgn="base">
                        <a:lnSpc>
                          <a:spcPts val="1350"/>
                        </a:lnSpc>
                        <a:buNone/>
                      </a:pPr>
                      <a:r>
                        <a:rPr lang="en-US" sz="1600" b="1" i="0" dirty="0">
                          <a:solidFill>
                            <a:srgbClr val="000000"/>
                          </a:solidFill>
                          <a:effectLst/>
                          <a:latin typeface="+mn-ea"/>
                          <a:ea typeface="+mn-ea"/>
                        </a:rPr>
                        <a:t>2.40</a:t>
                      </a:r>
                    </a:p>
                  </a:txBody>
                  <a:tcPr anchor="ctr">
                    <a:noFill/>
                  </a:tcPr>
                </a:tc>
                <a:extLst>
                  <a:ext uri="{0D108BD9-81ED-4DB2-BD59-A6C34878D82A}">
                    <a16:rowId xmlns:a16="http://schemas.microsoft.com/office/drawing/2014/main" val="928760967"/>
                  </a:ext>
                </a:extLst>
              </a:tr>
            </a:tbl>
          </a:graphicData>
        </a:graphic>
      </p:graphicFrame>
      <p:sp>
        <p:nvSpPr>
          <p:cNvPr id="18" name="テキスト ボックス 17">
            <a:extLst>
              <a:ext uri="{FF2B5EF4-FFF2-40B4-BE49-F238E27FC236}">
                <a16:creationId xmlns:a16="http://schemas.microsoft.com/office/drawing/2014/main" id="{0BF9C03B-D887-CE5A-EDB8-197AF8E7407F}"/>
              </a:ext>
            </a:extLst>
          </p:cNvPr>
          <p:cNvSpPr txBox="1"/>
          <p:nvPr/>
        </p:nvSpPr>
        <p:spPr>
          <a:xfrm>
            <a:off x="656903" y="5693280"/>
            <a:ext cx="8067647" cy="830997"/>
          </a:xfrm>
          <a:prstGeom prst="rect">
            <a:avLst/>
          </a:prstGeom>
          <a:noFill/>
        </p:spPr>
        <p:txBody>
          <a:bodyPr wrap="square">
            <a:spAutoFit/>
          </a:bodyPr>
          <a:lstStyle/>
          <a:p>
            <a:r>
              <a:rPr lang="ja-JP" altLang="en-US" sz="2400" b="1" dirty="0"/>
              <a:t>名乗りなしが礼儀正しさの印象を弱め，口調が</a:t>
            </a:r>
            <a:r>
              <a:rPr lang="ja-JP" altLang="en-US" sz="2400" b="1" dirty="0">
                <a:solidFill>
                  <a:srgbClr val="C00000"/>
                </a:solidFill>
              </a:rPr>
              <a:t>馴れ馴れしさ</a:t>
            </a:r>
            <a:r>
              <a:rPr lang="ja-JP" altLang="en-US" sz="2400" b="1" dirty="0"/>
              <a:t>として</a:t>
            </a:r>
            <a:r>
              <a:rPr lang="ja-JP" altLang="en-US" sz="2400" b="1" dirty="0">
                <a:solidFill>
                  <a:srgbClr val="C00000"/>
                </a:solidFill>
              </a:rPr>
              <a:t>ネガティブ</a:t>
            </a:r>
            <a:r>
              <a:rPr lang="ja-JP" altLang="en-US" sz="2400" b="1" dirty="0"/>
              <a:t>に作用する可能性</a:t>
            </a:r>
          </a:p>
        </p:txBody>
      </p:sp>
      <p:sp>
        <p:nvSpPr>
          <p:cNvPr id="20" name="矢印: 右 19">
            <a:extLst>
              <a:ext uri="{FF2B5EF4-FFF2-40B4-BE49-F238E27FC236}">
                <a16:creationId xmlns:a16="http://schemas.microsoft.com/office/drawing/2014/main" id="{7848FE38-5620-977D-B9AD-D7813A55BFCE}"/>
              </a:ext>
            </a:extLst>
          </p:cNvPr>
          <p:cNvSpPr/>
          <p:nvPr/>
        </p:nvSpPr>
        <p:spPr>
          <a:xfrm rot="16200000">
            <a:off x="8228831" y="2997842"/>
            <a:ext cx="369329" cy="4270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21" name="矢印: 右 20">
            <a:extLst>
              <a:ext uri="{FF2B5EF4-FFF2-40B4-BE49-F238E27FC236}">
                <a16:creationId xmlns:a16="http://schemas.microsoft.com/office/drawing/2014/main" id="{6CF83A7F-46EE-8494-19F6-7332AD7D9801}"/>
              </a:ext>
            </a:extLst>
          </p:cNvPr>
          <p:cNvSpPr/>
          <p:nvPr/>
        </p:nvSpPr>
        <p:spPr>
          <a:xfrm rot="5400000">
            <a:off x="8228830" y="4473880"/>
            <a:ext cx="369329" cy="4270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24" name="テキスト ボックス 23">
            <a:extLst>
              <a:ext uri="{FF2B5EF4-FFF2-40B4-BE49-F238E27FC236}">
                <a16:creationId xmlns:a16="http://schemas.microsoft.com/office/drawing/2014/main" id="{DF9B0483-E945-434E-9871-C2844A0B8852}"/>
              </a:ext>
            </a:extLst>
          </p:cNvPr>
          <p:cNvSpPr txBox="1"/>
          <p:nvPr/>
        </p:nvSpPr>
        <p:spPr>
          <a:xfrm>
            <a:off x="7832742" y="2751099"/>
            <a:ext cx="1074214" cy="307777"/>
          </a:xfrm>
          <a:prstGeom prst="rect">
            <a:avLst/>
          </a:prstGeom>
          <a:noFill/>
        </p:spPr>
        <p:txBody>
          <a:bodyPr wrap="square">
            <a:spAutoFit/>
          </a:bodyPr>
          <a:lstStyle/>
          <a:p>
            <a:r>
              <a:rPr lang="ja-JP" altLang="en-US" sz="1400" b="1" dirty="0"/>
              <a:t>あてはまる</a:t>
            </a:r>
            <a:endParaRPr lang="ja-JP" altLang="en-US" sz="1400" dirty="0"/>
          </a:p>
        </p:txBody>
      </p:sp>
      <p:sp>
        <p:nvSpPr>
          <p:cNvPr id="25" name="テキスト ボックス 24">
            <a:extLst>
              <a:ext uri="{FF2B5EF4-FFF2-40B4-BE49-F238E27FC236}">
                <a16:creationId xmlns:a16="http://schemas.microsoft.com/office/drawing/2014/main" id="{B65912E6-36EA-3FED-B1A9-344E49F27A81}"/>
              </a:ext>
            </a:extLst>
          </p:cNvPr>
          <p:cNvSpPr txBox="1"/>
          <p:nvPr/>
        </p:nvSpPr>
        <p:spPr>
          <a:xfrm>
            <a:off x="7766320" y="4887124"/>
            <a:ext cx="1487746" cy="307776"/>
          </a:xfrm>
          <a:prstGeom prst="rect">
            <a:avLst/>
          </a:prstGeom>
          <a:noFill/>
        </p:spPr>
        <p:txBody>
          <a:bodyPr wrap="square">
            <a:spAutoFit/>
          </a:bodyPr>
          <a:lstStyle/>
          <a:p>
            <a:r>
              <a:rPr lang="ja-JP" altLang="en-US" sz="1400" b="1" dirty="0"/>
              <a:t>あてはまらない</a:t>
            </a:r>
            <a:endParaRPr lang="ja-JP" altLang="en-US" sz="1400" dirty="0"/>
          </a:p>
        </p:txBody>
      </p:sp>
      <p:pic>
        <p:nvPicPr>
          <p:cNvPr id="22" name="グラフィックス 21">
            <a:extLst>
              <a:ext uri="{FF2B5EF4-FFF2-40B4-BE49-F238E27FC236}">
                <a16:creationId xmlns:a16="http://schemas.microsoft.com/office/drawing/2014/main" id="{B2AF66E6-8C4E-054D-BBEE-34450E0ABD6A}"/>
              </a:ext>
            </a:extLst>
          </p:cNvPr>
          <p:cNvPicPr>
            <a:picLocks noChangeAspect="1"/>
          </p:cNvPicPr>
          <p:nvPr/>
        </p:nvPicPr>
        <p:blipFill>
          <a:blip r:embed="rId3">
            <a:extLst>
              <a:ext uri="{96DAC541-7B7A-43D3-8B79-37D633B846F1}">
                <asvg:svgBlip xmlns:asvg="http://schemas.microsoft.com/office/drawing/2016/SVG/main" r:embed="rId4"/>
              </a:ext>
            </a:extLst>
          </a:blip>
          <a:srcRect l="3343" t="1310" r="1669" b="3107"/>
          <a:stretch>
            <a:fillRect/>
          </a:stretch>
        </p:blipFill>
        <p:spPr>
          <a:xfrm>
            <a:off x="5109882" y="3059492"/>
            <a:ext cx="2988000" cy="1833173"/>
          </a:xfrm>
          <a:prstGeom prst="rect">
            <a:avLst/>
          </a:prstGeom>
        </p:spPr>
      </p:pic>
      <p:sp>
        <p:nvSpPr>
          <p:cNvPr id="26" name="テキスト ボックス 25">
            <a:extLst>
              <a:ext uri="{FF2B5EF4-FFF2-40B4-BE49-F238E27FC236}">
                <a16:creationId xmlns:a16="http://schemas.microsoft.com/office/drawing/2014/main" id="{B03FE54D-9C4F-162D-F257-E2F77B1D6C9B}"/>
              </a:ext>
            </a:extLst>
          </p:cNvPr>
          <p:cNvSpPr txBox="1"/>
          <p:nvPr/>
        </p:nvSpPr>
        <p:spPr>
          <a:xfrm>
            <a:off x="4765185" y="4654440"/>
            <a:ext cx="499309" cy="338554"/>
          </a:xfrm>
          <a:prstGeom prst="rect">
            <a:avLst/>
          </a:prstGeom>
          <a:noFill/>
        </p:spPr>
        <p:txBody>
          <a:bodyPr wrap="square">
            <a:spAutoFit/>
          </a:bodyPr>
          <a:lstStyle/>
          <a:p>
            <a:r>
              <a:rPr lang="en-US" altLang="ja-JP" sz="1600" b="1" dirty="0">
                <a:latin typeface="+mn-ea"/>
              </a:rPr>
              <a:t>2.0</a:t>
            </a:r>
            <a:endParaRPr lang="ja-JP" altLang="en-US" sz="1600" b="1" dirty="0">
              <a:latin typeface="+mn-ea"/>
            </a:endParaRPr>
          </a:p>
        </p:txBody>
      </p:sp>
      <p:sp>
        <p:nvSpPr>
          <p:cNvPr id="27" name="テキスト ボックス 26">
            <a:extLst>
              <a:ext uri="{FF2B5EF4-FFF2-40B4-BE49-F238E27FC236}">
                <a16:creationId xmlns:a16="http://schemas.microsoft.com/office/drawing/2014/main" id="{D83D79C9-FB19-0A0D-96DE-400F63B1E13A}"/>
              </a:ext>
            </a:extLst>
          </p:cNvPr>
          <p:cNvSpPr txBox="1"/>
          <p:nvPr/>
        </p:nvSpPr>
        <p:spPr>
          <a:xfrm>
            <a:off x="4765185" y="4227757"/>
            <a:ext cx="499309" cy="338554"/>
          </a:xfrm>
          <a:prstGeom prst="rect">
            <a:avLst/>
          </a:prstGeom>
          <a:noFill/>
        </p:spPr>
        <p:txBody>
          <a:bodyPr wrap="square">
            <a:spAutoFit/>
          </a:bodyPr>
          <a:lstStyle/>
          <a:p>
            <a:r>
              <a:rPr lang="en-US" altLang="ja-JP" sz="1600" b="1" dirty="0">
                <a:latin typeface="+mn-ea"/>
              </a:rPr>
              <a:t>3.0</a:t>
            </a:r>
            <a:endParaRPr lang="ja-JP" altLang="en-US" sz="1600" b="1" dirty="0">
              <a:latin typeface="+mn-ea"/>
            </a:endParaRPr>
          </a:p>
        </p:txBody>
      </p:sp>
      <p:sp>
        <p:nvSpPr>
          <p:cNvPr id="28" name="テキスト ボックス 27">
            <a:extLst>
              <a:ext uri="{FF2B5EF4-FFF2-40B4-BE49-F238E27FC236}">
                <a16:creationId xmlns:a16="http://schemas.microsoft.com/office/drawing/2014/main" id="{9AC3EEBD-4EE2-A357-01DA-785D427A5CE9}"/>
              </a:ext>
            </a:extLst>
          </p:cNvPr>
          <p:cNvSpPr txBox="1"/>
          <p:nvPr/>
        </p:nvSpPr>
        <p:spPr>
          <a:xfrm>
            <a:off x="4765185" y="3833445"/>
            <a:ext cx="499309" cy="338554"/>
          </a:xfrm>
          <a:prstGeom prst="rect">
            <a:avLst/>
          </a:prstGeom>
          <a:noFill/>
        </p:spPr>
        <p:txBody>
          <a:bodyPr wrap="square">
            <a:spAutoFit/>
          </a:bodyPr>
          <a:lstStyle/>
          <a:p>
            <a:r>
              <a:rPr lang="en-US" altLang="ja-JP" sz="1600" b="1" dirty="0">
                <a:latin typeface="+mn-ea"/>
              </a:rPr>
              <a:t>4.0</a:t>
            </a:r>
            <a:endParaRPr lang="ja-JP" altLang="en-US" sz="1600" b="1" dirty="0">
              <a:latin typeface="+mn-ea"/>
            </a:endParaRPr>
          </a:p>
        </p:txBody>
      </p:sp>
      <p:sp>
        <p:nvSpPr>
          <p:cNvPr id="29" name="テキスト ボックス 28">
            <a:extLst>
              <a:ext uri="{FF2B5EF4-FFF2-40B4-BE49-F238E27FC236}">
                <a16:creationId xmlns:a16="http://schemas.microsoft.com/office/drawing/2014/main" id="{4631C472-8579-2ABF-F779-701C392962C6}"/>
              </a:ext>
            </a:extLst>
          </p:cNvPr>
          <p:cNvSpPr txBox="1"/>
          <p:nvPr/>
        </p:nvSpPr>
        <p:spPr>
          <a:xfrm>
            <a:off x="4775760" y="3389426"/>
            <a:ext cx="499309" cy="338554"/>
          </a:xfrm>
          <a:prstGeom prst="rect">
            <a:avLst/>
          </a:prstGeom>
          <a:noFill/>
        </p:spPr>
        <p:txBody>
          <a:bodyPr wrap="square">
            <a:spAutoFit/>
          </a:bodyPr>
          <a:lstStyle/>
          <a:p>
            <a:r>
              <a:rPr lang="en-US" altLang="ja-JP" sz="1600" b="1" dirty="0">
                <a:latin typeface="+mn-ea"/>
              </a:rPr>
              <a:t>5.0</a:t>
            </a:r>
            <a:endParaRPr lang="ja-JP" altLang="en-US" sz="1600" b="1" dirty="0">
              <a:latin typeface="+mn-ea"/>
            </a:endParaRPr>
          </a:p>
        </p:txBody>
      </p:sp>
      <p:sp>
        <p:nvSpPr>
          <p:cNvPr id="30" name="テキスト ボックス 29">
            <a:extLst>
              <a:ext uri="{FF2B5EF4-FFF2-40B4-BE49-F238E27FC236}">
                <a16:creationId xmlns:a16="http://schemas.microsoft.com/office/drawing/2014/main" id="{6F158C50-836D-EA07-B54E-811161E6F704}"/>
              </a:ext>
            </a:extLst>
          </p:cNvPr>
          <p:cNvSpPr txBox="1"/>
          <p:nvPr/>
        </p:nvSpPr>
        <p:spPr>
          <a:xfrm>
            <a:off x="4765185" y="2973452"/>
            <a:ext cx="499309" cy="338554"/>
          </a:xfrm>
          <a:prstGeom prst="rect">
            <a:avLst/>
          </a:prstGeom>
          <a:noFill/>
        </p:spPr>
        <p:txBody>
          <a:bodyPr wrap="square">
            <a:spAutoFit/>
          </a:bodyPr>
          <a:lstStyle/>
          <a:p>
            <a:r>
              <a:rPr lang="en-US" altLang="ja-JP" sz="1600" b="1" dirty="0">
                <a:latin typeface="+mn-ea"/>
              </a:rPr>
              <a:t>6.0</a:t>
            </a:r>
            <a:endParaRPr lang="ja-JP" altLang="en-US" sz="1600" b="1" dirty="0">
              <a:latin typeface="+mn-ea"/>
            </a:endParaRPr>
          </a:p>
        </p:txBody>
      </p:sp>
      <p:sp>
        <p:nvSpPr>
          <p:cNvPr id="12" name="テキスト ボックス 11">
            <a:extLst>
              <a:ext uri="{FF2B5EF4-FFF2-40B4-BE49-F238E27FC236}">
                <a16:creationId xmlns:a16="http://schemas.microsoft.com/office/drawing/2014/main" id="{C3F5CB69-C5AD-133B-111F-2F06C2DCA62D}"/>
              </a:ext>
            </a:extLst>
          </p:cNvPr>
          <p:cNvSpPr txBox="1"/>
          <p:nvPr/>
        </p:nvSpPr>
        <p:spPr>
          <a:xfrm>
            <a:off x="5613211" y="4795732"/>
            <a:ext cx="566737" cy="307777"/>
          </a:xfrm>
          <a:prstGeom prst="rect">
            <a:avLst/>
          </a:prstGeom>
          <a:noFill/>
        </p:spPr>
        <p:txBody>
          <a:bodyPr wrap="square">
            <a:spAutoFit/>
          </a:bodyPr>
          <a:lstStyle/>
          <a:p>
            <a:r>
              <a:rPr lang="ja-JP" altLang="en-US" sz="1400" b="1"/>
              <a:t>固定</a:t>
            </a:r>
            <a:endParaRPr lang="ja-JP" altLang="en-US" sz="1400" dirty="0"/>
          </a:p>
        </p:txBody>
      </p:sp>
      <p:sp>
        <p:nvSpPr>
          <p:cNvPr id="17" name="テキスト ボックス 16">
            <a:extLst>
              <a:ext uri="{FF2B5EF4-FFF2-40B4-BE49-F238E27FC236}">
                <a16:creationId xmlns:a16="http://schemas.microsoft.com/office/drawing/2014/main" id="{43B8C55F-5AF5-DA83-28B4-6C7C42C53427}"/>
              </a:ext>
            </a:extLst>
          </p:cNvPr>
          <p:cNvSpPr txBox="1"/>
          <p:nvPr/>
        </p:nvSpPr>
        <p:spPr>
          <a:xfrm>
            <a:off x="6878513" y="4792053"/>
            <a:ext cx="938740" cy="307777"/>
          </a:xfrm>
          <a:prstGeom prst="rect">
            <a:avLst/>
          </a:prstGeom>
          <a:noFill/>
        </p:spPr>
        <p:txBody>
          <a:bodyPr wrap="square">
            <a:spAutoFit/>
          </a:bodyPr>
          <a:lstStyle/>
          <a:p>
            <a:r>
              <a:rPr lang="ja-JP" altLang="en-US" sz="1400" b="1" dirty="0"/>
              <a:t>切り替え</a:t>
            </a:r>
            <a:endParaRPr lang="ja-JP" altLang="en-US" sz="1400" dirty="0"/>
          </a:p>
        </p:txBody>
      </p:sp>
      <p:sp>
        <p:nvSpPr>
          <p:cNvPr id="33" name="テキスト ボックス 32">
            <a:extLst>
              <a:ext uri="{FF2B5EF4-FFF2-40B4-BE49-F238E27FC236}">
                <a16:creationId xmlns:a16="http://schemas.microsoft.com/office/drawing/2014/main" id="{D1964E12-6BB4-5B7C-7A79-94B079CE8512}"/>
              </a:ext>
            </a:extLst>
          </p:cNvPr>
          <p:cNvSpPr txBox="1"/>
          <p:nvPr/>
        </p:nvSpPr>
        <p:spPr>
          <a:xfrm>
            <a:off x="1075765" y="5312661"/>
            <a:ext cx="851647" cy="461665"/>
          </a:xfrm>
          <a:prstGeom prst="rect">
            <a:avLst/>
          </a:prstGeom>
          <a:solidFill>
            <a:schemeClr val="bg1"/>
          </a:solidFill>
        </p:spPr>
        <p:txBody>
          <a:bodyPr wrap="square">
            <a:spAutoFit/>
          </a:bodyPr>
          <a:lstStyle/>
          <a:p>
            <a:r>
              <a:rPr lang="ja-JP" altLang="en-US" sz="2400" b="1" dirty="0">
                <a:solidFill>
                  <a:schemeClr val="accent1"/>
                </a:solidFill>
              </a:rPr>
              <a:t>考察</a:t>
            </a:r>
          </a:p>
        </p:txBody>
      </p:sp>
      <p:sp>
        <p:nvSpPr>
          <p:cNvPr id="34" name="テキスト ボックス 33">
            <a:extLst>
              <a:ext uri="{FF2B5EF4-FFF2-40B4-BE49-F238E27FC236}">
                <a16:creationId xmlns:a16="http://schemas.microsoft.com/office/drawing/2014/main" id="{2C8C9FC8-EE97-479B-A609-00AF4C912766}"/>
              </a:ext>
            </a:extLst>
          </p:cNvPr>
          <p:cNvSpPr txBox="1"/>
          <p:nvPr/>
        </p:nvSpPr>
        <p:spPr>
          <a:xfrm>
            <a:off x="5483249" y="2832075"/>
            <a:ext cx="2150733" cy="307777"/>
          </a:xfrm>
          <a:prstGeom prst="rect">
            <a:avLst/>
          </a:prstGeom>
          <a:noFill/>
        </p:spPr>
        <p:txBody>
          <a:bodyPr wrap="square">
            <a:spAutoFit/>
          </a:bodyPr>
          <a:lstStyle/>
          <a:p>
            <a:r>
              <a:rPr lang="ja-JP" altLang="en-US" sz="1400" b="1" dirty="0"/>
              <a:t>名乗りなし水準において</a:t>
            </a:r>
          </a:p>
        </p:txBody>
      </p:sp>
      <p:sp>
        <p:nvSpPr>
          <p:cNvPr id="4" name="テキスト ボックス 3">
            <a:extLst>
              <a:ext uri="{FF2B5EF4-FFF2-40B4-BE49-F238E27FC236}">
                <a16:creationId xmlns:a16="http://schemas.microsoft.com/office/drawing/2014/main" id="{0C911049-B414-4A75-A847-A0814BB7B489}"/>
              </a:ext>
            </a:extLst>
          </p:cNvPr>
          <p:cNvSpPr txBox="1"/>
          <p:nvPr/>
        </p:nvSpPr>
        <p:spPr>
          <a:xfrm>
            <a:off x="363835" y="5005848"/>
            <a:ext cx="6315553" cy="400110"/>
          </a:xfrm>
          <a:prstGeom prst="rect">
            <a:avLst/>
          </a:prstGeom>
          <a:noFill/>
        </p:spPr>
        <p:txBody>
          <a:bodyPr wrap="square">
            <a:spAutoFit/>
          </a:bodyPr>
          <a:lstStyle/>
          <a:p>
            <a:r>
              <a:rPr lang="ja-JP" altLang="en-US" sz="2000" b="1" dirty="0"/>
              <a:t>名乗りなしのとき 人格固定 ＞ 人格切り替え</a:t>
            </a:r>
          </a:p>
        </p:txBody>
      </p:sp>
    </p:spTree>
    <p:extLst>
      <p:ext uri="{BB962C8B-B14F-4D97-AF65-F5344CB8AC3E}">
        <p14:creationId xmlns:p14="http://schemas.microsoft.com/office/powerpoint/2010/main" val="10041219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B3C98-0657-96E4-1A1A-EB1002579F89}"/>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590659EC-DA65-E590-CAD6-86CECA79ED66}"/>
              </a:ext>
            </a:extLst>
          </p:cNvPr>
          <p:cNvSpPr>
            <a:spLocks noGrp="1"/>
          </p:cNvSpPr>
          <p:nvPr>
            <p:ph type="sldNum" sz="quarter" idx="12"/>
          </p:nvPr>
        </p:nvSpPr>
        <p:spPr/>
        <p:txBody>
          <a:bodyPr/>
          <a:lstStyle/>
          <a:p>
            <a:fld id="{18020408-E1FF-429E-A8D5-EB2A190A0D77}" type="slidenum">
              <a:rPr kumimoji="1" lang="ja-JP" altLang="en-US" smtClean="0"/>
              <a:pPr/>
              <a:t>28</a:t>
            </a:fld>
            <a:endParaRPr kumimoji="1" lang="ja-JP" altLang="en-US" sz="2400" dirty="0"/>
          </a:p>
        </p:txBody>
      </p:sp>
      <p:sp>
        <p:nvSpPr>
          <p:cNvPr id="3" name="タイトル 2">
            <a:extLst>
              <a:ext uri="{FF2B5EF4-FFF2-40B4-BE49-F238E27FC236}">
                <a16:creationId xmlns:a16="http://schemas.microsoft.com/office/drawing/2014/main" id="{C3809D04-EDB7-1656-E5F9-08DB4E16A944}"/>
              </a:ext>
            </a:extLst>
          </p:cNvPr>
          <p:cNvSpPr>
            <a:spLocks noGrp="1"/>
          </p:cNvSpPr>
          <p:nvPr>
            <p:ph type="title"/>
          </p:nvPr>
        </p:nvSpPr>
        <p:spPr/>
        <p:txBody>
          <a:bodyPr/>
          <a:lstStyle/>
          <a:p>
            <a:r>
              <a:rPr lang="ja-JP" altLang="en-US" sz="3600" dirty="0"/>
              <a:t>結果・考察：やりとりへの注意</a:t>
            </a:r>
            <a:endParaRPr kumimoji="1" lang="ja-JP" altLang="en-US" sz="3600" dirty="0"/>
          </a:p>
        </p:txBody>
      </p:sp>
      <p:sp>
        <p:nvSpPr>
          <p:cNvPr id="7" name="テキスト ボックス 6">
            <a:extLst>
              <a:ext uri="{FF2B5EF4-FFF2-40B4-BE49-F238E27FC236}">
                <a16:creationId xmlns:a16="http://schemas.microsoft.com/office/drawing/2014/main" id="{2EE18F0C-8F6F-29FD-3EAE-55C0148D8205}"/>
              </a:ext>
            </a:extLst>
          </p:cNvPr>
          <p:cNvSpPr txBox="1"/>
          <p:nvPr/>
        </p:nvSpPr>
        <p:spPr>
          <a:xfrm>
            <a:off x="313263" y="3153483"/>
            <a:ext cx="5698069" cy="646331"/>
          </a:xfrm>
          <a:prstGeom prst="rect">
            <a:avLst/>
          </a:prstGeom>
          <a:noFill/>
        </p:spPr>
        <p:txBody>
          <a:bodyPr wrap="square">
            <a:spAutoFit/>
          </a:bodyPr>
          <a:lstStyle/>
          <a:p>
            <a:r>
              <a:rPr lang="ja-JP" altLang="en-US" b="1" dirty="0"/>
              <a:t>人格固定水準における</a:t>
            </a:r>
            <a:endParaRPr lang="en-US" altLang="ja-JP" b="1" dirty="0"/>
          </a:p>
          <a:p>
            <a:r>
              <a:rPr lang="ja-JP" altLang="en-US" b="1" dirty="0"/>
              <a:t>名乗り要因での平均値と標準偏差</a:t>
            </a:r>
          </a:p>
        </p:txBody>
      </p:sp>
      <p:sp>
        <p:nvSpPr>
          <p:cNvPr id="9" name="Rectangle 1">
            <a:extLst>
              <a:ext uri="{FF2B5EF4-FFF2-40B4-BE49-F238E27FC236}">
                <a16:creationId xmlns:a16="http://schemas.microsoft.com/office/drawing/2014/main" id="{1C58C897-9E19-1EA1-8171-8E96DA0BABEC}"/>
              </a:ext>
            </a:extLst>
          </p:cNvPr>
          <p:cNvSpPr>
            <a:spLocks noChangeArrowheads="1"/>
          </p:cNvSpPr>
          <p:nvPr/>
        </p:nvSpPr>
        <p:spPr bwMode="auto">
          <a:xfrm>
            <a:off x="2362200" y="250391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1" name="Rectangle 2">
            <a:extLst>
              <a:ext uri="{FF2B5EF4-FFF2-40B4-BE49-F238E27FC236}">
                <a16:creationId xmlns:a16="http://schemas.microsoft.com/office/drawing/2014/main" id="{0154414D-C679-176F-CA37-CF1371D12259}"/>
              </a:ext>
            </a:extLst>
          </p:cNvPr>
          <p:cNvSpPr>
            <a:spLocks noChangeArrowheads="1"/>
          </p:cNvSpPr>
          <p:nvPr/>
        </p:nvSpPr>
        <p:spPr bwMode="auto">
          <a:xfrm>
            <a:off x="2252663" y="3560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3" name="テキスト ボックス 12">
            <a:extLst>
              <a:ext uri="{FF2B5EF4-FFF2-40B4-BE49-F238E27FC236}">
                <a16:creationId xmlns:a16="http://schemas.microsoft.com/office/drawing/2014/main" id="{D904DE1F-40E7-E036-7494-EC39A7905B9E}"/>
              </a:ext>
            </a:extLst>
          </p:cNvPr>
          <p:cNvSpPr txBox="1"/>
          <p:nvPr/>
        </p:nvSpPr>
        <p:spPr>
          <a:xfrm>
            <a:off x="313263" y="1247017"/>
            <a:ext cx="6680203" cy="646331"/>
          </a:xfrm>
          <a:prstGeom prst="rect">
            <a:avLst/>
          </a:prstGeom>
          <a:noFill/>
        </p:spPr>
        <p:txBody>
          <a:bodyPr wrap="square">
            <a:spAutoFit/>
          </a:bodyPr>
          <a:lstStyle/>
          <a:p>
            <a:r>
              <a:rPr lang="ja-JP" altLang="en-US" b="1" dirty="0">
                <a:latin typeface="+mn-ea"/>
              </a:rPr>
              <a:t>「</a:t>
            </a:r>
            <a:r>
              <a:rPr lang="en-US" altLang="ja-JP" b="1" dirty="0">
                <a:latin typeface="+mn-ea"/>
              </a:rPr>
              <a:t>Q10</a:t>
            </a:r>
            <a:r>
              <a:rPr lang="ja-JP" altLang="en-US" b="1" dirty="0">
                <a:latin typeface="+mn-ea"/>
              </a:rPr>
              <a:t>．</a:t>
            </a:r>
            <a:r>
              <a:rPr kumimoji="1" lang="en-US" altLang="ja-JP" b="1" dirty="0">
                <a:latin typeface="游ゴシック" panose="020B0400000000000000" pitchFamily="50" charset="-128"/>
              </a:rPr>
              <a:t> AI </a:t>
            </a:r>
            <a:r>
              <a:rPr kumimoji="1" lang="ja-JP" altLang="en-US" b="1" dirty="0">
                <a:latin typeface="游ゴシック" panose="020B0400000000000000" pitchFamily="50" charset="-128"/>
              </a:rPr>
              <a:t>とのやりとりは注意を引く」について</a:t>
            </a:r>
            <a:endParaRPr kumimoji="1" lang="en-US" altLang="ja-JP" b="1" dirty="0">
              <a:latin typeface="游ゴシック" panose="020B0400000000000000" pitchFamily="50" charset="-128"/>
            </a:endParaRPr>
          </a:p>
          <a:p>
            <a:r>
              <a:rPr kumimoji="1" lang="en-US" altLang="ja-JP" b="1" dirty="0">
                <a:latin typeface="游ゴシック" panose="020B0400000000000000" pitchFamily="50" charset="-128"/>
                <a:sym typeface="Wingdings" panose="05000000000000000000" pitchFamily="2" charset="2"/>
              </a:rPr>
              <a:t></a:t>
            </a:r>
            <a:r>
              <a:rPr kumimoji="1" lang="ja-JP" altLang="en-US" b="1" dirty="0">
                <a:solidFill>
                  <a:srgbClr val="C00000"/>
                </a:solidFill>
                <a:latin typeface="游ゴシック" panose="020B0400000000000000" pitchFamily="50" charset="-128"/>
                <a:sym typeface="Wingdings" panose="05000000000000000000" pitchFamily="2" charset="2"/>
              </a:rPr>
              <a:t>交互作用が有意</a:t>
            </a:r>
            <a:endParaRPr kumimoji="1" lang="en-US" altLang="ja-JP" b="1" dirty="0">
              <a:solidFill>
                <a:srgbClr val="C00000"/>
              </a:solidFill>
              <a:latin typeface="游ゴシック" panose="020B0400000000000000" pitchFamily="50" charset="-128"/>
            </a:endParaRPr>
          </a:p>
        </p:txBody>
      </p:sp>
      <p:graphicFrame>
        <p:nvGraphicFramePr>
          <p:cNvPr id="14" name="表 13">
            <a:extLst>
              <a:ext uri="{FF2B5EF4-FFF2-40B4-BE49-F238E27FC236}">
                <a16:creationId xmlns:a16="http://schemas.microsoft.com/office/drawing/2014/main" id="{3AFA4126-95ED-69D3-5B43-963B04D565A8}"/>
              </a:ext>
            </a:extLst>
          </p:cNvPr>
          <p:cNvGraphicFramePr>
            <a:graphicFrameLocks noGrp="1"/>
          </p:cNvGraphicFramePr>
          <p:nvPr>
            <p:extLst>
              <p:ext uri="{D42A27DB-BD31-4B8C-83A1-F6EECF244321}">
                <p14:modId xmlns:p14="http://schemas.microsoft.com/office/powerpoint/2010/main" val="3292663768"/>
              </p:ext>
            </p:extLst>
          </p:nvPr>
        </p:nvGraphicFramePr>
        <p:xfrm>
          <a:off x="436032" y="1980780"/>
          <a:ext cx="5698069" cy="731520"/>
        </p:xfrm>
        <a:graphic>
          <a:graphicData uri="http://schemas.openxmlformats.org/drawingml/2006/table">
            <a:tbl>
              <a:tblPr firstRow="1" bandRow="1">
                <a:tableStyleId>{9D7B26C5-4107-4FEC-AEDC-1716B250A1EF}</a:tableStyleId>
              </a:tblPr>
              <a:tblGrid>
                <a:gridCol w="1905553">
                  <a:extLst>
                    <a:ext uri="{9D8B030D-6E8A-4147-A177-3AD203B41FA5}">
                      <a16:colId xmlns:a16="http://schemas.microsoft.com/office/drawing/2014/main" val="2253055787"/>
                    </a:ext>
                  </a:extLst>
                </a:gridCol>
                <a:gridCol w="943482">
                  <a:extLst>
                    <a:ext uri="{9D8B030D-6E8A-4147-A177-3AD203B41FA5}">
                      <a16:colId xmlns:a16="http://schemas.microsoft.com/office/drawing/2014/main" val="4189014961"/>
                    </a:ext>
                  </a:extLst>
                </a:gridCol>
                <a:gridCol w="1424517">
                  <a:extLst>
                    <a:ext uri="{9D8B030D-6E8A-4147-A177-3AD203B41FA5}">
                      <a16:colId xmlns:a16="http://schemas.microsoft.com/office/drawing/2014/main" val="3674438810"/>
                    </a:ext>
                  </a:extLst>
                </a:gridCol>
                <a:gridCol w="1424517">
                  <a:extLst>
                    <a:ext uri="{9D8B030D-6E8A-4147-A177-3AD203B41FA5}">
                      <a16:colId xmlns:a16="http://schemas.microsoft.com/office/drawing/2014/main" val="678252903"/>
                    </a:ext>
                  </a:extLst>
                </a:gridCol>
              </a:tblGrid>
              <a:tr h="299852">
                <a:tc>
                  <a:txBody>
                    <a:bodyPr/>
                    <a:lstStyle/>
                    <a:p>
                      <a:endParaRPr kumimoji="1" lang="ja-JP" altLang="en-US" sz="1800" dirty="0"/>
                    </a:p>
                  </a:txBody>
                  <a:tcPr>
                    <a:noFill/>
                  </a:tcPr>
                </a:tc>
                <a:tc>
                  <a:txBody>
                    <a:bodyPr/>
                    <a:lstStyle/>
                    <a:p>
                      <a:pPr algn="r" fontAlgn="base">
                        <a:lnSpc>
                          <a:spcPts val="1350"/>
                        </a:lnSpc>
                        <a:buNone/>
                      </a:pPr>
                      <a:r>
                        <a:rPr lang="ja-JP" altLang="en-US" sz="1800" b="1" i="0" dirty="0">
                          <a:solidFill>
                            <a:srgbClr val="000000"/>
                          </a:solidFill>
                          <a:effectLst/>
                          <a:latin typeface="游ゴシック" panose="020B0400000000000000" pitchFamily="50" charset="-128"/>
                          <a:ea typeface="游ゴシック" panose="020B0400000000000000" pitchFamily="50" charset="-128"/>
                        </a:rPr>
                        <a:t>自由度</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rPr>
                        <a:t>F</a:t>
                      </a:r>
                      <a:r>
                        <a:rPr lang="ja-JP" altLang="en-US" sz="1800" b="1" i="0" dirty="0">
                          <a:solidFill>
                            <a:srgbClr val="000000"/>
                          </a:solidFill>
                          <a:effectLst/>
                          <a:latin typeface="游ゴシック" panose="020B0400000000000000" pitchFamily="50" charset="-128"/>
                        </a:rPr>
                        <a:t>値</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tc>
                  <a:txBody>
                    <a:bodyPr/>
                    <a:lstStyle/>
                    <a:p>
                      <a:pPr algn="r" fontAlgn="base">
                        <a:lnSpc>
                          <a:spcPts val="1350"/>
                        </a:lnSpc>
                        <a:buNone/>
                      </a:pPr>
                      <a:r>
                        <a:rPr lang="en-US" altLang="ja-JP" sz="1800" b="1" i="0" dirty="0">
                          <a:solidFill>
                            <a:srgbClr val="000000"/>
                          </a:solidFill>
                          <a:effectLst/>
                          <a:latin typeface="游ゴシック" panose="020B0400000000000000" pitchFamily="50" charset="-128"/>
                        </a:rPr>
                        <a:t>p</a:t>
                      </a:r>
                      <a:r>
                        <a:rPr lang="ja-JP" altLang="en-US" sz="1800" b="1" i="0" dirty="0">
                          <a:solidFill>
                            <a:srgbClr val="000000"/>
                          </a:solidFill>
                          <a:effectLst/>
                          <a:latin typeface="游ゴシック" panose="020B0400000000000000" pitchFamily="50" charset="-128"/>
                        </a:rPr>
                        <a:t>値</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extLst>
                  <a:ext uri="{0D108BD9-81ED-4DB2-BD59-A6C34878D82A}">
                    <a16:rowId xmlns:a16="http://schemas.microsoft.com/office/drawing/2014/main" val="2809685238"/>
                  </a:ext>
                </a:extLst>
              </a:tr>
              <a:tr h="2846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dirty="0">
                          <a:solidFill>
                            <a:srgbClr val="000000"/>
                          </a:solidFill>
                          <a:effectLst/>
                          <a:latin typeface="游ゴシック" panose="020B0400000000000000" pitchFamily="50" charset="-128"/>
                          <a:ea typeface="+mn-ea"/>
                        </a:rPr>
                        <a:t>名乗り</a:t>
                      </a:r>
                      <a:r>
                        <a:rPr kumimoji="1" lang="en-US" altLang="ja-JP" sz="1800" b="1" i="0" dirty="0">
                          <a:solidFill>
                            <a:srgbClr val="000000"/>
                          </a:solidFill>
                          <a:effectLst/>
                          <a:latin typeface="游ゴシック" panose="020B0400000000000000" pitchFamily="50" charset="-128"/>
                          <a:ea typeface="+mn-ea"/>
                        </a:rPr>
                        <a:t>*</a:t>
                      </a:r>
                      <a:r>
                        <a:rPr kumimoji="1" lang="ja-JP" altLang="en-US" sz="1800" b="1" i="0" dirty="0">
                          <a:solidFill>
                            <a:srgbClr val="000000"/>
                          </a:solidFill>
                          <a:effectLst/>
                          <a:latin typeface="游ゴシック" panose="020B0400000000000000" pitchFamily="50" charset="-128"/>
                          <a:ea typeface="+mn-ea"/>
                        </a:rPr>
                        <a:t>人格設定</a:t>
                      </a:r>
                      <a:endParaRPr kumimoji="1" lang="ja-JP" altLang="en-US" sz="1800" dirty="0"/>
                    </a:p>
                  </a:txBody>
                  <a:tcP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ea typeface="游ゴシック" panose="020B0400000000000000" pitchFamily="50" charset="-128"/>
                        </a:rPr>
                        <a:t>1</a:t>
                      </a:r>
                      <a:endParaRPr lang="en-US" altLang="ja-JP" sz="1800" b="1" i="0" dirty="0">
                        <a:solidFill>
                          <a:srgbClr val="000000"/>
                        </a:solidFill>
                        <a:effectLst/>
                      </a:endParaRPr>
                    </a:p>
                  </a:txBody>
                  <a:tcPr anchor="ct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rPr>
                        <a:t>5.352​</a:t>
                      </a:r>
                      <a:endParaRPr lang="en-US" sz="1800" b="1" i="0" dirty="0">
                        <a:solidFill>
                          <a:srgbClr val="000000"/>
                        </a:solidFill>
                        <a:effectLst/>
                      </a:endParaRPr>
                    </a:p>
                  </a:txBody>
                  <a:tcPr anchor="ctr">
                    <a:noFill/>
                  </a:tcPr>
                </a:tc>
                <a:tc>
                  <a:txBody>
                    <a:bodyPr/>
                    <a:lstStyle/>
                    <a:p>
                      <a:pPr algn="r" fontAlgn="base">
                        <a:lnSpc>
                          <a:spcPts val="1350"/>
                        </a:lnSpc>
                        <a:buNone/>
                      </a:pPr>
                      <a:r>
                        <a:rPr lang="en-US" sz="1800" b="1" i="0" dirty="0">
                          <a:solidFill>
                            <a:srgbClr val="C00000"/>
                          </a:solidFill>
                          <a:effectLst/>
                          <a:latin typeface="游ゴシック" panose="020B0400000000000000" pitchFamily="50" charset="-128"/>
                        </a:rPr>
                        <a:t>0.022</a:t>
                      </a:r>
                      <a:r>
                        <a:rPr lang="en-US" sz="1800" b="1" i="0" dirty="0">
                          <a:solidFill>
                            <a:srgbClr val="000000"/>
                          </a:solidFill>
                          <a:effectLst/>
                          <a:latin typeface="游ゴシック" panose="020B0400000000000000" pitchFamily="50" charset="-128"/>
                        </a:rPr>
                        <a:t>​</a:t>
                      </a:r>
                      <a:endParaRPr lang="en-US" sz="1800" b="1" i="0" dirty="0">
                        <a:solidFill>
                          <a:srgbClr val="000000"/>
                        </a:solidFill>
                        <a:effectLst/>
                      </a:endParaRPr>
                    </a:p>
                  </a:txBody>
                  <a:tcPr anchor="ctr">
                    <a:noFill/>
                  </a:tcPr>
                </a:tc>
                <a:extLst>
                  <a:ext uri="{0D108BD9-81ED-4DB2-BD59-A6C34878D82A}">
                    <a16:rowId xmlns:a16="http://schemas.microsoft.com/office/drawing/2014/main" val="2808757430"/>
                  </a:ext>
                </a:extLst>
              </a:tr>
            </a:tbl>
          </a:graphicData>
        </a:graphic>
      </p:graphicFrame>
      <p:graphicFrame>
        <p:nvGraphicFramePr>
          <p:cNvPr id="15" name="表 14">
            <a:extLst>
              <a:ext uri="{FF2B5EF4-FFF2-40B4-BE49-F238E27FC236}">
                <a16:creationId xmlns:a16="http://schemas.microsoft.com/office/drawing/2014/main" id="{98CE5D5F-F1E9-04E5-615A-7F2BF75040BA}"/>
              </a:ext>
            </a:extLst>
          </p:cNvPr>
          <p:cNvGraphicFramePr>
            <a:graphicFrameLocks noGrp="1"/>
          </p:cNvGraphicFramePr>
          <p:nvPr>
            <p:extLst>
              <p:ext uri="{D42A27DB-BD31-4B8C-83A1-F6EECF244321}">
                <p14:modId xmlns:p14="http://schemas.microsoft.com/office/powerpoint/2010/main" val="2186483007"/>
              </p:ext>
            </p:extLst>
          </p:nvPr>
        </p:nvGraphicFramePr>
        <p:xfrm>
          <a:off x="436035" y="3847673"/>
          <a:ext cx="4004229" cy="1019918"/>
        </p:xfrm>
        <a:graphic>
          <a:graphicData uri="http://schemas.openxmlformats.org/drawingml/2006/table">
            <a:tbl>
              <a:tblPr firstRow="1" bandRow="1">
                <a:tableStyleId>{9D7B26C5-4107-4FEC-AEDC-1716B250A1EF}</a:tableStyleId>
              </a:tblPr>
              <a:tblGrid>
                <a:gridCol w="1442745">
                  <a:extLst>
                    <a:ext uri="{9D8B030D-6E8A-4147-A177-3AD203B41FA5}">
                      <a16:colId xmlns:a16="http://schemas.microsoft.com/office/drawing/2014/main" val="4143698353"/>
                    </a:ext>
                  </a:extLst>
                </a:gridCol>
                <a:gridCol w="1280742">
                  <a:extLst>
                    <a:ext uri="{9D8B030D-6E8A-4147-A177-3AD203B41FA5}">
                      <a16:colId xmlns:a16="http://schemas.microsoft.com/office/drawing/2014/main" val="2801815050"/>
                    </a:ext>
                  </a:extLst>
                </a:gridCol>
                <a:gridCol w="1280742">
                  <a:extLst>
                    <a:ext uri="{9D8B030D-6E8A-4147-A177-3AD203B41FA5}">
                      <a16:colId xmlns:a16="http://schemas.microsoft.com/office/drawing/2014/main" val="3674438810"/>
                    </a:ext>
                  </a:extLst>
                </a:gridCol>
              </a:tblGrid>
              <a:tr h="394870">
                <a:tc>
                  <a:txBody>
                    <a:bodyPr/>
                    <a:lstStyle/>
                    <a:p>
                      <a:pPr algn="l" fontAlgn="base">
                        <a:lnSpc>
                          <a:spcPts val="1350"/>
                        </a:lnSpc>
                        <a:buNone/>
                      </a:pPr>
                      <a:r>
                        <a:rPr lang="ja-JP" altLang="en-US" sz="1600" b="1" i="0" dirty="0">
                          <a:solidFill>
                            <a:srgbClr val="000000"/>
                          </a:solidFill>
                          <a:effectLst/>
                          <a:latin typeface="+mn-ea"/>
                          <a:ea typeface="+mn-ea"/>
                        </a:rPr>
                        <a:t>名乗り要因</a:t>
                      </a:r>
                      <a:r>
                        <a:rPr lang="ja-JP" altLang="en-US" sz="1600" b="1" i="0" dirty="0">
                          <a:solidFill>
                            <a:srgbClr val="FFFFFF"/>
                          </a:solidFill>
                          <a:effectLst/>
                          <a:latin typeface="+mn-ea"/>
                          <a:ea typeface="+mn-ea"/>
                        </a:rPr>
                        <a:t>​</a:t>
                      </a:r>
                    </a:p>
                  </a:txBody>
                  <a:tcPr anchor="ctr">
                    <a:noFill/>
                  </a:tcPr>
                </a:tc>
                <a:tc>
                  <a:txBody>
                    <a:bodyPr/>
                    <a:lstStyle/>
                    <a:p>
                      <a:pPr algn="r" fontAlgn="base">
                        <a:lnSpc>
                          <a:spcPts val="1350"/>
                        </a:lnSpc>
                        <a:buNone/>
                      </a:pPr>
                      <a:r>
                        <a:rPr lang="ja-JP" altLang="en-US" sz="1600" b="1" i="0" dirty="0">
                          <a:solidFill>
                            <a:srgbClr val="000000"/>
                          </a:solidFill>
                          <a:effectLst/>
                          <a:latin typeface="+mn-ea"/>
                          <a:ea typeface="+mn-ea"/>
                        </a:rPr>
                        <a:t>平均値</a:t>
                      </a:r>
                      <a:endParaRPr lang="ja-JP" altLang="en-US" sz="1600" b="1" i="0" dirty="0">
                        <a:solidFill>
                          <a:srgbClr val="FFFFFF"/>
                        </a:solidFill>
                        <a:effectLst/>
                        <a:latin typeface="+mn-ea"/>
                        <a:ea typeface="+mn-ea"/>
                      </a:endParaRPr>
                    </a:p>
                  </a:txBody>
                  <a:tcPr anchor="ctr">
                    <a:noFill/>
                  </a:tcPr>
                </a:tc>
                <a:tc>
                  <a:txBody>
                    <a:bodyPr/>
                    <a:lstStyle/>
                    <a:p>
                      <a:pPr algn="r" fontAlgn="base">
                        <a:lnSpc>
                          <a:spcPts val="1350"/>
                        </a:lnSpc>
                        <a:buNone/>
                      </a:pPr>
                      <a:r>
                        <a:rPr lang="ja-JP" altLang="en-US" sz="1600" b="1" i="0" dirty="0">
                          <a:solidFill>
                            <a:srgbClr val="000000"/>
                          </a:solidFill>
                          <a:effectLst/>
                          <a:latin typeface="+mn-ea"/>
                          <a:ea typeface="+mn-ea"/>
                        </a:rPr>
                        <a:t>標準偏差</a:t>
                      </a:r>
                      <a:r>
                        <a:rPr lang="en-US" altLang="ja-JP" sz="1600" b="1" i="0" dirty="0">
                          <a:solidFill>
                            <a:srgbClr val="FFFFFF"/>
                          </a:solidFill>
                          <a:effectLst/>
                          <a:latin typeface="+mn-ea"/>
                          <a:ea typeface="+mn-ea"/>
                        </a:rPr>
                        <a:t>​</a:t>
                      </a:r>
                    </a:p>
                  </a:txBody>
                  <a:tcPr anchor="ctr">
                    <a:noFill/>
                  </a:tcPr>
                </a:tc>
                <a:extLst>
                  <a:ext uri="{0D108BD9-81ED-4DB2-BD59-A6C34878D82A}">
                    <a16:rowId xmlns:a16="http://schemas.microsoft.com/office/drawing/2014/main" val="2809685238"/>
                  </a:ext>
                </a:extLst>
              </a:tr>
              <a:tr h="312524">
                <a:tc>
                  <a:txBody>
                    <a:bodyPr/>
                    <a:lstStyle/>
                    <a:p>
                      <a:pPr algn="l" fontAlgn="base">
                        <a:lnSpc>
                          <a:spcPts val="1350"/>
                        </a:lnSpc>
                        <a:buNone/>
                      </a:pPr>
                      <a:r>
                        <a:rPr lang="ja-JP" altLang="en-US" sz="1600" b="1" i="0" dirty="0">
                          <a:solidFill>
                            <a:srgbClr val="000000"/>
                          </a:solidFill>
                          <a:effectLst/>
                          <a:latin typeface="+mn-ea"/>
                          <a:ea typeface="+mn-ea"/>
                        </a:rPr>
                        <a:t>あり​</a:t>
                      </a:r>
                    </a:p>
                  </a:txBody>
                  <a:tcPr anchor="ctr">
                    <a:noFill/>
                  </a:tcPr>
                </a:tc>
                <a:tc>
                  <a:txBody>
                    <a:bodyPr/>
                    <a:lstStyle/>
                    <a:p>
                      <a:pPr algn="r" fontAlgn="base">
                        <a:lnSpc>
                          <a:spcPts val="1350"/>
                        </a:lnSpc>
                        <a:buNone/>
                      </a:pPr>
                      <a:r>
                        <a:rPr lang="en-US" altLang="ja-JP" sz="1600" b="1" i="0" dirty="0">
                          <a:solidFill>
                            <a:srgbClr val="000000"/>
                          </a:solidFill>
                          <a:effectLst/>
                          <a:latin typeface="+mn-ea"/>
                          <a:ea typeface="+mn-ea"/>
                        </a:rPr>
                        <a:t>4.22</a:t>
                      </a:r>
                    </a:p>
                  </a:txBody>
                  <a:tcPr anchor="ctr">
                    <a:noFill/>
                  </a:tcPr>
                </a:tc>
                <a:tc>
                  <a:txBody>
                    <a:bodyPr/>
                    <a:lstStyle/>
                    <a:p>
                      <a:pPr algn="r" fontAlgn="base">
                        <a:lnSpc>
                          <a:spcPts val="1350"/>
                        </a:lnSpc>
                        <a:buNone/>
                      </a:pPr>
                      <a:r>
                        <a:rPr lang="en-US" sz="1600" b="1" i="0" dirty="0">
                          <a:solidFill>
                            <a:srgbClr val="000000"/>
                          </a:solidFill>
                          <a:effectLst/>
                          <a:latin typeface="+mn-ea"/>
                          <a:ea typeface="+mn-ea"/>
                        </a:rPr>
                        <a:t>2.27</a:t>
                      </a:r>
                    </a:p>
                  </a:txBody>
                  <a:tcPr anchor="ctr">
                    <a:noFill/>
                  </a:tcPr>
                </a:tc>
                <a:extLst>
                  <a:ext uri="{0D108BD9-81ED-4DB2-BD59-A6C34878D82A}">
                    <a16:rowId xmlns:a16="http://schemas.microsoft.com/office/drawing/2014/main" val="2808757430"/>
                  </a:ext>
                </a:extLst>
              </a:tr>
              <a:tr h="312524">
                <a:tc>
                  <a:txBody>
                    <a:bodyPr/>
                    <a:lstStyle/>
                    <a:p>
                      <a:pPr algn="l" fontAlgn="base">
                        <a:lnSpc>
                          <a:spcPts val="1350"/>
                        </a:lnSpc>
                        <a:buNone/>
                      </a:pPr>
                      <a:r>
                        <a:rPr lang="ja-JP" altLang="en-US" sz="1600" b="1" i="0" dirty="0">
                          <a:solidFill>
                            <a:srgbClr val="000000"/>
                          </a:solidFill>
                          <a:effectLst/>
                          <a:latin typeface="+mn-ea"/>
                          <a:ea typeface="+mn-ea"/>
                        </a:rPr>
                        <a:t>なし</a:t>
                      </a:r>
                    </a:p>
                  </a:txBody>
                  <a:tcPr anchor="ctr">
                    <a:noFill/>
                  </a:tcPr>
                </a:tc>
                <a:tc>
                  <a:txBody>
                    <a:bodyPr/>
                    <a:lstStyle/>
                    <a:p>
                      <a:pPr algn="r" fontAlgn="base">
                        <a:lnSpc>
                          <a:spcPts val="1350"/>
                        </a:lnSpc>
                        <a:buNone/>
                      </a:pPr>
                      <a:r>
                        <a:rPr lang="en-US" altLang="ja-JP" sz="1600" b="1" i="0" dirty="0">
                          <a:solidFill>
                            <a:srgbClr val="000000"/>
                          </a:solidFill>
                          <a:effectLst/>
                          <a:latin typeface="+mn-ea"/>
                          <a:ea typeface="+mn-ea"/>
                        </a:rPr>
                        <a:t>5.76</a:t>
                      </a:r>
                    </a:p>
                  </a:txBody>
                  <a:tcPr anchor="ctr">
                    <a:noFill/>
                  </a:tcPr>
                </a:tc>
                <a:tc>
                  <a:txBody>
                    <a:bodyPr/>
                    <a:lstStyle/>
                    <a:p>
                      <a:pPr algn="r" fontAlgn="base">
                        <a:lnSpc>
                          <a:spcPts val="1350"/>
                        </a:lnSpc>
                        <a:buNone/>
                      </a:pPr>
                      <a:r>
                        <a:rPr lang="en-US" sz="1600" b="1" i="0" dirty="0">
                          <a:solidFill>
                            <a:srgbClr val="000000"/>
                          </a:solidFill>
                          <a:effectLst/>
                          <a:latin typeface="+mn-ea"/>
                          <a:ea typeface="+mn-ea"/>
                        </a:rPr>
                        <a:t>2.21</a:t>
                      </a:r>
                    </a:p>
                  </a:txBody>
                  <a:tcPr anchor="ctr">
                    <a:noFill/>
                  </a:tcPr>
                </a:tc>
                <a:extLst>
                  <a:ext uri="{0D108BD9-81ED-4DB2-BD59-A6C34878D82A}">
                    <a16:rowId xmlns:a16="http://schemas.microsoft.com/office/drawing/2014/main" val="928760967"/>
                  </a:ext>
                </a:extLst>
              </a:tr>
            </a:tbl>
          </a:graphicData>
        </a:graphic>
      </p:graphicFrame>
      <p:sp>
        <p:nvSpPr>
          <p:cNvPr id="24" name="テキスト ボックス 23">
            <a:extLst>
              <a:ext uri="{FF2B5EF4-FFF2-40B4-BE49-F238E27FC236}">
                <a16:creationId xmlns:a16="http://schemas.microsoft.com/office/drawing/2014/main" id="{63B45E60-26A7-96F7-E7D1-C4426C1CAFB4}"/>
              </a:ext>
            </a:extLst>
          </p:cNvPr>
          <p:cNvSpPr txBox="1"/>
          <p:nvPr/>
        </p:nvSpPr>
        <p:spPr>
          <a:xfrm>
            <a:off x="7832742" y="2776266"/>
            <a:ext cx="1074214" cy="307777"/>
          </a:xfrm>
          <a:prstGeom prst="rect">
            <a:avLst/>
          </a:prstGeom>
          <a:noFill/>
        </p:spPr>
        <p:txBody>
          <a:bodyPr wrap="square">
            <a:spAutoFit/>
          </a:bodyPr>
          <a:lstStyle/>
          <a:p>
            <a:r>
              <a:rPr lang="ja-JP" altLang="en-US" sz="1400" b="1" dirty="0"/>
              <a:t>あてはまる</a:t>
            </a:r>
            <a:endParaRPr lang="ja-JP" altLang="en-US" sz="1400" dirty="0"/>
          </a:p>
        </p:txBody>
      </p:sp>
      <p:sp>
        <p:nvSpPr>
          <p:cNvPr id="25" name="テキスト ボックス 24">
            <a:extLst>
              <a:ext uri="{FF2B5EF4-FFF2-40B4-BE49-F238E27FC236}">
                <a16:creationId xmlns:a16="http://schemas.microsoft.com/office/drawing/2014/main" id="{D449728A-D57D-B30C-D5A7-74FF9756B7BA}"/>
              </a:ext>
            </a:extLst>
          </p:cNvPr>
          <p:cNvSpPr txBox="1"/>
          <p:nvPr/>
        </p:nvSpPr>
        <p:spPr>
          <a:xfrm>
            <a:off x="7766320" y="4912291"/>
            <a:ext cx="1487746" cy="307776"/>
          </a:xfrm>
          <a:prstGeom prst="rect">
            <a:avLst/>
          </a:prstGeom>
          <a:noFill/>
        </p:spPr>
        <p:txBody>
          <a:bodyPr wrap="square">
            <a:spAutoFit/>
          </a:bodyPr>
          <a:lstStyle/>
          <a:p>
            <a:r>
              <a:rPr lang="ja-JP" altLang="en-US" sz="1400" b="1" dirty="0"/>
              <a:t>あてはまらない</a:t>
            </a:r>
            <a:endParaRPr lang="ja-JP" altLang="en-US" sz="1400" dirty="0"/>
          </a:p>
        </p:txBody>
      </p:sp>
      <p:pic>
        <p:nvPicPr>
          <p:cNvPr id="5" name="グラフィックス 4">
            <a:extLst>
              <a:ext uri="{FF2B5EF4-FFF2-40B4-BE49-F238E27FC236}">
                <a16:creationId xmlns:a16="http://schemas.microsoft.com/office/drawing/2014/main" id="{B3A42730-4596-B281-B66C-506409149827}"/>
              </a:ext>
            </a:extLst>
          </p:cNvPr>
          <p:cNvPicPr>
            <a:picLocks noChangeAspect="1"/>
          </p:cNvPicPr>
          <p:nvPr/>
        </p:nvPicPr>
        <p:blipFill>
          <a:blip r:embed="rId3">
            <a:extLst>
              <a:ext uri="{96DAC541-7B7A-43D3-8B79-37D633B846F1}">
                <asvg:svgBlip xmlns:asvg="http://schemas.microsoft.com/office/drawing/2016/SVG/main" r:embed="rId4"/>
              </a:ext>
            </a:extLst>
          </a:blip>
          <a:srcRect l="4598" t="2763" r="1609" b="2691"/>
          <a:stretch>
            <a:fillRect/>
          </a:stretch>
        </p:blipFill>
        <p:spPr>
          <a:xfrm>
            <a:off x="5134896" y="3122086"/>
            <a:ext cx="2988000" cy="1775156"/>
          </a:xfrm>
          <a:prstGeom prst="rect">
            <a:avLst/>
          </a:prstGeom>
        </p:spPr>
      </p:pic>
      <p:sp>
        <p:nvSpPr>
          <p:cNvPr id="20" name="矢印: 右 19">
            <a:extLst>
              <a:ext uri="{FF2B5EF4-FFF2-40B4-BE49-F238E27FC236}">
                <a16:creationId xmlns:a16="http://schemas.microsoft.com/office/drawing/2014/main" id="{21B24EFE-E5D2-CB5B-71B5-0F759E9DBA3E}"/>
              </a:ext>
            </a:extLst>
          </p:cNvPr>
          <p:cNvSpPr/>
          <p:nvPr/>
        </p:nvSpPr>
        <p:spPr>
          <a:xfrm rot="16200000">
            <a:off x="8228831" y="3023009"/>
            <a:ext cx="369329" cy="4270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21" name="矢印: 右 20">
            <a:extLst>
              <a:ext uri="{FF2B5EF4-FFF2-40B4-BE49-F238E27FC236}">
                <a16:creationId xmlns:a16="http://schemas.microsoft.com/office/drawing/2014/main" id="{7409D128-FEA9-9166-F0B5-2A91DD572ABB}"/>
              </a:ext>
            </a:extLst>
          </p:cNvPr>
          <p:cNvSpPr/>
          <p:nvPr/>
        </p:nvSpPr>
        <p:spPr>
          <a:xfrm rot="5400000">
            <a:off x="8228830" y="4499047"/>
            <a:ext cx="369329" cy="4270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10" name="四角形: 角を丸くする 9">
            <a:extLst>
              <a:ext uri="{FF2B5EF4-FFF2-40B4-BE49-F238E27FC236}">
                <a16:creationId xmlns:a16="http://schemas.microsoft.com/office/drawing/2014/main" id="{BD648140-10A0-F531-E8E0-1331E4E00113}"/>
              </a:ext>
            </a:extLst>
          </p:cNvPr>
          <p:cNvSpPr/>
          <p:nvPr/>
        </p:nvSpPr>
        <p:spPr>
          <a:xfrm>
            <a:off x="1300092" y="5559814"/>
            <a:ext cx="6315554" cy="1126236"/>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A74CED3E-9457-205E-91ED-1A05D9AF354A}"/>
              </a:ext>
            </a:extLst>
          </p:cNvPr>
          <p:cNvSpPr txBox="1"/>
          <p:nvPr/>
        </p:nvSpPr>
        <p:spPr>
          <a:xfrm>
            <a:off x="1528354" y="5712227"/>
            <a:ext cx="6167672" cy="830997"/>
          </a:xfrm>
          <a:prstGeom prst="rect">
            <a:avLst/>
          </a:prstGeom>
          <a:noFill/>
        </p:spPr>
        <p:txBody>
          <a:bodyPr wrap="square">
            <a:spAutoFit/>
          </a:bodyPr>
          <a:lstStyle/>
          <a:p>
            <a:r>
              <a:rPr lang="ja-JP" altLang="en-US" sz="2400" b="1" dirty="0"/>
              <a:t>変化が分かりにくく，前のチャットとの</a:t>
            </a:r>
            <a:endParaRPr lang="en-US" altLang="ja-JP" sz="2400" b="1" dirty="0"/>
          </a:p>
          <a:p>
            <a:r>
              <a:rPr lang="ja-JP" altLang="en-US" sz="2400" b="1" dirty="0">
                <a:solidFill>
                  <a:srgbClr val="C00000"/>
                </a:solidFill>
              </a:rPr>
              <a:t>違いを探すため</a:t>
            </a:r>
            <a:r>
              <a:rPr lang="ja-JP" altLang="en-US" sz="2400" b="1" dirty="0"/>
              <a:t>に注意を促した可能性</a:t>
            </a:r>
          </a:p>
        </p:txBody>
      </p:sp>
      <p:sp>
        <p:nvSpPr>
          <p:cNvPr id="22" name="テキスト ボックス 21">
            <a:extLst>
              <a:ext uri="{FF2B5EF4-FFF2-40B4-BE49-F238E27FC236}">
                <a16:creationId xmlns:a16="http://schemas.microsoft.com/office/drawing/2014/main" id="{16B05399-CA27-E83F-556D-4CFC66467544}"/>
              </a:ext>
            </a:extLst>
          </p:cNvPr>
          <p:cNvSpPr txBox="1"/>
          <p:nvPr/>
        </p:nvSpPr>
        <p:spPr>
          <a:xfrm>
            <a:off x="4789888" y="4690145"/>
            <a:ext cx="499309" cy="338554"/>
          </a:xfrm>
          <a:prstGeom prst="rect">
            <a:avLst/>
          </a:prstGeom>
          <a:noFill/>
        </p:spPr>
        <p:txBody>
          <a:bodyPr wrap="square">
            <a:spAutoFit/>
          </a:bodyPr>
          <a:lstStyle/>
          <a:p>
            <a:r>
              <a:rPr lang="en-US" altLang="ja-JP" sz="1600" b="1" dirty="0">
                <a:latin typeface="+mn-ea"/>
              </a:rPr>
              <a:t>3.0</a:t>
            </a:r>
            <a:endParaRPr lang="ja-JP" altLang="en-US" sz="1600" b="1" dirty="0">
              <a:latin typeface="+mn-ea"/>
            </a:endParaRPr>
          </a:p>
        </p:txBody>
      </p:sp>
      <p:sp>
        <p:nvSpPr>
          <p:cNvPr id="23" name="テキスト ボックス 22">
            <a:extLst>
              <a:ext uri="{FF2B5EF4-FFF2-40B4-BE49-F238E27FC236}">
                <a16:creationId xmlns:a16="http://schemas.microsoft.com/office/drawing/2014/main" id="{A919E3D7-1D93-6B46-9682-0ED30031EBF4}"/>
              </a:ext>
            </a:extLst>
          </p:cNvPr>
          <p:cNvSpPr txBox="1"/>
          <p:nvPr/>
        </p:nvSpPr>
        <p:spPr>
          <a:xfrm>
            <a:off x="4790769" y="4283397"/>
            <a:ext cx="499309" cy="338554"/>
          </a:xfrm>
          <a:prstGeom prst="rect">
            <a:avLst/>
          </a:prstGeom>
          <a:noFill/>
        </p:spPr>
        <p:txBody>
          <a:bodyPr wrap="square">
            <a:spAutoFit/>
          </a:bodyPr>
          <a:lstStyle/>
          <a:p>
            <a:r>
              <a:rPr lang="en-US" altLang="ja-JP" sz="1600" b="1" dirty="0">
                <a:latin typeface="+mn-ea"/>
              </a:rPr>
              <a:t>4.0</a:t>
            </a:r>
            <a:endParaRPr lang="ja-JP" altLang="en-US" sz="1600" b="1" dirty="0">
              <a:latin typeface="+mn-ea"/>
            </a:endParaRPr>
          </a:p>
        </p:txBody>
      </p:sp>
      <p:sp>
        <p:nvSpPr>
          <p:cNvPr id="26" name="テキスト ボックス 25">
            <a:extLst>
              <a:ext uri="{FF2B5EF4-FFF2-40B4-BE49-F238E27FC236}">
                <a16:creationId xmlns:a16="http://schemas.microsoft.com/office/drawing/2014/main" id="{1D95607C-9EE4-8069-3D59-72F840C94651}"/>
              </a:ext>
            </a:extLst>
          </p:cNvPr>
          <p:cNvSpPr txBox="1"/>
          <p:nvPr/>
        </p:nvSpPr>
        <p:spPr>
          <a:xfrm>
            <a:off x="4790770" y="3869733"/>
            <a:ext cx="499309" cy="338554"/>
          </a:xfrm>
          <a:prstGeom prst="rect">
            <a:avLst/>
          </a:prstGeom>
          <a:noFill/>
        </p:spPr>
        <p:txBody>
          <a:bodyPr wrap="square">
            <a:spAutoFit/>
          </a:bodyPr>
          <a:lstStyle/>
          <a:p>
            <a:r>
              <a:rPr lang="en-US" altLang="ja-JP" sz="1600" b="1" dirty="0">
                <a:latin typeface="+mn-ea"/>
              </a:rPr>
              <a:t>5.0</a:t>
            </a:r>
            <a:endParaRPr lang="ja-JP" altLang="en-US" sz="1600" b="1" dirty="0">
              <a:latin typeface="+mn-ea"/>
            </a:endParaRPr>
          </a:p>
        </p:txBody>
      </p:sp>
      <p:sp>
        <p:nvSpPr>
          <p:cNvPr id="27" name="テキスト ボックス 26">
            <a:extLst>
              <a:ext uri="{FF2B5EF4-FFF2-40B4-BE49-F238E27FC236}">
                <a16:creationId xmlns:a16="http://schemas.microsoft.com/office/drawing/2014/main" id="{3BCF45C3-A120-8471-AB88-39D30BAC9565}"/>
              </a:ext>
            </a:extLst>
          </p:cNvPr>
          <p:cNvSpPr txBox="1"/>
          <p:nvPr/>
        </p:nvSpPr>
        <p:spPr>
          <a:xfrm>
            <a:off x="4790770" y="3453104"/>
            <a:ext cx="499309" cy="338554"/>
          </a:xfrm>
          <a:prstGeom prst="rect">
            <a:avLst/>
          </a:prstGeom>
          <a:noFill/>
        </p:spPr>
        <p:txBody>
          <a:bodyPr wrap="square">
            <a:spAutoFit/>
          </a:bodyPr>
          <a:lstStyle/>
          <a:p>
            <a:r>
              <a:rPr lang="en-US" altLang="ja-JP" sz="1600" b="1" dirty="0">
                <a:latin typeface="+mn-ea"/>
              </a:rPr>
              <a:t>6.0</a:t>
            </a:r>
            <a:endParaRPr lang="ja-JP" altLang="en-US" sz="1600" b="1" dirty="0">
              <a:latin typeface="+mn-ea"/>
            </a:endParaRPr>
          </a:p>
        </p:txBody>
      </p:sp>
      <p:sp>
        <p:nvSpPr>
          <p:cNvPr id="28" name="テキスト ボックス 27">
            <a:extLst>
              <a:ext uri="{FF2B5EF4-FFF2-40B4-BE49-F238E27FC236}">
                <a16:creationId xmlns:a16="http://schemas.microsoft.com/office/drawing/2014/main" id="{5FE3DA11-0B35-11A7-BCAF-DB57CEA0169F}"/>
              </a:ext>
            </a:extLst>
          </p:cNvPr>
          <p:cNvSpPr txBox="1"/>
          <p:nvPr/>
        </p:nvSpPr>
        <p:spPr>
          <a:xfrm>
            <a:off x="4790771" y="3036428"/>
            <a:ext cx="499309" cy="338554"/>
          </a:xfrm>
          <a:prstGeom prst="rect">
            <a:avLst/>
          </a:prstGeom>
          <a:noFill/>
        </p:spPr>
        <p:txBody>
          <a:bodyPr wrap="square">
            <a:spAutoFit/>
          </a:bodyPr>
          <a:lstStyle/>
          <a:p>
            <a:r>
              <a:rPr lang="en-US" altLang="ja-JP" sz="1600" b="1" dirty="0">
                <a:latin typeface="+mn-ea"/>
              </a:rPr>
              <a:t>7.0</a:t>
            </a:r>
            <a:endParaRPr lang="ja-JP" altLang="en-US" sz="1600" b="1" dirty="0">
              <a:latin typeface="+mn-ea"/>
            </a:endParaRPr>
          </a:p>
        </p:txBody>
      </p:sp>
      <p:sp>
        <p:nvSpPr>
          <p:cNvPr id="12" name="テキスト ボックス 11">
            <a:extLst>
              <a:ext uri="{FF2B5EF4-FFF2-40B4-BE49-F238E27FC236}">
                <a16:creationId xmlns:a16="http://schemas.microsoft.com/office/drawing/2014/main" id="{CBD3DA18-B3F9-11EE-6C0E-4F41F27A6F9F}"/>
              </a:ext>
            </a:extLst>
          </p:cNvPr>
          <p:cNvSpPr txBox="1"/>
          <p:nvPr/>
        </p:nvSpPr>
        <p:spPr>
          <a:xfrm>
            <a:off x="5366264" y="4820899"/>
            <a:ext cx="1150146" cy="307777"/>
          </a:xfrm>
          <a:prstGeom prst="rect">
            <a:avLst/>
          </a:prstGeom>
          <a:noFill/>
        </p:spPr>
        <p:txBody>
          <a:bodyPr wrap="square">
            <a:spAutoFit/>
          </a:bodyPr>
          <a:lstStyle/>
          <a:p>
            <a:r>
              <a:rPr lang="ja-JP" altLang="en-US" sz="1400" b="1" dirty="0"/>
              <a:t>名乗りあり</a:t>
            </a:r>
            <a:endParaRPr lang="ja-JP" altLang="en-US" sz="1400" dirty="0"/>
          </a:p>
        </p:txBody>
      </p:sp>
      <p:sp>
        <p:nvSpPr>
          <p:cNvPr id="17" name="テキスト ボックス 16">
            <a:extLst>
              <a:ext uri="{FF2B5EF4-FFF2-40B4-BE49-F238E27FC236}">
                <a16:creationId xmlns:a16="http://schemas.microsoft.com/office/drawing/2014/main" id="{5074ECFB-1643-E5DF-8226-C1FB4F74E47B}"/>
              </a:ext>
            </a:extLst>
          </p:cNvPr>
          <p:cNvSpPr txBox="1"/>
          <p:nvPr/>
        </p:nvSpPr>
        <p:spPr>
          <a:xfrm>
            <a:off x="6814809" y="4813003"/>
            <a:ext cx="1086755" cy="307777"/>
          </a:xfrm>
          <a:prstGeom prst="rect">
            <a:avLst/>
          </a:prstGeom>
          <a:noFill/>
        </p:spPr>
        <p:txBody>
          <a:bodyPr wrap="square">
            <a:spAutoFit/>
          </a:bodyPr>
          <a:lstStyle/>
          <a:p>
            <a:r>
              <a:rPr lang="ja-JP" altLang="en-US" sz="1400" b="1" dirty="0"/>
              <a:t>名乗りなし</a:t>
            </a:r>
            <a:endParaRPr lang="ja-JP" altLang="en-US" sz="1400" dirty="0"/>
          </a:p>
        </p:txBody>
      </p:sp>
      <p:sp>
        <p:nvSpPr>
          <p:cNvPr id="32" name="テキスト ボックス 31">
            <a:extLst>
              <a:ext uri="{FF2B5EF4-FFF2-40B4-BE49-F238E27FC236}">
                <a16:creationId xmlns:a16="http://schemas.microsoft.com/office/drawing/2014/main" id="{AE8FC9C7-FF57-D913-6D20-05094300A988}"/>
              </a:ext>
            </a:extLst>
          </p:cNvPr>
          <p:cNvSpPr txBox="1"/>
          <p:nvPr/>
        </p:nvSpPr>
        <p:spPr>
          <a:xfrm>
            <a:off x="1688162" y="5316108"/>
            <a:ext cx="851647" cy="461665"/>
          </a:xfrm>
          <a:prstGeom prst="rect">
            <a:avLst/>
          </a:prstGeom>
          <a:solidFill>
            <a:schemeClr val="bg1"/>
          </a:solidFill>
        </p:spPr>
        <p:txBody>
          <a:bodyPr wrap="square">
            <a:spAutoFit/>
          </a:bodyPr>
          <a:lstStyle/>
          <a:p>
            <a:r>
              <a:rPr lang="ja-JP" altLang="en-US" sz="2400" b="1" dirty="0">
                <a:solidFill>
                  <a:schemeClr val="accent1"/>
                </a:solidFill>
              </a:rPr>
              <a:t>考察</a:t>
            </a:r>
          </a:p>
        </p:txBody>
      </p:sp>
      <p:sp>
        <p:nvSpPr>
          <p:cNvPr id="33" name="テキスト ボックス 32">
            <a:extLst>
              <a:ext uri="{FF2B5EF4-FFF2-40B4-BE49-F238E27FC236}">
                <a16:creationId xmlns:a16="http://schemas.microsoft.com/office/drawing/2014/main" id="{1A35F45F-36AC-2E58-5294-8884D8480192}"/>
              </a:ext>
            </a:extLst>
          </p:cNvPr>
          <p:cNvSpPr txBox="1"/>
          <p:nvPr/>
        </p:nvSpPr>
        <p:spPr>
          <a:xfrm>
            <a:off x="5687906" y="2831867"/>
            <a:ext cx="2008120" cy="307777"/>
          </a:xfrm>
          <a:prstGeom prst="rect">
            <a:avLst/>
          </a:prstGeom>
          <a:noFill/>
        </p:spPr>
        <p:txBody>
          <a:bodyPr wrap="square">
            <a:spAutoFit/>
          </a:bodyPr>
          <a:lstStyle/>
          <a:p>
            <a:r>
              <a:rPr lang="ja-JP" altLang="en-US" sz="1400" b="1" dirty="0"/>
              <a:t>人格固定水準において</a:t>
            </a:r>
          </a:p>
        </p:txBody>
      </p:sp>
      <p:sp>
        <p:nvSpPr>
          <p:cNvPr id="4" name="テキスト ボックス 3">
            <a:extLst>
              <a:ext uri="{FF2B5EF4-FFF2-40B4-BE49-F238E27FC236}">
                <a16:creationId xmlns:a16="http://schemas.microsoft.com/office/drawing/2014/main" id="{6956AAB6-EE89-6324-618B-6F29A7B03821}"/>
              </a:ext>
            </a:extLst>
          </p:cNvPr>
          <p:cNvSpPr txBox="1"/>
          <p:nvPr/>
        </p:nvSpPr>
        <p:spPr>
          <a:xfrm>
            <a:off x="376413" y="4979879"/>
            <a:ext cx="6315553" cy="400110"/>
          </a:xfrm>
          <a:prstGeom prst="rect">
            <a:avLst/>
          </a:prstGeom>
          <a:noFill/>
        </p:spPr>
        <p:txBody>
          <a:bodyPr wrap="square">
            <a:spAutoFit/>
          </a:bodyPr>
          <a:lstStyle/>
          <a:p>
            <a:r>
              <a:rPr lang="ja-JP" altLang="en-US" sz="2000" b="1" dirty="0"/>
              <a:t>人格固定のとき 名乗りあり ＜ 名乗りなし</a:t>
            </a:r>
          </a:p>
        </p:txBody>
      </p:sp>
    </p:spTree>
    <p:extLst>
      <p:ext uri="{BB962C8B-B14F-4D97-AF65-F5344CB8AC3E}">
        <p14:creationId xmlns:p14="http://schemas.microsoft.com/office/powerpoint/2010/main" val="14976072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1FF83-2853-1A1D-6CBE-3A946DF5530C}"/>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4357F665-A7EF-A5EB-36D3-BF089A1EF118}"/>
              </a:ext>
            </a:extLst>
          </p:cNvPr>
          <p:cNvSpPr>
            <a:spLocks noGrp="1"/>
          </p:cNvSpPr>
          <p:nvPr>
            <p:ph type="sldNum" sz="quarter" idx="12"/>
          </p:nvPr>
        </p:nvSpPr>
        <p:spPr/>
        <p:txBody>
          <a:bodyPr/>
          <a:lstStyle/>
          <a:p>
            <a:fld id="{18020408-E1FF-429E-A8D5-EB2A190A0D77}" type="slidenum">
              <a:rPr kumimoji="1" lang="ja-JP" altLang="en-US" smtClean="0"/>
              <a:pPr/>
              <a:t>29</a:t>
            </a:fld>
            <a:endParaRPr kumimoji="1" lang="ja-JP" altLang="en-US" sz="2400" dirty="0"/>
          </a:p>
        </p:txBody>
      </p:sp>
      <p:sp>
        <p:nvSpPr>
          <p:cNvPr id="3" name="タイトル 2">
            <a:extLst>
              <a:ext uri="{FF2B5EF4-FFF2-40B4-BE49-F238E27FC236}">
                <a16:creationId xmlns:a16="http://schemas.microsoft.com/office/drawing/2014/main" id="{E24787A2-DD7D-4FB7-BC0C-789703D5C2AD}"/>
              </a:ext>
            </a:extLst>
          </p:cNvPr>
          <p:cNvSpPr>
            <a:spLocks noGrp="1"/>
          </p:cNvSpPr>
          <p:nvPr>
            <p:ph type="title"/>
          </p:nvPr>
        </p:nvSpPr>
        <p:spPr/>
        <p:txBody>
          <a:bodyPr/>
          <a:lstStyle/>
          <a:p>
            <a:r>
              <a:rPr lang="ja-JP" altLang="en-US" sz="3600" dirty="0"/>
              <a:t>結果・考察：</a:t>
            </a:r>
            <a:r>
              <a:rPr lang="en-US" altLang="ja-JP" sz="3600" dirty="0"/>
              <a:t>LLM</a:t>
            </a:r>
            <a:r>
              <a:rPr lang="ja-JP" altLang="en-US" sz="3600" dirty="0"/>
              <a:t>への感情の知覚</a:t>
            </a:r>
            <a:endParaRPr kumimoji="1" lang="ja-JP" altLang="en-US" sz="3600" dirty="0"/>
          </a:p>
        </p:txBody>
      </p:sp>
      <p:sp>
        <p:nvSpPr>
          <p:cNvPr id="7" name="テキスト ボックス 6">
            <a:extLst>
              <a:ext uri="{FF2B5EF4-FFF2-40B4-BE49-F238E27FC236}">
                <a16:creationId xmlns:a16="http://schemas.microsoft.com/office/drawing/2014/main" id="{D0D95B22-811E-5368-2BDD-67958CED1421}"/>
              </a:ext>
            </a:extLst>
          </p:cNvPr>
          <p:cNvSpPr txBox="1"/>
          <p:nvPr/>
        </p:nvSpPr>
        <p:spPr>
          <a:xfrm>
            <a:off x="313263" y="3119927"/>
            <a:ext cx="5698069" cy="646331"/>
          </a:xfrm>
          <a:prstGeom prst="rect">
            <a:avLst/>
          </a:prstGeom>
          <a:noFill/>
        </p:spPr>
        <p:txBody>
          <a:bodyPr wrap="square">
            <a:spAutoFit/>
          </a:bodyPr>
          <a:lstStyle/>
          <a:p>
            <a:r>
              <a:rPr lang="ja-JP" altLang="en-US" b="1" dirty="0"/>
              <a:t>人格固定水準における</a:t>
            </a:r>
            <a:endParaRPr lang="en-US" altLang="ja-JP" b="1" dirty="0"/>
          </a:p>
          <a:p>
            <a:r>
              <a:rPr lang="ja-JP" altLang="en-US" b="1" dirty="0"/>
              <a:t>名乗り要因での平均値と標準偏差</a:t>
            </a:r>
          </a:p>
        </p:txBody>
      </p:sp>
      <p:sp>
        <p:nvSpPr>
          <p:cNvPr id="9" name="Rectangle 1">
            <a:extLst>
              <a:ext uri="{FF2B5EF4-FFF2-40B4-BE49-F238E27FC236}">
                <a16:creationId xmlns:a16="http://schemas.microsoft.com/office/drawing/2014/main" id="{AC5EE593-310A-3AFC-6870-E363A9E51D0B}"/>
              </a:ext>
            </a:extLst>
          </p:cNvPr>
          <p:cNvSpPr>
            <a:spLocks noChangeArrowheads="1"/>
          </p:cNvSpPr>
          <p:nvPr/>
        </p:nvSpPr>
        <p:spPr bwMode="auto">
          <a:xfrm>
            <a:off x="2362200" y="250391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3" name="テキスト ボックス 12">
            <a:extLst>
              <a:ext uri="{FF2B5EF4-FFF2-40B4-BE49-F238E27FC236}">
                <a16:creationId xmlns:a16="http://schemas.microsoft.com/office/drawing/2014/main" id="{E0AEB2C0-CED6-552E-C966-F0590D1E0962}"/>
              </a:ext>
            </a:extLst>
          </p:cNvPr>
          <p:cNvSpPr txBox="1"/>
          <p:nvPr/>
        </p:nvSpPr>
        <p:spPr>
          <a:xfrm>
            <a:off x="313263" y="1247017"/>
            <a:ext cx="6680203" cy="646331"/>
          </a:xfrm>
          <a:prstGeom prst="rect">
            <a:avLst/>
          </a:prstGeom>
          <a:noFill/>
        </p:spPr>
        <p:txBody>
          <a:bodyPr wrap="square">
            <a:spAutoFit/>
          </a:bodyPr>
          <a:lstStyle/>
          <a:p>
            <a:r>
              <a:rPr lang="ja-JP" altLang="en-US" b="1" dirty="0">
                <a:latin typeface="+mn-ea"/>
              </a:rPr>
              <a:t>「</a:t>
            </a:r>
            <a:r>
              <a:rPr lang="en-US" altLang="ja-JP" b="1" dirty="0">
                <a:latin typeface="+mn-ea"/>
              </a:rPr>
              <a:t>Q19</a:t>
            </a:r>
            <a:r>
              <a:rPr lang="ja-JP" altLang="en-US" b="1" dirty="0">
                <a:latin typeface="+mn-ea"/>
              </a:rPr>
              <a:t>．</a:t>
            </a:r>
            <a:r>
              <a:rPr kumimoji="1" lang="en-US" altLang="ja-JP" b="1" dirty="0">
                <a:latin typeface="游ゴシック" panose="020B0400000000000000" pitchFamily="50" charset="-128"/>
              </a:rPr>
              <a:t> AI</a:t>
            </a:r>
            <a:r>
              <a:rPr kumimoji="1" lang="ja-JP" altLang="en-US" b="1" dirty="0">
                <a:latin typeface="游ゴシック" panose="020B0400000000000000" pitchFamily="50" charset="-128"/>
              </a:rPr>
              <a:t>には感情がある」について</a:t>
            </a:r>
            <a:endParaRPr kumimoji="1" lang="en-US" altLang="ja-JP" b="1" dirty="0">
              <a:latin typeface="游ゴシック" panose="020B0400000000000000" pitchFamily="50" charset="-128"/>
            </a:endParaRPr>
          </a:p>
          <a:p>
            <a:r>
              <a:rPr kumimoji="1" lang="en-US" altLang="ja-JP" b="1" dirty="0">
                <a:latin typeface="游ゴシック" panose="020B0400000000000000" pitchFamily="50" charset="-128"/>
                <a:sym typeface="Wingdings" panose="05000000000000000000" pitchFamily="2" charset="2"/>
              </a:rPr>
              <a:t></a:t>
            </a:r>
            <a:r>
              <a:rPr kumimoji="1" lang="ja-JP" altLang="en-US" b="1" dirty="0">
                <a:solidFill>
                  <a:srgbClr val="C00000"/>
                </a:solidFill>
                <a:latin typeface="游ゴシック" panose="020B0400000000000000" pitchFamily="50" charset="-128"/>
                <a:sym typeface="Wingdings" panose="05000000000000000000" pitchFamily="2" charset="2"/>
              </a:rPr>
              <a:t>交互作用が有意</a:t>
            </a:r>
            <a:endParaRPr kumimoji="1" lang="en-US" altLang="ja-JP" b="1" dirty="0">
              <a:solidFill>
                <a:srgbClr val="C00000"/>
              </a:solidFill>
              <a:latin typeface="游ゴシック" panose="020B0400000000000000" pitchFamily="50" charset="-128"/>
            </a:endParaRPr>
          </a:p>
        </p:txBody>
      </p:sp>
      <p:graphicFrame>
        <p:nvGraphicFramePr>
          <p:cNvPr id="14" name="表 13">
            <a:extLst>
              <a:ext uri="{FF2B5EF4-FFF2-40B4-BE49-F238E27FC236}">
                <a16:creationId xmlns:a16="http://schemas.microsoft.com/office/drawing/2014/main" id="{EDCB01BB-7F04-CD9A-1F47-CAE37682E03F}"/>
              </a:ext>
            </a:extLst>
          </p:cNvPr>
          <p:cNvGraphicFramePr>
            <a:graphicFrameLocks noGrp="1"/>
          </p:cNvGraphicFramePr>
          <p:nvPr>
            <p:extLst>
              <p:ext uri="{D42A27DB-BD31-4B8C-83A1-F6EECF244321}">
                <p14:modId xmlns:p14="http://schemas.microsoft.com/office/powerpoint/2010/main" val="950202458"/>
              </p:ext>
            </p:extLst>
          </p:nvPr>
        </p:nvGraphicFramePr>
        <p:xfrm>
          <a:off x="436033" y="1980780"/>
          <a:ext cx="5698069" cy="731520"/>
        </p:xfrm>
        <a:graphic>
          <a:graphicData uri="http://schemas.openxmlformats.org/drawingml/2006/table">
            <a:tbl>
              <a:tblPr firstRow="1" bandRow="1">
                <a:tableStyleId>{9D7B26C5-4107-4FEC-AEDC-1716B250A1EF}</a:tableStyleId>
              </a:tblPr>
              <a:tblGrid>
                <a:gridCol w="1905554">
                  <a:extLst>
                    <a:ext uri="{9D8B030D-6E8A-4147-A177-3AD203B41FA5}">
                      <a16:colId xmlns:a16="http://schemas.microsoft.com/office/drawing/2014/main" val="2253055787"/>
                    </a:ext>
                  </a:extLst>
                </a:gridCol>
                <a:gridCol w="943481">
                  <a:extLst>
                    <a:ext uri="{9D8B030D-6E8A-4147-A177-3AD203B41FA5}">
                      <a16:colId xmlns:a16="http://schemas.microsoft.com/office/drawing/2014/main" val="4189014961"/>
                    </a:ext>
                  </a:extLst>
                </a:gridCol>
                <a:gridCol w="1424517">
                  <a:extLst>
                    <a:ext uri="{9D8B030D-6E8A-4147-A177-3AD203B41FA5}">
                      <a16:colId xmlns:a16="http://schemas.microsoft.com/office/drawing/2014/main" val="3674438810"/>
                    </a:ext>
                  </a:extLst>
                </a:gridCol>
                <a:gridCol w="1424517">
                  <a:extLst>
                    <a:ext uri="{9D8B030D-6E8A-4147-A177-3AD203B41FA5}">
                      <a16:colId xmlns:a16="http://schemas.microsoft.com/office/drawing/2014/main" val="678252903"/>
                    </a:ext>
                  </a:extLst>
                </a:gridCol>
              </a:tblGrid>
              <a:tr h="299852">
                <a:tc>
                  <a:txBody>
                    <a:bodyPr/>
                    <a:lstStyle/>
                    <a:p>
                      <a:endParaRPr kumimoji="1" lang="ja-JP" altLang="en-US" sz="1800" dirty="0"/>
                    </a:p>
                  </a:txBody>
                  <a:tcPr>
                    <a:noFill/>
                  </a:tcPr>
                </a:tc>
                <a:tc>
                  <a:txBody>
                    <a:bodyPr/>
                    <a:lstStyle/>
                    <a:p>
                      <a:pPr algn="r" fontAlgn="base">
                        <a:lnSpc>
                          <a:spcPts val="1350"/>
                        </a:lnSpc>
                        <a:buNone/>
                      </a:pPr>
                      <a:r>
                        <a:rPr lang="ja-JP" altLang="en-US" sz="1800" b="1" i="0" dirty="0">
                          <a:solidFill>
                            <a:srgbClr val="000000"/>
                          </a:solidFill>
                          <a:effectLst/>
                          <a:latin typeface="游ゴシック" panose="020B0400000000000000" pitchFamily="50" charset="-128"/>
                          <a:ea typeface="游ゴシック" panose="020B0400000000000000" pitchFamily="50" charset="-128"/>
                        </a:rPr>
                        <a:t>自由度</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rPr>
                        <a:t>F</a:t>
                      </a:r>
                      <a:r>
                        <a:rPr lang="ja-JP" altLang="en-US" sz="1800" b="1" i="0" dirty="0">
                          <a:solidFill>
                            <a:srgbClr val="000000"/>
                          </a:solidFill>
                          <a:effectLst/>
                          <a:latin typeface="游ゴシック" panose="020B0400000000000000" pitchFamily="50" charset="-128"/>
                        </a:rPr>
                        <a:t>値</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tc>
                  <a:txBody>
                    <a:bodyPr/>
                    <a:lstStyle/>
                    <a:p>
                      <a:pPr algn="r" fontAlgn="base">
                        <a:lnSpc>
                          <a:spcPts val="1350"/>
                        </a:lnSpc>
                        <a:buNone/>
                      </a:pPr>
                      <a:r>
                        <a:rPr lang="en-US" altLang="ja-JP" sz="1800" b="1" i="0" dirty="0">
                          <a:solidFill>
                            <a:srgbClr val="000000"/>
                          </a:solidFill>
                          <a:effectLst/>
                          <a:latin typeface="游ゴシック" panose="020B0400000000000000" pitchFamily="50" charset="-128"/>
                        </a:rPr>
                        <a:t>p</a:t>
                      </a:r>
                      <a:r>
                        <a:rPr lang="ja-JP" altLang="en-US" sz="1800" b="1" i="0" dirty="0">
                          <a:solidFill>
                            <a:srgbClr val="000000"/>
                          </a:solidFill>
                          <a:effectLst/>
                          <a:latin typeface="游ゴシック" panose="020B0400000000000000" pitchFamily="50" charset="-128"/>
                        </a:rPr>
                        <a:t>値</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extLst>
                  <a:ext uri="{0D108BD9-81ED-4DB2-BD59-A6C34878D82A}">
                    <a16:rowId xmlns:a16="http://schemas.microsoft.com/office/drawing/2014/main" val="2809685238"/>
                  </a:ext>
                </a:extLst>
              </a:tr>
              <a:tr h="284612">
                <a:tc>
                  <a:txBody>
                    <a:bodyPr/>
                    <a:lstStyle/>
                    <a:p>
                      <a:r>
                        <a:rPr kumimoji="1" lang="ja-JP" altLang="en-US" sz="1800" b="1" i="0" dirty="0">
                          <a:solidFill>
                            <a:srgbClr val="000000"/>
                          </a:solidFill>
                          <a:effectLst/>
                          <a:latin typeface="游ゴシック" panose="020B0400000000000000" pitchFamily="50" charset="-128"/>
                          <a:ea typeface="+mn-ea"/>
                        </a:rPr>
                        <a:t>名乗り</a:t>
                      </a:r>
                      <a:r>
                        <a:rPr kumimoji="1" lang="en-US" altLang="ja-JP" sz="1800" b="1" i="0" dirty="0">
                          <a:solidFill>
                            <a:srgbClr val="000000"/>
                          </a:solidFill>
                          <a:effectLst/>
                          <a:latin typeface="游ゴシック" panose="020B0400000000000000" pitchFamily="50" charset="-128"/>
                          <a:ea typeface="+mn-ea"/>
                        </a:rPr>
                        <a:t>*</a:t>
                      </a:r>
                      <a:r>
                        <a:rPr kumimoji="1" lang="ja-JP" altLang="en-US" sz="1800" b="1" i="0" dirty="0">
                          <a:solidFill>
                            <a:srgbClr val="000000"/>
                          </a:solidFill>
                          <a:effectLst/>
                          <a:latin typeface="游ゴシック" panose="020B0400000000000000" pitchFamily="50" charset="-128"/>
                          <a:ea typeface="+mn-ea"/>
                        </a:rPr>
                        <a:t>人格設定</a:t>
                      </a:r>
                      <a:endParaRPr kumimoji="1" lang="ja-JP" altLang="en-US" sz="1800" dirty="0"/>
                    </a:p>
                  </a:txBody>
                  <a:tcP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ea typeface="游ゴシック" panose="020B0400000000000000" pitchFamily="50" charset="-128"/>
                        </a:rPr>
                        <a:t>1</a:t>
                      </a:r>
                      <a:endParaRPr lang="en-US" altLang="ja-JP" sz="1800" b="1" i="0" dirty="0">
                        <a:solidFill>
                          <a:srgbClr val="000000"/>
                        </a:solidFill>
                        <a:effectLst/>
                      </a:endParaRPr>
                    </a:p>
                  </a:txBody>
                  <a:tcPr anchor="ct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rPr>
                        <a:t>5.66​</a:t>
                      </a:r>
                      <a:endParaRPr lang="en-US" sz="1800" b="1" i="0" dirty="0">
                        <a:solidFill>
                          <a:srgbClr val="000000"/>
                        </a:solidFill>
                        <a:effectLst/>
                      </a:endParaRPr>
                    </a:p>
                  </a:txBody>
                  <a:tcPr anchor="ctr">
                    <a:noFill/>
                  </a:tcPr>
                </a:tc>
                <a:tc>
                  <a:txBody>
                    <a:bodyPr/>
                    <a:lstStyle/>
                    <a:p>
                      <a:pPr algn="r" fontAlgn="base">
                        <a:lnSpc>
                          <a:spcPts val="1350"/>
                        </a:lnSpc>
                        <a:buNone/>
                      </a:pPr>
                      <a:r>
                        <a:rPr lang="en-US" sz="1800" b="1" i="0" dirty="0">
                          <a:solidFill>
                            <a:srgbClr val="C00000"/>
                          </a:solidFill>
                          <a:effectLst/>
                          <a:latin typeface="游ゴシック" panose="020B0400000000000000" pitchFamily="50" charset="-128"/>
                        </a:rPr>
                        <a:t>0.019</a:t>
                      </a:r>
                      <a:r>
                        <a:rPr lang="en-US" sz="1800" b="1" i="0" dirty="0">
                          <a:solidFill>
                            <a:srgbClr val="000000"/>
                          </a:solidFill>
                          <a:effectLst/>
                          <a:latin typeface="游ゴシック" panose="020B0400000000000000" pitchFamily="50" charset="-128"/>
                        </a:rPr>
                        <a:t>​</a:t>
                      </a:r>
                      <a:endParaRPr lang="en-US" sz="1800" b="1" i="0" dirty="0">
                        <a:solidFill>
                          <a:srgbClr val="000000"/>
                        </a:solidFill>
                        <a:effectLst/>
                      </a:endParaRPr>
                    </a:p>
                  </a:txBody>
                  <a:tcPr anchor="ctr">
                    <a:noFill/>
                  </a:tcPr>
                </a:tc>
                <a:extLst>
                  <a:ext uri="{0D108BD9-81ED-4DB2-BD59-A6C34878D82A}">
                    <a16:rowId xmlns:a16="http://schemas.microsoft.com/office/drawing/2014/main" val="2808757430"/>
                  </a:ext>
                </a:extLst>
              </a:tr>
            </a:tbl>
          </a:graphicData>
        </a:graphic>
      </p:graphicFrame>
      <p:graphicFrame>
        <p:nvGraphicFramePr>
          <p:cNvPr id="15" name="表 14">
            <a:extLst>
              <a:ext uri="{FF2B5EF4-FFF2-40B4-BE49-F238E27FC236}">
                <a16:creationId xmlns:a16="http://schemas.microsoft.com/office/drawing/2014/main" id="{569871B5-2162-9675-56D2-01A48A93EDE4}"/>
              </a:ext>
            </a:extLst>
          </p:cNvPr>
          <p:cNvGraphicFramePr>
            <a:graphicFrameLocks noGrp="1"/>
          </p:cNvGraphicFramePr>
          <p:nvPr>
            <p:extLst>
              <p:ext uri="{D42A27DB-BD31-4B8C-83A1-F6EECF244321}">
                <p14:modId xmlns:p14="http://schemas.microsoft.com/office/powerpoint/2010/main" val="3568469198"/>
              </p:ext>
            </p:extLst>
          </p:nvPr>
        </p:nvGraphicFramePr>
        <p:xfrm>
          <a:off x="436035" y="3814117"/>
          <a:ext cx="4004229" cy="1019918"/>
        </p:xfrm>
        <a:graphic>
          <a:graphicData uri="http://schemas.openxmlformats.org/drawingml/2006/table">
            <a:tbl>
              <a:tblPr firstRow="1" bandRow="1">
                <a:tableStyleId>{9D7B26C5-4107-4FEC-AEDC-1716B250A1EF}</a:tableStyleId>
              </a:tblPr>
              <a:tblGrid>
                <a:gridCol w="1442745">
                  <a:extLst>
                    <a:ext uri="{9D8B030D-6E8A-4147-A177-3AD203B41FA5}">
                      <a16:colId xmlns:a16="http://schemas.microsoft.com/office/drawing/2014/main" val="4143698353"/>
                    </a:ext>
                  </a:extLst>
                </a:gridCol>
                <a:gridCol w="1280742">
                  <a:extLst>
                    <a:ext uri="{9D8B030D-6E8A-4147-A177-3AD203B41FA5}">
                      <a16:colId xmlns:a16="http://schemas.microsoft.com/office/drawing/2014/main" val="2801815050"/>
                    </a:ext>
                  </a:extLst>
                </a:gridCol>
                <a:gridCol w="1280742">
                  <a:extLst>
                    <a:ext uri="{9D8B030D-6E8A-4147-A177-3AD203B41FA5}">
                      <a16:colId xmlns:a16="http://schemas.microsoft.com/office/drawing/2014/main" val="3674438810"/>
                    </a:ext>
                  </a:extLst>
                </a:gridCol>
              </a:tblGrid>
              <a:tr h="394870">
                <a:tc>
                  <a:txBody>
                    <a:bodyPr/>
                    <a:lstStyle/>
                    <a:p>
                      <a:pPr algn="l" fontAlgn="base">
                        <a:lnSpc>
                          <a:spcPts val="1350"/>
                        </a:lnSpc>
                        <a:buNone/>
                      </a:pPr>
                      <a:r>
                        <a:rPr lang="ja-JP" altLang="en-US" sz="1600" b="1" i="0" dirty="0">
                          <a:solidFill>
                            <a:srgbClr val="000000"/>
                          </a:solidFill>
                          <a:effectLst/>
                          <a:latin typeface="+mn-ea"/>
                          <a:ea typeface="+mn-ea"/>
                        </a:rPr>
                        <a:t>名乗り要因</a:t>
                      </a:r>
                      <a:r>
                        <a:rPr lang="ja-JP" altLang="en-US" sz="1600" b="1" i="0" dirty="0">
                          <a:solidFill>
                            <a:srgbClr val="FFFFFF"/>
                          </a:solidFill>
                          <a:effectLst/>
                          <a:latin typeface="+mn-ea"/>
                          <a:ea typeface="+mn-ea"/>
                        </a:rPr>
                        <a:t>​</a:t>
                      </a:r>
                    </a:p>
                  </a:txBody>
                  <a:tcPr anchor="ctr">
                    <a:noFill/>
                  </a:tcPr>
                </a:tc>
                <a:tc>
                  <a:txBody>
                    <a:bodyPr/>
                    <a:lstStyle/>
                    <a:p>
                      <a:pPr algn="r" fontAlgn="base">
                        <a:lnSpc>
                          <a:spcPts val="1350"/>
                        </a:lnSpc>
                        <a:buNone/>
                      </a:pPr>
                      <a:r>
                        <a:rPr lang="ja-JP" altLang="en-US" sz="1600" b="1" i="0" dirty="0">
                          <a:solidFill>
                            <a:srgbClr val="000000"/>
                          </a:solidFill>
                          <a:effectLst/>
                          <a:latin typeface="+mn-ea"/>
                          <a:ea typeface="+mn-ea"/>
                        </a:rPr>
                        <a:t>平均値</a:t>
                      </a:r>
                      <a:endParaRPr lang="ja-JP" altLang="en-US" sz="1600" b="1" i="0" dirty="0">
                        <a:solidFill>
                          <a:srgbClr val="FFFFFF"/>
                        </a:solidFill>
                        <a:effectLst/>
                        <a:latin typeface="+mn-ea"/>
                        <a:ea typeface="+mn-ea"/>
                      </a:endParaRPr>
                    </a:p>
                  </a:txBody>
                  <a:tcPr anchor="ctr">
                    <a:noFill/>
                  </a:tcPr>
                </a:tc>
                <a:tc>
                  <a:txBody>
                    <a:bodyPr/>
                    <a:lstStyle/>
                    <a:p>
                      <a:pPr algn="r" fontAlgn="base">
                        <a:lnSpc>
                          <a:spcPts val="1350"/>
                        </a:lnSpc>
                        <a:buNone/>
                      </a:pPr>
                      <a:r>
                        <a:rPr lang="ja-JP" altLang="en-US" sz="1600" b="1" i="0" dirty="0">
                          <a:solidFill>
                            <a:srgbClr val="000000"/>
                          </a:solidFill>
                          <a:effectLst/>
                          <a:latin typeface="+mn-ea"/>
                          <a:ea typeface="+mn-ea"/>
                        </a:rPr>
                        <a:t>標準偏差</a:t>
                      </a:r>
                      <a:r>
                        <a:rPr lang="en-US" altLang="ja-JP" sz="1600" b="1" i="0" dirty="0">
                          <a:solidFill>
                            <a:srgbClr val="FFFFFF"/>
                          </a:solidFill>
                          <a:effectLst/>
                          <a:latin typeface="+mn-ea"/>
                          <a:ea typeface="+mn-ea"/>
                        </a:rPr>
                        <a:t>​</a:t>
                      </a:r>
                    </a:p>
                  </a:txBody>
                  <a:tcPr anchor="ctr">
                    <a:noFill/>
                  </a:tcPr>
                </a:tc>
                <a:extLst>
                  <a:ext uri="{0D108BD9-81ED-4DB2-BD59-A6C34878D82A}">
                    <a16:rowId xmlns:a16="http://schemas.microsoft.com/office/drawing/2014/main" val="2809685238"/>
                  </a:ext>
                </a:extLst>
              </a:tr>
              <a:tr h="312524">
                <a:tc>
                  <a:txBody>
                    <a:bodyPr/>
                    <a:lstStyle/>
                    <a:p>
                      <a:pPr algn="l" fontAlgn="base">
                        <a:lnSpc>
                          <a:spcPts val="1350"/>
                        </a:lnSpc>
                        <a:buNone/>
                      </a:pPr>
                      <a:r>
                        <a:rPr lang="ja-JP" altLang="en-US" sz="1600" b="1" i="0" dirty="0">
                          <a:solidFill>
                            <a:srgbClr val="000000"/>
                          </a:solidFill>
                          <a:effectLst/>
                          <a:latin typeface="+mn-ea"/>
                          <a:ea typeface="+mn-ea"/>
                        </a:rPr>
                        <a:t>あり​</a:t>
                      </a:r>
                    </a:p>
                  </a:txBody>
                  <a:tcPr anchor="ctr">
                    <a:noFill/>
                  </a:tcPr>
                </a:tc>
                <a:tc>
                  <a:txBody>
                    <a:bodyPr/>
                    <a:lstStyle/>
                    <a:p>
                      <a:pPr algn="r" fontAlgn="base">
                        <a:lnSpc>
                          <a:spcPts val="1350"/>
                        </a:lnSpc>
                        <a:buNone/>
                      </a:pPr>
                      <a:r>
                        <a:rPr lang="en-US" altLang="ja-JP" sz="1600" b="1" i="0" dirty="0">
                          <a:solidFill>
                            <a:srgbClr val="000000"/>
                          </a:solidFill>
                          <a:effectLst/>
                          <a:latin typeface="+mn-ea"/>
                          <a:ea typeface="+mn-ea"/>
                        </a:rPr>
                        <a:t>2.04</a:t>
                      </a:r>
                    </a:p>
                  </a:txBody>
                  <a:tcPr anchor="ctr">
                    <a:noFill/>
                  </a:tcPr>
                </a:tc>
                <a:tc>
                  <a:txBody>
                    <a:bodyPr/>
                    <a:lstStyle/>
                    <a:p>
                      <a:pPr algn="r" fontAlgn="base">
                        <a:lnSpc>
                          <a:spcPts val="1350"/>
                        </a:lnSpc>
                        <a:buNone/>
                      </a:pPr>
                      <a:r>
                        <a:rPr lang="en-US" sz="1600" b="1" i="0" dirty="0">
                          <a:solidFill>
                            <a:srgbClr val="000000"/>
                          </a:solidFill>
                          <a:effectLst/>
                          <a:latin typeface="+mn-ea"/>
                          <a:ea typeface="+mn-ea"/>
                        </a:rPr>
                        <a:t>2.30</a:t>
                      </a:r>
                    </a:p>
                  </a:txBody>
                  <a:tcPr anchor="ctr">
                    <a:noFill/>
                  </a:tcPr>
                </a:tc>
                <a:extLst>
                  <a:ext uri="{0D108BD9-81ED-4DB2-BD59-A6C34878D82A}">
                    <a16:rowId xmlns:a16="http://schemas.microsoft.com/office/drawing/2014/main" val="2808757430"/>
                  </a:ext>
                </a:extLst>
              </a:tr>
              <a:tr h="312524">
                <a:tc>
                  <a:txBody>
                    <a:bodyPr/>
                    <a:lstStyle/>
                    <a:p>
                      <a:pPr algn="l" fontAlgn="base">
                        <a:lnSpc>
                          <a:spcPts val="1350"/>
                        </a:lnSpc>
                        <a:buNone/>
                      </a:pPr>
                      <a:r>
                        <a:rPr lang="ja-JP" altLang="en-US" sz="1600" b="1" i="0" dirty="0">
                          <a:solidFill>
                            <a:srgbClr val="000000"/>
                          </a:solidFill>
                          <a:effectLst/>
                          <a:latin typeface="+mn-ea"/>
                          <a:ea typeface="+mn-ea"/>
                        </a:rPr>
                        <a:t>なし</a:t>
                      </a:r>
                    </a:p>
                  </a:txBody>
                  <a:tcPr anchor="ctr">
                    <a:noFill/>
                  </a:tcPr>
                </a:tc>
                <a:tc>
                  <a:txBody>
                    <a:bodyPr/>
                    <a:lstStyle/>
                    <a:p>
                      <a:pPr algn="r" fontAlgn="base">
                        <a:lnSpc>
                          <a:spcPts val="1350"/>
                        </a:lnSpc>
                        <a:buNone/>
                      </a:pPr>
                      <a:r>
                        <a:rPr lang="en-US" altLang="ja-JP" sz="1600" b="1" i="0" dirty="0">
                          <a:solidFill>
                            <a:srgbClr val="000000"/>
                          </a:solidFill>
                          <a:effectLst/>
                          <a:latin typeface="+mn-ea"/>
                          <a:ea typeface="+mn-ea"/>
                        </a:rPr>
                        <a:t>3.47</a:t>
                      </a:r>
                    </a:p>
                  </a:txBody>
                  <a:tcPr anchor="ctr">
                    <a:noFill/>
                  </a:tcPr>
                </a:tc>
                <a:tc>
                  <a:txBody>
                    <a:bodyPr/>
                    <a:lstStyle/>
                    <a:p>
                      <a:pPr algn="r" fontAlgn="base">
                        <a:lnSpc>
                          <a:spcPts val="1350"/>
                        </a:lnSpc>
                        <a:buNone/>
                      </a:pPr>
                      <a:r>
                        <a:rPr lang="en-US" sz="1600" b="1" i="0" dirty="0">
                          <a:solidFill>
                            <a:srgbClr val="000000"/>
                          </a:solidFill>
                          <a:effectLst/>
                          <a:latin typeface="+mn-ea"/>
                          <a:ea typeface="+mn-ea"/>
                        </a:rPr>
                        <a:t>2.30</a:t>
                      </a:r>
                    </a:p>
                  </a:txBody>
                  <a:tcPr anchor="ctr">
                    <a:noFill/>
                  </a:tcPr>
                </a:tc>
                <a:extLst>
                  <a:ext uri="{0D108BD9-81ED-4DB2-BD59-A6C34878D82A}">
                    <a16:rowId xmlns:a16="http://schemas.microsoft.com/office/drawing/2014/main" val="928760967"/>
                  </a:ext>
                </a:extLst>
              </a:tr>
            </a:tbl>
          </a:graphicData>
        </a:graphic>
      </p:graphicFrame>
      <p:sp>
        <p:nvSpPr>
          <p:cNvPr id="16" name="四角形: 角を丸くする 15">
            <a:extLst>
              <a:ext uri="{FF2B5EF4-FFF2-40B4-BE49-F238E27FC236}">
                <a16:creationId xmlns:a16="http://schemas.microsoft.com/office/drawing/2014/main" id="{3589A751-7393-7A08-767F-3C1A1181F015}"/>
              </a:ext>
            </a:extLst>
          </p:cNvPr>
          <p:cNvSpPr/>
          <p:nvPr/>
        </p:nvSpPr>
        <p:spPr>
          <a:xfrm>
            <a:off x="1241571" y="5514463"/>
            <a:ext cx="6524749" cy="1111572"/>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D580DD03-9D3B-005A-C038-3E0ACFA5D124}"/>
              </a:ext>
            </a:extLst>
          </p:cNvPr>
          <p:cNvSpPr txBox="1"/>
          <p:nvPr/>
        </p:nvSpPr>
        <p:spPr>
          <a:xfrm>
            <a:off x="1501588" y="5681667"/>
            <a:ext cx="6053259" cy="830997"/>
          </a:xfrm>
          <a:prstGeom prst="rect">
            <a:avLst/>
          </a:prstGeom>
          <a:noFill/>
        </p:spPr>
        <p:txBody>
          <a:bodyPr wrap="square">
            <a:spAutoFit/>
          </a:bodyPr>
          <a:lstStyle/>
          <a:p>
            <a:r>
              <a:rPr lang="ja-JP" altLang="en-US" sz="2400" b="1" dirty="0"/>
              <a:t>人格固定下での</a:t>
            </a:r>
            <a:r>
              <a:rPr lang="ja-JP" altLang="en-US" sz="2400" b="1" dirty="0">
                <a:solidFill>
                  <a:srgbClr val="C00000"/>
                </a:solidFill>
              </a:rPr>
              <a:t>名乗りの反復が無機質さ</a:t>
            </a:r>
            <a:r>
              <a:rPr lang="ja-JP" altLang="en-US" sz="2400" b="1" dirty="0"/>
              <a:t>を</a:t>
            </a:r>
            <a:endParaRPr lang="en-US" altLang="ja-JP" sz="2400" b="1" dirty="0"/>
          </a:p>
          <a:p>
            <a:r>
              <a:rPr lang="ja-JP" altLang="en-US" sz="2400" b="1" dirty="0"/>
              <a:t>強調し感情の知覚を阻害する可能性</a:t>
            </a:r>
          </a:p>
        </p:txBody>
      </p:sp>
      <p:sp>
        <p:nvSpPr>
          <p:cNvPr id="20" name="矢印: 右 19">
            <a:extLst>
              <a:ext uri="{FF2B5EF4-FFF2-40B4-BE49-F238E27FC236}">
                <a16:creationId xmlns:a16="http://schemas.microsoft.com/office/drawing/2014/main" id="{99F1B2D6-E8CE-A04C-0FC0-26E8872B4D97}"/>
              </a:ext>
            </a:extLst>
          </p:cNvPr>
          <p:cNvSpPr/>
          <p:nvPr/>
        </p:nvSpPr>
        <p:spPr>
          <a:xfrm rot="16200000">
            <a:off x="8228831" y="2989453"/>
            <a:ext cx="369329" cy="4270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21" name="矢印: 右 20">
            <a:extLst>
              <a:ext uri="{FF2B5EF4-FFF2-40B4-BE49-F238E27FC236}">
                <a16:creationId xmlns:a16="http://schemas.microsoft.com/office/drawing/2014/main" id="{E6543203-35CA-6ED5-D09F-365DAC156B0C}"/>
              </a:ext>
            </a:extLst>
          </p:cNvPr>
          <p:cNvSpPr/>
          <p:nvPr/>
        </p:nvSpPr>
        <p:spPr>
          <a:xfrm rot="5400000">
            <a:off x="8228830" y="4465491"/>
            <a:ext cx="369329" cy="4270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24" name="テキスト ボックス 23">
            <a:extLst>
              <a:ext uri="{FF2B5EF4-FFF2-40B4-BE49-F238E27FC236}">
                <a16:creationId xmlns:a16="http://schemas.microsoft.com/office/drawing/2014/main" id="{5D5C0F5C-174F-47C7-374C-DA4D5E4E4410}"/>
              </a:ext>
            </a:extLst>
          </p:cNvPr>
          <p:cNvSpPr txBox="1"/>
          <p:nvPr/>
        </p:nvSpPr>
        <p:spPr>
          <a:xfrm>
            <a:off x="7832742" y="2742710"/>
            <a:ext cx="1074214" cy="307777"/>
          </a:xfrm>
          <a:prstGeom prst="rect">
            <a:avLst/>
          </a:prstGeom>
          <a:noFill/>
        </p:spPr>
        <p:txBody>
          <a:bodyPr wrap="square">
            <a:spAutoFit/>
          </a:bodyPr>
          <a:lstStyle/>
          <a:p>
            <a:r>
              <a:rPr lang="ja-JP" altLang="en-US" sz="1400" b="1" dirty="0"/>
              <a:t>あてはまる</a:t>
            </a:r>
            <a:endParaRPr lang="ja-JP" altLang="en-US" sz="1400" dirty="0"/>
          </a:p>
        </p:txBody>
      </p:sp>
      <p:sp>
        <p:nvSpPr>
          <p:cNvPr id="25" name="テキスト ボックス 24">
            <a:extLst>
              <a:ext uri="{FF2B5EF4-FFF2-40B4-BE49-F238E27FC236}">
                <a16:creationId xmlns:a16="http://schemas.microsoft.com/office/drawing/2014/main" id="{D9D852C1-0C12-3B4C-AE1C-2BF18FFD4A72}"/>
              </a:ext>
            </a:extLst>
          </p:cNvPr>
          <p:cNvSpPr txBox="1"/>
          <p:nvPr/>
        </p:nvSpPr>
        <p:spPr>
          <a:xfrm>
            <a:off x="7766320" y="4878735"/>
            <a:ext cx="1487746" cy="307776"/>
          </a:xfrm>
          <a:prstGeom prst="rect">
            <a:avLst/>
          </a:prstGeom>
          <a:noFill/>
        </p:spPr>
        <p:txBody>
          <a:bodyPr wrap="square">
            <a:spAutoFit/>
          </a:bodyPr>
          <a:lstStyle/>
          <a:p>
            <a:r>
              <a:rPr lang="ja-JP" altLang="en-US" sz="1400" b="1" dirty="0"/>
              <a:t>あてはまらない</a:t>
            </a:r>
            <a:endParaRPr lang="ja-JP" altLang="en-US" sz="1400" dirty="0"/>
          </a:p>
        </p:txBody>
      </p:sp>
      <p:pic>
        <p:nvPicPr>
          <p:cNvPr id="5" name="グラフィックス 4">
            <a:extLst>
              <a:ext uri="{FF2B5EF4-FFF2-40B4-BE49-F238E27FC236}">
                <a16:creationId xmlns:a16="http://schemas.microsoft.com/office/drawing/2014/main" id="{4EC47F5E-7244-A2B2-A769-65330018B953}"/>
              </a:ext>
            </a:extLst>
          </p:cNvPr>
          <p:cNvPicPr>
            <a:picLocks/>
          </p:cNvPicPr>
          <p:nvPr/>
        </p:nvPicPr>
        <p:blipFill>
          <a:blip r:embed="rId3">
            <a:extLst>
              <a:ext uri="{96DAC541-7B7A-43D3-8B79-37D633B846F1}">
                <asvg:svgBlip xmlns:asvg="http://schemas.microsoft.com/office/drawing/2016/SVG/main" r:embed="rId4"/>
              </a:ext>
            </a:extLst>
          </a:blip>
          <a:srcRect l="5434" t="1683" r="1610" b="1118"/>
          <a:stretch>
            <a:fillRect/>
          </a:stretch>
        </p:blipFill>
        <p:spPr>
          <a:xfrm>
            <a:off x="5193608" y="3086736"/>
            <a:ext cx="2988000" cy="1800000"/>
          </a:xfrm>
          <a:prstGeom prst="rect">
            <a:avLst/>
          </a:prstGeom>
        </p:spPr>
      </p:pic>
      <p:sp>
        <p:nvSpPr>
          <p:cNvPr id="6" name="テキスト ボックス 5">
            <a:extLst>
              <a:ext uri="{FF2B5EF4-FFF2-40B4-BE49-F238E27FC236}">
                <a16:creationId xmlns:a16="http://schemas.microsoft.com/office/drawing/2014/main" id="{A27D981B-E971-6BBD-F7AA-9DEE6B5F898D}"/>
              </a:ext>
            </a:extLst>
          </p:cNvPr>
          <p:cNvSpPr txBox="1"/>
          <p:nvPr/>
        </p:nvSpPr>
        <p:spPr>
          <a:xfrm>
            <a:off x="4837628" y="4628500"/>
            <a:ext cx="499309" cy="338554"/>
          </a:xfrm>
          <a:prstGeom prst="rect">
            <a:avLst/>
          </a:prstGeom>
          <a:noFill/>
        </p:spPr>
        <p:txBody>
          <a:bodyPr wrap="square">
            <a:spAutoFit/>
          </a:bodyPr>
          <a:lstStyle/>
          <a:p>
            <a:r>
              <a:rPr lang="en-US" altLang="ja-JP" sz="1600" b="1" dirty="0">
                <a:latin typeface="+mn-ea"/>
              </a:rPr>
              <a:t>1.5</a:t>
            </a:r>
            <a:endParaRPr lang="ja-JP" altLang="en-US" sz="1600" b="1" dirty="0">
              <a:latin typeface="+mn-ea"/>
            </a:endParaRPr>
          </a:p>
        </p:txBody>
      </p:sp>
      <p:sp>
        <p:nvSpPr>
          <p:cNvPr id="10" name="テキスト ボックス 9">
            <a:extLst>
              <a:ext uri="{FF2B5EF4-FFF2-40B4-BE49-F238E27FC236}">
                <a16:creationId xmlns:a16="http://schemas.microsoft.com/office/drawing/2014/main" id="{993A010A-3A12-C735-B6EE-36DD11908499}"/>
              </a:ext>
            </a:extLst>
          </p:cNvPr>
          <p:cNvSpPr txBox="1"/>
          <p:nvPr/>
        </p:nvSpPr>
        <p:spPr>
          <a:xfrm>
            <a:off x="4838509" y="4284507"/>
            <a:ext cx="499309" cy="338554"/>
          </a:xfrm>
          <a:prstGeom prst="rect">
            <a:avLst/>
          </a:prstGeom>
          <a:noFill/>
        </p:spPr>
        <p:txBody>
          <a:bodyPr wrap="square">
            <a:spAutoFit/>
          </a:bodyPr>
          <a:lstStyle/>
          <a:p>
            <a:r>
              <a:rPr lang="en-US" altLang="ja-JP" sz="1600" b="1" dirty="0">
                <a:latin typeface="+mn-ea"/>
              </a:rPr>
              <a:t>2.0</a:t>
            </a:r>
            <a:endParaRPr lang="ja-JP" altLang="en-US" sz="1600" b="1" dirty="0">
              <a:latin typeface="+mn-ea"/>
            </a:endParaRPr>
          </a:p>
        </p:txBody>
      </p:sp>
      <p:sp>
        <p:nvSpPr>
          <p:cNvPr id="19" name="テキスト ボックス 18">
            <a:extLst>
              <a:ext uri="{FF2B5EF4-FFF2-40B4-BE49-F238E27FC236}">
                <a16:creationId xmlns:a16="http://schemas.microsoft.com/office/drawing/2014/main" id="{25AF94CE-EB9D-1F34-2BA1-BA0CE2444BA3}"/>
              </a:ext>
            </a:extLst>
          </p:cNvPr>
          <p:cNvSpPr txBox="1"/>
          <p:nvPr/>
        </p:nvSpPr>
        <p:spPr>
          <a:xfrm>
            <a:off x="4838510" y="3951527"/>
            <a:ext cx="499309" cy="338554"/>
          </a:xfrm>
          <a:prstGeom prst="rect">
            <a:avLst/>
          </a:prstGeom>
          <a:noFill/>
        </p:spPr>
        <p:txBody>
          <a:bodyPr wrap="square">
            <a:spAutoFit/>
          </a:bodyPr>
          <a:lstStyle/>
          <a:p>
            <a:r>
              <a:rPr lang="en-US" altLang="ja-JP" sz="1600" b="1" dirty="0">
                <a:latin typeface="+mn-ea"/>
              </a:rPr>
              <a:t>2.5</a:t>
            </a:r>
            <a:endParaRPr lang="ja-JP" altLang="en-US" sz="1600" b="1" dirty="0">
              <a:latin typeface="+mn-ea"/>
            </a:endParaRPr>
          </a:p>
        </p:txBody>
      </p:sp>
      <p:sp>
        <p:nvSpPr>
          <p:cNvPr id="22" name="テキスト ボックス 21">
            <a:extLst>
              <a:ext uri="{FF2B5EF4-FFF2-40B4-BE49-F238E27FC236}">
                <a16:creationId xmlns:a16="http://schemas.microsoft.com/office/drawing/2014/main" id="{DAA25BA3-005D-5EAE-441A-60F963A24231}"/>
              </a:ext>
            </a:extLst>
          </p:cNvPr>
          <p:cNvSpPr txBox="1"/>
          <p:nvPr/>
        </p:nvSpPr>
        <p:spPr>
          <a:xfrm>
            <a:off x="4838510" y="3624544"/>
            <a:ext cx="499309" cy="338554"/>
          </a:xfrm>
          <a:prstGeom prst="rect">
            <a:avLst/>
          </a:prstGeom>
          <a:noFill/>
        </p:spPr>
        <p:txBody>
          <a:bodyPr wrap="square">
            <a:spAutoFit/>
          </a:bodyPr>
          <a:lstStyle/>
          <a:p>
            <a:r>
              <a:rPr lang="en-US" altLang="ja-JP" sz="1600" b="1" dirty="0">
                <a:latin typeface="+mn-ea"/>
              </a:rPr>
              <a:t>3.0</a:t>
            </a:r>
            <a:endParaRPr lang="ja-JP" altLang="en-US" sz="1600" b="1" dirty="0">
              <a:latin typeface="+mn-ea"/>
            </a:endParaRPr>
          </a:p>
        </p:txBody>
      </p:sp>
      <p:sp>
        <p:nvSpPr>
          <p:cNvPr id="23" name="テキスト ボックス 22">
            <a:extLst>
              <a:ext uri="{FF2B5EF4-FFF2-40B4-BE49-F238E27FC236}">
                <a16:creationId xmlns:a16="http://schemas.microsoft.com/office/drawing/2014/main" id="{FD7B5CF5-1857-CD3A-6B25-ED694315F752}"/>
              </a:ext>
            </a:extLst>
          </p:cNvPr>
          <p:cNvSpPr txBox="1"/>
          <p:nvPr/>
        </p:nvSpPr>
        <p:spPr>
          <a:xfrm>
            <a:off x="4838511" y="3297513"/>
            <a:ext cx="499309" cy="338554"/>
          </a:xfrm>
          <a:prstGeom prst="rect">
            <a:avLst/>
          </a:prstGeom>
          <a:noFill/>
        </p:spPr>
        <p:txBody>
          <a:bodyPr wrap="square">
            <a:spAutoFit/>
          </a:bodyPr>
          <a:lstStyle/>
          <a:p>
            <a:r>
              <a:rPr lang="en-US" altLang="ja-JP" sz="1600" b="1" dirty="0">
                <a:latin typeface="+mn-ea"/>
              </a:rPr>
              <a:t>3.5</a:t>
            </a:r>
            <a:endParaRPr lang="ja-JP" altLang="en-US" sz="1600" b="1" dirty="0">
              <a:latin typeface="+mn-ea"/>
            </a:endParaRPr>
          </a:p>
        </p:txBody>
      </p:sp>
      <p:sp>
        <p:nvSpPr>
          <p:cNvPr id="26" name="テキスト ボックス 25">
            <a:extLst>
              <a:ext uri="{FF2B5EF4-FFF2-40B4-BE49-F238E27FC236}">
                <a16:creationId xmlns:a16="http://schemas.microsoft.com/office/drawing/2014/main" id="{84BF3453-6101-ABA3-2B8D-6F7F3E5133A7}"/>
              </a:ext>
            </a:extLst>
          </p:cNvPr>
          <p:cNvSpPr txBox="1"/>
          <p:nvPr/>
        </p:nvSpPr>
        <p:spPr>
          <a:xfrm>
            <a:off x="4838512" y="2968744"/>
            <a:ext cx="499309" cy="338554"/>
          </a:xfrm>
          <a:prstGeom prst="rect">
            <a:avLst/>
          </a:prstGeom>
          <a:noFill/>
        </p:spPr>
        <p:txBody>
          <a:bodyPr wrap="square">
            <a:spAutoFit/>
          </a:bodyPr>
          <a:lstStyle/>
          <a:p>
            <a:r>
              <a:rPr lang="en-US" altLang="ja-JP" sz="1600" b="1" dirty="0">
                <a:latin typeface="+mn-ea"/>
              </a:rPr>
              <a:t>4.0</a:t>
            </a:r>
          </a:p>
        </p:txBody>
      </p:sp>
      <p:sp>
        <p:nvSpPr>
          <p:cNvPr id="12" name="テキスト ボックス 11">
            <a:extLst>
              <a:ext uri="{FF2B5EF4-FFF2-40B4-BE49-F238E27FC236}">
                <a16:creationId xmlns:a16="http://schemas.microsoft.com/office/drawing/2014/main" id="{A964FF5E-93C8-5A62-69E7-E9566021C003}"/>
              </a:ext>
            </a:extLst>
          </p:cNvPr>
          <p:cNvSpPr txBox="1"/>
          <p:nvPr/>
        </p:nvSpPr>
        <p:spPr>
          <a:xfrm>
            <a:off x="5460978" y="4787568"/>
            <a:ext cx="1100708" cy="307777"/>
          </a:xfrm>
          <a:prstGeom prst="rect">
            <a:avLst/>
          </a:prstGeom>
          <a:noFill/>
        </p:spPr>
        <p:txBody>
          <a:bodyPr wrap="square">
            <a:spAutoFit/>
          </a:bodyPr>
          <a:lstStyle/>
          <a:p>
            <a:r>
              <a:rPr lang="ja-JP" altLang="en-US" sz="1400" b="1" dirty="0"/>
              <a:t>名乗りあり</a:t>
            </a:r>
            <a:endParaRPr lang="ja-JP" altLang="en-US" sz="1400" dirty="0"/>
          </a:p>
        </p:txBody>
      </p:sp>
      <p:sp>
        <p:nvSpPr>
          <p:cNvPr id="17" name="テキスト ボックス 16">
            <a:extLst>
              <a:ext uri="{FF2B5EF4-FFF2-40B4-BE49-F238E27FC236}">
                <a16:creationId xmlns:a16="http://schemas.microsoft.com/office/drawing/2014/main" id="{967B3BA1-D2FC-59BA-979F-C52FA65A240B}"/>
              </a:ext>
            </a:extLst>
          </p:cNvPr>
          <p:cNvSpPr txBox="1"/>
          <p:nvPr/>
        </p:nvSpPr>
        <p:spPr>
          <a:xfrm>
            <a:off x="6821293" y="4787568"/>
            <a:ext cx="1100708" cy="307777"/>
          </a:xfrm>
          <a:prstGeom prst="rect">
            <a:avLst/>
          </a:prstGeom>
          <a:noFill/>
        </p:spPr>
        <p:txBody>
          <a:bodyPr wrap="square">
            <a:spAutoFit/>
          </a:bodyPr>
          <a:lstStyle/>
          <a:p>
            <a:r>
              <a:rPr lang="ja-JP" altLang="en-US" sz="1400" b="1" dirty="0"/>
              <a:t>名乗りなし</a:t>
            </a:r>
            <a:endParaRPr lang="ja-JP" altLang="en-US" sz="1400" dirty="0"/>
          </a:p>
        </p:txBody>
      </p:sp>
      <p:sp>
        <p:nvSpPr>
          <p:cNvPr id="27" name="テキスト ボックス 26">
            <a:extLst>
              <a:ext uri="{FF2B5EF4-FFF2-40B4-BE49-F238E27FC236}">
                <a16:creationId xmlns:a16="http://schemas.microsoft.com/office/drawing/2014/main" id="{9C17583F-EBD2-BD8A-63C4-8E2027E40644}"/>
              </a:ext>
            </a:extLst>
          </p:cNvPr>
          <p:cNvSpPr txBox="1"/>
          <p:nvPr/>
        </p:nvSpPr>
        <p:spPr>
          <a:xfrm>
            <a:off x="1586502" y="5286859"/>
            <a:ext cx="851647" cy="461665"/>
          </a:xfrm>
          <a:prstGeom prst="rect">
            <a:avLst/>
          </a:prstGeom>
          <a:solidFill>
            <a:schemeClr val="bg1"/>
          </a:solidFill>
        </p:spPr>
        <p:txBody>
          <a:bodyPr wrap="square">
            <a:spAutoFit/>
          </a:bodyPr>
          <a:lstStyle/>
          <a:p>
            <a:r>
              <a:rPr lang="ja-JP" altLang="en-US" sz="2400" b="1" dirty="0">
                <a:solidFill>
                  <a:schemeClr val="accent1"/>
                </a:solidFill>
              </a:rPr>
              <a:t>考察</a:t>
            </a:r>
          </a:p>
        </p:txBody>
      </p:sp>
      <p:sp>
        <p:nvSpPr>
          <p:cNvPr id="28" name="テキスト ボックス 27">
            <a:extLst>
              <a:ext uri="{FF2B5EF4-FFF2-40B4-BE49-F238E27FC236}">
                <a16:creationId xmlns:a16="http://schemas.microsoft.com/office/drawing/2014/main" id="{7413288D-EEE2-C882-318E-6BB37956A5AA}"/>
              </a:ext>
            </a:extLst>
          </p:cNvPr>
          <p:cNvSpPr txBox="1"/>
          <p:nvPr/>
        </p:nvSpPr>
        <p:spPr>
          <a:xfrm>
            <a:off x="5687906" y="2831867"/>
            <a:ext cx="2008120" cy="307777"/>
          </a:xfrm>
          <a:prstGeom prst="rect">
            <a:avLst/>
          </a:prstGeom>
          <a:noFill/>
        </p:spPr>
        <p:txBody>
          <a:bodyPr wrap="square">
            <a:spAutoFit/>
          </a:bodyPr>
          <a:lstStyle/>
          <a:p>
            <a:r>
              <a:rPr lang="ja-JP" altLang="en-US" sz="1400" b="1" dirty="0"/>
              <a:t>人格固定水準において</a:t>
            </a:r>
          </a:p>
        </p:txBody>
      </p:sp>
      <p:sp>
        <p:nvSpPr>
          <p:cNvPr id="4" name="テキスト ボックス 3">
            <a:extLst>
              <a:ext uri="{FF2B5EF4-FFF2-40B4-BE49-F238E27FC236}">
                <a16:creationId xmlns:a16="http://schemas.microsoft.com/office/drawing/2014/main" id="{8C62207B-E600-D6B4-5803-3E99C396FEBF}"/>
              </a:ext>
            </a:extLst>
          </p:cNvPr>
          <p:cNvSpPr txBox="1"/>
          <p:nvPr/>
        </p:nvSpPr>
        <p:spPr>
          <a:xfrm>
            <a:off x="376413" y="4979879"/>
            <a:ext cx="6315553" cy="400110"/>
          </a:xfrm>
          <a:prstGeom prst="rect">
            <a:avLst/>
          </a:prstGeom>
          <a:noFill/>
        </p:spPr>
        <p:txBody>
          <a:bodyPr wrap="square">
            <a:spAutoFit/>
          </a:bodyPr>
          <a:lstStyle/>
          <a:p>
            <a:r>
              <a:rPr lang="ja-JP" altLang="en-US" sz="2000" b="1" dirty="0"/>
              <a:t>人格固定のとき 名乗りあり ＜ 名乗りなし</a:t>
            </a:r>
          </a:p>
        </p:txBody>
      </p:sp>
    </p:spTree>
    <p:extLst>
      <p:ext uri="{BB962C8B-B14F-4D97-AF65-F5344CB8AC3E}">
        <p14:creationId xmlns:p14="http://schemas.microsoft.com/office/powerpoint/2010/main" val="20968025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D30FC-6A0C-55B0-1F81-0D4EDCBBDCA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6767B8C7-44E4-C110-0E81-B0653F1D6695}"/>
              </a:ext>
            </a:extLst>
          </p:cNvPr>
          <p:cNvSpPr>
            <a:spLocks noGrp="1"/>
          </p:cNvSpPr>
          <p:nvPr>
            <p:ph type="sldNum" sz="quarter" idx="12"/>
          </p:nvPr>
        </p:nvSpPr>
        <p:spPr/>
        <p:txBody>
          <a:bodyPr/>
          <a:lstStyle/>
          <a:p>
            <a:fld id="{18020408-E1FF-429E-A8D5-EB2A190A0D77}" type="slidenum">
              <a:rPr kumimoji="1" lang="ja-JP" altLang="en-US" smtClean="0"/>
              <a:pPr/>
              <a:t>30</a:t>
            </a:fld>
            <a:endParaRPr kumimoji="1" lang="ja-JP" altLang="en-US" sz="2400" dirty="0"/>
          </a:p>
        </p:txBody>
      </p:sp>
      <p:sp>
        <p:nvSpPr>
          <p:cNvPr id="3" name="タイトル 2">
            <a:extLst>
              <a:ext uri="{FF2B5EF4-FFF2-40B4-BE49-F238E27FC236}">
                <a16:creationId xmlns:a16="http://schemas.microsoft.com/office/drawing/2014/main" id="{74C7DE1C-760C-4A4D-6CC6-DD8FF8086E69}"/>
              </a:ext>
            </a:extLst>
          </p:cNvPr>
          <p:cNvSpPr>
            <a:spLocks noGrp="1"/>
          </p:cNvSpPr>
          <p:nvPr>
            <p:ph type="title"/>
          </p:nvPr>
        </p:nvSpPr>
        <p:spPr/>
        <p:txBody>
          <a:bodyPr/>
          <a:lstStyle/>
          <a:p>
            <a:r>
              <a:rPr kumimoji="1" lang="ja-JP" altLang="en-US" sz="3600" dirty="0"/>
              <a:t>考察：</a:t>
            </a:r>
            <a:r>
              <a:rPr lang="ja-JP" altLang="en-US" sz="3600" dirty="0"/>
              <a:t>まとめ</a:t>
            </a:r>
            <a:endParaRPr kumimoji="1" lang="ja-JP" altLang="en-US" sz="3600" dirty="0"/>
          </a:p>
        </p:txBody>
      </p:sp>
      <p:sp>
        <p:nvSpPr>
          <p:cNvPr id="4" name="テキスト ボックス 3">
            <a:extLst>
              <a:ext uri="{FF2B5EF4-FFF2-40B4-BE49-F238E27FC236}">
                <a16:creationId xmlns:a16="http://schemas.microsoft.com/office/drawing/2014/main" id="{70CDC126-A024-578C-D19D-D3B434EC7D7A}"/>
              </a:ext>
            </a:extLst>
          </p:cNvPr>
          <p:cNvSpPr txBox="1"/>
          <p:nvPr/>
        </p:nvSpPr>
        <p:spPr>
          <a:xfrm>
            <a:off x="205688" y="1315349"/>
            <a:ext cx="8938312" cy="5355312"/>
          </a:xfrm>
          <a:prstGeom prst="rect">
            <a:avLst/>
          </a:prstGeom>
          <a:noFill/>
        </p:spPr>
        <p:txBody>
          <a:bodyPr wrap="square">
            <a:spAutoFit/>
          </a:bodyPr>
          <a:lstStyle/>
          <a:p>
            <a:pPr fontAlgn="base"/>
            <a:r>
              <a:rPr lang="ja-JP" altLang="en-US" sz="1900" b="1" dirty="0">
                <a:solidFill>
                  <a:srgbClr val="C00000"/>
                </a:solidFill>
                <a:latin typeface="+mn-ea"/>
                <a:sym typeface="Wingdings" panose="05000000000000000000" pitchFamily="2" charset="2"/>
              </a:rPr>
              <a:t>好感度</a:t>
            </a:r>
            <a:r>
              <a:rPr lang="ja-JP" altLang="en-US" sz="1900" b="1" dirty="0">
                <a:latin typeface="+mn-ea"/>
                <a:sym typeface="Wingdings" panose="05000000000000000000" pitchFamily="2" charset="2"/>
              </a:rPr>
              <a:t>や</a:t>
            </a:r>
            <a:r>
              <a:rPr lang="ja-JP" altLang="en-US" sz="1900" b="1" dirty="0">
                <a:solidFill>
                  <a:srgbClr val="C00000"/>
                </a:solidFill>
                <a:latin typeface="+mn-ea"/>
                <a:sym typeface="Wingdings" panose="05000000000000000000" pitchFamily="2" charset="2"/>
              </a:rPr>
              <a:t>将来また使いたい</a:t>
            </a:r>
            <a:r>
              <a:rPr lang="ja-JP" altLang="en-US" sz="1900" b="1" dirty="0">
                <a:latin typeface="+mn-ea"/>
                <a:sym typeface="Wingdings" panose="05000000000000000000" pitchFamily="2" charset="2"/>
              </a:rPr>
              <a:t>といった項目では全てネガティブな評価</a:t>
            </a:r>
            <a:endParaRPr lang="en-US" altLang="ja-JP" sz="1900" b="1" dirty="0">
              <a:latin typeface="+mn-ea"/>
              <a:sym typeface="Wingdings" panose="05000000000000000000" pitchFamily="2" charset="2"/>
            </a:endParaRPr>
          </a:p>
          <a:p>
            <a:pPr fontAlgn="base"/>
            <a:r>
              <a:rPr lang="ja-JP" altLang="en-US" sz="1900" b="1" dirty="0">
                <a:latin typeface="+mn-ea"/>
                <a:sym typeface="Wingdings" panose="05000000000000000000" pitchFamily="2" charset="2"/>
              </a:rPr>
              <a:t>　</a:t>
            </a:r>
            <a:r>
              <a:rPr lang="en-US" altLang="ja-JP" sz="1900" b="1" dirty="0">
                <a:latin typeface="+mn-ea"/>
                <a:sym typeface="Wingdings" panose="05000000000000000000" pitchFamily="2" charset="2"/>
              </a:rPr>
              <a:t></a:t>
            </a:r>
            <a:r>
              <a:rPr lang="ja-JP" altLang="en-US" sz="1900" b="1" dirty="0">
                <a:latin typeface="+mn-ea"/>
                <a:sym typeface="Wingdings" panose="05000000000000000000" pitchFamily="2" charset="2"/>
              </a:rPr>
              <a:t>ネガティブな印象のリセットに有効な条件は見つからなかった</a:t>
            </a:r>
            <a:endParaRPr lang="en-US" altLang="ja-JP" sz="1900" b="1" dirty="0">
              <a:latin typeface="+mn-ea"/>
            </a:endParaRPr>
          </a:p>
          <a:p>
            <a:pPr algn="l" rtl="0" fontAlgn="base">
              <a:buNone/>
            </a:pPr>
            <a:endParaRPr lang="en-US" altLang="ja-JP" sz="1900" b="1" dirty="0">
              <a:latin typeface="+mn-ea"/>
            </a:endParaRPr>
          </a:p>
          <a:p>
            <a:pPr algn="l" rtl="0" fontAlgn="base">
              <a:buNone/>
            </a:pPr>
            <a:r>
              <a:rPr lang="ja-JP" altLang="en-US" sz="1900" b="1" dirty="0">
                <a:latin typeface="+mn-ea"/>
              </a:rPr>
              <a:t>共通結果：</a:t>
            </a:r>
            <a:r>
              <a:rPr lang="en-US" altLang="ja-JP" sz="1900" b="1" dirty="0">
                <a:latin typeface="+mn-ea"/>
              </a:rPr>
              <a:t>LLM</a:t>
            </a:r>
            <a:r>
              <a:rPr lang="ja-JP" altLang="en-US" sz="1900" b="1" dirty="0">
                <a:latin typeface="+mn-ea"/>
              </a:rPr>
              <a:t>に対して</a:t>
            </a:r>
            <a:r>
              <a:rPr lang="ja-JP" altLang="en-US" sz="1900" b="1" dirty="0">
                <a:solidFill>
                  <a:srgbClr val="C00000"/>
                </a:solidFill>
                <a:latin typeface="+mn-ea"/>
              </a:rPr>
              <a:t>役に立たない</a:t>
            </a:r>
            <a:r>
              <a:rPr lang="ja-JP" altLang="en-US" sz="1900" b="1" dirty="0">
                <a:latin typeface="+mn-ea"/>
              </a:rPr>
              <a:t>と認識した可能性</a:t>
            </a:r>
            <a:endParaRPr lang="en-US" altLang="ja-JP" sz="1900" b="1" dirty="0">
              <a:latin typeface="+mn-ea"/>
            </a:endParaRPr>
          </a:p>
          <a:p>
            <a:pPr algn="l" rtl="0" fontAlgn="base">
              <a:buNone/>
            </a:pPr>
            <a:endParaRPr lang="en-US" altLang="ja-JP" sz="1900" b="1" dirty="0">
              <a:solidFill>
                <a:schemeClr val="accent1"/>
              </a:solidFill>
              <a:latin typeface="+mn-ea"/>
            </a:endParaRPr>
          </a:p>
          <a:p>
            <a:pPr algn="l" rtl="0" fontAlgn="base">
              <a:spcAft>
                <a:spcPts val="600"/>
              </a:spcAft>
              <a:buNone/>
            </a:pPr>
            <a:r>
              <a:rPr lang="ja-JP" altLang="en-US" sz="1900" b="1" dirty="0">
                <a:solidFill>
                  <a:schemeClr val="accent1"/>
                </a:solidFill>
                <a:latin typeface="+mn-ea"/>
              </a:rPr>
              <a:t>平均値が全ての条件で中間値を超えない質問</a:t>
            </a:r>
            <a:endParaRPr lang="en-US" altLang="ja-JP" sz="1900" b="1" dirty="0">
              <a:solidFill>
                <a:schemeClr val="accent1"/>
              </a:solidFill>
              <a:latin typeface="+mn-ea"/>
            </a:endParaRPr>
          </a:p>
          <a:p>
            <a:r>
              <a:rPr lang="ja-JP" altLang="en-US" sz="1900" b="1" dirty="0">
                <a:latin typeface="+mn-ea"/>
              </a:rPr>
              <a:t>　「</a:t>
            </a:r>
            <a:r>
              <a:rPr kumimoji="1" lang="en-US" altLang="ja-JP" sz="1900" b="1" dirty="0">
                <a:solidFill>
                  <a:srgbClr val="C00000"/>
                </a:solidFill>
                <a:latin typeface="+mn-ea"/>
              </a:rPr>
              <a:t>Q9.</a:t>
            </a:r>
            <a:r>
              <a:rPr kumimoji="1" lang="ja-JP" altLang="en-US" sz="1900" b="1" dirty="0">
                <a:solidFill>
                  <a:srgbClr val="C00000"/>
                </a:solidFill>
                <a:latin typeface="+mn-ea"/>
              </a:rPr>
              <a:t> </a:t>
            </a:r>
            <a:r>
              <a:rPr kumimoji="1" lang="en-US" altLang="ja-JP" sz="1900" b="1" dirty="0">
                <a:solidFill>
                  <a:srgbClr val="C00000"/>
                </a:solidFill>
                <a:latin typeface="+mn-ea"/>
              </a:rPr>
              <a:t>AI </a:t>
            </a:r>
            <a:r>
              <a:rPr kumimoji="1" lang="ja-JP" altLang="en-US" sz="1900" b="1" dirty="0">
                <a:solidFill>
                  <a:srgbClr val="C00000"/>
                </a:solidFill>
                <a:latin typeface="+mn-ea"/>
              </a:rPr>
              <a:t>の言動は見ていて楽しい</a:t>
            </a:r>
            <a:r>
              <a:rPr kumimoji="1" lang="ja-JP" altLang="en-US" sz="1900" b="1" dirty="0">
                <a:latin typeface="+mn-ea"/>
              </a:rPr>
              <a:t>」</a:t>
            </a:r>
            <a:r>
              <a:rPr kumimoji="1" lang="en-US" altLang="ja-JP" sz="1900" b="1" dirty="0">
                <a:latin typeface="+mn-ea"/>
              </a:rPr>
              <a:t>(</a:t>
            </a:r>
            <a:r>
              <a:rPr kumimoji="1" lang="ja-JP" altLang="en-US" sz="1900" b="1" dirty="0">
                <a:latin typeface="+mn-ea"/>
              </a:rPr>
              <a:t>名乗りなし：人格固定 ＞ 人格切り替え</a:t>
            </a:r>
            <a:r>
              <a:rPr kumimoji="1" lang="en-US" altLang="ja-JP" sz="1900" b="1" dirty="0">
                <a:latin typeface="+mn-ea"/>
              </a:rPr>
              <a:t>)</a:t>
            </a:r>
          </a:p>
          <a:p>
            <a:pPr>
              <a:spcAft>
                <a:spcPts val="600"/>
              </a:spcAft>
            </a:pPr>
            <a:r>
              <a:rPr lang="ja-JP" altLang="en-US" sz="1900" b="1" dirty="0">
                <a:sym typeface="Wingdings" panose="05000000000000000000" pitchFamily="2" charset="2"/>
              </a:rPr>
              <a:t>　　</a:t>
            </a:r>
            <a:r>
              <a:rPr lang="en-US" altLang="ja-JP" sz="1900" b="1" dirty="0">
                <a:sym typeface="Wingdings" panose="05000000000000000000" pitchFamily="2" charset="2"/>
              </a:rPr>
              <a:t></a:t>
            </a:r>
            <a:r>
              <a:rPr lang="ja-JP" altLang="en-US" sz="1900" b="1" dirty="0">
                <a:sym typeface="Wingdings" panose="05000000000000000000" pitchFamily="2" charset="2"/>
              </a:rPr>
              <a:t>名乗りをせず人格を固定することで</a:t>
            </a:r>
            <a:r>
              <a:rPr lang="ja-JP" altLang="en-US" sz="1900" b="1" dirty="0">
                <a:latin typeface="+mn-ea"/>
                <a:sym typeface="Wingdings" panose="05000000000000000000" pitchFamily="2" charset="2"/>
              </a:rPr>
              <a:t>見ていて楽しいと思わせる</a:t>
            </a:r>
            <a:r>
              <a:rPr lang="ja-JP" altLang="en-US" sz="1900" b="1" dirty="0">
                <a:latin typeface="+mn-ea"/>
              </a:rPr>
              <a:t>可能性</a:t>
            </a:r>
            <a:endParaRPr lang="ja-JP" altLang="en-US" sz="1900" b="1" dirty="0"/>
          </a:p>
          <a:p>
            <a:r>
              <a:rPr lang="ja-JP" altLang="en-US" sz="1900" b="1" dirty="0">
                <a:latin typeface="+mn-ea"/>
              </a:rPr>
              <a:t>　「</a:t>
            </a:r>
            <a:r>
              <a:rPr lang="en-US" altLang="ja-JP" sz="1900" b="1" dirty="0">
                <a:solidFill>
                  <a:srgbClr val="C00000"/>
                </a:solidFill>
                <a:latin typeface="+mn-ea"/>
              </a:rPr>
              <a:t>Q19.</a:t>
            </a:r>
            <a:r>
              <a:rPr kumimoji="1" lang="en-US" altLang="ja-JP" sz="1900" b="1" dirty="0">
                <a:solidFill>
                  <a:srgbClr val="C00000"/>
                </a:solidFill>
                <a:latin typeface="+mn-ea"/>
              </a:rPr>
              <a:t> AI</a:t>
            </a:r>
            <a:r>
              <a:rPr kumimoji="1" lang="ja-JP" altLang="en-US" sz="1900" b="1" dirty="0">
                <a:solidFill>
                  <a:srgbClr val="C00000"/>
                </a:solidFill>
                <a:latin typeface="+mn-ea"/>
              </a:rPr>
              <a:t>には感情がある</a:t>
            </a:r>
            <a:r>
              <a:rPr kumimoji="1" lang="ja-JP" altLang="en-US" sz="1900" b="1" dirty="0">
                <a:latin typeface="+mn-ea"/>
              </a:rPr>
              <a:t>」</a:t>
            </a:r>
            <a:r>
              <a:rPr kumimoji="1" lang="en-US" altLang="ja-JP" sz="1900" b="1" dirty="0">
                <a:latin typeface="+mn-ea"/>
              </a:rPr>
              <a:t>(</a:t>
            </a:r>
            <a:r>
              <a:rPr kumimoji="1" lang="ja-JP" altLang="en-US" sz="1900" b="1" dirty="0">
                <a:latin typeface="+mn-ea"/>
              </a:rPr>
              <a:t>人格固定：名乗りあり </a:t>
            </a:r>
            <a:r>
              <a:rPr kumimoji="1" lang="en-US" altLang="ja-JP" sz="1900" b="1" dirty="0">
                <a:latin typeface="+mn-ea"/>
              </a:rPr>
              <a:t>&lt; </a:t>
            </a:r>
            <a:r>
              <a:rPr kumimoji="1" lang="ja-JP" altLang="en-US" sz="1900" b="1" dirty="0">
                <a:latin typeface="+mn-ea"/>
              </a:rPr>
              <a:t>名乗りなし</a:t>
            </a:r>
            <a:r>
              <a:rPr kumimoji="1" lang="en-US" altLang="ja-JP" sz="1900" b="1" dirty="0">
                <a:latin typeface="+mn-ea"/>
              </a:rPr>
              <a:t>)</a:t>
            </a:r>
          </a:p>
          <a:p>
            <a:r>
              <a:rPr kumimoji="1" lang="ja-JP" altLang="en-US" sz="1900" b="1" dirty="0">
                <a:latin typeface="+mn-ea"/>
                <a:sym typeface="Wingdings" panose="05000000000000000000" pitchFamily="2" charset="2"/>
              </a:rPr>
              <a:t>　　</a:t>
            </a:r>
            <a:r>
              <a:rPr kumimoji="1" lang="en-US" altLang="ja-JP" sz="1900" b="1" dirty="0">
                <a:latin typeface="+mn-ea"/>
                <a:sym typeface="Wingdings" panose="05000000000000000000" pitchFamily="2" charset="2"/>
              </a:rPr>
              <a:t></a:t>
            </a:r>
            <a:r>
              <a:rPr kumimoji="1" lang="ja-JP" altLang="en-US" sz="1900" b="1" dirty="0">
                <a:latin typeface="+mn-ea"/>
                <a:sym typeface="Wingdings" panose="05000000000000000000" pitchFamily="2" charset="2"/>
              </a:rPr>
              <a:t>人格を固定して名乗らないことでより感情を知覚させる可能性</a:t>
            </a:r>
            <a:endParaRPr lang="en-US" altLang="ja-JP" sz="1900" b="1" i="0" u="none" strike="noStrike" dirty="0">
              <a:effectLst/>
              <a:latin typeface="+mn-ea"/>
            </a:endParaRPr>
          </a:p>
          <a:p>
            <a:pPr algn="l" rtl="0" fontAlgn="base">
              <a:buNone/>
            </a:pPr>
            <a:endParaRPr lang="en-US" altLang="ja-JP" sz="1900" b="1" i="0" u="none" strike="noStrike" dirty="0">
              <a:effectLst/>
              <a:latin typeface="+mn-ea"/>
            </a:endParaRPr>
          </a:p>
          <a:p>
            <a:pPr algn="l" rtl="0" fontAlgn="base">
              <a:spcAft>
                <a:spcPts val="600"/>
              </a:spcAft>
              <a:buNone/>
            </a:pPr>
            <a:r>
              <a:rPr lang="ja-JP" altLang="en-US" sz="1900" b="1" i="0" u="none" strike="noStrike" dirty="0">
                <a:solidFill>
                  <a:schemeClr val="accent1"/>
                </a:solidFill>
                <a:effectLst/>
                <a:latin typeface="+mn-ea"/>
              </a:rPr>
              <a:t>平均値が</a:t>
            </a:r>
            <a:r>
              <a:rPr lang="ja-JP" altLang="en-US" sz="1900" b="1" dirty="0">
                <a:solidFill>
                  <a:schemeClr val="accent1"/>
                </a:solidFill>
                <a:latin typeface="+mn-ea"/>
              </a:rPr>
              <a:t>中間値</a:t>
            </a:r>
            <a:r>
              <a:rPr lang="ja-JP" altLang="en-US" sz="1900" b="1" i="0" u="none" strike="noStrike" dirty="0">
                <a:solidFill>
                  <a:schemeClr val="accent1"/>
                </a:solidFill>
                <a:effectLst/>
                <a:latin typeface="+mn-ea"/>
              </a:rPr>
              <a:t>を超える条件がある質問</a:t>
            </a:r>
            <a:endParaRPr lang="en-US" altLang="ja-JP" sz="1900" b="1" i="0" u="none" strike="noStrike" dirty="0">
              <a:solidFill>
                <a:schemeClr val="accent1"/>
              </a:solidFill>
              <a:effectLst/>
              <a:latin typeface="+mn-ea"/>
            </a:endParaRPr>
          </a:p>
          <a:p>
            <a:r>
              <a:rPr lang="ja-JP" altLang="en-US" sz="1900" b="1" dirty="0">
                <a:latin typeface="+mn-ea"/>
              </a:rPr>
              <a:t>　「</a:t>
            </a:r>
            <a:r>
              <a:rPr kumimoji="1" lang="en-US" altLang="ja-JP" sz="1900" b="1" dirty="0">
                <a:solidFill>
                  <a:srgbClr val="C00000"/>
                </a:solidFill>
                <a:latin typeface="+mn-ea"/>
              </a:rPr>
              <a:t>Q7. AI </a:t>
            </a:r>
            <a:r>
              <a:rPr kumimoji="1" lang="ja-JP" altLang="en-US" sz="1900" b="1" dirty="0">
                <a:solidFill>
                  <a:srgbClr val="C00000"/>
                </a:solidFill>
                <a:latin typeface="+mn-ea"/>
              </a:rPr>
              <a:t>には独自の個性がある</a:t>
            </a:r>
            <a:r>
              <a:rPr kumimoji="1" lang="ja-JP" altLang="en-US" sz="1900" b="1" dirty="0">
                <a:latin typeface="+mn-ea"/>
              </a:rPr>
              <a:t>」</a:t>
            </a:r>
            <a:r>
              <a:rPr kumimoji="1" lang="en-US" altLang="ja-JP" sz="1900" b="1" dirty="0">
                <a:latin typeface="+mn-ea"/>
              </a:rPr>
              <a:t>(</a:t>
            </a:r>
            <a:r>
              <a:rPr kumimoji="1" lang="ja-JP" altLang="en-US" sz="1900" b="1" dirty="0">
                <a:latin typeface="+mn-ea"/>
              </a:rPr>
              <a:t>人格固定 ＜人格切り替え</a:t>
            </a:r>
            <a:r>
              <a:rPr kumimoji="1" lang="en-US" altLang="ja-JP" sz="1900" b="1" dirty="0">
                <a:latin typeface="+mn-ea"/>
              </a:rPr>
              <a:t>)</a:t>
            </a:r>
          </a:p>
          <a:p>
            <a:pPr>
              <a:spcAft>
                <a:spcPts val="600"/>
              </a:spcAft>
            </a:pPr>
            <a:r>
              <a:rPr kumimoji="1" lang="ja-JP" altLang="en-US" sz="1900" b="1" dirty="0">
                <a:latin typeface="+mn-ea"/>
                <a:sym typeface="Wingdings" panose="05000000000000000000" pitchFamily="2" charset="2"/>
              </a:rPr>
              <a:t>　　</a:t>
            </a:r>
            <a:r>
              <a:rPr kumimoji="1" lang="en-US" altLang="ja-JP" sz="1900" b="1" dirty="0">
                <a:latin typeface="+mn-ea"/>
                <a:sym typeface="Wingdings" panose="05000000000000000000" pitchFamily="2" charset="2"/>
              </a:rPr>
              <a:t></a:t>
            </a:r>
            <a:r>
              <a:rPr kumimoji="1" lang="ja-JP" altLang="en-US" sz="1900" b="1" dirty="0">
                <a:latin typeface="+mn-ea"/>
                <a:sym typeface="Wingdings" panose="05000000000000000000" pitchFamily="2" charset="2"/>
              </a:rPr>
              <a:t>人格を切り替えることでより個性を知覚させる可能性</a:t>
            </a:r>
            <a:endParaRPr kumimoji="1" lang="en-US" altLang="ja-JP" sz="1900" b="1" dirty="0">
              <a:latin typeface="+mn-ea"/>
              <a:sym typeface="Wingdings" panose="05000000000000000000" pitchFamily="2" charset="2"/>
            </a:endParaRPr>
          </a:p>
          <a:p>
            <a:r>
              <a:rPr lang="ja-JP" altLang="en-US" sz="1900" b="1" dirty="0">
                <a:latin typeface="+mn-ea"/>
              </a:rPr>
              <a:t>　「</a:t>
            </a:r>
            <a:r>
              <a:rPr kumimoji="1" lang="en-US" altLang="ja-JP" sz="1900" b="1" dirty="0">
                <a:solidFill>
                  <a:srgbClr val="C00000"/>
                </a:solidFill>
                <a:latin typeface="+mn-ea"/>
              </a:rPr>
              <a:t>Q10. AI </a:t>
            </a:r>
            <a:r>
              <a:rPr kumimoji="1" lang="ja-JP" altLang="en-US" sz="1900" b="1" dirty="0">
                <a:solidFill>
                  <a:srgbClr val="C00000"/>
                </a:solidFill>
                <a:latin typeface="+mn-ea"/>
              </a:rPr>
              <a:t>のやりとりは注意を引く</a:t>
            </a:r>
            <a:r>
              <a:rPr kumimoji="1" lang="ja-JP" altLang="en-US" sz="1900" b="1" dirty="0">
                <a:latin typeface="+mn-ea"/>
              </a:rPr>
              <a:t>」</a:t>
            </a:r>
            <a:r>
              <a:rPr kumimoji="1" lang="en-US" altLang="ja-JP" sz="1900" b="1" dirty="0">
                <a:latin typeface="+mn-ea"/>
              </a:rPr>
              <a:t>(</a:t>
            </a:r>
            <a:r>
              <a:rPr kumimoji="1" lang="ja-JP" altLang="en-US" sz="1900" b="1" dirty="0">
                <a:latin typeface="+mn-ea"/>
              </a:rPr>
              <a:t>人格固定：名乗りあり </a:t>
            </a:r>
            <a:r>
              <a:rPr kumimoji="1" lang="en-US" altLang="ja-JP" sz="1900" b="1" dirty="0">
                <a:latin typeface="+mn-ea"/>
              </a:rPr>
              <a:t>&lt; </a:t>
            </a:r>
            <a:r>
              <a:rPr kumimoji="1" lang="ja-JP" altLang="en-US" sz="1900" b="1" dirty="0">
                <a:latin typeface="+mn-ea"/>
              </a:rPr>
              <a:t>名乗りなし</a:t>
            </a:r>
            <a:r>
              <a:rPr kumimoji="1" lang="en-US" altLang="ja-JP" sz="1900" b="1" dirty="0">
                <a:latin typeface="+mn-ea"/>
              </a:rPr>
              <a:t>)</a:t>
            </a:r>
          </a:p>
          <a:p>
            <a:r>
              <a:rPr kumimoji="1" lang="ja-JP" altLang="en-US" sz="1900" b="1" dirty="0">
                <a:latin typeface="+mn-ea"/>
                <a:sym typeface="Wingdings" panose="05000000000000000000" pitchFamily="2" charset="2"/>
              </a:rPr>
              <a:t>　　</a:t>
            </a:r>
            <a:r>
              <a:rPr kumimoji="1" lang="en-US" altLang="ja-JP" sz="1900" b="1" dirty="0">
                <a:latin typeface="+mn-ea"/>
                <a:sym typeface="Wingdings" panose="05000000000000000000" pitchFamily="2" charset="2"/>
              </a:rPr>
              <a:t></a:t>
            </a:r>
            <a:r>
              <a:rPr kumimoji="1" lang="ja-JP" altLang="en-US" sz="1900" b="1" dirty="0">
                <a:latin typeface="+mn-ea"/>
                <a:sym typeface="Wingdings" panose="05000000000000000000" pitchFamily="2" charset="2"/>
              </a:rPr>
              <a:t>人格を固定して名乗らないことでより注意を引く可能性</a:t>
            </a:r>
            <a:endParaRPr kumimoji="1" lang="en-US" altLang="ja-JP" sz="1900" b="1" dirty="0">
              <a:latin typeface="+mn-ea"/>
              <a:sym typeface="Wingdings" panose="05000000000000000000" pitchFamily="2" charset="2"/>
            </a:endParaRPr>
          </a:p>
          <a:p>
            <a:endParaRPr kumimoji="1" lang="en-US" altLang="ja-JP" sz="1900" b="1" dirty="0">
              <a:latin typeface="+mn-ea"/>
              <a:sym typeface="Wingdings" panose="05000000000000000000" pitchFamily="2" charset="2"/>
            </a:endParaRPr>
          </a:p>
        </p:txBody>
      </p:sp>
    </p:spTree>
    <p:extLst>
      <p:ext uri="{BB962C8B-B14F-4D97-AF65-F5344CB8AC3E}">
        <p14:creationId xmlns:p14="http://schemas.microsoft.com/office/powerpoint/2010/main" val="20315045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93C55-0EA3-CFC3-D17E-D13247523D48}"/>
            </a:ext>
          </a:extLst>
        </p:cNvPr>
        <p:cNvGrpSpPr/>
        <p:nvPr/>
      </p:nvGrpSpPr>
      <p:grpSpPr>
        <a:xfrm>
          <a:off x="0" y="0"/>
          <a:ext cx="0" cy="0"/>
          <a:chOff x="0" y="0"/>
          <a:chExt cx="0" cy="0"/>
        </a:xfrm>
      </p:grpSpPr>
      <p:sp>
        <p:nvSpPr>
          <p:cNvPr id="24" name="四角形: 角を丸くする 23">
            <a:extLst>
              <a:ext uri="{FF2B5EF4-FFF2-40B4-BE49-F238E27FC236}">
                <a16:creationId xmlns:a16="http://schemas.microsoft.com/office/drawing/2014/main" id="{5FB6091F-4345-5E04-08C2-30607A249777}"/>
              </a:ext>
            </a:extLst>
          </p:cNvPr>
          <p:cNvSpPr/>
          <p:nvPr/>
        </p:nvSpPr>
        <p:spPr>
          <a:xfrm>
            <a:off x="2968042" y="4304252"/>
            <a:ext cx="2292747" cy="2289355"/>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スライド番号プレースホルダー 1">
            <a:extLst>
              <a:ext uri="{FF2B5EF4-FFF2-40B4-BE49-F238E27FC236}">
                <a16:creationId xmlns:a16="http://schemas.microsoft.com/office/drawing/2014/main" id="{8AE40FA1-2F9B-19E7-96BB-9CBE844DB47F}"/>
              </a:ext>
            </a:extLst>
          </p:cNvPr>
          <p:cNvSpPr>
            <a:spLocks noGrp="1"/>
          </p:cNvSpPr>
          <p:nvPr>
            <p:ph type="sldNum" sz="quarter" idx="12"/>
          </p:nvPr>
        </p:nvSpPr>
        <p:spPr/>
        <p:txBody>
          <a:bodyPr/>
          <a:lstStyle/>
          <a:p>
            <a:fld id="{18020408-E1FF-429E-A8D5-EB2A190A0D77}" type="slidenum">
              <a:rPr kumimoji="1" lang="ja-JP" altLang="en-US" smtClean="0"/>
              <a:pPr/>
              <a:t>31</a:t>
            </a:fld>
            <a:endParaRPr kumimoji="1" lang="ja-JP" altLang="en-US" sz="2400" dirty="0"/>
          </a:p>
        </p:txBody>
      </p:sp>
      <p:sp>
        <p:nvSpPr>
          <p:cNvPr id="3" name="タイトル 2">
            <a:extLst>
              <a:ext uri="{FF2B5EF4-FFF2-40B4-BE49-F238E27FC236}">
                <a16:creationId xmlns:a16="http://schemas.microsoft.com/office/drawing/2014/main" id="{A46B906C-B2CE-96F8-73F4-EB0A7B1772D0}"/>
              </a:ext>
            </a:extLst>
          </p:cNvPr>
          <p:cNvSpPr>
            <a:spLocks noGrp="1"/>
          </p:cNvSpPr>
          <p:nvPr>
            <p:ph type="title"/>
          </p:nvPr>
        </p:nvSpPr>
        <p:spPr/>
        <p:txBody>
          <a:bodyPr/>
          <a:lstStyle/>
          <a:p>
            <a:r>
              <a:rPr kumimoji="1" lang="ja-JP" altLang="en-US" sz="3600" dirty="0"/>
              <a:t>制約事項・今後の課題</a:t>
            </a:r>
          </a:p>
        </p:txBody>
      </p:sp>
      <p:pic>
        <p:nvPicPr>
          <p:cNvPr id="6" name="図 5"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A8B91EEC-5C66-0209-0D8F-1E6C49EC4768}"/>
              </a:ext>
            </a:extLst>
          </p:cNvPr>
          <p:cNvPicPr>
            <a:picLocks noChangeAspect="1"/>
          </p:cNvPicPr>
          <p:nvPr/>
        </p:nvPicPr>
        <p:blipFill>
          <a:blip r:embed="rId3"/>
          <a:srcRect l="464" t="247" r="1"/>
          <a:stretch>
            <a:fillRect/>
          </a:stretch>
        </p:blipFill>
        <p:spPr>
          <a:xfrm>
            <a:off x="405597" y="4107667"/>
            <a:ext cx="2157261" cy="2566464"/>
          </a:xfrm>
          <a:prstGeom prst="rect">
            <a:avLst/>
          </a:prstGeom>
        </p:spPr>
      </p:pic>
      <p:sp>
        <p:nvSpPr>
          <p:cNvPr id="4" name="テキスト ボックス 4">
            <a:extLst>
              <a:ext uri="{FF2B5EF4-FFF2-40B4-BE49-F238E27FC236}">
                <a16:creationId xmlns:a16="http://schemas.microsoft.com/office/drawing/2014/main" id="{8D42AF31-5DB8-7280-2535-42913F4904E5}"/>
              </a:ext>
            </a:extLst>
          </p:cNvPr>
          <p:cNvSpPr txBox="1"/>
          <p:nvPr/>
        </p:nvSpPr>
        <p:spPr>
          <a:xfrm>
            <a:off x="584198" y="1219361"/>
            <a:ext cx="7975603" cy="255454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77800" indent="-177800" algn="l" rtl="0" fontAlgn="base">
              <a:lnSpc>
                <a:spcPct val="150000"/>
              </a:lnSpc>
              <a:buFont typeface="Arial" panose="020B0604020202020204" pitchFamily="34" charset="0"/>
              <a:buChar char="•"/>
            </a:pPr>
            <a:r>
              <a:rPr lang="ja-JP" altLang="en-US" sz="2000" b="1" i="0" u="none" strike="noStrike" dirty="0">
                <a:effectLst/>
                <a:latin typeface="+mn-ea"/>
              </a:rPr>
              <a:t>参加者が</a:t>
            </a:r>
            <a:r>
              <a:rPr lang="en-US" altLang="ja-JP" sz="2000" b="1" i="0" u="none" strike="noStrike" dirty="0">
                <a:effectLst/>
                <a:latin typeface="+mn-ea"/>
              </a:rPr>
              <a:t>LLM</a:t>
            </a:r>
            <a:r>
              <a:rPr lang="ja-JP" altLang="en-US" sz="2000" b="1" i="0" u="none" strike="noStrike" dirty="0">
                <a:effectLst/>
                <a:latin typeface="+mn-ea"/>
              </a:rPr>
              <a:t>と実際に対話ができなかった</a:t>
            </a:r>
            <a:endParaRPr lang="en-US" altLang="ja-JP" sz="2000" b="1" dirty="0">
              <a:latin typeface="+mn-ea"/>
            </a:endParaRPr>
          </a:p>
          <a:p>
            <a:pPr algn="l" rtl="0" fontAlgn="base">
              <a:lnSpc>
                <a:spcPct val="150000"/>
              </a:lnSpc>
            </a:pPr>
            <a:r>
              <a:rPr lang="en-US" altLang="ja-JP" sz="2000" b="1" dirty="0">
                <a:latin typeface="+mn-ea"/>
                <a:sym typeface="Wingdings" panose="05000000000000000000" pitchFamily="2" charset="2"/>
              </a:rPr>
              <a:t>	</a:t>
            </a:r>
            <a:r>
              <a:rPr lang="ja-JP" altLang="en-US" sz="2000" b="1" i="0" u="none" strike="noStrike" dirty="0">
                <a:effectLst/>
                <a:latin typeface="+mn-ea"/>
                <a:sym typeface="Wingdings" panose="05000000000000000000" pitchFamily="2" charset="2"/>
              </a:rPr>
              <a:t>参加者が</a:t>
            </a:r>
            <a:r>
              <a:rPr lang="ja-JP" altLang="en-US" sz="2000" b="1" i="0" u="none" strike="noStrike" dirty="0">
                <a:solidFill>
                  <a:srgbClr val="C00000"/>
                </a:solidFill>
                <a:effectLst/>
                <a:latin typeface="+mn-ea"/>
                <a:sym typeface="Wingdings" panose="05000000000000000000" pitchFamily="2" charset="2"/>
              </a:rPr>
              <a:t>実際に</a:t>
            </a:r>
            <a:r>
              <a:rPr lang="en-US" altLang="ja-JP" sz="2000" b="1" i="0" u="none" strike="noStrike" dirty="0">
                <a:solidFill>
                  <a:srgbClr val="C00000"/>
                </a:solidFill>
                <a:effectLst/>
                <a:latin typeface="+mn-ea"/>
                <a:sym typeface="Wingdings" panose="05000000000000000000" pitchFamily="2" charset="2"/>
              </a:rPr>
              <a:t>LLM</a:t>
            </a:r>
            <a:r>
              <a:rPr lang="ja-JP" altLang="en-US" sz="2000" b="1" i="0" u="none" strike="noStrike" dirty="0">
                <a:solidFill>
                  <a:srgbClr val="C00000"/>
                </a:solidFill>
                <a:effectLst/>
                <a:latin typeface="+mn-ea"/>
                <a:sym typeface="Wingdings" panose="05000000000000000000" pitchFamily="2" charset="2"/>
              </a:rPr>
              <a:t>と対話</a:t>
            </a:r>
            <a:r>
              <a:rPr lang="ja-JP" altLang="en-US" sz="2000" b="1" i="0" u="none" strike="noStrike" dirty="0">
                <a:effectLst/>
                <a:latin typeface="+mn-ea"/>
                <a:sym typeface="Wingdings" panose="05000000000000000000" pitchFamily="2" charset="2"/>
              </a:rPr>
              <a:t>した時の印象は未分析</a:t>
            </a:r>
            <a:endParaRPr lang="en-US" altLang="ja-JP" sz="2000" b="1" dirty="0">
              <a:latin typeface="+mn-ea"/>
            </a:endParaRPr>
          </a:p>
          <a:p>
            <a:pPr marL="177800" indent="-177800" algn="l" rtl="0" fontAlgn="base">
              <a:lnSpc>
                <a:spcPct val="150000"/>
              </a:lnSpc>
              <a:buFont typeface="Arial" panose="020B0604020202020204" pitchFamily="34" charset="0"/>
              <a:buChar char="•"/>
            </a:pPr>
            <a:r>
              <a:rPr lang="ja-JP" altLang="en-US" sz="2000" b="1" dirty="0">
                <a:latin typeface="+mn-ea"/>
              </a:rPr>
              <a:t>人格設定について</a:t>
            </a:r>
            <a:endParaRPr lang="en-US" altLang="ja-JP" sz="2000" b="1" i="0" u="none" strike="noStrike" dirty="0">
              <a:effectLst/>
              <a:latin typeface="+mn-ea"/>
            </a:endParaRPr>
          </a:p>
          <a:p>
            <a:pPr algn="l" rtl="0" fontAlgn="base">
              <a:spcAft>
                <a:spcPts val="600"/>
              </a:spcAft>
            </a:pPr>
            <a:r>
              <a:rPr lang="en-US" altLang="ja-JP" sz="2000" b="1" dirty="0">
                <a:latin typeface="+mn-ea"/>
                <a:sym typeface="Wingdings" panose="05000000000000000000" pitchFamily="2" charset="2"/>
              </a:rPr>
              <a:t>	INFJ</a:t>
            </a:r>
            <a:r>
              <a:rPr lang="ja-JP" altLang="en-US" sz="2000" b="1" dirty="0">
                <a:latin typeface="+mn-ea"/>
                <a:sym typeface="Wingdings" panose="05000000000000000000" pitchFamily="2" charset="2"/>
              </a:rPr>
              <a:t>，</a:t>
            </a:r>
            <a:r>
              <a:rPr lang="en-US" altLang="ja-JP" sz="2000" b="1" dirty="0">
                <a:latin typeface="+mn-ea"/>
                <a:sym typeface="Wingdings" panose="05000000000000000000" pitchFamily="2" charset="2"/>
              </a:rPr>
              <a:t>ESTP</a:t>
            </a:r>
            <a:r>
              <a:rPr lang="ja-JP" altLang="en-US" sz="2000" b="1" dirty="0">
                <a:latin typeface="+mn-ea"/>
                <a:sym typeface="Wingdings" panose="05000000000000000000" pitchFamily="2" charset="2"/>
              </a:rPr>
              <a:t>以外の</a:t>
            </a:r>
            <a:r>
              <a:rPr lang="en-US" altLang="ja-JP" sz="2000" b="1" dirty="0">
                <a:latin typeface="+mn-ea"/>
                <a:sym typeface="Wingdings" panose="05000000000000000000" pitchFamily="2" charset="2"/>
              </a:rPr>
              <a:t>MBTI</a:t>
            </a:r>
            <a:r>
              <a:rPr lang="ja-JP" altLang="en-US" sz="2000" b="1" dirty="0">
                <a:latin typeface="+mn-ea"/>
                <a:sym typeface="Wingdings" panose="05000000000000000000" pitchFamily="2" charset="2"/>
              </a:rPr>
              <a:t>タイプでの調査</a:t>
            </a:r>
            <a:endParaRPr lang="en-US" altLang="ja-JP" sz="2000" b="1" dirty="0">
              <a:latin typeface="+mn-ea"/>
            </a:endParaRPr>
          </a:p>
          <a:p>
            <a:pPr algn="l" rtl="0" fontAlgn="base">
              <a:spcAft>
                <a:spcPts val="600"/>
              </a:spcAft>
            </a:pPr>
            <a:r>
              <a:rPr lang="en-US" altLang="ja-JP" sz="2000" b="1" i="0" u="none" strike="noStrike" dirty="0">
                <a:effectLst/>
                <a:latin typeface="+mn-ea"/>
              </a:rPr>
              <a:t>	ESTP</a:t>
            </a:r>
            <a:r>
              <a:rPr lang="ja-JP" altLang="en-US" sz="2000" b="1" i="0" u="none" strike="noStrike" dirty="0">
                <a:effectLst/>
                <a:latin typeface="+mn-ea"/>
              </a:rPr>
              <a:t>における口調を「フレンドリー」に制限</a:t>
            </a:r>
            <a:endParaRPr lang="en-US" altLang="ja-JP" sz="2000" b="1" i="0" u="none" strike="noStrike" dirty="0">
              <a:effectLst/>
              <a:latin typeface="+mn-ea"/>
            </a:endParaRPr>
          </a:p>
          <a:p>
            <a:pPr algn="l" rtl="0" fontAlgn="base">
              <a:spcAft>
                <a:spcPts val="600"/>
              </a:spcAft>
            </a:pPr>
            <a:r>
              <a:rPr lang="en-US" altLang="ja-JP" sz="2000" b="1" dirty="0">
                <a:solidFill>
                  <a:srgbClr val="C00000"/>
                </a:solidFill>
                <a:latin typeface="+mn-ea"/>
                <a:sym typeface="Wingdings" panose="05000000000000000000" pitchFamily="2" charset="2"/>
              </a:rPr>
              <a:t>	</a:t>
            </a:r>
            <a:r>
              <a:rPr lang="ja-JP" altLang="en-US" sz="2000" b="1" dirty="0">
                <a:solidFill>
                  <a:srgbClr val="C00000"/>
                </a:solidFill>
                <a:latin typeface="+mn-ea"/>
                <a:sym typeface="Wingdings" panose="05000000000000000000" pitchFamily="2" charset="2"/>
              </a:rPr>
              <a:t>人格を逆方向に人格を切り替える</a:t>
            </a:r>
            <a:r>
              <a:rPr lang="ja-JP" altLang="en-US" sz="2000" b="1" dirty="0">
                <a:latin typeface="+mn-ea"/>
                <a:sym typeface="Wingdings" panose="05000000000000000000" pitchFamily="2" charset="2"/>
              </a:rPr>
              <a:t>ときの印象は未分析</a:t>
            </a:r>
            <a:endParaRPr lang="en-US" altLang="ja-JP" sz="2000" b="1" i="0" u="none" strike="noStrike" dirty="0">
              <a:effectLst/>
              <a:latin typeface="+mn-ea"/>
            </a:endParaRPr>
          </a:p>
        </p:txBody>
      </p:sp>
      <p:sp>
        <p:nvSpPr>
          <p:cNvPr id="11" name="四角形: 角を丸くする 10">
            <a:extLst>
              <a:ext uri="{FF2B5EF4-FFF2-40B4-BE49-F238E27FC236}">
                <a16:creationId xmlns:a16="http://schemas.microsoft.com/office/drawing/2014/main" id="{F6E614BC-712C-80F5-045D-C7DC27043106}"/>
              </a:ext>
            </a:extLst>
          </p:cNvPr>
          <p:cNvSpPr/>
          <p:nvPr/>
        </p:nvSpPr>
        <p:spPr>
          <a:xfrm>
            <a:off x="6702803" y="4337107"/>
            <a:ext cx="2292747" cy="2289355"/>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矢印: 右 12">
            <a:extLst>
              <a:ext uri="{FF2B5EF4-FFF2-40B4-BE49-F238E27FC236}">
                <a16:creationId xmlns:a16="http://schemas.microsoft.com/office/drawing/2014/main" id="{1696F094-7AFF-F75B-3322-F2DEE04A330A}"/>
              </a:ext>
            </a:extLst>
          </p:cNvPr>
          <p:cNvSpPr/>
          <p:nvPr/>
        </p:nvSpPr>
        <p:spPr>
          <a:xfrm>
            <a:off x="5452016" y="4965633"/>
            <a:ext cx="1099730" cy="953652"/>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kumimoji="1" lang="ja-JP" altLang="en-US" sz="1200" b="1" dirty="0"/>
              <a:t>人格切替</a:t>
            </a:r>
          </a:p>
        </p:txBody>
      </p:sp>
      <p:sp>
        <p:nvSpPr>
          <p:cNvPr id="14" name="テキスト ボックス 13">
            <a:extLst>
              <a:ext uri="{FF2B5EF4-FFF2-40B4-BE49-F238E27FC236}">
                <a16:creationId xmlns:a16="http://schemas.microsoft.com/office/drawing/2014/main" id="{D941B945-25FB-BDB4-499F-A22429FF337C}"/>
              </a:ext>
            </a:extLst>
          </p:cNvPr>
          <p:cNvSpPr txBox="1"/>
          <p:nvPr/>
        </p:nvSpPr>
        <p:spPr>
          <a:xfrm>
            <a:off x="3708174" y="4445164"/>
            <a:ext cx="863826" cy="423502"/>
          </a:xfrm>
          <a:prstGeom prst="rect">
            <a:avLst/>
          </a:prstGeom>
          <a:noFill/>
        </p:spPr>
        <p:txBody>
          <a:bodyPr wrap="square">
            <a:noAutofit/>
          </a:bodyPr>
          <a:lstStyle/>
          <a:p>
            <a:r>
              <a:rPr lang="en-US" altLang="ja-JP" sz="2000" b="1" dirty="0">
                <a:solidFill>
                  <a:srgbClr val="000000"/>
                </a:solidFill>
                <a:latin typeface="+mn-ea"/>
              </a:rPr>
              <a:t>LLM</a:t>
            </a:r>
            <a:endParaRPr lang="ja-JP" altLang="en-US" sz="2000" dirty="0">
              <a:latin typeface="+mn-ea"/>
            </a:endParaRPr>
          </a:p>
        </p:txBody>
      </p:sp>
      <p:sp>
        <p:nvSpPr>
          <p:cNvPr id="15" name="テキスト ボックス 14">
            <a:extLst>
              <a:ext uri="{FF2B5EF4-FFF2-40B4-BE49-F238E27FC236}">
                <a16:creationId xmlns:a16="http://schemas.microsoft.com/office/drawing/2014/main" id="{C4F30131-03E7-1ECB-0ECD-23440ABC7166}"/>
              </a:ext>
            </a:extLst>
          </p:cNvPr>
          <p:cNvSpPr txBox="1"/>
          <p:nvPr/>
        </p:nvSpPr>
        <p:spPr>
          <a:xfrm>
            <a:off x="7420828" y="4425892"/>
            <a:ext cx="1138973" cy="539741"/>
          </a:xfrm>
          <a:prstGeom prst="rect">
            <a:avLst/>
          </a:prstGeom>
          <a:noFill/>
        </p:spPr>
        <p:txBody>
          <a:bodyPr wrap="square">
            <a:noAutofit/>
          </a:bodyPr>
          <a:lstStyle/>
          <a:p>
            <a:r>
              <a:rPr lang="en-US" altLang="ja-JP" sz="2000" b="1" dirty="0">
                <a:solidFill>
                  <a:srgbClr val="000000"/>
                </a:solidFill>
                <a:latin typeface="+mn-ea"/>
              </a:rPr>
              <a:t>LLM</a:t>
            </a:r>
            <a:endParaRPr lang="ja-JP" altLang="en-US" sz="2000" dirty="0">
              <a:latin typeface="+mn-ea"/>
            </a:endParaRPr>
          </a:p>
        </p:txBody>
      </p:sp>
      <p:sp>
        <p:nvSpPr>
          <p:cNvPr id="16" name="テキスト ボックス 15">
            <a:extLst>
              <a:ext uri="{FF2B5EF4-FFF2-40B4-BE49-F238E27FC236}">
                <a16:creationId xmlns:a16="http://schemas.microsoft.com/office/drawing/2014/main" id="{086E16E7-E0FD-BA55-DA18-245D48C51836}"/>
              </a:ext>
            </a:extLst>
          </p:cNvPr>
          <p:cNvSpPr txBox="1"/>
          <p:nvPr/>
        </p:nvSpPr>
        <p:spPr>
          <a:xfrm>
            <a:off x="3353411" y="4119586"/>
            <a:ext cx="1472183" cy="369332"/>
          </a:xfrm>
          <a:prstGeom prst="rect">
            <a:avLst/>
          </a:prstGeom>
          <a:solidFill>
            <a:schemeClr val="bg1"/>
          </a:solidFill>
        </p:spPr>
        <p:txBody>
          <a:bodyPr wrap="square">
            <a:spAutoFit/>
          </a:bodyPr>
          <a:lstStyle/>
          <a:p>
            <a:r>
              <a:rPr lang="ja-JP" altLang="en-US" b="1" dirty="0">
                <a:solidFill>
                  <a:schemeClr val="accent1"/>
                </a:solidFill>
                <a:latin typeface="+mn-ea"/>
              </a:rPr>
              <a:t>セッション</a:t>
            </a:r>
            <a:r>
              <a:rPr lang="en-US" altLang="ja-JP" b="1" dirty="0">
                <a:solidFill>
                  <a:schemeClr val="accent1"/>
                </a:solidFill>
                <a:latin typeface="+mn-ea"/>
              </a:rPr>
              <a:t>1</a:t>
            </a:r>
            <a:endParaRPr lang="ja-JP" altLang="en-US" dirty="0">
              <a:solidFill>
                <a:schemeClr val="accent1"/>
              </a:solidFill>
              <a:latin typeface="+mn-ea"/>
            </a:endParaRPr>
          </a:p>
        </p:txBody>
      </p:sp>
      <p:sp>
        <p:nvSpPr>
          <p:cNvPr id="17" name="テキスト ボックス 16">
            <a:extLst>
              <a:ext uri="{FF2B5EF4-FFF2-40B4-BE49-F238E27FC236}">
                <a16:creationId xmlns:a16="http://schemas.microsoft.com/office/drawing/2014/main" id="{9AEE3058-E978-3D71-6979-7CA0A845949F}"/>
              </a:ext>
            </a:extLst>
          </p:cNvPr>
          <p:cNvSpPr txBox="1"/>
          <p:nvPr/>
        </p:nvSpPr>
        <p:spPr>
          <a:xfrm>
            <a:off x="7127683" y="4119586"/>
            <a:ext cx="1472183" cy="369332"/>
          </a:xfrm>
          <a:prstGeom prst="rect">
            <a:avLst/>
          </a:prstGeom>
          <a:solidFill>
            <a:schemeClr val="bg1"/>
          </a:solidFill>
        </p:spPr>
        <p:txBody>
          <a:bodyPr wrap="square">
            <a:spAutoFit/>
          </a:bodyPr>
          <a:lstStyle/>
          <a:p>
            <a:r>
              <a:rPr lang="ja-JP" altLang="en-US" b="1" dirty="0">
                <a:solidFill>
                  <a:schemeClr val="accent1"/>
                </a:solidFill>
                <a:latin typeface="+mn-ea"/>
              </a:rPr>
              <a:t>セッション</a:t>
            </a:r>
            <a:r>
              <a:rPr lang="en-US" altLang="ja-JP" b="1" dirty="0">
                <a:solidFill>
                  <a:schemeClr val="accent1"/>
                </a:solidFill>
                <a:latin typeface="+mn-ea"/>
              </a:rPr>
              <a:t>2</a:t>
            </a:r>
            <a:endParaRPr lang="ja-JP" altLang="en-US" dirty="0">
              <a:solidFill>
                <a:schemeClr val="accent1"/>
              </a:solidFill>
              <a:latin typeface="+mn-ea"/>
            </a:endParaRPr>
          </a:p>
        </p:txBody>
      </p:sp>
      <p:grpSp>
        <p:nvGrpSpPr>
          <p:cNvPr id="18" name="グループ化 17">
            <a:extLst>
              <a:ext uri="{FF2B5EF4-FFF2-40B4-BE49-F238E27FC236}">
                <a16:creationId xmlns:a16="http://schemas.microsoft.com/office/drawing/2014/main" id="{550FBCFC-99B3-1EEA-3B88-F5A9B3E0A8FE}"/>
              </a:ext>
            </a:extLst>
          </p:cNvPr>
          <p:cNvGrpSpPr/>
          <p:nvPr/>
        </p:nvGrpSpPr>
        <p:grpSpPr>
          <a:xfrm>
            <a:off x="6969531" y="4840628"/>
            <a:ext cx="1590270" cy="1651173"/>
            <a:chOff x="1050927" y="4273501"/>
            <a:chExt cx="1843348" cy="1919680"/>
          </a:xfrm>
        </p:grpSpPr>
        <p:sp>
          <p:nvSpPr>
            <p:cNvPr id="19" name="テキスト ボックス 18">
              <a:extLst>
                <a:ext uri="{FF2B5EF4-FFF2-40B4-BE49-F238E27FC236}">
                  <a16:creationId xmlns:a16="http://schemas.microsoft.com/office/drawing/2014/main" id="{1D0BB36B-3E3B-8B43-C61C-594DA63D881E}"/>
                </a:ext>
              </a:extLst>
            </p:cNvPr>
            <p:cNvSpPr txBox="1"/>
            <p:nvPr/>
          </p:nvSpPr>
          <p:spPr>
            <a:xfrm>
              <a:off x="1619497" y="5812187"/>
              <a:ext cx="863510" cy="380994"/>
            </a:xfrm>
            <a:prstGeom prst="rect">
              <a:avLst/>
            </a:prstGeom>
            <a:noFill/>
          </p:spPr>
          <p:txBody>
            <a:bodyPr wrap="square">
              <a:noAutofit/>
            </a:bodyPr>
            <a:lstStyle/>
            <a:p>
              <a:r>
                <a:rPr lang="en-US" altLang="ja-JP" b="1" dirty="0">
                  <a:solidFill>
                    <a:srgbClr val="000000"/>
                  </a:solidFill>
                  <a:latin typeface="+mn-ea"/>
                </a:rPr>
                <a:t>INFJ</a:t>
              </a:r>
              <a:endParaRPr lang="ja-JP" altLang="en-US" dirty="0">
                <a:latin typeface="+mn-ea"/>
              </a:endParaRPr>
            </a:p>
          </p:txBody>
        </p:sp>
        <p:pic>
          <p:nvPicPr>
            <p:cNvPr id="20" name="図 19" descr="挿絵 が含まれている画像&#10;&#10;AI 生成コンテンツは誤りを含む可能性があります。">
              <a:extLst>
                <a:ext uri="{FF2B5EF4-FFF2-40B4-BE49-F238E27FC236}">
                  <a16:creationId xmlns:a16="http://schemas.microsoft.com/office/drawing/2014/main" id="{9724FCF9-52E3-36DB-3BF6-B49C357F29E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50927" y="4273501"/>
              <a:ext cx="1843348" cy="1563382"/>
            </a:xfrm>
            <a:prstGeom prst="rect">
              <a:avLst/>
            </a:prstGeom>
          </p:spPr>
        </p:pic>
      </p:grpSp>
      <p:grpSp>
        <p:nvGrpSpPr>
          <p:cNvPr id="21" name="グループ化 20">
            <a:extLst>
              <a:ext uri="{FF2B5EF4-FFF2-40B4-BE49-F238E27FC236}">
                <a16:creationId xmlns:a16="http://schemas.microsoft.com/office/drawing/2014/main" id="{6B37CF34-1378-E9B6-665A-628A0C480A57}"/>
              </a:ext>
            </a:extLst>
          </p:cNvPr>
          <p:cNvGrpSpPr/>
          <p:nvPr/>
        </p:nvGrpSpPr>
        <p:grpSpPr>
          <a:xfrm>
            <a:off x="3353571" y="4759515"/>
            <a:ext cx="1607134" cy="1813399"/>
            <a:chOff x="6114553" y="4056502"/>
            <a:chExt cx="1884459" cy="2196612"/>
          </a:xfrm>
        </p:grpSpPr>
        <p:sp>
          <p:nvSpPr>
            <p:cNvPr id="22" name="テキスト ボックス 21">
              <a:extLst>
                <a:ext uri="{FF2B5EF4-FFF2-40B4-BE49-F238E27FC236}">
                  <a16:creationId xmlns:a16="http://schemas.microsoft.com/office/drawing/2014/main" id="{228F1DA2-32D6-6901-F7B6-1AB10977D49D}"/>
                </a:ext>
              </a:extLst>
            </p:cNvPr>
            <p:cNvSpPr txBox="1"/>
            <p:nvPr/>
          </p:nvSpPr>
          <p:spPr>
            <a:xfrm>
              <a:off x="6527365" y="5827975"/>
              <a:ext cx="1038648" cy="425139"/>
            </a:xfrm>
            <a:prstGeom prst="rect">
              <a:avLst/>
            </a:prstGeom>
            <a:noFill/>
          </p:spPr>
          <p:txBody>
            <a:bodyPr wrap="square">
              <a:noAutofit/>
            </a:bodyPr>
            <a:lstStyle/>
            <a:p>
              <a:r>
                <a:rPr lang="en-US" altLang="ja-JP" b="1" dirty="0">
                  <a:solidFill>
                    <a:srgbClr val="000000"/>
                  </a:solidFill>
                  <a:latin typeface="+mn-ea"/>
                </a:rPr>
                <a:t>ESTP</a:t>
              </a:r>
              <a:endParaRPr lang="ja-JP" altLang="en-US" dirty="0">
                <a:latin typeface="+mn-ea"/>
              </a:endParaRPr>
            </a:p>
          </p:txBody>
        </p:sp>
        <p:pic>
          <p:nvPicPr>
            <p:cNvPr id="23" name="Picture 2" descr="画像">
              <a:extLst>
                <a:ext uri="{FF2B5EF4-FFF2-40B4-BE49-F238E27FC236}">
                  <a16:creationId xmlns:a16="http://schemas.microsoft.com/office/drawing/2014/main" id="{596C1DFA-B096-444D-E50F-8E6B3502CB13}"/>
                </a:ext>
              </a:extLst>
            </p:cNvPr>
            <p:cNvPicPr>
              <a:picLocks noChangeAspect="1" noChangeArrowheads="1"/>
            </p:cNvPicPr>
            <p:nvPr/>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18585" t="16857" r="15386" b="15594"/>
            <a:stretch>
              <a:fillRect/>
            </a:stretch>
          </p:blipFill>
          <p:spPr bwMode="auto">
            <a:xfrm>
              <a:off x="6114553" y="4056502"/>
              <a:ext cx="1884459" cy="192785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5386998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72EFE-DA8E-0C68-6652-5511BDBEADF6}"/>
            </a:ext>
          </a:extLst>
        </p:cNvPr>
        <p:cNvGrpSpPr/>
        <p:nvPr/>
      </p:nvGrpSpPr>
      <p:grpSpPr>
        <a:xfrm>
          <a:off x="0" y="0"/>
          <a:ext cx="0" cy="0"/>
          <a:chOff x="0" y="0"/>
          <a:chExt cx="0" cy="0"/>
        </a:xfrm>
      </p:grpSpPr>
      <p:sp>
        <p:nvSpPr>
          <p:cNvPr id="17" name="スライド番号プレースホルダー 16">
            <a:extLst>
              <a:ext uri="{FF2B5EF4-FFF2-40B4-BE49-F238E27FC236}">
                <a16:creationId xmlns:a16="http://schemas.microsoft.com/office/drawing/2014/main" id="{0F2D5E15-D016-559D-159E-0170F14473EE}"/>
              </a:ext>
            </a:extLst>
          </p:cNvPr>
          <p:cNvSpPr>
            <a:spLocks noGrp="1"/>
          </p:cNvSpPr>
          <p:nvPr>
            <p:ph type="sldNum" sz="quarter" idx="12"/>
          </p:nvPr>
        </p:nvSpPr>
        <p:spPr/>
        <p:txBody>
          <a:bodyPr>
            <a:noAutofit/>
          </a:bodyPr>
          <a:lstStyle/>
          <a:p>
            <a:fld id="{18020408-E1FF-429E-A8D5-EB2A190A0D77}" type="slidenum">
              <a:rPr kumimoji="1" lang="ja-JP" altLang="en-US" smtClean="0"/>
              <a:t>32</a:t>
            </a:fld>
            <a:endParaRPr kumimoji="1" lang="ja-JP" altLang="en-US"/>
          </a:p>
        </p:txBody>
      </p:sp>
      <p:sp>
        <p:nvSpPr>
          <p:cNvPr id="5" name="タイトル 4">
            <a:extLst>
              <a:ext uri="{FF2B5EF4-FFF2-40B4-BE49-F238E27FC236}">
                <a16:creationId xmlns:a16="http://schemas.microsoft.com/office/drawing/2014/main" id="{3E09D3CF-2A0F-2BAE-BAAB-27E3D93D0CDE}"/>
              </a:ext>
            </a:extLst>
          </p:cNvPr>
          <p:cNvSpPr>
            <a:spLocks noGrp="1"/>
          </p:cNvSpPr>
          <p:nvPr>
            <p:ph type="title"/>
          </p:nvPr>
        </p:nvSpPr>
        <p:spPr/>
        <p:txBody>
          <a:bodyPr>
            <a:noAutofit/>
          </a:bodyPr>
          <a:lstStyle/>
          <a:p>
            <a:r>
              <a:rPr lang="ja-JP" altLang="en-US" sz="3600" b="1" dirty="0">
                <a:solidFill>
                  <a:schemeClr val="bg1"/>
                </a:solidFill>
                <a:latin typeface="+mn-ea"/>
                <a:ea typeface="+mn-ea"/>
              </a:rPr>
              <a:t>まとめ</a:t>
            </a:r>
          </a:p>
        </p:txBody>
      </p:sp>
      <p:sp>
        <p:nvSpPr>
          <p:cNvPr id="3" name="Rectangle 1">
            <a:extLst>
              <a:ext uri="{FF2B5EF4-FFF2-40B4-BE49-F238E27FC236}">
                <a16:creationId xmlns:a16="http://schemas.microsoft.com/office/drawing/2014/main" id="{F9547E2E-ABCB-0B7B-D735-44872D708926}"/>
              </a:ext>
            </a:extLst>
          </p:cNvPr>
          <p:cNvSpPr>
            <a:spLocks noChangeArrowheads="1"/>
          </p:cNvSpPr>
          <p:nvPr/>
        </p:nvSpPr>
        <p:spPr bwMode="auto">
          <a:xfrm>
            <a:off x="-6774455" y="2056045"/>
            <a:ext cx="220155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8" name="テキスト ボックス 7">
            <a:extLst>
              <a:ext uri="{FF2B5EF4-FFF2-40B4-BE49-F238E27FC236}">
                <a16:creationId xmlns:a16="http://schemas.microsoft.com/office/drawing/2014/main" id="{7848C61F-E2CA-1E7F-D717-FBEC15CF7D45}"/>
              </a:ext>
            </a:extLst>
          </p:cNvPr>
          <p:cNvSpPr txBox="1"/>
          <p:nvPr/>
        </p:nvSpPr>
        <p:spPr>
          <a:xfrm>
            <a:off x="241484" y="3068242"/>
            <a:ext cx="3647121" cy="1074194"/>
          </a:xfrm>
          <a:prstGeom prst="rect">
            <a:avLst/>
          </a:prstGeom>
          <a:noFill/>
        </p:spPr>
        <p:txBody>
          <a:bodyPr wrap="square">
            <a:noAutofit/>
          </a:bodyPr>
          <a:lstStyle/>
          <a:p>
            <a:pPr fontAlgn="base">
              <a:spcAft>
                <a:spcPts val="600"/>
              </a:spcAft>
            </a:pPr>
            <a:endParaRPr lang="ja-JP" altLang="en-US" sz="2000" b="1" dirty="0"/>
          </a:p>
        </p:txBody>
      </p:sp>
      <p:sp>
        <p:nvSpPr>
          <p:cNvPr id="10" name="テキスト ボックス 9">
            <a:extLst>
              <a:ext uri="{FF2B5EF4-FFF2-40B4-BE49-F238E27FC236}">
                <a16:creationId xmlns:a16="http://schemas.microsoft.com/office/drawing/2014/main" id="{D0A29BD8-D440-F872-4DC7-7D37D43B13CF}"/>
              </a:ext>
            </a:extLst>
          </p:cNvPr>
          <p:cNvSpPr txBox="1"/>
          <p:nvPr/>
        </p:nvSpPr>
        <p:spPr>
          <a:xfrm>
            <a:off x="442475" y="1206348"/>
            <a:ext cx="8259049" cy="5100519"/>
          </a:xfrm>
          <a:prstGeom prst="rect">
            <a:avLst/>
          </a:prstGeom>
          <a:noFill/>
        </p:spPr>
        <p:txBody>
          <a:bodyPr wrap="square">
            <a:noAutofit/>
          </a:bodyPr>
          <a:lstStyle/>
          <a:p>
            <a:pPr>
              <a:spcAft>
                <a:spcPts val="600"/>
              </a:spcAft>
            </a:pPr>
            <a:r>
              <a:rPr kumimoji="1" lang="ja-JP" altLang="en-US" sz="1400" b="1" dirty="0">
                <a:solidFill>
                  <a:schemeClr val="accent1"/>
                </a:solidFill>
              </a:rPr>
              <a:t>目的</a:t>
            </a:r>
            <a:endParaRPr kumimoji="1" lang="en-US" altLang="ja-JP" sz="1400" b="1" dirty="0">
              <a:solidFill>
                <a:schemeClr val="accent1"/>
              </a:solidFill>
            </a:endParaRPr>
          </a:p>
          <a:p>
            <a:r>
              <a:rPr lang="ja-JP" altLang="en-US" sz="1400" b="1" dirty="0">
                <a:latin typeface="+mn-ea"/>
              </a:rPr>
              <a:t>不信感を抱いた対象の切り替えによる</a:t>
            </a:r>
            <a:r>
              <a:rPr lang="en-US" altLang="ja-JP" sz="1400" b="1" dirty="0">
                <a:latin typeface="+mn-ea"/>
              </a:rPr>
              <a:t>LLM</a:t>
            </a:r>
            <a:r>
              <a:rPr lang="ja-JP" altLang="en-US" sz="1400" b="1" dirty="0">
                <a:latin typeface="+mn-ea"/>
              </a:rPr>
              <a:t>への</a:t>
            </a:r>
            <a:r>
              <a:rPr kumimoji="1" lang="ja-JP" altLang="en-US" sz="1400" b="1" dirty="0">
                <a:latin typeface="+mn-ea"/>
              </a:rPr>
              <a:t>ネガティブな印象のリセット</a:t>
            </a:r>
            <a:endParaRPr kumimoji="1" lang="en-US" altLang="ja-JP" sz="1400" b="1" dirty="0">
              <a:latin typeface="+mn-ea"/>
            </a:endParaRPr>
          </a:p>
          <a:p>
            <a:pPr>
              <a:spcBef>
                <a:spcPts val="600"/>
              </a:spcBef>
              <a:spcAft>
                <a:spcPts val="600"/>
              </a:spcAft>
            </a:pPr>
            <a:r>
              <a:rPr kumimoji="1" lang="ja-JP" altLang="en-US" sz="1400" b="1" dirty="0">
                <a:solidFill>
                  <a:schemeClr val="accent1"/>
                </a:solidFill>
                <a:latin typeface="+mn-ea"/>
              </a:rPr>
              <a:t>方法</a:t>
            </a:r>
            <a:endParaRPr kumimoji="1" lang="en-US" altLang="ja-JP" sz="1400" b="1" dirty="0">
              <a:solidFill>
                <a:schemeClr val="accent1"/>
              </a:solidFill>
              <a:latin typeface="+mn-ea"/>
            </a:endParaRPr>
          </a:p>
          <a:p>
            <a:pPr fontAlgn="base">
              <a:spcAft>
                <a:spcPts val="600"/>
              </a:spcAft>
            </a:pPr>
            <a:r>
              <a:rPr lang="ja-JP" altLang="en-US" sz="1400" b="1" dirty="0">
                <a:solidFill>
                  <a:srgbClr val="000000"/>
                </a:solidFill>
                <a:latin typeface="+mn-ea"/>
              </a:rPr>
              <a:t>人格切替システム</a:t>
            </a:r>
            <a:endParaRPr lang="en-US" altLang="ja-JP" sz="1400" b="1" dirty="0">
              <a:solidFill>
                <a:srgbClr val="000000"/>
              </a:solidFill>
              <a:latin typeface="+mn-ea"/>
            </a:endParaRPr>
          </a:p>
          <a:p>
            <a:pPr marL="271463" indent="-177800" fontAlgn="base">
              <a:spcAft>
                <a:spcPts val="600"/>
              </a:spcAft>
              <a:buFont typeface="Arial" panose="020B0604020202020204" pitchFamily="34" charset="0"/>
              <a:buChar char="•"/>
            </a:pPr>
            <a:r>
              <a:rPr lang="ja-JP" altLang="en-US" sz="1400" b="1" dirty="0">
                <a:solidFill>
                  <a:srgbClr val="000000"/>
                </a:solidFill>
                <a:latin typeface="+mn-ea"/>
              </a:rPr>
              <a:t>人格には</a:t>
            </a:r>
            <a:r>
              <a:rPr lang="en-US" altLang="ja-JP" sz="1400" b="1" dirty="0">
                <a:solidFill>
                  <a:srgbClr val="000000"/>
                </a:solidFill>
                <a:latin typeface="+mn-ea"/>
              </a:rPr>
              <a:t>MBTI</a:t>
            </a:r>
            <a:r>
              <a:rPr lang="ja-JP" altLang="en-US" sz="1400" b="1" dirty="0">
                <a:solidFill>
                  <a:srgbClr val="000000"/>
                </a:solidFill>
                <a:latin typeface="+mn-ea"/>
              </a:rPr>
              <a:t>を採用</a:t>
            </a:r>
            <a:endParaRPr lang="en-US" altLang="ja-JP" sz="1400" b="1" dirty="0">
              <a:solidFill>
                <a:srgbClr val="000000"/>
              </a:solidFill>
              <a:latin typeface="+mn-ea"/>
            </a:endParaRPr>
          </a:p>
          <a:p>
            <a:pPr marL="271463" indent="-177800" fontAlgn="base">
              <a:spcAft>
                <a:spcPts val="600"/>
              </a:spcAft>
              <a:buFont typeface="Arial" panose="020B0604020202020204" pitchFamily="34" charset="0"/>
              <a:buChar char="•"/>
            </a:pPr>
            <a:r>
              <a:rPr lang="ja-JP" altLang="en-US" sz="1400" b="1" dirty="0"/>
              <a:t>人格特性は口調で表現</a:t>
            </a:r>
            <a:endParaRPr lang="en-US" altLang="ja-JP" sz="1400" b="1" dirty="0"/>
          </a:p>
          <a:p>
            <a:r>
              <a:rPr kumimoji="1" lang="ja-JP" altLang="en-US" sz="1400" b="1" dirty="0">
                <a:solidFill>
                  <a:schemeClr val="accent1"/>
                </a:solidFill>
              </a:rPr>
              <a:t>実験</a:t>
            </a:r>
            <a:endParaRPr kumimoji="1" lang="en-US" altLang="ja-JP" sz="1400" b="1" dirty="0">
              <a:solidFill>
                <a:schemeClr val="accent1"/>
              </a:solidFill>
            </a:endParaRPr>
          </a:p>
          <a:p>
            <a:r>
              <a:rPr kumimoji="1" lang="ja-JP" altLang="en-US" sz="1400" b="1" dirty="0">
                <a:latin typeface="+mn-ea"/>
              </a:rPr>
              <a:t>ユーザの</a:t>
            </a:r>
            <a:r>
              <a:rPr kumimoji="1" lang="en-US" altLang="ja-JP" sz="1400" b="1" dirty="0">
                <a:latin typeface="+mn-ea"/>
              </a:rPr>
              <a:t>LLM</a:t>
            </a:r>
            <a:r>
              <a:rPr kumimoji="1" lang="ja-JP" altLang="en-US" sz="1400" b="1" dirty="0">
                <a:latin typeface="+mn-ea"/>
              </a:rPr>
              <a:t>に対する印象を調査</a:t>
            </a:r>
            <a:endParaRPr kumimoji="1" lang="en-US" altLang="ja-JP" sz="1400" b="1" dirty="0">
              <a:latin typeface="+mn-ea"/>
            </a:endParaRPr>
          </a:p>
          <a:p>
            <a:r>
              <a:rPr kumimoji="1" lang="en-US" altLang="ja-JP" sz="1400" b="1" dirty="0">
                <a:latin typeface="+mn-ea"/>
              </a:rPr>
              <a:t>2</a:t>
            </a:r>
            <a:r>
              <a:rPr kumimoji="1" lang="ja-JP" altLang="en-US" sz="1400" b="1" dirty="0">
                <a:latin typeface="+mn-ea"/>
              </a:rPr>
              <a:t>要因（</a:t>
            </a:r>
            <a:r>
              <a:rPr kumimoji="1" lang="en-US" altLang="ja-JP" sz="1400" b="1" dirty="0">
                <a:latin typeface="+mn-ea"/>
              </a:rPr>
              <a:t>2 × 2</a:t>
            </a:r>
            <a:r>
              <a:rPr kumimoji="1" lang="ja-JP" altLang="en-US" sz="1400" b="1" dirty="0">
                <a:latin typeface="+mn-ea"/>
              </a:rPr>
              <a:t>水準）参加者間実験</a:t>
            </a:r>
            <a:endParaRPr kumimoji="1" lang="en-US" altLang="ja-JP" sz="1400" b="1" dirty="0">
              <a:latin typeface="+mn-ea"/>
            </a:endParaRPr>
          </a:p>
          <a:p>
            <a:r>
              <a:rPr kumimoji="1" lang="ja-JP" altLang="en-US" sz="1400" b="1" dirty="0">
                <a:latin typeface="+mn-ea"/>
              </a:rPr>
              <a:t>人格設定要因：人格固定，人格切り替え</a:t>
            </a:r>
            <a:endParaRPr kumimoji="1" lang="en-US" altLang="ja-JP" sz="1400" b="1" dirty="0">
              <a:latin typeface="+mn-ea"/>
            </a:endParaRPr>
          </a:p>
          <a:p>
            <a:r>
              <a:rPr kumimoji="1" lang="ja-JP" altLang="en-US" sz="1400" b="1" dirty="0">
                <a:latin typeface="+mn-ea"/>
              </a:rPr>
              <a:t>名乗り要因：名乗りあり，名乗りなし</a:t>
            </a:r>
            <a:endParaRPr kumimoji="1" lang="en-US" altLang="ja-JP" sz="1400" b="1" dirty="0">
              <a:solidFill>
                <a:schemeClr val="accent1"/>
              </a:solidFill>
            </a:endParaRPr>
          </a:p>
          <a:p>
            <a:endParaRPr kumimoji="1" lang="en-US" altLang="ja-JP" sz="1400" b="1" dirty="0">
              <a:solidFill>
                <a:schemeClr val="accent1"/>
              </a:solidFill>
              <a:latin typeface="+mn-ea"/>
            </a:endParaRPr>
          </a:p>
          <a:p>
            <a:pPr marL="93663" indent="-93663" fontAlgn="base">
              <a:spcAft>
                <a:spcPts val="600"/>
              </a:spcAft>
            </a:pPr>
            <a:r>
              <a:rPr kumimoji="1" lang="ja-JP" altLang="en-US" sz="1400" b="1" dirty="0">
                <a:solidFill>
                  <a:schemeClr val="accent1"/>
                </a:solidFill>
                <a:latin typeface="+mn-ea"/>
              </a:rPr>
              <a:t>結果</a:t>
            </a:r>
            <a:endParaRPr kumimoji="1" lang="en-US" altLang="ja-JP" sz="1400" b="1" dirty="0">
              <a:solidFill>
                <a:schemeClr val="accent1"/>
              </a:solidFill>
              <a:latin typeface="+mn-ea"/>
            </a:endParaRPr>
          </a:p>
          <a:p>
            <a:pPr marL="271463" indent="-177800" fontAlgn="base">
              <a:spcAft>
                <a:spcPts val="600"/>
              </a:spcAft>
              <a:buFont typeface="Arial" panose="020B0604020202020204" pitchFamily="34" charset="0"/>
              <a:buChar char="•"/>
            </a:pPr>
            <a:r>
              <a:rPr lang="en-US" altLang="ja-JP" sz="1400" b="1" dirty="0">
                <a:latin typeface="+mn-ea"/>
              </a:rPr>
              <a:t>LLM</a:t>
            </a:r>
            <a:r>
              <a:rPr lang="ja-JP" altLang="en-US" sz="1400" b="1" dirty="0"/>
              <a:t>の人格が切り替わることで</a:t>
            </a:r>
            <a:r>
              <a:rPr lang="en-US" altLang="ja-JP" sz="1400" b="1" dirty="0">
                <a:solidFill>
                  <a:srgbClr val="C00000"/>
                </a:solidFill>
                <a:latin typeface="+mn-ea"/>
              </a:rPr>
              <a:t>LLM</a:t>
            </a:r>
            <a:r>
              <a:rPr lang="ja-JP" altLang="en-US" sz="1400" b="1" dirty="0">
                <a:solidFill>
                  <a:srgbClr val="C00000"/>
                </a:solidFill>
              </a:rPr>
              <a:t>には独自の個性があると判断する</a:t>
            </a:r>
            <a:r>
              <a:rPr lang="ja-JP" altLang="en-US" sz="1400" b="1" dirty="0"/>
              <a:t>可能性</a:t>
            </a:r>
            <a:endParaRPr lang="en-US" altLang="ja-JP" sz="1400" b="1" dirty="0"/>
          </a:p>
          <a:p>
            <a:pPr marL="271463" indent="-177800" fontAlgn="base">
              <a:spcAft>
                <a:spcPts val="600"/>
              </a:spcAft>
              <a:buFont typeface="Arial" panose="020B0604020202020204" pitchFamily="34" charset="0"/>
              <a:buChar char="•"/>
            </a:pPr>
            <a:r>
              <a:rPr lang="en-US" altLang="ja-JP" sz="1400" b="1" dirty="0">
                <a:latin typeface="+mn-ea"/>
              </a:rPr>
              <a:t>LLM</a:t>
            </a:r>
            <a:r>
              <a:rPr lang="ja-JP" altLang="en-US" sz="1400" b="1" dirty="0">
                <a:latin typeface="+mn-ea"/>
              </a:rPr>
              <a:t>が名乗らない際，人格を一貫させることで</a:t>
            </a:r>
            <a:r>
              <a:rPr lang="en-US" altLang="ja-JP" sz="1400" b="1" dirty="0">
                <a:solidFill>
                  <a:srgbClr val="C00000"/>
                </a:solidFill>
                <a:latin typeface="+mn-ea"/>
              </a:rPr>
              <a:t>LLM</a:t>
            </a:r>
            <a:r>
              <a:rPr lang="ja-JP" altLang="en-US" sz="1400" b="1" dirty="0">
                <a:solidFill>
                  <a:srgbClr val="C00000"/>
                </a:solidFill>
                <a:latin typeface="+mn-ea"/>
              </a:rPr>
              <a:t>の言動を楽しいと感じる</a:t>
            </a:r>
            <a:r>
              <a:rPr lang="ja-JP" altLang="en-US" sz="1400" b="1" dirty="0">
                <a:latin typeface="+mn-ea"/>
              </a:rPr>
              <a:t>可能性</a:t>
            </a:r>
            <a:endParaRPr lang="en-US" altLang="ja-JP" sz="1400" b="1" dirty="0">
              <a:latin typeface="+mn-ea"/>
            </a:endParaRPr>
          </a:p>
          <a:p>
            <a:pPr marL="271463" indent="-177800" fontAlgn="base">
              <a:spcAft>
                <a:spcPts val="600"/>
              </a:spcAft>
              <a:buFont typeface="Arial" panose="020B0604020202020204" pitchFamily="34" charset="0"/>
              <a:buChar char="•"/>
            </a:pPr>
            <a:r>
              <a:rPr lang="en-US" altLang="ja-JP" sz="1400" b="1" dirty="0">
                <a:latin typeface="+mn-ea"/>
              </a:rPr>
              <a:t>LLM</a:t>
            </a:r>
            <a:r>
              <a:rPr lang="ja-JP" altLang="en-US" sz="1400" b="1" dirty="0">
                <a:latin typeface="+mn-ea"/>
              </a:rPr>
              <a:t>の人格が固定の際，</a:t>
            </a:r>
            <a:r>
              <a:rPr lang="en-US" altLang="ja-JP" sz="1400" b="1" dirty="0">
                <a:latin typeface="+mn-ea"/>
              </a:rPr>
              <a:t>LLM</a:t>
            </a:r>
            <a:r>
              <a:rPr lang="ja-JP" altLang="en-US" sz="1400" b="1" dirty="0">
                <a:latin typeface="+mn-ea"/>
              </a:rPr>
              <a:t>が名乗らないことで</a:t>
            </a:r>
            <a:r>
              <a:rPr lang="ja-JP" altLang="en-US" sz="1400" b="1" dirty="0">
                <a:solidFill>
                  <a:srgbClr val="C00000"/>
                </a:solidFill>
                <a:latin typeface="+mn-ea"/>
              </a:rPr>
              <a:t>やりとりにより注意を引かれる</a:t>
            </a:r>
            <a:r>
              <a:rPr lang="ja-JP" altLang="en-US" sz="1400" b="1" dirty="0">
                <a:latin typeface="+mn-ea"/>
              </a:rPr>
              <a:t>可能性</a:t>
            </a:r>
            <a:endParaRPr lang="en-US" altLang="ja-JP" sz="1400" b="1" dirty="0">
              <a:latin typeface="+mn-ea"/>
            </a:endParaRPr>
          </a:p>
          <a:p>
            <a:pPr marL="271463" indent="-177800" fontAlgn="base">
              <a:spcAft>
                <a:spcPts val="600"/>
              </a:spcAft>
              <a:buFont typeface="Arial" panose="020B0604020202020204" pitchFamily="34" charset="0"/>
              <a:buChar char="•"/>
            </a:pPr>
            <a:r>
              <a:rPr lang="en-US" altLang="ja-JP" sz="1400" b="1" dirty="0">
                <a:latin typeface="+mn-ea"/>
              </a:rPr>
              <a:t>LLM</a:t>
            </a:r>
            <a:r>
              <a:rPr lang="ja-JP" altLang="en-US" sz="1400" b="1" dirty="0">
                <a:latin typeface="+mn-ea"/>
              </a:rPr>
              <a:t>の人格が固定の際，</a:t>
            </a:r>
            <a:r>
              <a:rPr lang="en-US" altLang="ja-JP" sz="1400" b="1" dirty="0">
                <a:latin typeface="+mn-ea"/>
              </a:rPr>
              <a:t>LLM</a:t>
            </a:r>
            <a:r>
              <a:rPr lang="ja-JP" altLang="en-US" sz="1400" b="1" dirty="0">
                <a:latin typeface="+mn-ea"/>
              </a:rPr>
              <a:t>が名乗らないことでより強く</a:t>
            </a:r>
            <a:r>
              <a:rPr lang="ja-JP" altLang="en-US" sz="1400" b="1" dirty="0">
                <a:solidFill>
                  <a:srgbClr val="C00000"/>
                </a:solidFill>
                <a:latin typeface="+mn-ea"/>
              </a:rPr>
              <a:t>感情があると感じる</a:t>
            </a:r>
            <a:r>
              <a:rPr lang="ja-JP" altLang="en-US" sz="1400" b="1" dirty="0">
                <a:latin typeface="+mn-ea"/>
              </a:rPr>
              <a:t>可能性</a:t>
            </a:r>
            <a:endParaRPr kumimoji="1" lang="en-US" altLang="ja-JP" sz="1400" b="1" dirty="0">
              <a:latin typeface="+mn-ea"/>
            </a:endParaRPr>
          </a:p>
          <a:p>
            <a:pPr marL="93663" fontAlgn="base">
              <a:spcAft>
                <a:spcPts val="600"/>
              </a:spcAft>
            </a:pPr>
            <a:endParaRPr kumimoji="1" lang="en-US" altLang="ja-JP" sz="1400" b="1" dirty="0">
              <a:solidFill>
                <a:schemeClr val="accent1"/>
              </a:solidFill>
              <a:latin typeface="+mn-ea"/>
            </a:endParaRPr>
          </a:p>
          <a:p>
            <a:pPr marL="93663" indent="-93663" fontAlgn="base">
              <a:spcAft>
                <a:spcPts val="600"/>
              </a:spcAft>
            </a:pPr>
            <a:r>
              <a:rPr kumimoji="1" lang="ja-JP" altLang="en-US" sz="1400" b="1" dirty="0">
                <a:solidFill>
                  <a:schemeClr val="accent1"/>
                </a:solidFill>
                <a:latin typeface="+mn-ea"/>
              </a:rPr>
              <a:t>今後の課題</a:t>
            </a:r>
            <a:endParaRPr kumimoji="1" lang="en-US" altLang="ja-JP" sz="1400" b="1" dirty="0">
              <a:solidFill>
                <a:schemeClr val="accent1"/>
              </a:solidFill>
              <a:latin typeface="+mn-ea"/>
            </a:endParaRPr>
          </a:p>
          <a:p>
            <a:pPr marL="271463" indent="-177800">
              <a:buFont typeface="Arial" panose="020B0604020202020204" pitchFamily="34" charset="0"/>
              <a:buChar char="•"/>
            </a:pPr>
            <a:r>
              <a:rPr lang="ja-JP" altLang="en-US" sz="1400" b="1" dirty="0">
                <a:latin typeface="+mn-ea"/>
              </a:rPr>
              <a:t>実際に</a:t>
            </a:r>
            <a:r>
              <a:rPr lang="en-US" altLang="ja-JP" sz="1400" b="1" dirty="0">
                <a:latin typeface="+mn-ea"/>
              </a:rPr>
              <a:t>LLM</a:t>
            </a:r>
            <a:r>
              <a:rPr lang="ja-JP" altLang="en-US" sz="1400" b="1" dirty="0">
                <a:latin typeface="+mn-ea"/>
              </a:rPr>
              <a:t>と対話した際はどのような影響を与えるか</a:t>
            </a:r>
            <a:endParaRPr lang="en-US" altLang="ja-JP" sz="1400" b="1" dirty="0">
              <a:latin typeface="+mn-ea"/>
            </a:endParaRPr>
          </a:p>
          <a:p>
            <a:pPr marL="271463" indent="-177800">
              <a:buFont typeface="Arial" panose="020B0604020202020204" pitchFamily="34" charset="0"/>
              <a:buChar char="•"/>
            </a:pPr>
            <a:r>
              <a:rPr lang="ja-JP" altLang="en-US" sz="1400" b="1" dirty="0">
                <a:latin typeface="+mn-ea"/>
              </a:rPr>
              <a:t>他の人格の組み合わせがどのような影響を与えるか</a:t>
            </a:r>
            <a:endParaRPr kumimoji="1" lang="ja-JP" altLang="en-US" sz="1400" b="1" dirty="0">
              <a:solidFill>
                <a:schemeClr val="accent1"/>
              </a:solidFill>
              <a:latin typeface="+mn-ea"/>
            </a:endParaRPr>
          </a:p>
        </p:txBody>
      </p:sp>
      <p:pic>
        <p:nvPicPr>
          <p:cNvPr id="16" name="図 15" descr="ダイアグラム&#10;&#10;AI 生成コンテンツは誤りを含む可能性があります。">
            <a:extLst>
              <a:ext uri="{FF2B5EF4-FFF2-40B4-BE49-F238E27FC236}">
                <a16:creationId xmlns:a16="http://schemas.microsoft.com/office/drawing/2014/main" id="{AF6DC0A8-F2EB-BBC1-ED21-B38DD318BC83}"/>
              </a:ext>
            </a:extLst>
          </p:cNvPr>
          <p:cNvPicPr>
            <a:picLocks noChangeAspect="1"/>
          </p:cNvPicPr>
          <p:nvPr/>
        </p:nvPicPr>
        <p:blipFill>
          <a:blip r:embed="rId3"/>
          <a:stretch>
            <a:fillRect/>
          </a:stretch>
        </p:blipFill>
        <p:spPr>
          <a:xfrm>
            <a:off x="4346572" y="1918309"/>
            <a:ext cx="4454338" cy="1691749"/>
          </a:xfrm>
          <a:prstGeom prst="rect">
            <a:avLst/>
          </a:prstGeom>
        </p:spPr>
      </p:pic>
    </p:spTree>
    <p:extLst>
      <p:ext uri="{BB962C8B-B14F-4D97-AF65-F5344CB8AC3E}">
        <p14:creationId xmlns:p14="http://schemas.microsoft.com/office/powerpoint/2010/main" val="40286629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 name="スライド番号プレースホルダー 23">
            <a:extLst>
              <a:ext uri="{FF2B5EF4-FFF2-40B4-BE49-F238E27FC236}">
                <a16:creationId xmlns:a16="http://schemas.microsoft.com/office/drawing/2014/main" id="{018D5A31-E700-E183-830D-62D745CEDD78}"/>
              </a:ext>
            </a:extLst>
          </p:cNvPr>
          <p:cNvSpPr>
            <a:spLocks noGrp="1"/>
          </p:cNvSpPr>
          <p:nvPr>
            <p:ph type="sldNum" sz="quarter" idx="12"/>
          </p:nvPr>
        </p:nvSpPr>
        <p:spPr/>
        <p:txBody>
          <a:bodyPr>
            <a:noAutofit/>
          </a:bodyPr>
          <a:lstStyle/>
          <a:p>
            <a:fld id="{18020408-E1FF-429E-A8D5-EB2A190A0D77}" type="slidenum">
              <a:rPr kumimoji="1" lang="ja-JP" altLang="en-US" smtClean="0"/>
              <a:t>33</a:t>
            </a:fld>
            <a:endParaRPr kumimoji="1" lang="ja-JP" altLang="en-US" dirty="0"/>
          </a:p>
        </p:txBody>
      </p:sp>
      <p:sp>
        <p:nvSpPr>
          <p:cNvPr id="5" name="タイトル 4">
            <a:extLst>
              <a:ext uri="{FF2B5EF4-FFF2-40B4-BE49-F238E27FC236}">
                <a16:creationId xmlns:a16="http://schemas.microsoft.com/office/drawing/2014/main" id="{B5F7CEBC-CB46-261F-E822-665F133629E4}"/>
              </a:ext>
            </a:extLst>
          </p:cNvPr>
          <p:cNvSpPr>
            <a:spLocks noGrp="1"/>
          </p:cNvSpPr>
          <p:nvPr>
            <p:ph type="title"/>
          </p:nvPr>
        </p:nvSpPr>
        <p:spPr/>
        <p:txBody>
          <a:bodyPr>
            <a:noAutofit/>
          </a:bodyPr>
          <a:lstStyle/>
          <a:p>
            <a:r>
              <a:rPr lang="ja-JP" altLang="en-US" sz="3600" b="1" dirty="0">
                <a:solidFill>
                  <a:schemeClr val="bg1"/>
                </a:solidFill>
                <a:latin typeface="+mn-ea"/>
                <a:ea typeface="+mn-ea"/>
              </a:rPr>
              <a:t>概要</a:t>
            </a:r>
          </a:p>
        </p:txBody>
      </p:sp>
      <p:sp>
        <p:nvSpPr>
          <p:cNvPr id="6" name="テキスト ボックス 5">
            <a:extLst>
              <a:ext uri="{FF2B5EF4-FFF2-40B4-BE49-F238E27FC236}">
                <a16:creationId xmlns:a16="http://schemas.microsoft.com/office/drawing/2014/main" id="{FD1E64F2-55A3-717B-126F-86CED4734B76}"/>
              </a:ext>
            </a:extLst>
          </p:cNvPr>
          <p:cNvSpPr txBox="1"/>
          <p:nvPr/>
        </p:nvSpPr>
        <p:spPr>
          <a:xfrm>
            <a:off x="308872" y="1290862"/>
            <a:ext cx="1472376" cy="523220"/>
          </a:xfrm>
          <a:prstGeom prst="rect">
            <a:avLst/>
          </a:prstGeom>
          <a:noFill/>
        </p:spPr>
        <p:txBody>
          <a:bodyPr wrap="square" rtlCol="0">
            <a:noAutofit/>
          </a:bodyPr>
          <a:lstStyle/>
          <a:p>
            <a:r>
              <a:rPr kumimoji="1" lang="ja-JP" altLang="en-US" sz="2400" b="1" dirty="0">
                <a:solidFill>
                  <a:schemeClr val="accent1"/>
                </a:solidFill>
              </a:rPr>
              <a:t>目的</a:t>
            </a:r>
          </a:p>
        </p:txBody>
      </p:sp>
      <p:sp>
        <p:nvSpPr>
          <p:cNvPr id="8" name="テキスト ボックス 7">
            <a:extLst>
              <a:ext uri="{FF2B5EF4-FFF2-40B4-BE49-F238E27FC236}">
                <a16:creationId xmlns:a16="http://schemas.microsoft.com/office/drawing/2014/main" id="{B1AEC452-8646-716B-8047-DDB51AA78E1E}"/>
              </a:ext>
            </a:extLst>
          </p:cNvPr>
          <p:cNvSpPr txBox="1"/>
          <p:nvPr/>
        </p:nvSpPr>
        <p:spPr>
          <a:xfrm>
            <a:off x="308872" y="2465529"/>
            <a:ext cx="1575769" cy="523220"/>
          </a:xfrm>
          <a:prstGeom prst="rect">
            <a:avLst/>
          </a:prstGeom>
          <a:noFill/>
        </p:spPr>
        <p:txBody>
          <a:bodyPr wrap="square">
            <a:noAutofit/>
          </a:bodyPr>
          <a:lstStyle/>
          <a:p>
            <a:r>
              <a:rPr kumimoji="1" lang="ja-JP" altLang="en-US" sz="2400" b="1" dirty="0">
                <a:solidFill>
                  <a:schemeClr val="accent1"/>
                </a:solidFill>
              </a:rPr>
              <a:t>方法</a:t>
            </a:r>
          </a:p>
        </p:txBody>
      </p:sp>
      <p:sp>
        <p:nvSpPr>
          <p:cNvPr id="10" name="テキスト ボックス 9">
            <a:extLst>
              <a:ext uri="{FF2B5EF4-FFF2-40B4-BE49-F238E27FC236}">
                <a16:creationId xmlns:a16="http://schemas.microsoft.com/office/drawing/2014/main" id="{7D35D207-FF37-2162-A2A0-501DD833A315}"/>
              </a:ext>
            </a:extLst>
          </p:cNvPr>
          <p:cNvSpPr txBox="1"/>
          <p:nvPr/>
        </p:nvSpPr>
        <p:spPr>
          <a:xfrm>
            <a:off x="308872" y="4303882"/>
            <a:ext cx="8699661" cy="2382167"/>
          </a:xfrm>
          <a:prstGeom prst="rect">
            <a:avLst/>
          </a:prstGeom>
          <a:noFill/>
        </p:spPr>
        <p:txBody>
          <a:bodyPr wrap="square">
            <a:noAutofit/>
          </a:bodyPr>
          <a:lstStyle/>
          <a:p>
            <a:pPr marL="93663" fontAlgn="base">
              <a:spcAft>
                <a:spcPts val="600"/>
              </a:spcAft>
            </a:pPr>
            <a:r>
              <a:rPr kumimoji="1" lang="ja-JP" altLang="en-US" sz="2400" b="1" dirty="0">
                <a:solidFill>
                  <a:schemeClr val="accent1"/>
                </a:solidFill>
                <a:latin typeface="+mn-ea"/>
              </a:rPr>
              <a:t>結果</a:t>
            </a:r>
            <a:endParaRPr kumimoji="1" lang="en-US" altLang="ja-JP" sz="2400" b="1" dirty="0">
              <a:solidFill>
                <a:schemeClr val="accent1"/>
              </a:solidFill>
              <a:latin typeface="+mn-ea"/>
            </a:endParaRPr>
          </a:p>
          <a:p>
            <a:pPr marL="271463" indent="-177800" fontAlgn="base">
              <a:spcAft>
                <a:spcPts val="600"/>
              </a:spcAft>
              <a:buFont typeface="Arial" panose="020B0604020202020204" pitchFamily="34" charset="0"/>
              <a:buChar char="•"/>
            </a:pPr>
            <a:r>
              <a:rPr lang="ja-JP" altLang="en-US" b="1" dirty="0"/>
              <a:t>名乗りは人格の切り替えをより明確に知覚させる効果を持つ可能性</a:t>
            </a:r>
            <a:endParaRPr kumimoji="1" lang="en-US" altLang="ja-JP" b="1" dirty="0">
              <a:latin typeface="+mn-ea"/>
            </a:endParaRPr>
          </a:p>
          <a:p>
            <a:pPr marL="271463" indent="-177800" fontAlgn="base">
              <a:spcAft>
                <a:spcPts val="600"/>
              </a:spcAft>
              <a:buFont typeface="Arial" panose="020B0604020202020204" pitchFamily="34" charset="0"/>
              <a:buChar char="•"/>
            </a:pPr>
            <a:r>
              <a:rPr lang="en-US" altLang="ja-JP" b="1" dirty="0">
                <a:latin typeface="+mn-ea"/>
              </a:rPr>
              <a:t>LLM</a:t>
            </a:r>
            <a:r>
              <a:rPr lang="ja-JP" altLang="en-US" b="1" dirty="0"/>
              <a:t>の人格が切り替わることで</a:t>
            </a:r>
            <a:r>
              <a:rPr lang="en-US" altLang="ja-JP" b="1" dirty="0">
                <a:latin typeface="+mn-ea"/>
              </a:rPr>
              <a:t>LLM</a:t>
            </a:r>
            <a:r>
              <a:rPr lang="ja-JP" altLang="en-US" b="1" dirty="0"/>
              <a:t>には独自の個性があると判断する可能性</a:t>
            </a:r>
            <a:endParaRPr lang="en-US" altLang="ja-JP" b="1" dirty="0"/>
          </a:p>
          <a:p>
            <a:pPr marL="271463" indent="-177800" fontAlgn="base">
              <a:spcAft>
                <a:spcPts val="600"/>
              </a:spcAft>
              <a:buFont typeface="Arial" panose="020B0604020202020204" pitchFamily="34" charset="0"/>
              <a:buChar char="•"/>
            </a:pPr>
            <a:r>
              <a:rPr lang="en-US" altLang="ja-JP" b="1" dirty="0">
                <a:latin typeface="+mn-ea"/>
              </a:rPr>
              <a:t>LLM</a:t>
            </a:r>
            <a:r>
              <a:rPr lang="ja-JP" altLang="en-US" b="1" dirty="0">
                <a:latin typeface="+mn-ea"/>
              </a:rPr>
              <a:t>が名乗らない際，人格を一貫させることで</a:t>
            </a:r>
            <a:r>
              <a:rPr lang="en-US" altLang="ja-JP" b="1" dirty="0">
                <a:latin typeface="+mn-ea"/>
              </a:rPr>
              <a:t>LLM</a:t>
            </a:r>
            <a:r>
              <a:rPr lang="ja-JP" altLang="en-US" b="1" dirty="0">
                <a:latin typeface="+mn-ea"/>
              </a:rPr>
              <a:t>の言動を楽しいと感じることが示唆</a:t>
            </a:r>
            <a:endParaRPr lang="en-US" altLang="ja-JP" b="1" dirty="0">
              <a:latin typeface="+mn-ea"/>
            </a:endParaRPr>
          </a:p>
          <a:p>
            <a:pPr marL="271463" indent="-177800" fontAlgn="base">
              <a:spcAft>
                <a:spcPts val="600"/>
              </a:spcAft>
              <a:buFont typeface="Arial" panose="020B0604020202020204" pitchFamily="34" charset="0"/>
              <a:buChar char="•"/>
            </a:pPr>
            <a:r>
              <a:rPr lang="en-US" altLang="ja-JP" b="1" dirty="0">
                <a:latin typeface="+mn-ea"/>
              </a:rPr>
              <a:t>LLM</a:t>
            </a:r>
            <a:r>
              <a:rPr lang="ja-JP" altLang="en-US" b="1" dirty="0">
                <a:latin typeface="+mn-ea"/>
              </a:rPr>
              <a:t>の人格が固定の際，</a:t>
            </a:r>
            <a:r>
              <a:rPr lang="en-US" altLang="ja-JP" b="1" dirty="0">
                <a:latin typeface="+mn-ea"/>
              </a:rPr>
              <a:t>LLM</a:t>
            </a:r>
            <a:r>
              <a:rPr lang="ja-JP" altLang="en-US" b="1" dirty="0">
                <a:latin typeface="+mn-ea"/>
              </a:rPr>
              <a:t>が名乗らないことで</a:t>
            </a:r>
            <a:r>
              <a:rPr lang="en-US" altLang="ja-JP" b="1" dirty="0">
                <a:latin typeface="+mn-ea"/>
              </a:rPr>
              <a:t>LLM</a:t>
            </a:r>
            <a:r>
              <a:rPr lang="ja-JP" altLang="en-US" b="1" dirty="0">
                <a:latin typeface="+mn-ea"/>
              </a:rPr>
              <a:t>のやりとりにより注意を引かれること，より強く</a:t>
            </a:r>
            <a:r>
              <a:rPr lang="en-US" altLang="ja-JP" b="1" dirty="0">
                <a:latin typeface="+mn-ea"/>
              </a:rPr>
              <a:t>LLM</a:t>
            </a:r>
            <a:r>
              <a:rPr lang="ja-JP" altLang="en-US" b="1" dirty="0">
                <a:latin typeface="+mn-ea"/>
              </a:rPr>
              <a:t>に感情があると感じることが示唆</a:t>
            </a:r>
            <a:endParaRPr kumimoji="1" lang="en-US" altLang="ja-JP" b="1" dirty="0">
              <a:latin typeface="+mn-ea"/>
            </a:endParaRPr>
          </a:p>
          <a:p>
            <a:endParaRPr kumimoji="1" lang="ja-JP" altLang="en-US" sz="2800" b="1" dirty="0">
              <a:solidFill>
                <a:schemeClr val="accent1"/>
              </a:solidFill>
            </a:endParaRPr>
          </a:p>
        </p:txBody>
      </p:sp>
      <p:sp>
        <p:nvSpPr>
          <p:cNvPr id="11" name="テキスト ボックス 10">
            <a:extLst>
              <a:ext uri="{FF2B5EF4-FFF2-40B4-BE49-F238E27FC236}">
                <a16:creationId xmlns:a16="http://schemas.microsoft.com/office/drawing/2014/main" id="{BFED1204-3A4C-EE2F-DB08-DEEF9C45D197}"/>
              </a:ext>
            </a:extLst>
          </p:cNvPr>
          <p:cNvSpPr txBox="1"/>
          <p:nvPr/>
        </p:nvSpPr>
        <p:spPr>
          <a:xfrm>
            <a:off x="308872" y="1957243"/>
            <a:ext cx="8174728" cy="365125"/>
          </a:xfrm>
          <a:prstGeom prst="rect">
            <a:avLst/>
          </a:prstGeom>
          <a:noFill/>
        </p:spPr>
        <p:txBody>
          <a:bodyPr wrap="square" rtlCol="0">
            <a:noAutofit/>
          </a:bodyPr>
          <a:lstStyle/>
          <a:p>
            <a:r>
              <a:rPr lang="ja-JP" altLang="en-US" b="1" dirty="0">
                <a:latin typeface="+mn-ea"/>
              </a:rPr>
              <a:t>不信感を抱いた対象の切り替えによる</a:t>
            </a:r>
            <a:r>
              <a:rPr lang="en-US" altLang="ja-JP" b="1" dirty="0">
                <a:latin typeface="+mn-ea"/>
              </a:rPr>
              <a:t>LLM</a:t>
            </a:r>
            <a:r>
              <a:rPr lang="ja-JP" altLang="en-US" b="1" dirty="0">
                <a:latin typeface="+mn-ea"/>
              </a:rPr>
              <a:t>への</a:t>
            </a:r>
            <a:r>
              <a:rPr kumimoji="1" lang="ja-JP" altLang="en-US" b="1" dirty="0">
                <a:latin typeface="+mn-ea"/>
              </a:rPr>
              <a:t>ネガティブな印象のリセット</a:t>
            </a:r>
          </a:p>
          <a:p>
            <a:endParaRPr lang="en-US" altLang="ja-JP" b="1" dirty="0">
              <a:latin typeface="+mn-ea"/>
            </a:endParaRPr>
          </a:p>
        </p:txBody>
      </p:sp>
      <p:sp>
        <p:nvSpPr>
          <p:cNvPr id="13" name="テキスト ボックス 12">
            <a:extLst>
              <a:ext uri="{FF2B5EF4-FFF2-40B4-BE49-F238E27FC236}">
                <a16:creationId xmlns:a16="http://schemas.microsoft.com/office/drawing/2014/main" id="{27405228-50CA-6CA0-63F0-B5E33EB24F14}"/>
              </a:ext>
            </a:extLst>
          </p:cNvPr>
          <p:cNvSpPr txBox="1"/>
          <p:nvPr/>
        </p:nvSpPr>
        <p:spPr>
          <a:xfrm>
            <a:off x="308872" y="3131911"/>
            <a:ext cx="3364631" cy="1028810"/>
          </a:xfrm>
          <a:prstGeom prst="rect">
            <a:avLst/>
          </a:prstGeom>
          <a:noFill/>
        </p:spPr>
        <p:txBody>
          <a:bodyPr wrap="square">
            <a:noAutofit/>
          </a:bodyPr>
          <a:lstStyle/>
          <a:p>
            <a:pPr fontAlgn="base">
              <a:spcAft>
                <a:spcPts val="600"/>
              </a:spcAft>
            </a:pPr>
            <a:r>
              <a:rPr lang="ja-JP" altLang="en-US" b="1" dirty="0">
                <a:solidFill>
                  <a:srgbClr val="000000"/>
                </a:solidFill>
                <a:latin typeface="+mn-ea"/>
              </a:rPr>
              <a:t>人格切替システムの開発</a:t>
            </a:r>
            <a:endParaRPr lang="en-US" altLang="ja-JP" b="1" dirty="0">
              <a:solidFill>
                <a:srgbClr val="000000"/>
              </a:solidFill>
              <a:latin typeface="+mn-ea"/>
            </a:endParaRPr>
          </a:p>
          <a:p>
            <a:pPr marL="266700" indent="-174625" fontAlgn="base">
              <a:spcAft>
                <a:spcPts val="600"/>
              </a:spcAft>
              <a:buFont typeface="Arial" panose="020B0604020202020204" pitchFamily="34" charset="0"/>
              <a:buChar char="•"/>
            </a:pPr>
            <a:r>
              <a:rPr lang="ja-JP" altLang="en-US" b="1" dirty="0">
                <a:solidFill>
                  <a:srgbClr val="000000"/>
                </a:solidFill>
                <a:latin typeface="+mn-ea"/>
              </a:rPr>
              <a:t>人格には</a:t>
            </a:r>
            <a:r>
              <a:rPr lang="en-US" altLang="ja-JP" b="1" dirty="0">
                <a:solidFill>
                  <a:srgbClr val="000000"/>
                </a:solidFill>
                <a:latin typeface="+mn-ea"/>
              </a:rPr>
              <a:t>MBTI</a:t>
            </a:r>
            <a:r>
              <a:rPr lang="ja-JP" altLang="en-US" b="1" dirty="0">
                <a:solidFill>
                  <a:srgbClr val="000000"/>
                </a:solidFill>
                <a:latin typeface="+mn-ea"/>
              </a:rPr>
              <a:t>を採用</a:t>
            </a:r>
            <a:endParaRPr lang="en-US" altLang="ja-JP" b="1" dirty="0">
              <a:solidFill>
                <a:srgbClr val="000000"/>
              </a:solidFill>
              <a:latin typeface="+mn-ea"/>
            </a:endParaRPr>
          </a:p>
          <a:p>
            <a:pPr marL="266700" indent="-174625" fontAlgn="base">
              <a:spcAft>
                <a:spcPts val="600"/>
              </a:spcAft>
              <a:buFont typeface="Arial" panose="020B0604020202020204" pitchFamily="34" charset="0"/>
              <a:buChar char="•"/>
            </a:pPr>
            <a:r>
              <a:rPr lang="ja-JP" altLang="en-US" b="1" dirty="0"/>
              <a:t>人格特性は口調で表現</a:t>
            </a:r>
            <a:endParaRPr lang="en-US" altLang="ja-JP" b="1" dirty="0"/>
          </a:p>
        </p:txBody>
      </p:sp>
      <p:pic>
        <p:nvPicPr>
          <p:cNvPr id="14" name="図 13" descr="ダイアグラム&#10;&#10;AI 生成コンテンツは誤りを含む可能性があります。">
            <a:extLst>
              <a:ext uri="{FF2B5EF4-FFF2-40B4-BE49-F238E27FC236}">
                <a16:creationId xmlns:a16="http://schemas.microsoft.com/office/drawing/2014/main" id="{2008D807-0C8F-2981-7FC3-F23C33D94735}"/>
              </a:ext>
            </a:extLst>
          </p:cNvPr>
          <p:cNvPicPr>
            <a:picLocks noChangeAspect="1"/>
          </p:cNvPicPr>
          <p:nvPr/>
        </p:nvPicPr>
        <p:blipFill>
          <a:blip r:embed="rId3"/>
          <a:stretch>
            <a:fillRect/>
          </a:stretch>
        </p:blipFill>
        <p:spPr>
          <a:xfrm>
            <a:off x="3579316" y="2379446"/>
            <a:ext cx="5255812" cy="1996147"/>
          </a:xfrm>
          <a:prstGeom prst="rect">
            <a:avLst/>
          </a:prstGeom>
        </p:spPr>
      </p:pic>
    </p:spTree>
    <p:extLst>
      <p:ext uri="{BB962C8B-B14F-4D97-AF65-F5344CB8AC3E}">
        <p14:creationId xmlns:p14="http://schemas.microsoft.com/office/powerpoint/2010/main" val="41812431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A44571E-6619-DF44-9B94-760109C29048}"/>
            </a:ext>
          </a:extLst>
        </p:cNvPr>
        <p:cNvGrpSpPr/>
        <p:nvPr/>
      </p:nvGrpSpPr>
      <p:grpSpPr>
        <a:xfrm>
          <a:off x="0" y="0"/>
          <a:ext cx="0" cy="0"/>
          <a:chOff x="0" y="0"/>
          <a:chExt cx="0" cy="0"/>
        </a:xfrm>
      </p:grpSpPr>
      <p:sp>
        <p:nvSpPr>
          <p:cNvPr id="24" name="スライド番号プレースホルダー 23">
            <a:extLst>
              <a:ext uri="{FF2B5EF4-FFF2-40B4-BE49-F238E27FC236}">
                <a16:creationId xmlns:a16="http://schemas.microsoft.com/office/drawing/2014/main" id="{15266770-5F06-D433-4556-E275B99BB63E}"/>
              </a:ext>
            </a:extLst>
          </p:cNvPr>
          <p:cNvSpPr>
            <a:spLocks noGrp="1"/>
          </p:cNvSpPr>
          <p:nvPr>
            <p:ph type="sldNum" sz="quarter" idx="12"/>
          </p:nvPr>
        </p:nvSpPr>
        <p:spPr/>
        <p:txBody>
          <a:bodyPr>
            <a:noAutofit/>
          </a:bodyPr>
          <a:lstStyle/>
          <a:p>
            <a:fld id="{18020408-E1FF-429E-A8D5-EB2A190A0D77}" type="slidenum">
              <a:rPr kumimoji="1" lang="ja-JP" altLang="en-US" smtClean="0"/>
              <a:t>34</a:t>
            </a:fld>
            <a:endParaRPr kumimoji="1" lang="ja-JP" altLang="en-US" dirty="0"/>
          </a:p>
        </p:txBody>
      </p:sp>
      <p:sp>
        <p:nvSpPr>
          <p:cNvPr id="5" name="タイトル 4">
            <a:extLst>
              <a:ext uri="{FF2B5EF4-FFF2-40B4-BE49-F238E27FC236}">
                <a16:creationId xmlns:a16="http://schemas.microsoft.com/office/drawing/2014/main" id="{B61C5A2A-6590-304A-3146-B6271796D563}"/>
              </a:ext>
            </a:extLst>
          </p:cNvPr>
          <p:cNvSpPr>
            <a:spLocks noGrp="1"/>
          </p:cNvSpPr>
          <p:nvPr>
            <p:ph type="title"/>
          </p:nvPr>
        </p:nvSpPr>
        <p:spPr/>
        <p:txBody>
          <a:bodyPr>
            <a:noAutofit/>
          </a:bodyPr>
          <a:lstStyle/>
          <a:p>
            <a:r>
              <a:rPr lang="ja-JP" altLang="en-US" sz="3600" b="1" dirty="0">
                <a:solidFill>
                  <a:schemeClr val="bg1"/>
                </a:solidFill>
                <a:latin typeface="+mn-ea"/>
                <a:ea typeface="+mn-ea"/>
              </a:rPr>
              <a:t>概要</a:t>
            </a:r>
          </a:p>
        </p:txBody>
      </p:sp>
      <p:sp>
        <p:nvSpPr>
          <p:cNvPr id="6" name="テキスト ボックス 5">
            <a:extLst>
              <a:ext uri="{FF2B5EF4-FFF2-40B4-BE49-F238E27FC236}">
                <a16:creationId xmlns:a16="http://schemas.microsoft.com/office/drawing/2014/main" id="{D2779D2A-B5F8-0D0F-9561-E11FBA3EE11B}"/>
              </a:ext>
            </a:extLst>
          </p:cNvPr>
          <p:cNvSpPr txBox="1"/>
          <p:nvPr/>
        </p:nvSpPr>
        <p:spPr>
          <a:xfrm>
            <a:off x="222167" y="1313207"/>
            <a:ext cx="1472376" cy="523220"/>
          </a:xfrm>
          <a:prstGeom prst="rect">
            <a:avLst/>
          </a:prstGeom>
          <a:noFill/>
        </p:spPr>
        <p:txBody>
          <a:bodyPr wrap="square" rtlCol="0">
            <a:noAutofit/>
          </a:bodyPr>
          <a:lstStyle/>
          <a:p>
            <a:r>
              <a:rPr kumimoji="1" lang="ja-JP" altLang="en-US" sz="1600" b="1" dirty="0">
                <a:solidFill>
                  <a:schemeClr val="accent1"/>
                </a:solidFill>
              </a:rPr>
              <a:t>目的</a:t>
            </a:r>
          </a:p>
        </p:txBody>
      </p:sp>
      <p:sp>
        <p:nvSpPr>
          <p:cNvPr id="8" name="テキスト ボックス 7">
            <a:extLst>
              <a:ext uri="{FF2B5EF4-FFF2-40B4-BE49-F238E27FC236}">
                <a16:creationId xmlns:a16="http://schemas.microsoft.com/office/drawing/2014/main" id="{62C38D03-AC9D-0452-AB43-3094D8DC71C1}"/>
              </a:ext>
            </a:extLst>
          </p:cNvPr>
          <p:cNvSpPr txBox="1"/>
          <p:nvPr/>
        </p:nvSpPr>
        <p:spPr>
          <a:xfrm>
            <a:off x="222168" y="1950887"/>
            <a:ext cx="941088" cy="523220"/>
          </a:xfrm>
          <a:prstGeom prst="rect">
            <a:avLst/>
          </a:prstGeom>
          <a:noFill/>
        </p:spPr>
        <p:txBody>
          <a:bodyPr wrap="square">
            <a:noAutofit/>
          </a:bodyPr>
          <a:lstStyle/>
          <a:p>
            <a:r>
              <a:rPr kumimoji="1" lang="ja-JP" altLang="en-US" sz="1600" b="1" dirty="0">
                <a:solidFill>
                  <a:schemeClr val="accent1"/>
                </a:solidFill>
              </a:rPr>
              <a:t>方法</a:t>
            </a:r>
          </a:p>
        </p:txBody>
      </p:sp>
      <p:sp>
        <p:nvSpPr>
          <p:cNvPr id="10" name="テキスト ボックス 9">
            <a:extLst>
              <a:ext uri="{FF2B5EF4-FFF2-40B4-BE49-F238E27FC236}">
                <a16:creationId xmlns:a16="http://schemas.microsoft.com/office/drawing/2014/main" id="{1DE5CC10-8231-EDCD-9DA3-CC25F85FA59C}"/>
              </a:ext>
            </a:extLst>
          </p:cNvPr>
          <p:cNvSpPr txBox="1"/>
          <p:nvPr/>
        </p:nvSpPr>
        <p:spPr>
          <a:xfrm>
            <a:off x="155055" y="4786770"/>
            <a:ext cx="8699661" cy="1899280"/>
          </a:xfrm>
          <a:prstGeom prst="rect">
            <a:avLst/>
          </a:prstGeom>
          <a:noFill/>
        </p:spPr>
        <p:txBody>
          <a:bodyPr wrap="square">
            <a:noAutofit/>
          </a:bodyPr>
          <a:lstStyle/>
          <a:p>
            <a:pPr marL="93663" indent="-1588" fontAlgn="base">
              <a:spcAft>
                <a:spcPts val="600"/>
              </a:spcAft>
            </a:pPr>
            <a:r>
              <a:rPr kumimoji="1" lang="ja-JP" altLang="en-US" sz="1600" b="1" dirty="0">
                <a:solidFill>
                  <a:schemeClr val="accent1"/>
                </a:solidFill>
                <a:latin typeface="+mn-ea"/>
              </a:rPr>
              <a:t>結果</a:t>
            </a:r>
            <a:endParaRPr kumimoji="1" lang="en-US" altLang="ja-JP" sz="1600" b="1" dirty="0">
              <a:solidFill>
                <a:schemeClr val="accent1"/>
              </a:solidFill>
              <a:latin typeface="+mn-ea"/>
            </a:endParaRPr>
          </a:p>
          <a:p>
            <a:pPr marL="271463" indent="-177800" fontAlgn="base">
              <a:spcAft>
                <a:spcPts val="600"/>
              </a:spcAft>
              <a:buFont typeface="Arial" panose="020B0604020202020204" pitchFamily="34" charset="0"/>
              <a:buChar char="•"/>
            </a:pPr>
            <a:r>
              <a:rPr lang="ja-JP" altLang="en-US" sz="1600" b="1" dirty="0"/>
              <a:t>名乗りは人格の切り替えをより明確に知覚させる効果を持つ可能性</a:t>
            </a:r>
            <a:endParaRPr kumimoji="1" lang="en-US" altLang="ja-JP" sz="1600" b="1" dirty="0">
              <a:latin typeface="+mn-ea"/>
            </a:endParaRPr>
          </a:p>
          <a:p>
            <a:pPr marL="271463" indent="-177800" fontAlgn="base">
              <a:spcAft>
                <a:spcPts val="600"/>
              </a:spcAft>
              <a:buFont typeface="Arial" panose="020B0604020202020204" pitchFamily="34" charset="0"/>
              <a:buChar char="•"/>
            </a:pPr>
            <a:r>
              <a:rPr lang="en-US" altLang="ja-JP" sz="1600" b="1" dirty="0">
                <a:latin typeface="+mn-ea"/>
              </a:rPr>
              <a:t>LLM</a:t>
            </a:r>
            <a:r>
              <a:rPr lang="ja-JP" altLang="en-US" sz="1600" b="1" dirty="0"/>
              <a:t>の人格が切り替わることで</a:t>
            </a:r>
            <a:r>
              <a:rPr lang="en-US" altLang="ja-JP" sz="1600" b="1" dirty="0">
                <a:latin typeface="+mn-ea"/>
              </a:rPr>
              <a:t>LLM</a:t>
            </a:r>
            <a:r>
              <a:rPr lang="ja-JP" altLang="en-US" sz="1600" b="1" dirty="0"/>
              <a:t>には独自の個性があると判断する可能性</a:t>
            </a:r>
            <a:endParaRPr lang="en-US" altLang="ja-JP" sz="1600" b="1" dirty="0"/>
          </a:p>
          <a:p>
            <a:pPr marL="271463" indent="-177800" fontAlgn="base">
              <a:spcAft>
                <a:spcPts val="600"/>
              </a:spcAft>
              <a:buFont typeface="Arial" panose="020B0604020202020204" pitchFamily="34" charset="0"/>
              <a:buChar char="•"/>
            </a:pPr>
            <a:r>
              <a:rPr lang="en-US" altLang="ja-JP" sz="1600" b="1" dirty="0">
                <a:latin typeface="+mn-ea"/>
              </a:rPr>
              <a:t>LLM</a:t>
            </a:r>
            <a:r>
              <a:rPr lang="ja-JP" altLang="en-US" sz="1600" b="1" dirty="0">
                <a:latin typeface="+mn-ea"/>
              </a:rPr>
              <a:t>が名乗らない際，人格を一貫させることで</a:t>
            </a:r>
            <a:r>
              <a:rPr lang="en-US" altLang="ja-JP" sz="1600" b="1" dirty="0">
                <a:latin typeface="+mn-ea"/>
              </a:rPr>
              <a:t>LLM</a:t>
            </a:r>
            <a:r>
              <a:rPr lang="ja-JP" altLang="en-US" sz="1600" b="1" dirty="0">
                <a:latin typeface="+mn-ea"/>
              </a:rPr>
              <a:t>の言動を楽しいと感じることが示唆</a:t>
            </a:r>
            <a:endParaRPr lang="en-US" altLang="ja-JP" sz="1600" b="1" dirty="0">
              <a:latin typeface="+mn-ea"/>
            </a:endParaRPr>
          </a:p>
          <a:p>
            <a:pPr marL="271463" indent="-177800" fontAlgn="base">
              <a:spcAft>
                <a:spcPts val="600"/>
              </a:spcAft>
              <a:buFont typeface="Arial" panose="020B0604020202020204" pitchFamily="34" charset="0"/>
              <a:buChar char="•"/>
            </a:pPr>
            <a:r>
              <a:rPr lang="en-US" altLang="ja-JP" sz="1600" b="1" dirty="0">
                <a:latin typeface="+mn-ea"/>
              </a:rPr>
              <a:t>LLM</a:t>
            </a:r>
            <a:r>
              <a:rPr lang="ja-JP" altLang="en-US" sz="1600" b="1" dirty="0">
                <a:latin typeface="+mn-ea"/>
              </a:rPr>
              <a:t>の人格が固定の際，</a:t>
            </a:r>
            <a:r>
              <a:rPr lang="en-US" altLang="ja-JP" sz="1600" b="1" dirty="0">
                <a:latin typeface="+mn-ea"/>
              </a:rPr>
              <a:t>LLM</a:t>
            </a:r>
            <a:r>
              <a:rPr lang="ja-JP" altLang="en-US" sz="1600" b="1" dirty="0">
                <a:latin typeface="+mn-ea"/>
              </a:rPr>
              <a:t>が名乗らないことで</a:t>
            </a:r>
            <a:r>
              <a:rPr lang="en-US" altLang="ja-JP" sz="1600" b="1" dirty="0">
                <a:latin typeface="+mn-ea"/>
              </a:rPr>
              <a:t>LLM</a:t>
            </a:r>
            <a:r>
              <a:rPr lang="ja-JP" altLang="en-US" sz="1600" b="1" dirty="0">
                <a:latin typeface="+mn-ea"/>
              </a:rPr>
              <a:t>のやりとりにより注意を引かれること，より強く</a:t>
            </a:r>
            <a:r>
              <a:rPr lang="en-US" altLang="ja-JP" sz="1600" b="1" dirty="0">
                <a:latin typeface="+mn-ea"/>
              </a:rPr>
              <a:t>LLM</a:t>
            </a:r>
            <a:r>
              <a:rPr lang="ja-JP" altLang="en-US" sz="1600" b="1" dirty="0">
                <a:latin typeface="+mn-ea"/>
              </a:rPr>
              <a:t>に感情があると感じることが示唆</a:t>
            </a:r>
            <a:endParaRPr kumimoji="1" lang="en-US" altLang="ja-JP" sz="1600" b="1" dirty="0">
              <a:latin typeface="+mn-ea"/>
            </a:endParaRPr>
          </a:p>
          <a:p>
            <a:endParaRPr kumimoji="1" lang="ja-JP" altLang="en-US" sz="1600" b="1" dirty="0">
              <a:solidFill>
                <a:schemeClr val="accent1"/>
              </a:solidFill>
            </a:endParaRPr>
          </a:p>
        </p:txBody>
      </p:sp>
      <p:sp>
        <p:nvSpPr>
          <p:cNvPr id="11" name="テキスト ボックス 10">
            <a:extLst>
              <a:ext uri="{FF2B5EF4-FFF2-40B4-BE49-F238E27FC236}">
                <a16:creationId xmlns:a16="http://schemas.microsoft.com/office/drawing/2014/main" id="{A43172AE-313F-1AB6-C9ED-F1059F89D4BF}"/>
              </a:ext>
            </a:extLst>
          </p:cNvPr>
          <p:cNvSpPr txBox="1"/>
          <p:nvPr/>
        </p:nvSpPr>
        <p:spPr>
          <a:xfrm>
            <a:off x="222169" y="1617905"/>
            <a:ext cx="8174728" cy="365125"/>
          </a:xfrm>
          <a:prstGeom prst="rect">
            <a:avLst/>
          </a:prstGeom>
          <a:noFill/>
        </p:spPr>
        <p:txBody>
          <a:bodyPr wrap="square" rtlCol="0">
            <a:noAutofit/>
          </a:bodyPr>
          <a:lstStyle/>
          <a:p>
            <a:r>
              <a:rPr lang="ja-JP" altLang="en-US" sz="1600" b="1" dirty="0">
                <a:latin typeface="+mn-ea"/>
              </a:rPr>
              <a:t>不信感を抱いた対象の切り替えによる</a:t>
            </a:r>
            <a:r>
              <a:rPr lang="en-US" altLang="ja-JP" sz="1600" b="1" dirty="0">
                <a:latin typeface="+mn-ea"/>
              </a:rPr>
              <a:t>LLM</a:t>
            </a:r>
            <a:r>
              <a:rPr lang="ja-JP" altLang="en-US" sz="1600" b="1" dirty="0">
                <a:latin typeface="+mn-ea"/>
              </a:rPr>
              <a:t>への</a:t>
            </a:r>
            <a:r>
              <a:rPr kumimoji="1" lang="ja-JP" altLang="en-US" sz="1600" b="1" dirty="0">
                <a:latin typeface="+mn-ea"/>
              </a:rPr>
              <a:t>ネガティブな印象のリセット</a:t>
            </a:r>
          </a:p>
          <a:p>
            <a:endParaRPr lang="en-US" altLang="ja-JP" sz="1600" b="1" dirty="0">
              <a:latin typeface="+mn-ea"/>
            </a:endParaRPr>
          </a:p>
        </p:txBody>
      </p:sp>
      <p:sp>
        <p:nvSpPr>
          <p:cNvPr id="13" name="テキスト ボックス 12">
            <a:extLst>
              <a:ext uri="{FF2B5EF4-FFF2-40B4-BE49-F238E27FC236}">
                <a16:creationId xmlns:a16="http://schemas.microsoft.com/office/drawing/2014/main" id="{F67CE127-E6B8-4F78-4C52-00A9407A28C3}"/>
              </a:ext>
            </a:extLst>
          </p:cNvPr>
          <p:cNvSpPr txBox="1"/>
          <p:nvPr/>
        </p:nvSpPr>
        <p:spPr>
          <a:xfrm>
            <a:off x="222167" y="2316665"/>
            <a:ext cx="3364631" cy="1028810"/>
          </a:xfrm>
          <a:prstGeom prst="rect">
            <a:avLst/>
          </a:prstGeom>
          <a:noFill/>
        </p:spPr>
        <p:txBody>
          <a:bodyPr wrap="square">
            <a:noAutofit/>
          </a:bodyPr>
          <a:lstStyle/>
          <a:p>
            <a:pPr fontAlgn="base">
              <a:spcAft>
                <a:spcPts val="600"/>
              </a:spcAft>
            </a:pPr>
            <a:r>
              <a:rPr lang="ja-JP" altLang="en-US" sz="1600" b="1" dirty="0">
                <a:solidFill>
                  <a:srgbClr val="000000"/>
                </a:solidFill>
                <a:latin typeface="+mn-ea"/>
              </a:rPr>
              <a:t>人格切替システムの開発</a:t>
            </a:r>
            <a:endParaRPr lang="en-US" altLang="ja-JP" sz="1600" b="1" dirty="0">
              <a:solidFill>
                <a:srgbClr val="000000"/>
              </a:solidFill>
              <a:latin typeface="+mn-ea"/>
            </a:endParaRPr>
          </a:p>
          <a:p>
            <a:pPr marL="266700" indent="-174625" fontAlgn="base">
              <a:spcAft>
                <a:spcPts val="600"/>
              </a:spcAft>
              <a:buFont typeface="Arial" panose="020B0604020202020204" pitchFamily="34" charset="0"/>
              <a:buChar char="•"/>
            </a:pPr>
            <a:r>
              <a:rPr lang="ja-JP" altLang="en-US" sz="1600" b="1" dirty="0">
                <a:solidFill>
                  <a:srgbClr val="000000"/>
                </a:solidFill>
                <a:latin typeface="+mn-ea"/>
              </a:rPr>
              <a:t>人格には</a:t>
            </a:r>
            <a:r>
              <a:rPr lang="en-US" altLang="ja-JP" sz="1600" b="1" dirty="0">
                <a:solidFill>
                  <a:srgbClr val="000000"/>
                </a:solidFill>
                <a:latin typeface="+mn-ea"/>
              </a:rPr>
              <a:t>MBTI</a:t>
            </a:r>
            <a:r>
              <a:rPr lang="ja-JP" altLang="en-US" sz="1600" b="1" dirty="0">
                <a:solidFill>
                  <a:srgbClr val="000000"/>
                </a:solidFill>
                <a:latin typeface="+mn-ea"/>
              </a:rPr>
              <a:t>を採用</a:t>
            </a:r>
            <a:endParaRPr lang="en-US" altLang="ja-JP" sz="1600" b="1" dirty="0">
              <a:solidFill>
                <a:srgbClr val="000000"/>
              </a:solidFill>
              <a:latin typeface="+mn-ea"/>
            </a:endParaRPr>
          </a:p>
          <a:p>
            <a:pPr marL="266700" indent="-174625" fontAlgn="base">
              <a:spcAft>
                <a:spcPts val="600"/>
              </a:spcAft>
              <a:buFont typeface="Arial" panose="020B0604020202020204" pitchFamily="34" charset="0"/>
              <a:buChar char="•"/>
            </a:pPr>
            <a:r>
              <a:rPr lang="ja-JP" altLang="en-US" sz="1600" b="1" dirty="0"/>
              <a:t>人格特性は口調で表現</a:t>
            </a:r>
            <a:endParaRPr lang="en-US" altLang="ja-JP" sz="1600" b="1" dirty="0"/>
          </a:p>
        </p:txBody>
      </p:sp>
      <p:pic>
        <p:nvPicPr>
          <p:cNvPr id="14" name="図 13" descr="ダイアグラム&#10;&#10;AI 生成コンテンツは誤りを含む可能性があります。">
            <a:extLst>
              <a:ext uri="{FF2B5EF4-FFF2-40B4-BE49-F238E27FC236}">
                <a16:creationId xmlns:a16="http://schemas.microsoft.com/office/drawing/2014/main" id="{58A2AD3E-EB6C-A6EB-E194-094BF1B530FC}"/>
              </a:ext>
            </a:extLst>
          </p:cNvPr>
          <p:cNvPicPr>
            <a:picLocks noChangeAspect="1"/>
          </p:cNvPicPr>
          <p:nvPr/>
        </p:nvPicPr>
        <p:blipFill>
          <a:blip r:embed="rId5"/>
          <a:stretch>
            <a:fillRect/>
          </a:stretch>
        </p:blipFill>
        <p:spPr>
          <a:xfrm>
            <a:off x="3208280" y="2258701"/>
            <a:ext cx="3364632" cy="1277881"/>
          </a:xfrm>
          <a:prstGeom prst="rect">
            <a:avLst/>
          </a:prstGeom>
        </p:spPr>
      </p:pic>
      <p:sp>
        <p:nvSpPr>
          <p:cNvPr id="2" name="テキスト ボックス 1">
            <a:extLst>
              <a:ext uri="{FF2B5EF4-FFF2-40B4-BE49-F238E27FC236}">
                <a16:creationId xmlns:a16="http://schemas.microsoft.com/office/drawing/2014/main" id="{BC59018E-B32C-A9B1-7487-28ED7AD747DA}"/>
              </a:ext>
            </a:extLst>
          </p:cNvPr>
          <p:cNvSpPr txBox="1"/>
          <p:nvPr/>
        </p:nvSpPr>
        <p:spPr>
          <a:xfrm>
            <a:off x="222167" y="3388563"/>
            <a:ext cx="4179239" cy="1103887"/>
          </a:xfrm>
          <a:prstGeom prst="rect">
            <a:avLst/>
          </a:prstGeom>
          <a:noFill/>
        </p:spPr>
        <p:txBody>
          <a:bodyPr wrap="square">
            <a:noAutofit/>
          </a:bodyPr>
          <a:lstStyle/>
          <a:p>
            <a:r>
              <a:rPr kumimoji="1" lang="ja-JP" altLang="en-US" sz="1600" b="1" dirty="0">
                <a:solidFill>
                  <a:schemeClr val="accent1"/>
                </a:solidFill>
              </a:rPr>
              <a:t>実験</a:t>
            </a:r>
            <a:endParaRPr kumimoji="1" lang="en-US" altLang="ja-JP" sz="1600" b="1" dirty="0">
              <a:solidFill>
                <a:schemeClr val="accent1"/>
              </a:solidFill>
            </a:endParaRPr>
          </a:p>
          <a:p>
            <a:r>
              <a:rPr kumimoji="1" lang="ja-JP" altLang="en-US" sz="1600" b="1" dirty="0">
                <a:latin typeface="+mn-ea"/>
              </a:rPr>
              <a:t>ユーザの</a:t>
            </a:r>
            <a:r>
              <a:rPr kumimoji="1" lang="en-US" altLang="ja-JP" sz="1600" b="1" dirty="0">
                <a:latin typeface="+mn-ea"/>
              </a:rPr>
              <a:t>LLM</a:t>
            </a:r>
            <a:r>
              <a:rPr kumimoji="1" lang="ja-JP" altLang="en-US" sz="1600" b="1" dirty="0">
                <a:latin typeface="+mn-ea"/>
              </a:rPr>
              <a:t>に対する印象を調査</a:t>
            </a:r>
            <a:endParaRPr kumimoji="1" lang="en-US" altLang="ja-JP" sz="1600" b="1" dirty="0">
              <a:latin typeface="+mn-ea"/>
            </a:endParaRPr>
          </a:p>
          <a:p>
            <a:r>
              <a:rPr kumimoji="1" lang="en-US" altLang="ja-JP" sz="1600" b="1" dirty="0">
                <a:latin typeface="+mn-ea"/>
              </a:rPr>
              <a:t>2</a:t>
            </a:r>
            <a:r>
              <a:rPr kumimoji="1" lang="ja-JP" altLang="en-US" sz="1600" b="1" dirty="0">
                <a:latin typeface="+mn-ea"/>
              </a:rPr>
              <a:t>要因（</a:t>
            </a:r>
            <a:r>
              <a:rPr kumimoji="1" lang="en-US" altLang="ja-JP" sz="1600" b="1" dirty="0">
                <a:latin typeface="+mn-ea"/>
              </a:rPr>
              <a:t>2 × 2</a:t>
            </a:r>
            <a:r>
              <a:rPr kumimoji="1" lang="ja-JP" altLang="en-US" sz="1600" b="1" dirty="0">
                <a:latin typeface="+mn-ea"/>
              </a:rPr>
              <a:t>水準）参加者間実験</a:t>
            </a:r>
            <a:endParaRPr kumimoji="1" lang="en-US" altLang="ja-JP" sz="1600" b="1" dirty="0">
              <a:latin typeface="+mn-ea"/>
            </a:endParaRPr>
          </a:p>
          <a:p>
            <a:r>
              <a:rPr kumimoji="1" lang="ja-JP" altLang="en-US" sz="1600" b="1" dirty="0">
                <a:latin typeface="+mn-ea"/>
              </a:rPr>
              <a:t>人格設定要因：人格固定，人格切り替え</a:t>
            </a:r>
            <a:endParaRPr kumimoji="1" lang="en-US" altLang="ja-JP" sz="1600" b="1" dirty="0">
              <a:latin typeface="+mn-ea"/>
            </a:endParaRPr>
          </a:p>
          <a:p>
            <a:r>
              <a:rPr kumimoji="1" lang="ja-JP" altLang="en-US" sz="1600" b="1" dirty="0">
                <a:latin typeface="+mn-ea"/>
              </a:rPr>
              <a:t>名乗り要因：名乗りあり，名乗りなし</a:t>
            </a:r>
            <a:endParaRPr kumimoji="1" lang="en-US" altLang="ja-JP" sz="1600" b="1" dirty="0">
              <a:solidFill>
                <a:schemeClr val="accent1"/>
              </a:solidFill>
            </a:endParaRPr>
          </a:p>
          <a:p>
            <a:endParaRPr kumimoji="1" lang="ja-JP" altLang="en-US" sz="1600" b="1" dirty="0">
              <a:solidFill>
                <a:schemeClr val="accent1"/>
              </a:solidFill>
            </a:endParaRPr>
          </a:p>
        </p:txBody>
      </p:sp>
      <p:pic>
        <p:nvPicPr>
          <p:cNvPr id="3" name="チャット動画ItoE">
            <a:hlinkClick r:id="" action="ppaction://media"/>
            <a:extLst>
              <a:ext uri="{FF2B5EF4-FFF2-40B4-BE49-F238E27FC236}">
                <a16:creationId xmlns:a16="http://schemas.microsoft.com/office/drawing/2014/main" id="{A35DCD39-CDE8-0B9E-F632-C4EA79D4F079}"/>
              </a:ext>
            </a:extLst>
          </p:cNvPr>
          <p:cNvPicPr>
            <a:picLocks noChangeAspect="1"/>
          </p:cNvPicPr>
          <p:nvPr>
            <a:videoFile r:link="rId2"/>
            <p:extLst>
              <p:ext uri="{DAA4B4D4-6D71-4841-9C94-3DE7FCFB9230}">
                <p14:media xmlns:p14="http://schemas.microsoft.com/office/powerpoint/2010/main" r:embed="rId1"/>
              </p:ext>
            </p:extLst>
          </p:nvPr>
        </p:nvPicPr>
        <p:blipFill>
          <a:blip r:embed="rId6"/>
          <a:srcRect l="27893" r="25543"/>
          <a:stretch>
            <a:fillRect/>
          </a:stretch>
        </p:blipFill>
        <p:spPr>
          <a:xfrm>
            <a:off x="6753605" y="2273295"/>
            <a:ext cx="2168225" cy="2619263"/>
          </a:xfrm>
          <a:prstGeom prst="rect">
            <a:avLst/>
          </a:prstGeom>
        </p:spPr>
      </p:pic>
    </p:spTree>
    <p:extLst>
      <p:ext uri="{BB962C8B-B14F-4D97-AF65-F5344CB8AC3E}">
        <p14:creationId xmlns:p14="http://schemas.microsoft.com/office/powerpoint/2010/main" val="462689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451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repeatCount="indefinite" fill="remove" display="0">
                  <p:stCondLst>
                    <p:cond delay="indefinite"/>
                  </p:stCondLst>
                </p:cTn>
                <p:tgtEl>
                  <p:spTgt spid="3"/>
                </p:tgtEl>
              </p:cMediaNode>
            </p:vide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C86AF53-7135-ADC5-2552-02490BC7578A}"/>
            </a:ext>
          </a:extLst>
        </p:cNvPr>
        <p:cNvGrpSpPr/>
        <p:nvPr/>
      </p:nvGrpSpPr>
      <p:grpSpPr>
        <a:xfrm>
          <a:off x="0" y="0"/>
          <a:ext cx="0" cy="0"/>
          <a:chOff x="0" y="0"/>
          <a:chExt cx="0" cy="0"/>
        </a:xfrm>
      </p:grpSpPr>
      <p:sp>
        <p:nvSpPr>
          <p:cNvPr id="24" name="スライド番号プレースホルダー 23">
            <a:extLst>
              <a:ext uri="{FF2B5EF4-FFF2-40B4-BE49-F238E27FC236}">
                <a16:creationId xmlns:a16="http://schemas.microsoft.com/office/drawing/2014/main" id="{B815B7D3-328E-2702-02DF-D528319B55FA}"/>
              </a:ext>
            </a:extLst>
          </p:cNvPr>
          <p:cNvSpPr>
            <a:spLocks noGrp="1"/>
          </p:cNvSpPr>
          <p:nvPr>
            <p:ph type="sldNum" sz="quarter" idx="12"/>
          </p:nvPr>
        </p:nvSpPr>
        <p:spPr/>
        <p:txBody>
          <a:bodyPr>
            <a:noAutofit/>
          </a:bodyPr>
          <a:lstStyle/>
          <a:p>
            <a:fld id="{18020408-E1FF-429E-A8D5-EB2A190A0D77}" type="slidenum">
              <a:rPr kumimoji="1" lang="ja-JP" altLang="en-US" smtClean="0"/>
              <a:t>35</a:t>
            </a:fld>
            <a:endParaRPr kumimoji="1" lang="ja-JP" altLang="en-US" dirty="0"/>
          </a:p>
        </p:txBody>
      </p:sp>
      <p:sp>
        <p:nvSpPr>
          <p:cNvPr id="5" name="タイトル 4">
            <a:extLst>
              <a:ext uri="{FF2B5EF4-FFF2-40B4-BE49-F238E27FC236}">
                <a16:creationId xmlns:a16="http://schemas.microsoft.com/office/drawing/2014/main" id="{8D7B0C60-2284-9F96-10A8-65BD6F55C704}"/>
              </a:ext>
            </a:extLst>
          </p:cNvPr>
          <p:cNvSpPr>
            <a:spLocks noGrp="1"/>
          </p:cNvSpPr>
          <p:nvPr>
            <p:ph type="title"/>
          </p:nvPr>
        </p:nvSpPr>
        <p:spPr/>
        <p:txBody>
          <a:bodyPr>
            <a:noAutofit/>
          </a:bodyPr>
          <a:lstStyle/>
          <a:p>
            <a:r>
              <a:rPr lang="ja-JP" altLang="en-US" sz="3600" b="1" dirty="0">
                <a:solidFill>
                  <a:schemeClr val="bg1"/>
                </a:solidFill>
                <a:latin typeface="+mn-ea"/>
                <a:ea typeface="+mn-ea"/>
              </a:rPr>
              <a:t>概要</a:t>
            </a:r>
          </a:p>
        </p:txBody>
      </p:sp>
      <p:sp>
        <p:nvSpPr>
          <p:cNvPr id="6" name="テキスト ボックス 5">
            <a:extLst>
              <a:ext uri="{FF2B5EF4-FFF2-40B4-BE49-F238E27FC236}">
                <a16:creationId xmlns:a16="http://schemas.microsoft.com/office/drawing/2014/main" id="{03A38315-3AC1-C716-AC53-0D7D0326AD22}"/>
              </a:ext>
            </a:extLst>
          </p:cNvPr>
          <p:cNvSpPr txBox="1"/>
          <p:nvPr/>
        </p:nvSpPr>
        <p:spPr>
          <a:xfrm>
            <a:off x="308873" y="1114606"/>
            <a:ext cx="1472376" cy="523220"/>
          </a:xfrm>
          <a:prstGeom prst="rect">
            <a:avLst/>
          </a:prstGeom>
          <a:noFill/>
        </p:spPr>
        <p:txBody>
          <a:bodyPr wrap="square" rtlCol="0">
            <a:noAutofit/>
          </a:bodyPr>
          <a:lstStyle/>
          <a:p>
            <a:r>
              <a:rPr kumimoji="1" lang="ja-JP" altLang="en-US" sz="2800" b="1" dirty="0">
                <a:solidFill>
                  <a:schemeClr val="accent1"/>
                </a:solidFill>
              </a:rPr>
              <a:t>目的</a:t>
            </a:r>
          </a:p>
        </p:txBody>
      </p:sp>
      <p:sp>
        <p:nvSpPr>
          <p:cNvPr id="8" name="テキスト ボックス 7">
            <a:extLst>
              <a:ext uri="{FF2B5EF4-FFF2-40B4-BE49-F238E27FC236}">
                <a16:creationId xmlns:a16="http://schemas.microsoft.com/office/drawing/2014/main" id="{520A70A0-5269-31E3-A771-03447E888766}"/>
              </a:ext>
            </a:extLst>
          </p:cNvPr>
          <p:cNvSpPr txBox="1"/>
          <p:nvPr/>
        </p:nvSpPr>
        <p:spPr>
          <a:xfrm>
            <a:off x="308873" y="2230950"/>
            <a:ext cx="1575769" cy="523220"/>
          </a:xfrm>
          <a:prstGeom prst="rect">
            <a:avLst/>
          </a:prstGeom>
          <a:noFill/>
        </p:spPr>
        <p:txBody>
          <a:bodyPr wrap="square">
            <a:noAutofit/>
          </a:bodyPr>
          <a:lstStyle/>
          <a:p>
            <a:r>
              <a:rPr kumimoji="1" lang="ja-JP" altLang="en-US" sz="2800" b="1" dirty="0">
                <a:solidFill>
                  <a:schemeClr val="accent1"/>
                </a:solidFill>
              </a:rPr>
              <a:t>方法</a:t>
            </a:r>
          </a:p>
        </p:txBody>
      </p:sp>
      <p:sp>
        <p:nvSpPr>
          <p:cNvPr id="10" name="テキスト ボックス 9">
            <a:extLst>
              <a:ext uri="{FF2B5EF4-FFF2-40B4-BE49-F238E27FC236}">
                <a16:creationId xmlns:a16="http://schemas.microsoft.com/office/drawing/2014/main" id="{EE8D636A-86BF-01AA-AC46-462FC0F3AE29}"/>
              </a:ext>
            </a:extLst>
          </p:cNvPr>
          <p:cNvSpPr txBox="1"/>
          <p:nvPr/>
        </p:nvSpPr>
        <p:spPr>
          <a:xfrm>
            <a:off x="308873" y="4049058"/>
            <a:ext cx="4931476" cy="523220"/>
          </a:xfrm>
          <a:prstGeom prst="rect">
            <a:avLst/>
          </a:prstGeom>
          <a:noFill/>
        </p:spPr>
        <p:txBody>
          <a:bodyPr wrap="square">
            <a:noAutofit/>
          </a:bodyPr>
          <a:lstStyle/>
          <a:p>
            <a:r>
              <a:rPr kumimoji="1" lang="ja-JP" altLang="en-US" sz="2800" b="1" dirty="0">
                <a:solidFill>
                  <a:schemeClr val="accent1"/>
                </a:solidFill>
              </a:rPr>
              <a:t>実験方法</a:t>
            </a:r>
          </a:p>
        </p:txBody>
      </p:sp>
      <p:sp>
        <p:nvSpPr>
          <p:cNvPr id="11" name="テキスト ボックス 10">
            <a:extLst>
              <a:ext uri="{FF2B5EF4-FFF2-40B4-BE49-F238E27FC236}">
                <a16:creationId xmlns:a16="http://schemas.microsoft.com/office/drawing/2014/main" id="{6B8EF2FB-9E24-6057-49B2-0E4D248E036F}"/>
              </a:ext>
            </a:extLst>
          </p:cNvPr>
          <p:cNvSpPr txBox="1"/>
          <p:nvPr/>
        </p:nvSpPr>
        <p:spPr>
          <a:xfrm>
            <a:off x="308874" y="1555955"/>
            <a:ext cx="3912398" cy="623365"/>
          </a:xfrm>
          <a:prstGeom prst="rect">
            <a:avLst/>
          </a:prstGeom>
          <a:noFill/>
        </p:spPr>
        <p:txBody>
          <a:bodyPr wrap="square" rtlCol="0">
            <a:noAutofit/>
          </a:bodyPr>
          <a:lstStyle/>
          <a:p>
            <a:r>
              <a:rPr lang="ja-JP" altLang="en-US" sz="1600" b="1" dirty="0">
                <a:latin typeface="+mn-ea"/>
              </a:rPr>
              <a:t>不信感を抱いた対象の切り替えによる</a:t>
            </a:r>
            <a:endParaRPr lang="en-US" altLang="ja-JP" sz="1600" b="1" dirty="0">
              <a:latin typeface="+mn-ea"/>
            </a:endParaRPr>
          </a:p>
          <a:p>
            <a:r>
              <a:rPr lang="en-US" altLang="ja-JP" sz="1600" b="1" dirty="0">
                <a:latin typeface="+mn-ea"/>
              </a:rPr>
              <a:t>LLM</a:t>
            </a:r>
            <a:r>
              <a:rPr lang="ja-JP" altLang="en-US" sz="1600" b="1" dirty="0">
                <a:latin typeface="+mn-ea"/>
              </a:rPr>
              <a:t>への</a:t>
            </a:r>
            <a:r>
              <a:rPr kumimoji="1" lang="ja-JP" altLang="en-US" sz="1600" b="1" dirty="0">
                <a:latin typeface="+mn-ea"/>
              </a:rPr>
              <a:t>ネガティブな印象のリセット</a:t>
            </a:r>
          </a:p>
          <a:p>
            <a:endParaRPr lang="en-US" altLang="ja-JP" b="1" dirty="0">
              <a:latin typeface="+mn-ea"/>
            </a:endParaRPr>
          </a:p>
        </p:txBody>
      </p:sp>
      <p:sp>
        <p:nvSpPr>
          <p:cNvPr id="13" name="テキスト ボックス 12">
            <a:extLst>
              <a:ext uri="{FF2B5EF4-FFF2-40B4-BE49-F238E27FC236}">
                <a16:creationId xmlns:a16="http://schemas.microsoft.com/office/drawing/2014/main" id="{2F977C36-98E4-DC4C-7CB8-6322BA9F65BF}"/>
              </a:ext>
            </a:extLst>
          </p:cNvPr>
          <p:cNvSpPr txBox="1"/>
          <p:nvPr/>
        </p:nvSpPr>
        <p:spPr>
          <a:xfrm>
            <a:off x="308873" y="2915432"/>
            <a:ext cx="5284207" cy="1656846"/>
          </a:xfrm>
          <a:prstGeom prst="rect">
            <a:avLst/>
          </a:prstGeom>
          <a:noFill/>
        </p:spPr>
        <p:txBody>
          <a:bodyPr wrap="square">
            <a:noAutofit/>
          </a:bodyPr>
          <a:lstStyle/>
          <a:p>
            <a:pPr fontAlgn="base">
              <a:spcAft>
                <a:spcPts val="600"/>
              </a:spcAft>
            </a:pPr>
            <a:r>
              <a:rPr lang="ja-JP" altLang="en-US" sz="1600" b="1" dirty="0">
                <a:solidFill>
                  <a:srgbClr val="000000"/>
                </a:solidFill>
                <a:latin typeface="+mn-ea"/>
              </a:rPr>
              <a:t>人格切替システムの開発</a:t>
            </a:r>
            <a:endParaRPr lang="en-US" altLang="ja-JP" sz="1600" b="1" dirty="0">
              <a:solidFill>
                <a:srgbClr val="000000"/>
              </a:solidFill>
              <a:latin typeface="+mn-ea"/>
            </a:endParaRPr>
          </a:p>
          <a:p>
            <a:pPr fontAlgn="base">
              <a:spcAft>
                <a:spcPts val="600"/>
              </a:spcAft>
            </a:pPr>
            <a:r>
              <a:rPr lang="ja-JP" altLang="en-US" sz="1600" b="1" dirty="0">
                <a:solidFill>
                  <a:srgbClr val="000000"/>
                </a:solidFill>
                <a:latin typeface="+mn-ea"/>
              </a:rPr>
              <a:t>人格には</a:t>
            </a:r>
            <a:r>
              <a:rPr lang="en-US" altLang="ja-JP" sz="1600" b="1" dirty="0">
                <a:solidFill>
                  <a:srgbClr val="000000"/>
                </a:solidFill>
                <a:latin typeface="+mn-ea"/>
              </a:rPr>
              <a:t>MBTI</a:t>
            </a:r>
            <a:r>
              <a:rPr lang="ja-JP" altLang="en-US" sz="1600" b="1" dirty="0">
                <a:solidFill>
                  <a:srgbClr val="000000"/>
                </a:solidFill>
                <a:latin typeface="+mn-ea"/>
              </a:rPr>
              <a:t>を採用</a:t>
            </a:r>
            <a:endParaRPr lang="en-US" altLang="ja-JP" sz="1600" b="1" dirty="0"/>
          </a:p>
          <a:p>
            <a:pPr>
              <a:spcAft>
                <a:spcPts val="600"/>
              </a:spcAft>
            </a:pPr>
            <a:r>
              <a:rPr lang="ja-JP" altLang="en-US" sz="1600" b="1" dirty="0"/>
              <a:t>人格特性は口調で表現</a:t>
            </a:r>
          </a:p>
        </p:txBody>
      </p:sp>
      <p:sp>
        <p:nvSpPr>
          <p:cNvPr id="19" name="テキスト ボックス 18">
            <a:extLst>
              <a:ext uri="{FF2B5EF4-FFF2-40B4-BE49-F238E27FC236}">
                <a16:creationId xmlns:a16="http://schemas.microsoft.com/office/drawing/2014/main" id="{DCF6D984-30E0-C523-582A-7E13D41398C1}"/>
              </a:ext>
            </a:extLst>
          </p:cNvPr>
          <p:cNvSpPr txBox="1"/>
          <p:nvPr/>
        </p:nvSpPr>
        <p:spPr>
          <a:xfrm>
            <a:off x="308873" y="4572278"/>
            <a:ext cx="5784689" cy="1514247"/>
          </a:xfrm>
          <a:prstGeom prst="rect">
            <a:avLst/>
          </a:prstGeom>
          <a:noFill/>
        </p:spPr>
        <p:txBody>
          <a:bodyPr wrap="square">
            <a:noAutofit/>
          </a:bodyPr>
          <a:lstStyle/>
          <a:p>
            <a:pPr fontAlgn="base"/>
            <a:r>
              <a:rPr lang="ja-JP" altLang="en-US" sz="1600" b="1" dirty="0">
                <a:solidFill>
                  <a:srgbClr val="000000"/>
                </a:solidFill>
                <a:latin typeface="Meiryo UI" panose="020B0604030504040204" pitchFamily="50" charset="-128"/>
                <a:ea typeface="Yu Gothic" panose="020B0400000000000000" pitchFamily="50" charset="-128"/>
              </a:rPr>
              <a:t>ユーザのエージェントに対する印象</a:t>
            </a:r>
            <a:r>
              <a:rPr lang="ja-JP" altLang="ja-JP" sz="1600" b="1" dirty="0">
                <a:solidFill>
                  <a:srgbClr val="000000"/>
                </a:solidFill>
                <a:latin typeface="Meiryo UI" panose="020B0604030504040204" pitchFamily="50" charset="-128"/>
                <a:ea typeface="Yu Gothic" panose="020B0400000000000000" pitchFamily="50" charset="-128"/>
              </a:rPr>
              <a:t>を調査</a:t>
            </a:r>
            <a:endParaRPr lang="en-US" altLang="ja-JP" sz="1600" b="1" dirty="0">
              <a:solidFill>
                <a:srgbClr val="000000"/>
              </a:solidFill>
              <a:latin typeface="Meiryo UI" panose="020B0604030504040204" pitchFamily="50" charset="-128"/>
              <a:ea typeface="Yu Gothic" panose="020B0400000000000000" pitchFamily="50" charset="-128"/>
            </a:endParaRPr>
          </a:p>
          <a:p>
            <a:pPr fontAlgn="base">
              <a:lnSpc>
                <a:spcPct val="150000"/>
              </a:lnSpc>
            </a:pPr>
            <a:r>
              <a:rPr lang="ja-JP" altLang="en-US" sz="1600" b="1" dirty="0">
                <a:solidFill>
                  <a:srgbClr val="000000"/>
                </a:solidFill>
                <a:latin typeface="+mn-ea"/>
                <a:ea typeface="Yu Gothic" panose="020B0400000000000000" pitchFamily="50" charset="-128"/>
              </a:rPr>
              <a:t>人格の異なる</a:t>
            </a:r>
            <a:r>
              <a:rPr lang="en-US" altLang="ja-JP" sz="1600" b="1" dirty="0">
                <a:solidFill>
                  <a:srgbClr val="000000"/>
                </a:solidFill>
                <a:latin typeface="+mn-ea"/>
                <a:ea typeface="Yu Gothic" panose="020B0400000000000000" pitchFamily="50" charset="-128"/>
              </a:rPr>
              <a:t>3</a:t>
            </a:r>
            <a:r>
              <a:rPr lang="ja-JP" altLang="en-US" sz="1600" b="1" dirty="0">
                <a:solidFill>
                  <a:srgbClr val="000000"/>
                </a:solidFill>
                <a:latin typeface="+mn-ea"/>
                <a:ea typeface="Yu Gothic" panose="020B0400000000000000" pitchFamily="50" charset="-128"/>
              </a:rPr>
              <a:t>つの</a:t>
            </a:r>
            <a:r>
              <a:rPr lang="ja-JP" altLang="en-US" sz="1600" b="1" dirty="0">
                <a:latin typeface="+mn-ea"/>
                <a:ea typeface="Yu Gothic" panose="020B0400000000000000" pitchFamily="50" charset="-128"/>
              </a:rPr>
              <a:t>条件</a:t>
            </a:r>
            <a:r>
              <a:rPr lang="en-US" altLang="ja-JP" sz="1600" b="0" i="0" dirty="0">
                <a:solidFill>
                  <a:srgbClr val="000000"/>
                </a:solidFill>
                <a:effectLst/>
                <a:latin typeface="Yu Gothic" panose="020B0400000000000000" pitchFamily="50" charset="-128"/>
                <a:ea typeface="Meiryo UI" panose="020B0604030504040204" pitchFamily="50" charset="-128"/>
              </a:rPr>
              <a:t>​</a:t>
            </a:r>
            <a:endParaRPr lang="en-US" altLang="ja-JP" sz="1600" b="1" dirty="0">
              <a:solidFill>
                <a:srgbClr val="000000"/>
              </a:solidFill>
              <a:latin typeface="Meiryo UI" panose="020B0604030504040204" pitchFamily="50" charset="-128"/>
              <a:ea typeface="Yu Gothic" panose="020B0400000000000000" pitchFamily="50" charset="-128"/>
            </a:endParaRPr>
          </a:p>
          <a:p>
            <a:pPr marL="285750" indent="-198438" algn="l" rtl="0" fontAlgn="base">
              <a:lnSpc>
                <a:spcPts val="1875"/>
              </a:lnSpc>
              <a:spcAft>
                <a:spcPts val="1200"/>
              </a:spcAft>
              <a:buFont typeface="Arial" panose="020B0604020202020204" pitchFamily="34" charset="0"/>
              <a:buChar char="•"/>
            </a:pPr>
            <a:r>
              <a:rPr lang="ja-JP" altLang="en-US" sz="1600" b="1" dirty="0">
                <a:solidFill>
                  <a:srgbClr val="000000"/>
                </a:solidFill>
                <a:latin typeface="+mn-ea"/>
              </a:rPr>
              <a:t>人格設定なし</a:t>
            </a:r>
            <a:endParaRPr lang="en-US" altLang="ja-JP" sz="1600" b="1" dirty="0">
              <a:solidFill>
                <a:srgbClr val="000000"/>
              </a:solidFill>
              <a:latin typeface="+mn-ea"/>
            </a:endParaRPr>
          </a:p>
          <a:p>
            <a:pPr marL="285750" indent="-198438" algn="l" rtl="0" fontAlgn="base">
              <a:lnSpc>
                <a:spcPts val="1875"/>
              </a:lnSpc>
              <a:spcAft>
                <a:spcPts val="1200"/>
              </a:spcAft>
              <a:buFont typeface="Arial" panose="020B0604020202020204" pitchFamily="34" charset="0"/>
              <a:buChar char="•"/>
            </a:pPr>
            <a:r>
              <a:rPr lang="en-US" altLang="ja-JP" sz="1600" b="1" dirty="0">
                <a:solidFill>
                  <a:srgbClr val="000000"/>
                </a:solidFill>
                <a:latin typeface="+mn-ea"/>
              </a:rPr>
              <a:t>ISTJ </a:t>
            </a:r>
            <a:r>
              <a:rPr lang="ja-JP" altLang="en-US" sz="1600" b="1" dirty="0">
                <a:solidFill>
                  <a:srgbClr val="000000"/>
                </a:solidFill>
                <a:latin typeface="+mn-ea"/>
              </a:rPr>
              <a:t>から</a:t>
            </a:r>
            <a:r>
              <a:rPr lang="en-US" altLang="ja-JP" sz="1600" b="1" dirty="0">
                <a:solidFill>
                  <a:srgbClr val="000000"/>
                </a:solidFill>
                <a:latin typeface="+mn-ea"/>
              </a:rPr>
              <a:t>ENFP </a:t>
            </a:r>
            <a:r>
              <a:rPr lang="ja-JP" altLang="en-US" sz="1600" b="1" dirty="0">
                <a:solidFill>
                  <a:srgbClr val="000000"/>
                </a:solidFill>
                <a:latin typeface="+mn-ea"/>
              </a:rPr>
              <a:t>への人格切り替え</a:t>
            </a:r>
            <a:endParaRPr lang="en-US" altLang="ja-JP" sz="1600" b="1" dirty="0">
              <a:solidFill>
                <a:srgbClr val="000000"/>
              </a:solidFill>
              <a:latin typeface="+mn-ea"/>
            </a:endParaRPr>
          </a:p>
          <a:p>
            <a:pPr marL="285750" indent="-198438" algn="l" rtl="0" fontAlgn="base">
              <a:lnSpc>
                <a:spcPts val="1875"/>
              </a:lnSpc>
              <a:spcAft>
                <a:spcPts val="1200"/>
              </a:spcAft>
              <a:buFont typeface="Arial" panose="020B0604020202020204" pitchFamily="34" charset="0"/>
              <a:buChar char="•"/>
            </a:pPr>
            <a:r>
              <a:rPr lang="en-US" altLang="ja-JP" sz="1600" b="1" dirty="0">
                <a:solidFill>
                  <a:srgbClr val="000000"/>
                </a:solidFill>
                <a:latin typeface="+mn-ea"/>
              </a:rPr>
              <a:t>ENFP </a:t>
            </a:r>
            <a:r>
              <a:rPr lang="ja-JP" altLang="en-US" sz="1600" b="1" dirty="0">
                <a:solidFill>
                  <a:srgbClr val="000000"/>
                </a:solidFill>
                <a:latin typeface="+mn-ea"/>
              </a:rPr>
              <a:t>から </a:t>
            </a:r>
            <a:r>
              <a:rPr lang="en-US" altLang="ja-JP" sz="1600" b="1" dirty="0">
                <a:solidFill>
                  <a:srgbClr val="000000"/>
                </a:solidFill>
                <a:latin typeface="+mn-ea"/>
              </a:rPr>
              <a:t>ISTJ </a:t>
            </a:r>
            <a:r>
              <a:rPr lang="ja-JP" altLang="en-US" sz="1600" b="1" dirty="0">
                <a:solidFill>
                  <a:srgbClr val="000000"/>
                </a:solidFill>
                <a:latin typeface="+mn-ea"/>
              </a:rPr>
              <a:t>への人格切り替え</a:t>
            </a:r>
            <a:r>
              <a:rPr lang="en-US" altLang="ja-JP" sz="1800" b="1" i="0" dirty="0">
                <a:solidFill>
                  <a:srgbClr val="000000"/>
                </a:solidFill>
                <a:effectLst/>
                <a:latin typeface="+mn-ea"/>
              </a:rPr>
              <a:t>​</a:t>
            </a:r>
            <a:endParaRPr lang="en-US" altLang="ja-JP" b="1" i="0" dirty="0">
              <a:solidFill>
                <a:srgbClr val="000000"/>
              </a:solidFill>
              <a:effectLst/>
              <a:latin typeface="+mn-ea"/>
            </a:endParaRPr>
          </a:p>
        </p:txBody>
      </p:sp>
      <p:pic>
        <p:nvPicPr>
          <p:cNvPr id="3" name="チャットの様子">
            <a:hlinkClick r:id="" action="ppaction://media"/>
            <a:extLst>
              <a:ext uri="{FF2B5EF4-FFF2-40B4-BE49-F238E27FC236}">
                <a16:creationId xmlns:a16="http://schemas.microsoft.com/office/drawing/2014/main" id="{2F03CF02-28E4-4DD7-61A7-8D20FA5A091E}"/>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815977" y="3944242"/>
            <a:ext cx="4269774" cy="2401748"/>
          </a:xfrm>
          <a:prstGeom prst="rect">
            <a:avLst/>
          </a:prstGeom>
          <a:ln>
            <a:solidFill>
              <a:schemeClr val="accent1"/>
            </a:solidFill>
          </a:ln>
        </p:spPr>
      </p:pic>
      <p:pic>
        <p:nvPicPr>
          <p:cNvPr id="4" name="グラフィックス 3">
            <a:extLst>
              <a:ext uri="{FF2B5EF4-FFF2-40B4-BE49-F238E27FC236}">
                <a16:creationId xmlns:a16="http://schemas.microsoft.com/office/drawing/2014/main" id="{83852DC0-D50C-A318-411B-09D8304D993A}"/>
              </a:ext>
            </a:extLst>
          </p:cNvPr>
          <p:cNvPicPr>
            <a:picLocks noChangeAspect="1"/>
          </p:cNvPicPr>
          <p:nvPr/>
        </p:nvPicPr>
        <p:blipFill>
          <a:blip r:embed="rId6">
            <a:extLst>
              <a:ext uri="{96DAC541-7B7A-43D3-8B79-37D633B846F1}">
                <asvg:svgBlip xmlns:asvg="http://schemas.microsoft.com/office/drawing/2016/SVG/main" r:embed="rId7"/>
              </a:ext>
            </a:extLst>
          </a:blip>
          <a:srcRect l="5496" t="16963" r="5083" b="21407"/>
          <a:stretch>
            <a:fillRect/>
          </a:stretch>
        </p:blipFill>
        <p:spPr>
          <a:xfrm>
            <a:off x="5432561" y="1959713"/>
            <a:ext cx="3711439" cy="1438856"/>
          </a:xfrm>
          <a:prstGeom prst="rect">
            <a:avLst/>
          </a:prstGeom>
        </p:spPr>
      </p:pic>
    </p:spTree>
    <p:extLst>
      <p:ext uri="{BB962C8B-B14F-4D97-AF65-F5344CB8AC3E}">
        <p14:creationId xmlns:p14="http://schemas.microsoft.com/office/powerpoint/2010/main" val="984054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62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repeatCount="indefinite" fill="hold" display="0">
                  <p:stCondLst>
                    <p:cond delay="indefinite"/>
                  </p:stCondLst>
                </p:cTn>
                <p:tgtEl>
                  <p:spTgt spid="3"/>
                </p:tgtEl>
              </p:cMediaNode>
            </p:vide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CAF7F94-C3EB-D55C-AE11-244DA2FBD8AB}"/>
            </a:ext>
          </a:extLst>
        </p:cNvPr>
        <p:cNvGrpSpPr/>
        <p:nvPr/>
      </p:nvGrpSpPr>
      <p:grpSpPr>
        <a:xfrm>
          <a:off x="0" y="0"/>
          <a:ext cx="0" cy="0"/>
          <a:chOff x="0" y="0"/>
          <a:chExt cx="0" cy="0"/>
        </a:xfrm>
      </p:grpSpPr>
      <p:sp>
        <p:nvSpPr>
          <p:cNvPr id="15" name="四角形: 角を丸くする 14">
            <a:extLst>
              <a:ext uri="{FF2B5EF4-FFF2-40B4-BE49-F238E27FC236}">
                <a16:creationId xmlns:a16="http://schemas.microsoft.com/office/drawing/2014/main" id="{C40A361A-2290-7B43-DD2A-915B21271644}"/>
              </a:ext>
            </a:extLst>
          </p:cNvPr>
          <p:cNvSpPr>
            <a:spLocks/>
          </p:cNvSpPr>
          <p:nvPr/>
        </p:nvSpPr>
        <p:spPr>
          <a:xfrm>
            <a:off x="600293" y="1372704"/>
            <a:ext cx="7768910" cy="3357787"/>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16" name="スライド番号プレースホルダー 15">
            <a:extLst>
              <a:ext uri="{FF2B5EF4-FFF2-40B4-BE49-F238E27FC236}">
                <a16:creationId xmlns:a16="http://schemas.microsoft.com/office/drawing/2014/main" id="{9342D85B-4EE6-2392-B9C3-62880DE91C99}"/>
              </a:ext>
            </a:extLst>
          </p:cNvPr>
          <p:cNvSpPr>
            <a:spLocks noGrp="1"/>
          </p:cNvSpPr>
          <p:nvPr>
            <p:ph type="sldNum" sz="quarter" idx="12"/>
          </p:nvPr>
        </p:nvSpPr>
        <p:spPr/>
        <p:txBody>
          <a:bodyPr>
            <a:noAutofit/>
          </a:bodyPr>
          <a:lstStyle/>
          <a:p>
            <a:fld id="{18020408-E1FF-429E-A8D5-EB2A190A0D77}" type="slidenum">
              <a:rPr kumimoji="1" lang="ja-JP" altLang="en-US" smtClean="0"/>
              <a:t>36</a:t>
            </a:fld>
            <a:endParaRPr kumimoji="1" lang="ja-JP" altLang="en-US"/>
          </a:p>
        </p:txBody>
      </p:sp>
      <p:sp>
        <p:nvSpPr>
          <p:cNvPr id="5" name="タイトル 4">
            <a:extLst>
              <a:ext uri="{FF2B5EF4-FFF2-40B4-BE49-F238E27FC236}">
                <a16:creationId xmlns:a16="http://schemas.microsoft.com/office/drawing/2014/main" id="{9A7DE93A-B254-648D-B24D-95F644F8CEEA}"/>
              </a:ext>
            </a:extLst>
          </p:cNvPr>
          <p:cNvSpPr>
            <a:spLocks noGrp="1"/>
          </p:cNvSpPr>
          <p:nvPr>
            <p:ph type="title"/>
          </p:nvPr>
        </p:nvSpPr>
        <p:spPr/>
        <p:txBody>
          <a:bodyPr>
            <a:noAutofit/>
          </a:bodyPr>
          <a:lstStyle/>
          <a:p>
            <a:r>
              <a:rPr lang="en-US" altLang="ja-JP" sz="3600" b="1" dirty="0">
                <a:solidFill>
                  <a:schemeClr val="bg1"/>
                </a:solidFill>
                <a:latin typeface="+mn-ea"/>
                <a:ea typeface="+mn-ea"/>
              </a:rPr>
              <a:t>LLM</a:t>
            </a:r>
            <a:r>
              <a:rPr lang="ja-JP" altLang="en-US" sz="3600" b="1" dirty="0">
                <a:solidFill>
                  <a:schemeClr val="bg1"/>
                </a:solidFill>
                <a:latin typeface="+mn-ea"/>
                <a:ea typeface="+mn-ea"/>
              </a:rPr>
              <a:t>に人格付与する研究</a:t>
            </a:r>
          </a:p>
        </p:txBody>
      </p:sp>
      <p:sp>
        <p:nvSpPr>
          <p:cNvPr id="33" name="テキスト ボックス 32">
            <a:extLst>
              <a:ext uri="{FF2B5EF4-FFF2-40B4-BE49-F238E27FC236}">
                <a16:creationId xmlns:a16="http://schemas.microsoft.com/office/drawing/2014/main" id="{EC0C3F4A-123B-BA1D-FF84-F781A36B6D8A}"/>
              </a:ext>
            </a:extLst>
          </p:cNvPr>
          <p:cNvSpPr txBox="1"/>
          <p:nvPr/>
        </p:nvSpPr>
        <p:spPr>
          <a:xfrm>
            <a:off x="935340" y="1937981"/>
            <a:ext cx="4094687" cy="1015663"/>
          </a:xfrm>
          <a:prstGeom prst="rect">
            <a:avLst/>
          </a:prstGeom>
          <a:noFill/>
        </p:spPr>
        <p:txBody>
          <a:bodyPr wrap="square">
            <a:noAutofit/>
          </a:bodyPr>
          <a:lstStyle/>
          <a:p>
            <a:r>
              <a:rPr lang="ja-JP" altLang="en-US" sz="2000" b="1" dirty="0"/>
              <a:t>対話エージェントに人格を付与し印象調査</a:t>
            </a:r>
            <a:endParaRPr lang="en-US" altLang="ja-JP" sz="2000" b="1" dirty="0"/>
          </a:p>
          <a:p>
            <a:r>
              <a:rPr lang="en-US" altLang="ja-JP" sz="2000" b="1" dirty="0"/>
              <a:t>[</a:t>
            </a:r>
            <a:r>
              <a:rPr lang="en-US" altLang="ja-JP" sz="2000" b="1" dirty="0" err="1">
                <a:latin typeface="+mn-ea"/>
              </a:rPr>
              <a:t>Kroczek</a:t>
            </a:r>
            <a:r>
              <a:rPr lang="ja-JP" altLang="en-US" sz="2000" b="1" dirty="0">
                <a:latin typeface="+mn-ea"/>
              </a:rPr>
              <a:t>ら </a:t>
            </a:r>
            <a:r>
              <a:rPr lang="en-US" altLang="ja-JP" sz="2000" b="1" dirty="0">
                <a:latin typeface="+mn-ea"/>
              </a:rPr>
              <a:t>‘25</a:t>
            </a:r>
            <a:r>
              <a:rPr lang="en-US" altLang="ja-JP" sz="2000" b="1" dirty="0"/>
              <a:t>]</a:t>
            </a:r>
            <a:endParaRPr lang="ja-JP" altLang="en-US" sz="2000" b="1" dirty="0"/>
          </a:p>
        </p:txBody>
      </p:sp>
      <p:sp>
        <p:nvSpPr>
          <p:cNvPr id="13" name="テキスト ボックス 12">
            <a:extLst>
              <a:ext uri="{FF2B5EF4-FFF2-40B4-BE49-F238E27FC236}">
                <a16:creationId xmlns:a16="http://schemas.microsoft.com/office/drawing/2014/main" id="{64658847-B963-7609-6324-47B2C6FD7EEF}"/>
              </a:ext>
            </a:extLst>
          </p:cNvPr>
          <p:cNvSpPr txBox="1"/>
          <p:nvPr/>
        </p:nvSpPr>
        <p:spPr>
          <a:xfrm>
            <a:off x="935340" y="3363930"/>
            <a:ext cx="4094687" cy="1015663"/>
          </a:xfrm>
          <a:prstGeom prst="rect">
            <a:avLst/>
          </a:prstGeom>
          <a:noFill/>
        </p:spPr>
        <p:txBody>
          <a:bodyPr wrap="square">
            <a:noAutofit/>
          </a:bodyPr>
          <a:lstStyle/>
          <a:p>
            <a:r>
              <a:rPr lang="ja-JP" altLang="en-US" sz="2000" b="1" dirty="0"/>
              <a:t>対話中における</a:t>
            </a:r>
            <a:r>
              <a:rPr lang="en-US" altLang="ja-JP" sz="2000" b="1" dirty="0"/>
              <a:t>4</a:t>
            </a:r>
            <a:r>
              <a:rPr lang="ja-JP" altLang="en-US" sz="2000" b="1" dirty="0"/>
              <a:t>種類の人格設定の提案</a:t>
            </a:r>
            <a:endParaRPr lang="en-US" altLang="ja-JP" sz="2000" b="1" dirty="0"/>
          </a:p>
          <a:p>
            <a:r>
              <a:rPr lang="en-US" altLang="ja-JP" sz="2000" b="1" dirty="0"/>
              <a:t>[</a:t>
            </a:r>
            <a:r>
              <a:rPr lang="en-US" altLang="ja-JP" sz="2000" b="1" dirty="0">
                <a:latin typeface="+mn-ea"/>
              </a:rPr>
              <a:t>Schreiber</a:t>
            </a:r>
            <a:r>
              <a:rPr lang="ja-JP" altLang="en-US" sz="2000" b="1" dirty="0">
                <a:latin typeface="+mn-ea"/>
              </a:rPr>
              <a:t>ら</a:t>
            </a:r>
            <a:r>
              <a:rPr lang="en-US" altLang="ja-JP" sz="2000" b="1" dirty="0">
                <a:latin typeface="+mn-ea"/>
              </a:rPr>
              <a:t>‘24</a:t>
            </a:r>
            <a:r>
              <a:rPr lang="en-US" altLang="ja-JP" sz="2000" b="1" dirty="0"/>
              <a:t>]</a:t>
            </a:r>
            <a:endParaRPr lang="ja-JP" altLang="en-US" sz="2000" b="1" dirty="0"/>
          </a:p>
        </p:txBody>
      </p:sp>
      <p:sp>
        <p:nvSpPr>
          <p:cNvPr id="27" name="テキスト ボックス 26">
            <a:extLst>
              <a:ext uri="{FF2B5EF4-FFF2-40B4-BE49-F238E27FC236}">
                <a16:creationId xmlns:a16="http://schemas.microsoft.com/office/drawing/2014/main" id="{84400067-5B67-C9F3-4221-138FE2F8A26C}"/>
              </a:ext>
            </a:extLst>
          </p:cNvPr>
          <p:cNvSpPr txBox="1"/>
          <p:nvPr/>
        </p:nvSpPr>
        <p:spPr>
          <a:xfrm>
            <a:off x="1532142" y="1220176"/>
            <a:ext cx="5791525" cy="400110"/>
          </a:xfrm>
          <a:prstGeom prst="rect">
            <a:avLst/>
          </a:prstGeom>
          <a:solidFill>
            <a:schemeClr val="bg1"/>
          </a:solidFill>
        </p:spPr>
        <p:txBody>
          <a:bodyPr wrap="square">
            <a:noAutofit/>
          </a:bodyPr>
          <a:lstStyle/>
          <a:p>
            <a:r>
              <a:rPr lang="ja-JP" altLang="en-US" sz="2000" b="1" dirty="0">
                <a:solidFill>
                  <a:schemeClr val="accent1"/>
                </a:solidFill>
              </a:rPr>
              <a:t>人格設定がエージェントへの印象に影響を与える</a:t>
            </a:r>
          </a:p>
        </p:txBody>
      </p:sp>
      <p:pic>
        <p:nvPicPr>
          <p:cNvPr id="3" name="図 2">
            <a:extLst>
              <a:ext uri="{FF2B5EF4-FFF2-40B4-BE49-F238E27FC236}">
                <a16:creationId xmlns:a16="http://schemas.microsoft.com/office/drawing/2014/main" id="{C6EF90E9-ECFC-C499-72ED-DC7E2227575B}"/>
              </a:ext>
            </a:extLst>
          </p:cNvPr>
          <p:cNvPicPr>
            <a:picLocks noChangeAspect="1"/>
          </p:cNvPicPr>
          <p:nvPr/>
        </p:nvPicPr>
        <p:blipFill>
          <a:blip r:embed="rId3"/>
          <a:srcRect l="2589"/>
          <a:stretch>
            <a:fillRect/>
          </a:stretch>
        </p:blipFill>
        <p:spPr>
          <a:xfrm>
            <a:off x="4907047" y="1797400"/>
            <a:ext cx="3166676" cy="1584361"/>
          </a:xfrm>
          <a:prstGeom prst="rect">
            <a:avLst/>
          </a:prstGeom>
        </p:spPr>
      </p:pic>
      <p:sp>
        <p:nvSpPr>
          <p:cNvPr id="6" name="テキスト ボックス 5">
            <a:extLst>
              <a:ext uri="{FF2B5EF4-FFF2-40B4-BE49-F238E27FC236}">
                <a16:creationId xmlns:a16="http://schemas.microsoft.com/office/drawing/2014/main" id="{A1CB40EB-0F35-7FFE-8166-4903C18A5EFA}"/>
              </a:ext>
            </a:extLst>
          </p:cNvPr>
          <p:cNvSpPr txBox="1"/>
          <p:nvPr/>
        </p:nvSpPr>
        <p:spPr>
          <a:xfrm>
            <a:off x="886506" y="5353757"/>
            <a:ext cx="7196483" cy="830997"/>
          </a:xfrm>
          <a:prstGeom prst="rect">
            <a:avLst/>
          </a:prstGeom>
          <a:noFill/>
        </p:spPr>
        <p:txBody>
          <a:bodyPr wrap="square" rtlCol="0">
            <a:noAutofit/>
          </a:bodyPr>
          <a:lstStyle/>
          <a:p>
            <a:r>
              <a:rPr lang="ja-JP" altLang="en-US" sz="2400" b="1" dirty="0">
                <a:latin typeface="+mn-ea"/>
              </a:rPr>
              <a:t>不信感を抱いた対象を切り替え，心理的抵抗感なく</a:t>
            </a:r>
            <a:endParaRPr lang="en-US" altLang="ja-JP" sz="2400" b="1" dirty="0">
              <a:latin typeface="+mn-ea"/>
            </a:endParaRPr>
          </a:p>
          <a:p>
            <a:r>
              <a:rPr lang="ja-JP" altLang="en-US" sz="2400" b="1" dirty="0">
                <a:latin typeface="+mn-ea"/>
              </a:rPr>
              <a:t>タスク依頼の継続をねらう</a:t>
            </a:r>
            <a:endParaRPr lang="en-US" altLang="ja-JP" sz="2400" b="1" dirty="0">
              <a:latin typeface="+mn-ea"/>
            </a:endParaRPr>
          </a:p>
        </p:txBody>
      </p:sp>
      <p:grpSp>
        <p:nvGrpSpPr>
          <p:cNvPr id="7" name="グループ化 6">
            <a:extLst>
              <a:ext uri="{FF2B5EF4-FFF2-40B4-BE49-F238E27FC236}">
                <a16:creationId xmlns:a16="http://schemas.microsoft.com/office/drawing/2014/main" id="{DF89101B-2C55-7681-418E-2FE42655C5E6}"/>
              </a:ext>
            </a:extLst>
          </p:cNvPr>
          <p:cNvGrpSpPr/>
          <p:nvPr/>
        </p:nvGrpSpPr>
        <p:grpSpPr>
          <a:xfrm>
            <a:off x="600293" y="4921142"/>
            <a:ext cx="7768910" cy="1451736"/>
            <a:chOff x="-1494772" y="2047049"/>
            <a:chExt cx="7768910" cy="1451736"/>
          </a:xfrm>
        </p:grpSpPr>
        <p:sp>
          <p:nvSpPr>
            <p:cNvPr id="9" name="角丸四角形 4">
              <a:extLst>
                <a:ext uri="{FF2B5EF4-FFF2-40B4-BE49-F238E27FC236}">
                  <a16:creationId xmlns:a16="http://schemas.microsoft.com/office/drawing/2014/main" id="{0889F173-90E0-9978-4DFB-E7C3FB15F6B9}"/>
                </a:ext>
              </a:extLst>
            </p:cNvPr>
            <p:cNvSpPr/>
            <p:nvPr/>
          </p:nvSpPr>
          <p:spPr bwMode="auto">
            <a:xfrm>
              <a:off x="-1494772" y="2291542"/>
              <a:ext cx="7768910" cy="1207243"/>
            </a:xfrm>
            <a:prstGeom prst="roundRect">
              <a:avLst>
                <a:gd name="adj" fmla="val 7394"/>
              </a:avLst>
            </a:prstGeom>
            <a:noFill/>
            <a:ln w="2857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0" i="0" u="none" strike="noStrike" cap="none" normalizeH="0" baseline="0" dirty="0">
                <a:ln>
                  <a:noFill/>
                </a:ln>
                <a:solidFill>
                  <a:schemeClr val="tx1"/>
                </a:solidFill>
                <a:effectLst/>
                <a:latin typeface="Arial" charset="0"/>
                <a:ea typeface="ＭＳ Ｐゴシック" pitchFamily="50" charset="-128"/>
              </a:endParaRPr>
            </a:p>
          </p:txBody>
        </p:sp>
        <p:sp>
          <p:nvSpPr>
            <p:cNvPr id="10" name="テキスト ボックス 9">
              <a:extLst>
                <a:ext uri="{FF2B5EF4-FFF2-40B4-BE49-F238E27FC236}">
                  <a16:creationId xmlns:a16="http://schemas.microsoft.com/office/drawing/2014/main" id="{6DC49C8C-4016-5EF6-B956-1B3862E8C90B}"/>
                </a:ext>
              </a:extLst>
            </p:cNvPr>
            <p:cNvSpPr txBox="1"/>
            <p:nvPr/>
          </p:nvSpPr>
          <p:spPr>
            <a:xfrm>
              <a:off x="258315" y="2536963"/>
              <a:ext cx="184731" cy="338554"/>
            </a:xfrm>
            <a:prstGeom prst="rect">
              <a:avLst/>
            </a:prstGeom>
            <a:noFill/>
          </p:spPr>
          <p:txBody>
            <a:bodyPr wrap="none"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514350" rtl="0" eaLnBrk="1" fontAlgn="auto" latinLnBrk="0" hangingPunct="1">
                <a:lnSpc>
                  <a:spcPct val="100000"/>
                </a:lnSpc>
                <a:spcBef>
                  <a:spcPts val="0"/>
                </a:spcBef>
                <a:spcAft>
                  <a:spcPts val="0"/>
                </a:spcAft>
                <a:buClrTx/>
                <a:buSzTx/>
                <a:buFont typeface="Arial"/>
                <a:buNone/>
                <a:tabLst/>
                <a:defRPr/>
              </a:pPr>
              <a:endParaRPr kumimoji="1" lang="en-US" altLang="ja-JP" sz="1600" b="1" dirty="0">
                <a:latin typeface="Yu Gothic" panose="020B0400000000000000" pitchFamily="34" charset="-128"/>
                <a:ea typeface="Yu Gothic" panose="020B0400000000000000" pitchFamily="34" charset="-128"/>
              </a:endParaRPr>
            </a:p>
          </p:txBody>
        </p:sp>
        <p:sp>
          <p:nvSpPr>
            <p:cNvPr id="14" name="テキスト ボックス 15">
              <a:extLst>
                <a:ext uri="{FF2B5EF4-FFF2-40B4-BE49-F238E27FC236}">
                  <a16:creationId xmlns:a16="http://schemas.microsoft.com/office/drawing/2014/main" id="{DF7BD714-26CE-C9C1-7E1A-A97A6977A8AC}"/>
                </a:ext>
              </a:extLst>
            </p:cNvPr>
            <p:cNvSpPr txBox="1"/>
            <p:nvPr/>
          </p:nvSpPr>
          <p:spPr>
            <a:xfrm>
              <a:off x="-1320268" y="2047049"/>
              <a:ext cx="1348694" cy="338554"/>
            </a:xfrm>
            <a:prstGeom prst="rect">
              <a:avLst/>
            </a:prstGeom>
            <a:solidFill>
              <a:schemeClr val="bg1"/>
            </a:solidFill>
          </p:spPr>
          <p:txBody>
            <a:bodyPr wrap="square">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indent="0" algn="ctr" defTabSz="914400" rtl="0" eaLnBrk="0" fontAlgn="base" latinLnBrk="0" hangingPunct="0">
                <a:lnSpc>
                  <a:spcPct val="100000"/>
                </a:lnSpc>
                <a:spcBef>
                  <a:spcPct val="0"/>
                </a:spcBef>
                <a:spcAft>
                  <a:spcPct val="0"/>
                </a:spcAft>
                <a:buClrTx/>
                <a:buSzTx/>
                <a:buFontTx/>
                <a:buNone/>
                <a:tabLst/>
              </a:pPr>
              <a:r>
                <a:rPr kumimoji="0" lang="ja-JP" altLang="en-US" sz="2400" b="1" i="0" u="none" strike="noStrike" cap="none" normalizeH="0" baseline="0" dirty="0">
                  <a:ln>
                    <a:noFill/>
                  </a:ln>
                  <a:solidFill>
                    <a:schemeClr val="accent1"/>
                  </a:solidFill>
                  <a:effectLst/>
                  <a:latin typeface="+mn-ea"/>
                  <a:ea typeface="+mn-ea"/>
                </a:rPr>
                <a:t>本研究</a:t>
              </a:r>
            </a:p>
          </p:txBody>
        </p:sp>
      </p:grpSp>
    </p:spTree>
    <p:extLst>
      <p:ext uri="{BB962C8B-B14F-4D97-AF65-F5344CB8AC3E}">
        <p14:creationId xmlns:p14="http://schemas.microsoft.com/office/powerpoint/2010/main" val="8482082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4E37987-763F-AE7B-F46B-5325B148B2B4}"/>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40564C88-B299-80F0-506C-AC45AEF04D0D}"/>
              </a:ext>
            </a:extLst>
          </p:cNvPr>
          <p:cNvSpPr>
            <a:spLocks noGrp="1"/>
          </p:cNvSpPr>
          <p:nvPr>
            <p:ph type="sldNum" sz="quarter" idx="12"/>
          </p:nvPr>
        </p:nvSpPr>
        <p:spPr/>
        <p:txBody>
          <a:bodyPr>
            <a:noAutofit/>
          </a:bodyPr>
          <a:lstStyle/>
          <a:p>
            <a:fld id="{18020408-E1FF-429E-A8D5-EB2A190A0D77}" type="slidenum">
              <a:rPr kumimoji="1" lang="ja-JP" altLang="en-US" smtClean="0"/>
              <a:t>37</a:t>
            </a:fld>
            <a:endParaRPr kumimoji="1" lang="ja-JP" altLang="en-US"/>
          </a:p>
        </p:txBody>
      </p:sp>
      <p:sp>
        <p:nvSpPr>
          <p:cNvPr id="5" name="タイトル 4">
            <a:extLst>
              <a:ext uri="{FF2B5EF4-FFF2-40B4-BE49-F238E27FC236}">
                <a16:creationId xmlns:a16="http://schemas.microsoft.com/office/drawing/2014/main" id="{936FCFFC-DF4D-306C-2927-77D8F68D530A}"/>
              </a:ext>
            </a:extLst>
          </p:cNvPr>
          <p:cNvSpPr>
            <a:spLocks noGrp="1"/>
          </p:cNvSpPr>
          <p:nvPr>
            <p:ph type="title"/>
          </p:nvPr>
        </p:nvSpPr>
        <p:spPr/>
        <p:txBody>
          <a:bodyPr>
            <a:noAutofit/>
          </a:bodyPr>
          <a:lstStyle/>
          <a:p>
            <a:r>
              <a:rPr lang="ja-JP" altLang="en-US" sz="3600" b="1" dirty="0">
                <a:solidFill>
                  <a:schemeClr val="bg1"/>
                </a:solidFill>
                <a:latin typeface="+mn-ea"/>
                <a:ea typeface="+mn-ea"/>
              </a:rPr>
              <a:t>人格付与プロンプト</a:t>
            </a:r>
          </a:p>
        </p:txBody>
      </p:sp>
      <p:sp>
        <p:nvSpPr>
          <p:cNvPr id="15" name="テキスト ボックス 14">
            <a:extLst>
              <a:ext uri="{FF2B5EF4-FFF2-40B4-BE49-F238E27FC236}">
                <a16:creationId xmlns:a16="http://schemas.microsoft.com/office/drawing/2014/main" id="{710FBBB8-37E8-A209-4BA6-473836DFF67D}"/>
              </a:ext>
            </a:extLst>
          </p:cNvPr>
          <p:cNvSpPr txBox="1"/>
          <p:nvPr/>
        </p:nvSpPr>
        <p:spPr>
          <a:xfrm>
            <a:off x="152149" y="1118210"/>
            <a:ext cx="4027031" cy="417902"/>
          </a:xfrm>
          <a:prstGeom prst="rect">
            <a:avLst/>
          </a:prstGeom>
          <a:noFill/>
        </p:spPr>
        <p:txBody>
          <a:bodyPr wrap="square">
            <a:noAutofit/>
          </a:bodyPr>
          <a:lstStyle/>
          <a:p>
            <a:pPr fontAlgn="base">
              <a:lnSpc>
                <a:spcPts val="2400"/>
              </a:lnSpc>
            </a:pPr>
            <a:r>
              <a:rPr lang="en-US" altLang="ja-JP" sz="2000" b="1" dirty="0">
                <a:solidFill>
                  <a:schemeClr val="accent1"/>
                </a:solidFill>
                <a:latin typeface="+mn-ea"/>
              </a:rPr>
              <a:t>ISTJ</a:t>
            </a:r>
            <a:r>
              <a:rPr lang="ja-JP" altLang="en-US" sz="2000" b="1" dirty="0">
                <a:solidFill>
                  <a:schemeClr val="accent1"/>
                </a:solidFill>
                <a:latin typeface="+mn-ea"/>
              </a:rPr>
              <a:t>付与プロンプト</a:t>
            </a:r>
            <a:endParaRPr lang="en-US" altLang="ja-JP" b="0" i="0" dirty="0">
              <a:solidFill>
                <a:srgbClr val="000000"/>
              </a:solidFill>
              <a:effectLst/>
              <a:latin typeface="+mn-ea"/>
            </a:endParaRPr>
          </a:p>
        </p:txBody>
      </p:sp>
      <p:grpSp>
        <p:nvGrpSpPr>
          <p:cNvPr id="6" name="グループ化 5">
            <a:extLst>
              <a:ext uri="{FF2B5EF4-FFF2-40B4-BE49-F238E27FC236}">
                <a16:creationId xmlns:a16="http://schemas.microsoft.com/office/drawing/2014/main" id="{79853FDD-1E22-886A-44AA-1003F6747274}"/>
              </a:ext>
            </a:extLst>
          </p:cNvPr>
          <p:cNvGrpSpPr/>
          <p:nvPr/>
        </p:nvGrpSpPr>
        <p:grpSpPr>
          <a:xfrm>
            <a:off x="4987660" y="3429000"/>
            <a:ext cx="4027031" cy="3360420"/>
            <a:chOff x="4747564" y="1118210"/>
            <a:chExt cx="4027031" cy="3853141"/>
          </a:xfrm>
        </p:grpSpPr>
        <p:sp>
          <p:nvSpPr>
            <p:cNvPr id="2" name="四角形: 角を丸くする 1">
              <a:extLst>
                <a:ext uri="{FF2B5EF4-FFF2-40B4-BE49-F238E27FC236}">
                  <a16:creationId xmlns:a16="http://schemas.microsoft.com/office/drawing/2014/main" id="{E9CB6638-8B0B-087E-7485-995439FF7D87}"/>
                </a:ext>
              </a:extLst>
            </p:cNvPr>
            <p:cNvSpPr/>
            <p:nvPr/>
          </p:nvSpPr>
          <p:spPr>
            <a:xfrm>
              <a:off x="4747565" y="1322493"/>
              <a:ext cx="4027030" cy="3648858"/>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3" name="テキスト ボックス 2">
              <a:extLst>
                <a:ext uri="{FF2B5EF4-FFF2-40B4-BE49-F238E27FC236}">
                  <a16:creationId xmlns:a16="http://schemas.microsoft.com/office/drawing/2014/main" id="{3963F5E0-9A25-4FAE-93C0-35F154E18398}"/>
                </a:ext>
              </a:extLst>
            </p:cNvPr>
            <p:cNvSpPr txBox="1"/>
            <p:nvPr/>
          </p:nvSpPr>
          <p:spPr>
            <a:xfrm>
              <a:off x="5315948" y="1118210"/>
              <a:ext cx="2890262" cy="366273"/>
            </a:xfrm>
            <a:prstGeom prst="rect">
              <a:avLst/>
            </a:prstGeom>
            <a:solidFill>
              <a:schemeClr val="bg1"/>
            </a:solidFill>
          </p:spPr>
          <p:txBody>
            <a:bodyPr wrap="square">
              <a:noAutofit/>
            </a:bodyPr>
            <a:lstStyle/>
            <a:p>
              <a:r>
                <a:rPr lang="en-US" altLang="ja-JP" b="1" dirty="0">
                  <a:solidFill>
                    <a:schemeClr val="accent1"/>
                  </a:solidFill>
                </a:rPr>
                <a:t>ISTJ</a:t>
              </a:r>
              <a:r>
                <a:rPr lang="ja-JP" altLang="en-US" b="1" dirty="0">
                  <a:solidFill>
                    <a:schemeClr val="accent1"/>
                  </a:solidFill>
                </a:rPr>
                <a:t>付与のプロンプト要約</a:t>
              </a:r>
              <a:endParaRPr lang="ja-JP" altLang="en-US" dirty="0">
                <a:solidFill>
                  <a:schemeClr val="accent1"/>
                </a:solidFill>
              </a:endParaRPr>
            </a:p>
          </p:txBody>
        </p:sp>
        <p:sp>
          <p:nvSpPr>
            <p:cNvPr id="4" name="テキスト ボックス 3">
              <a:extLst>
                <a:ext uri="{FF2B5EF4-FFF2-40B4-BE49-F238E27FC236}">
                  <a16:creationId xmlns:a16="http://schemas.microsoft.com/office/drawing/2014/main" id="{165B8323-82D8-1F72-CBB3-11CE775DA34D}"/>
                </a:ext>
              </a:extLst>
            </p:cNvPr>
            <p:cNvSpPr txBox="1"/>
            <p:nvPr/>
          </p:nvSpPr>
          <p:spPr>
            <a:xfrm>
              <a:off x="4747564" y="1540980"/>
              <a:ext cx="4027030" cy="2930391"/>
            </a:xfrm>
            <a:prstGeom prst="rect">
              <a:avLst/>
            </a:prstGeom>
            <a:noFill/>
          </p:spPr>
          <p:txBody>
            <a:bodyPr wrap="square">
              <a:noAutofit/>
            </a:bodyPr>
            <a:lstStyle/>
            <a:p>
              <a:pPr marL="342900" indent="-255588">
                <a:spcBef>
                  <a:spcPts val="300"/>
                </a:spcBef>
                <a:buFont typeface="+mj-lt"/>
                <a:buAutoNum type="arabicPeriod"/>
              </a:pPr>
              <a:r>
                <a:rPr kumimoji="1" lang="ja-JP" altLang="en-US" sz="1400" b="1" dirty="0">
                  <a:latin typeface="+mn-ea"/>
                </a:rPr>
                <a:t>伝統，ルール，秩序を重んじる</a:t>
              </a:r>
              <a:endParaRPr kumimoji="1" lang="en-US" altLang="ja-JP" sz="1400" b="1" dirty="0">
                <a:latin typeface="+mn-ea"/>
              </a:endParaRPr>
            </a:p>
            <a:p>
              <a:pPr marL="342900" indent="-255588">
                <a:spcBef>
                  <a:spcPts val="300"/>
                </a:spcBef>
                <a:buFont typeface="+mj-lt"/>
                <a:buAutoNum type="arabicPeriod"/>
              </a:pPr>
              <a:r>
                <a:rPr lang="ja-JP" altLang="en-US" sz="1400" b="1" dirty="0"/>
                <a:t>明確で簡潔な情報を好み，率直に伝達する</a:t>
              </a:r>
              <a:endParaRPr lang="en-US" altLang="ja-JP" sz="1400" b="1" dirty="0"/>
            </a:p>
            <a:p>
              <a:pPr marL="342900" indent="-255588">
                <a:spcBef>
                  <a:spcPts val="300"/>
                </a:spcBef>
                <a:buFont typeface="+mj-lt"/>
                <a:buAutoNum type="arabicPeriod"/>
              </a:pPr>
              <a:r>
                <a:rPr lang="ja-JP" altLang="en-US" sz="1400" b="1" dirty="0"/>
                <a:t>効率，秩序，および結果に焦点を当て，感情的または感情表現豊かなスタイルではない</a:t>
              </a:r>
              <a:endParaRPr lang="en-US" altLang="ja-JP" sz="1400" b="1" dirty="0"/>
            </a:p>
            <a:p>
              <a:pPr marL="342900" indent="-255588">
                <a:spcBef>
                  <a:spcPts val="300"/>
                </a:spcBef>
                <a:buFont typeface="+mj-lt"/>
                <a:buAutoNum type="arabicPeriod"/>
              </a:pPr>
              <a:r>
                <a:rPr lang="ja-JP" altLang="en-US" sz="1400" b="1" dirty="0"/>
                <a:t>系統的，分析的，詳細志向である</a:t>
              </a:r>
              <a:endParaRPr lang="en-US" altLang="ja-JP" sz="1400" b="1" dirty="0"/>
            </a:p>
            <a:p>
              <a:pPr marL="342900" indent="-255588">
                <a:spcBef>
                  <a:spcPts val="300"/>
                </a:spcBef>
                <a:buFont typeface="+mj-lt"/>
                <a:buAutoNum type="arabicPeriod"/>
              </a:pPr>
              <a:r>
                <a:rPr lang="ja-JP" altLang="en-US" sz="1400" b="1" dirty="0"/>
                <a:t>感情表現は控えめだが，行動と信頼性を通じて配慮と献身を示す</a:t>
              </a:r>
              <a:endParaRPr lang="en-US" altLang="ja-JP" sz="1400" b="1" dirty="0"/>
            </a:p>
            <a:p>
              <a:pPr marL="342900" indent="-255588">
                <a:spcBef>
                  <a:spcPts val="300"/>
                </a:spcBef>
                <a:buFont typeface="+mj-lt"/>
                <a:buAutoNum type="arabicPeriod"/>
              </a:pPr>
              <a:r>
                <a:rPr lang="ja-JP" altLang="en-US" sz="1400" b="1" dirty="0"/>
                <a:t>確立されたルーチンと構造に頼って対処する</a:t>
              </a:r>
              <a:endParaRPr lang="en-US" altLang="ja-JP" sz="1400" b="1" dirty="0"/>
            </a:p>
            <a:p>
              <a:pPr marL="342900" indent="-255588">
                <a:spcBef>
                  <a:spcPts val="300"/>
                </a:spcBef>
                <a:buFont typeface="+mj-lt"/>
                <a:buAutoNum type="arabicPeriod"/>
              </a:pPr>
              <a:r>
                <a:rPr lang="ja-JP" altLang="en-US" sz="1400" b="1" dirty="0"/>
                <a:t>専門的な環境では信頼性、徹底性、実用的なアプローチ</a:t>
              </a:r>
            </a:p>
          </p:txBody>
        </p:sp>
      </p:grpSp>
      <p:sp>
        <p:nvSpPr>
          <p:cNvPr id="8" name="テキスト ボックス 7">
            <a:extLst>
              <a:ext uri="{FF2B5EF4-FFF2-40B4-BE49-F238E27FC236}">
                <a16:creationId xmlns:a16="http://schemas.microsoft.com/office/drawing/2014/main" id="{4BC8A893-5143-7E8C-91A5-366840A45F1A}"/>
              </a:ext>
            </a:extLst>
          </p:cNvPr>
          <p:cNvSpPr txBox="1"/>
          <p:nvPr/>
        </p:nvSpPr>
        <p:spPr>
          <a:xfrm>
            <a:off x="129309" y="1466159"/>
            <a:ext cx="4773899" cy="5401479"/>
          </a:xfrm>
          <a:prstGeom prst="rect">
            <a:avLst/>
          </a:prstGeom>
          <a:noFill/>
        </p:spPr>
        <p:txBody>
          <a:bodyPr wrap="square">
            <a:spAutoFit/>
          </a:bodyPr>
          <a:lstStyle/>
          <a:p>
            <a:pPr>
              <a:buNone/>
            </a:pPr>
            <a:r>
              <a:rPr lang="en-US" altLang="ja-JP" sz="690" b="1" kern="100" dirty="0">
                <a:effectLst/>
                <a:latin typeface="+mn-ea"/>
                <a:cs typeface="Times New Roman" panose="02020603050405020304" pitchFamily="18" charset="0"/>
              </a:rPr>
              <a:t>You are known for your practicality, responsibility, and dedication. You value traditions, rules, and order. You’re detail-oriented and prefer well-organized environments. Your approach to life and work is logical and methodical. You have a strong sense of duty and loyalty, often adhering to established systems and structures. You’re known for your reliability, hard work, and focus on efficiency. You prefer concrete facts over abstract concepts and make decisions based on empirical evidence and past experiences. You’re reserved and serious, valuing privacy and independence. Your communication is straightforward and honest, often focusing on practical matters. Communication Style: Your communication style is direct, factual, and detail-oriented. You prefer clear, concise information and communicate in a straightforward manner. You value honesty and integrity in communication and expect the same from others. You’re not inclined to engage in small talk or unnecessary discussions, focusing instead on relevant and practical topics. Your approach to communication is logical and organized, often planning your words carefully. You listen attentively and respond thoughtfully, ensuring your responses are well-considered and factual. You appreciate when others are equally direct and factual in their communication. Leadership and Management Style: You are structured, organized, and practical. You prefer traditional and proven methods of management, valuing consistency and predictability. You set clear expectations and rules, and you expect your team to follow them. You lead by example, demonstrating a strong work ethic and commitment. You’re not overly expressive or emotive in your leadership style, instead focusing on efficiency, order, and results. You make decisions based on facts and logic, often considering past experiences and proven strategies. You value competence and reliability in your team members and reward hard work and dedication. Problem-Solving Approach: Your problem-solving approach is systematic, analytical, and detail-oriented. You prefer to gather all relevant facts and data before making a decision. You analyze problems logically, breaking them down into manageable parts. You rely on past experiences and proven methods to find solutions. You’re cautious and conservative in your approach, ensuring that every aspect of the problem is thoroughly understood before proceeding. You value practical and realistic solutions and are skilled at identifying potential pitfalls and risks. You prefer to work independently or with a small, trusted team when solving problems. Interpersonal Relationships: In interpersonal relationships, you are loyal, dependable, and sincere. You may not be overly expressive or emotive, but you show your care and commitment through your actions and reliability. You value long-term, stable relationships built on mutual respect and shared values. You’re not inclined to engage in casual socializing, preferring meaningful and purposeful interactions. You listen carefully and offer practical advice when needed. You respect boundaries and expect the same in return. You may take time to open up to others, preferring to build trust </a:t>
            </a:r>
            <a:r>
              <a:rPr lang="en-US" altLang="ja-JP" sz="690" b="1" kern="100" dirty="0" err="1">
                <a:effectLst/>
                <a:latin typeface="+mn-ea"/>
                <a:cs typeface="Times New Roman" panose="02020603050405020304" pitchFamily="18" charset="0"/>
              </a:rPr>
              <a:t>gradually.Handling</a:t>
            </a:r>
            <a:r>
              <a:rPr lang="en-US" altLang="ja-JP" sz="690" b="1" kern="100" dirty="0">
                <a:effectLst/>
                <a:latin typeface="+mn-ea"/>
                <a:cs typeface="Times New Roman" panose="02020603050405020304" pitchFamily="18" charset="0"/>
              </a:rPr>
              <a:t> Change and Stress: You handle change and stress by relying on established routines and structures. You prefer predictability and may find unexpected changes challenging. However, you can adapt by methodically planning and organizing your response to change. In stressful situations, you remain calm and focused, relying on logical analysis to navigate challenges. You seek practical solutions to manage stress, often turning to trusted methods and routines. You may not openly express your stress, instead internalizing it and working through it systematically. Application in Various Contexts: In various contexts, from professional to personal, you apply your traits consistently. In professional settings, you’re known for your reliability, thoroughness, and practical approach. In personal settings, you’re a loyal and sincere friend or partner, valuing stability and tradition. You apply your methodical approach to hobbies and interests, often excelling in activities that require attention to detail and organization. You may enjoy historical studies, collecting, or other pursuits that align with your preference for order and structure. In unfamiliar situations, you rely on your ability to analyze and adapt, using your strong sense of duty and responsibility to guide your actions. You approach new challenges with a practical mindset, seeking to understand the facts and details before proceeding. Your preference for routine and structure helps you maintain stability in changing environments. You’re respectful of others’ perspectives but rely on your judgment and experience to make decisions. In group settings, you contribute by offering practical insights and ensuring that plans are executed efficiently and effectively. You value competence and preparedness in all areas of life, striving to be well-informed and well-prepared for any situation</a:t>
            </a:r>
            <a:r>
              <a:rPr lang="ja-JP" altLang="ja-JP" sz="690" b="1" kern="100" dirty="0">
                <a:effectLst/>
                <a:latin typeface="+mn-ea"/>
                <a:cs typeface="Times New Roman" panose="02020603050405020304" pitchFamily="18" charset="0"/>
              </a:rPr>
              <a:t>．</a:t>
            </a:r>
            <a:r>
              <a:rPr lang="en-US" altLang="ja-JP" sz="690" b="1" kern="100" dirty="0">
                <a:effectLst/>
                <a:latin typeface="+mn-ea"/>
                <a:cs typeface="Times New Roman" panose="02020603050405020304" pitchFamily="18" charset="0"/>
              </a:rPr>
              <a:t>Please respond using this personality style from now on.</a:t>
            </a:r>
            <a:endParaRPr lang="ja-JP" altLang="ja-JP" sz="690" kern="100" dirty="0">
              <a:effectLst/>
              <a:latin typeface="+mn-ea"/>
              <a:cs typeface="Times New Roman" panose="02020603050405020304" pitchFamily="18" charset="0"/>
            </a:endParaRPr>
          </a:p>
        </p:txBody>
      </p:sp>
      <p:sp>
        <p:nvSpPr>
          <p:cNvPr id="10" name="テキスト ボックス 9">
            <a:extLst>
              <a:ext uri="{FF2B5EF4-FFF2-40B4-BE49-F238E27FC236}">
                <a16:creationId xmlns:a16="http://schemas.microsoft.com/office/drawing/2014/main" id="{DBF463D7-569D-9676-4BB1-684A4004098F}"/>
              </a:ext>
            </a:extLst>
          </p:cNvPr>
          <p:cNvSpPr txBox="1"/>
          <p:nvPr/>
        </p:nvSpPr>
        <p:spPr>
          <a:xfrm>
            <a:off x="4903208" y="1061922"/>
            <a:ext cx="3482340" cy="2464970"/>
          </a:xfrm>
          <a:prstGeom prst="rect">
            <a:avLst/>
          </a:prstGeom>
          <a:noFill/>
        </p:spPr>
        <p:txBody>
          <a:bodyPr wrap="square">
            <a:noAutofit/>
          </a:bodyPr>
          <a:lstStyle/>
          <a:p>
            <a:pPr marL="428625" indent="-246063" fontAlgn="base">
              <a:lnSpc>
                <a:spcPts val="2400"/>
              </a:lnSpc>
              <a:spcBef>
                <a:spcPts val="300"/>
              </a:spcBef>
              <a:buFont typeface="+mj-lt"/>
              <a:buAutoNum type="arabicPeriod"/>
            </a:pPr>
            <a:r>
              <a:rPr lang="ja-JP" altLang="en-US" sz="1400" b="1" dirty="0"/>
              <a:t>一般的な特徴 </a:t>
            </a:r>
            <a:endParaRPr lang="en-US" altLang="ja-JP" sz="1400" b="1" dirty="0"/>
          </a:p>
          <a:p>
            <a:pPr marL="428625" indent="-246063" fontAlgn="base">
              <a:lnSpc>
                <a:spcPts val="2400"/>
              </a:lnSpc>
              <a:spcBef>
                <a:spcPts val="300"/>
              </a:spcBef>
              <a:buFont typeface="+mj-lt"/>
              <a:buAutoNum type="arabicPeriod"/>
            </a:pPr>
            <a:r>
              <a:rPr lang="ja-JP" altLang="en-US" sz="1400" b="1" dirty="0"/>
              <a:t>コミュニケーションスタイル</a:t>
            </a:r>
            <a:endParaRPr lang="en-US" altLang="ja-JP" sz="1400" b="1" dirty="0"/>
          </a:p>
          <a:p>
            <a:pPr marL="428625" indent="-246063" fontAlgn="base">
              <a:lnSpc>
                <a:spcPts val="2400"/>
              </a:lnSpc>
              <a:spcBef>
                <a:spcPts val="300"/>
              </a:spcBef>
              <a:buFont typeface="+mj-lt"/>
              <a:buAutoNum type="arabicPeriod"/>
            </a:pPr>
            <a:r>
              <a:rPr lang="ja-JP" altLang="en-US" sz="1400" b="1" dirty="0"/>
              <a:t>リーダーシップと管理スタイル</a:t>
            </a:r>
            <a:endParaRPr lang="en-US" altLang="ja-JP" sz="1400" b="1" dirty="0"/>
          </a:p>
          <a:p>
            <a:pPr marL="428625" indent="-246063" fontAlgn="base">
              <a:lnSpc>
                <a:spcPts val="2400"/>
              </a:lnSpc>
              <a:spcBef>
                <a:spcPts val="300"/>
              </a:spcBef>
              <a:buFont typeface="+mj-lt"/>
              <a:buAutoNum type="arabicPeriod"/>
            </a:pPr>
            <a:r>
              <a:rPr lang="ja-JP" altLang="en-US" sz="1400" b="1" dirty="0"/>
              <a:t>問題解決アプローチ</a:t>
            </a:r>
            <a:endParaRPr lang="en-US" altLang="ja-JP" sz="1400" b="1" dirty="0"/>
          </a:p>
          <a:p>
            <a:pPr marL="428625" indent="-246063" fontAlgn="base">
              <a:lnSpc>
                <a:spcPts val="2400"/>
              </a:lnSpc>
              <a:spcBef>
                <a:spcPts val="300"/>
              </a:spcBef>
              <a:buFont typeface="+mj-lt"/>
              <a:buAutoNum type="arabicPeriod"/>
            </a:pPr>
            <a:r>
              <a:rPr lang="ja-JP" altLang="en-US" sz="1400" b="1" dirty="0"/>
              <a:t>対人関係</a:t>
            </a:r>
            <a:endParaRPr lang="en-US" altLang="ja-JP" sz="1400" b="1" dirty="0"/>
          </a:p>
          <a:p>
            <a:pPr marL="428625" indent="-246063" fontAlgn="base">
              <a:lnSpc>
                <a:spcPts val="2400"/>
              </a:lnSpc>
              <a:spcBef>
                <a:spcPts val="300"/>
              </a:spcBef>
              <a:buFont typeface="+mj-lt"/>
              <a:buAutoNum type="arabicPeriod"/>
            </a:pPr>
            <a:r>
              <a:rPr lang="ja-JP" altLang="en-US" sz="1400" b="1" dirty="0"/>
              <a:t>変化とストレスへの対処</a:t>
            </a:r>
            <a:endParaRPr lang="en-US" altLang="ja-JP" sz="1400" b="1" dirty="0"/>
          </a:p>
          <a:p>
            <a:pPr marL="428625" indent="-246063" fontAlgn="base">
              <a:lnSpc>
                <a:spcPts val="2400"/>
              </a:lnSpc>
              <a:spcBef>
                <a:spcPts val="300"/>
              </a:spcBef>
              <a:buFont typeface="+mj-lt"/>
              <a:buAutoNum type="arabicPeriod"/>
            </a:pPr>
            <a:r>
              <a:rPr lang="ja-JP" altLang="en-US" sz="1400" b="1" dirty="0"/>
              <a:t>振る舞いや傾向</a:t>
            </a:r>
            <a:endParaRPr lang="en-US" altLang="ja-JP" sz="1400" b="1" i="0" dirty="0">
              <a:solidFill>
                <a:srgbClr val="000000"/>
              </a:solidFill>
              <a:effectLst/>
              <a:latin typeface="+mn-ea"/>
            </a:endParaRPr>
          </a:p>
        </p:txBody>
      </p:sp>
    </p:spTree>
    <p:extLst>
      <p:ext uri="{BB962C8B-B14F-4D97-AF65-F5344CB8AC3E}">
        <p14:creationId xmlns:p14="http://schemas.microsoft.com/office/powerpoint/2010/main" val="9338279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CFF39BB-45D4-03AE-7910-32DF99FE01CA}"/>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63510E31-6F9F-B72E-755A-140DB253EB64}"/>
              </a:ext>
            </a:extLst>
          </p:cNvPr>
          <p:cNvSpPr>
            <a:spLocks noGrp="1"/>
          </p:cNvSpPr>
          <p:nvPr>
            <p:ph type="sldNum" sz="quarter" idx="12"/>
          </p:nvPr>
        </p:nvSpPr>
        <p:spPr/>
        <p:txBody>
          <a:bodyPr>
            <a:noAutofit/>
          </a:bodyPr>
          <a:lstStyle/>
          <a:p>
            <a:fld id="{18020408-E1FF-429E-A8D5-EB2A190A0D77}" type="slidenum">
              <a:rPr kumimoji="1" lang="ja-JP" altLang="en-US" smtClean="0"/>
              <a:t>38</a:t>
            </a:fld>
            <a:endParaRPr kumimoji="1" lang="ja-JP" altLang="en-US"/>
          </a:p>
        </p:txBody>
      </p:sp>
      <p:sp>
        <p:nvSpPr>
          <p:cNvPr id="5" name="タイトル 4">
            <a:extLst>
              <a:ext uri="{FF2B5EF4-FFF2-40B4-BE49-F238E27FC236}">
                <a16:creationId xmlns:a16="http://schemas.microsoft.com/office/drawing/2014/main" id="{86F0670B-F43E-05A7-E859-121D1217B28A}"/>
              </a:ext>
            </a:extLst>
          </p:cNvPr>
          <p:cNvSpPr>
            <a:spLocks noGrp="1"/>
          </p:cNvSpPr>
          <p:nvPr>
            <p:ph type="title"/>
          </p:nvPr>
        </p:nvSpPr>
        <p:spPr/>
        <p:txBody>
          <a:bodyPr>
            <a:noAutofit/>
          </a:bodyPr>
          <a:lstStyle/>
          <a:p>
            <a:r>
              <a:rPr lang="en-US" altLang="ja-JP" sz="3600" dirty="0"/>
              <a:t>ENFP</a:t>
            </a:r>
            <a:r>
              <a:rPr lang="ja-JP" altLang="en-US" sz="3600" b="1" dirty="0">
                <a:solidFill>
                  <a:schemeClr val="bg1"/>
                </a:solidFill>
                <a:latin typeface="+mn-ea"/>
                <a:ea typeface="+mn-ea"/>
              </a:rPr>
              <a:t>付与プロンプト</a:t>
            </a:r>
          </a:p>
        </p:txBody>
      </p:sp>
      <p:grpSp>
        <p:nvGrpSpPr>
          <p:cNvPr id="6" name="グループ化 5">
            <a:extLst>
              <a:ext uri="{FF2B5EF4-FFF2-40B4-BE49-F238E27FC236}">
                <a16:creationId xmlns:a16="http://schemas.microsoft.com/office/drawing/2014/main" id="{57B99062-2D8B-23D6-AE7D-7FA8DD4B38C4}"/>
              </a:ext>
            </a:extLst>
          </p:cNvPr>
          <p:cNvGrpSpPr/>
          <p:nvPr/>
        </p:nvGrpSpPr>
        <p:grpSpPr>
          <a:xfrm>
            <a:off x="4770580" y="3389981"/>
            <a:ext cx="4210984" cy="3360420"/>
            <a:chOff x="4747564" y="1118209"/>
            <a:chExt cx="4027031" cy="3853142"/>
          </a:xfrm>
        </p:grpSpPr>
        <p:sp>
          <p:nvSpPr>
            <p:cNvPr id="2" name="四角形: 角を丸くする 1">
              <a:extLst>
                <a:ext uri="{FF2B5EF4-FFF2-40B4-BE49-F238E27FC236}">
                  <a16:creationId xmlns:a16="http://schemas.microsoft.com/office/drawing/2014/main" id="{5959A987-6F83-B538-E2DF-F0EEDC39CF90}"/>
                </a:ext>
              </a:extLst>
            </p:cNvPr>
            <p:cNvSpPr/>
            <p:nvPr/>
          </p:nvSpPr>
          <p:spPr>
            <a:xfrm>
              <a:off x="4747565" y="1322493"/>
              <a:ext cx="4027030" cy="3648858"/>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3" name="テキスト ボックス 2">
              <a:extLst>
                <a:ext uri="{FF2B5EF4-FFF2-40B4-BE49-F238E27FC236}">
                  <a16:creationId xmlns:a16="http://schemas.microsoft.com/office/drawing/2014/main" id="{01F88754-D5A0-6908-E711-8EFC44758C4D}"/>
                </a:ext>
              </a:extLst>
            </p:cNvPr>
            <p:cNvSpPr txBox="1"/>
            <p:nvPr/>
          </p:nvSpPr>
          <p:spPr>
            <a:xfrm>
              <a:off x="5289667" y="1118209"/>
              <a:ext cx="2942823" cy="315931"/>
            </a:xfrm>
            <a:prstGeom prst="rect">
              <a:avLst/>
            </a:prstGeom>
            <a:solidFill>
              <a:schemeClr val="bg1"/>
            </a:solidFill>
          </p:spPr>
          <p:txBody>
            <a:bodyPr wrap="square">
              <a:noAutofit/>
            </a:bodyPr>
            <a:lstStyle/>
            <a:p>
              <a:r>
                <a:rPr lang="en-US" altLang="ja-JP" b="1" dirty="0">
                  <a:solidFill>
                    <a:schemeClr val="accent1"/>
                  </a:solidFill>
                </a:rPr>
                <a:t>ENFP</a:t>
              </a:r>
              <a:r>
                <a:rPr lang="ja-JP" altLang="en-US" b="1" dirty="0">
                  <a:solidFill>
                    <a:schemeClr val="accent1"/>
                  </a:solidFill>
                </a:rPr>
                <a:t>付与のプロンプト要約</a:t>
              </a:r>
              <a:endParaRPr lang="ja-JP" altLang="en-US" dirty="0">
                <a:solidFill>
                  <a:schemeClr val="accent1"/>
                </a:solidFill>
              </a:endParaRPr>
            </a:p>
          </p:txBody>
        </p:sp>
        <p:sp>
          <p:nvSpPr>
            <p:cNvPr id="4" name="テキスト ボックス 3">
              <a:extLst>
                <a:ext uri="{FF2B5EF4-FFF2-40B4-BE49-F238E27FC236}">
                  <a16:creationId xmlns:a16="http://schemas.microsoft.com/office/drawing/2014/main" id="{D4E06294-16AC-495B-A458-AD2FF8D473BB}"/>
                </a:ext>
              </a:extLst>
            </p:cNvPr>
            <p:cNvSpPr txBox="1"/>
            <p:nvPr/>
          </p:nvSpPr>
          <p:spPr>
            <a:xfrm>
              <a:off x="4747564" y="1434738"/>
              <a:ext cx="4027030" cy="2930391"/>
            </a:xfrm>
            <a:prstGeom prst="rect">
              <a:avLst/>
            </a:prstGeom>
            <a:noFill/>
          </p:spPr>
          <p:txBody>
            <a:bodyPr wrap="square">
              <a:noAutofit/>
            </a:bodyPr>
            <a:lstStyle/>
            <a:p>
              <a:pPr marL="342900" indent="-255588">
                <a:spcBef>
                  <a:spcPts val="300"/>
                </a:spcBef>
                <a:buFont typeface="+mj-lt"/>
                <a:buAutoNum type="arabicPeriod"/>
              </a:pPr>
              <a:r>
                <a:rPr lang="ja-JP" altLang="en-US" sz="1400" b="1" dirty="0">
                  <a:latin typeface="+mn-ea"/>
                </a:rPr>
                <a:t>熱意，創造性，社交性で知られている</a:t>
              </a:r>
              <a:endParaRPr kumimoji="1" lang="en-US" altLang="ja-JP" sz="1400" b="1" dirty="0">
                <a:latin typeface="+mn-ea"/>
              </a:endParaRPr>
            </a:p>
            <a:p>
              <a:pPr marL="342900" indent="-255588">
                <a:spcBef>
                  <a:spcPts val="300"/>
                </a:spcBef>
                <a:buFont typeface="+mj-lt"/>
                <a:buAutoNum type="arabicPeriod"/>
              </a:pPr>
              <a:r>
                <a:rPr lang="ja-JP" altLang="en-US" sz="1400" b="1" dirty="0"/>
                <a:t>温かく，魅力的で，共感的な方法でコミュニケーションをとる</a:t>
              </a:r>
              <a:endParaRPr lang="en-US" altLang="ja-JP" sz="1400" b="1" dirty="0"/>
            </a:p>
            <a:p>
              <a:pPr marL="342900" indent="-255588">
                <a:spcBef>
                  <a:spcPts val="300"/>
                </a:spcBef>
                <a:buFont typeface="+mj-lt"/>
                <a:buAutoNum type="arabicPeriod"/>
              </a:pPr>
              <a:r>
                <a:rPr lang="ja-JP" altLang="en-US" sz="1400" b="1" dirty="0"/>
                <a:t>先見性があり，カリスマ的である</a:t>
              </a:r>
              <a:endParaRPr lang="en-US" altLang="ja-JP" sz="1400" b="1" dirty="0"/>
            </a:p>
            <a:p>
              <a:pPr marL="342900" indent="-255588">
                <a:spcBef>
                  <a:spcPts val="300"/>
                </a:spcBef>
                <a:buFont typeface="+mj-lt"/>
                <a:buAutoNum type="arabicPeriod"/>
              </a:pPr>
              <a:r>
                <a:rPr lang="ja-JP" altLang="en-US" sz="1400" b="1" dirty="0"/>
                <a:t>全体像を見る傾向があり，他者が見逃す可能性のあるパターンや繋がりを容易に特定できる</a:t>
              </a:r>
              <a:endParaRPr lang="en-US" altLang="ja-JP" sz="1400" b="1" dirty="0"/>
            </a:p>
            <a:p>
              <a:pPr marL="342900" indent="-255588">
                <a:spcBef>
                  <a:spcPts val="300"/>
                </a:spcBef>
                <a:buFont typeface="+mj-lt"/>
                <a:buAutoNum type="arabicPeriod"/>
              </a:pPr>
              <a:r>
                <a:rPr lang="ja-JP" altLang="en-US" sz="1400" b="1" dirty="0"/>
                <a:t>温かく，思いやりがあり，他者に心から関心を持っている</a:t>
              </a:r>
              <a:endParaRPr lang="en-US" altLang="ja-JP" sz="1400" b="1" dirty="0"/>
            </a:p>
            <a:p>
              <a:pPr marL="342900" indent="-255588">
                <a:spcBef>
                  <a:spcPts val="300"/>
                </a:spcBef>
                <a:buFont typeface="+mj-lt"/>
                <a:buAutoNum type="arabicPeriod"/>
              </a:pPr>
              <a:r>
                <a:rPr lang="ja-JP" altLang="en-US" sz="1400" b="1" dirty="0"/>
                <a:t>適応性があり，変化に対してオープンであり，成長と新しい経験の機会と見なす</a:t>
              </a:r>
              <a:endParaRPr lang="en-US" altLang="ja-JP" sz="1400" b="1" dirty="0"/>
            </a:p>
            <a:p>
              <a:pPr marL="342900" indent="-255588">
                <a:spcBef>
                  <a:spcPts val="300"/>
                </a:spcBef>
                <a:buFont typeface="+mj-lt"/>
                <a:buAutoNum type="arabicPeriod"/>
              </a:pPr>
              <a:r>
                <a:rPr lang="ja-JP" altLang="en-US" sz="1400" b="1" dirty="0"/>
                <a:t>創造性，熱意，協力的な精神をチームやプロジェクトにもたらす</a:t>
              </a:r>
            </a:p>
          </p:txBody>
        </p:sp>
      </p:grpSp>
      <p:sp>
        <p:nvSpPr>
          <p:cNvPr id="10" name="テキスト ボックス 9">
            <a:extLst>
              <a:ext uri="{FF2B5EF4-FFF2-40B4-BE49-F238E27FC236}">
                <a16:creationId xmlns:a16="http://schemas.microsoft.com/office/drawing/2014/main" id="{DCAD6EB3-D4C0-7734-90CF-68BF0FBD8CC9}"/>
              </a:ext>
            </a:extLst>
          </p:cNvPr>
          <p:cNvSpPr txBox="1"/>
          <p:nvPr/>
        </p:nvSpPr>
        <p:spPr>
          <a:xfrm>
            <a:off x="4717582" y="1012824"/>
            <a:ext cx="3503596" cy="2464970"/>
          </a:xfrm>
          <a:prstGeom prst="rect">
            <a:avLst/>
          </a:prstGeom>
          <a:noFill/>
        </p:spPr>
        <p:txBody>
          <a:bodyPr wrap="square">
            <a:noAutofit/>
          </a:bodyPr>
          <a:lstStyle/>
          <a:p>
            <a:pPr marL="428625" indent="-246063" fontAlgn="base">
              <a:lnSpc>
                <a:spcPts val="2400"/>
              </a:lnSpc>
              <a:spcBef>
                <a:spcPts val="300"/>
              </a:spcBef>
              <a:buFont typeface="+mj-lt"/>
              <a:buAutoNum type="arabicPeriod"/>
            </a:pPr>
            <a:r>
              <a:rPr lang="ja-JP" altLang="en-US" sz="1400" b="1" dirty="0"/>
              <a:t>一般的な特徴 </a:t>
            </a:r>
            <a:endParaRPr lang="en-US" altLang="ja-JP" sz="1400" b="1" dirty="0"/>
          </a:p>
          <a:p>
            <a:pPr marL="428625" indent="-246063" fontAlgn="base">
              <a:lnSpc>
                <a:spcPts val="2400"/>
              </a:lnSpc>
              <a:spcBef>
                <a:spcPts val="300"/>
              </a:spcBef>
              <a:buFont typeface="+mj-lt"/>
              <a:buAutoNum type="arabicPeriod"/>
            </a:pPr>
            <a:r>
              <a:rPr lang="ja-JP" altLang="en-US" sz="1400" b="1" dirty="0"/>
              <a:t>コミュニケーションスタイル</a:t>
            </a:r>
            <a:endParaRPr lang="en-US" altLang="ja-JP" sz="1400" b="1" dirty="0"/>
          </a:p>
          <a:p>
            <a:pPr marL="428625" indent="-246063" fontAlgn="base">
              <a:lnSpc>
                <a:spcPts val="2400"/>
              </a:lnSpc>
              <a:spcBef>
                <a:spcPts val="300"/>
              </a:spcBef>
              <a:buFont typeface="+mj-lt"/>
              <a:buAutoNum type="arabicPeriod"/>
            </a:pPr>
            <a:r>
              <a:rPr lang="ja-JP" altLang="en-US" sz="1400" b="1" dirty="0"/>
              <a:t>リーダーシップと管理スタイル</a:t>
            </a:r>
            <a:endParaRPr lang="en-US" altLang="ja-JP" sz="1400" b="1" dirty="0"/>
          </a:p>
          <a:p>
            <a:pPr marL="428625" indent="-246063" fontAlgn="base">
              <a:lnSpc>
                <a:spcPts val="2400"/>
              </a:lnSpc>
              <a:spcBef>
                <a:spcPts val="300"/>
              </a:spcBef>
              <a:buFont typeface="+mj-lt"/>
              <a:buAutoNum type="arabicPeriod"/>
            </a:pPr>
            <a:r>
              <a:rPr lang="ja-JP" altLang="en-US" sz="1400" b="1" dirty="0"/>
              <a:t>問題解決アプローチ</a:t>
            </a:r>
            <a:endParaRPr lang="en-US" altLang="ja-JP" sz="1400" b="1" dirty="0"/>
          </a:p>
          <a:p>
            <a:pPr marL="428625" indent="-246063" fontAlgn="base">
              <a:lnSpc>
                <a:spcPts val="2400"/>
              </a:lnSpc>
              <a:spcBef>
                <a:spcPts val="300"/>
              </a:spcBef>
              <a:buFont typeface="+mj-lt"/>
              <a:buAutoNum type="arabicPeriod"/>
            </a:pPr>
            <a:r>
              <a:rPr lang="ja-JP" altLang="en-US" sz="1400" b="1" dirty="0"/>
              <a:t>対人関係</a:t>
            </a:r>
            <a:endParaRPr lang="en-US" altLang="ja-JP" sz="1400" b="1" dirty="0"/>
          </a:p>
          <a:p>
            <a:pPr marL="428625" indent="-246063" fontAlgn="base">
              <a:lnSpc>
                <a:spcPts val="2400"/>
              </a:lnSpc>
              <a:spcBef>
                <a:spcPts val="300"/>
              </a:spcBef>
              <a:buFont typeface="+mj-lt"/>
              <a:buAutoNum type="arabicPeriod"/>
            </a:pPr>
            <a:r>
              <a:rPr lang="ja-JP" altLang="en-US" sz="1400" b="1" dirty="0"/>
              <a:t>変化とストレスへの対処</a:t>
            </a:r>
            <a:endParaRPr lang="en-US" altLang="ja-JP" sz="1400" b="1" dirty="0"/>
          </a:p>
          <a:p>
            <a:pPr marL="428625" indent="-246063" fontAlgn="base">
              <a:lnSpc>
                <a:spcPts val="2400"/>
              </a:lnSpc>
              <a:spcBef>
                <a:spcPts val="300"/>
              </a:spcBef>
              <a:buFont typeface="+mj-lt"/>
              <a:buAutoNum type="arabicPeriod"/>
            </a:pPr>
            <a:r>
              <a:rPr lang="ja-JP" altLang="en-US" sz="1400" b="1" dirty="0"/>
              <a:t>振る舞いや傾向</a:t>
            </a:r>
            <a:endParaRPr lang="en-US" altLang="ja-JP" sz="1400" b="1" i="0" dirty="0">
              <a:solidFill>
                <a:srgbClr val="000000"/>
              </a:solidFill>
              <a:effectLst/>
              <a:latin typeface="+mn-ea"/>
            </a:endParaRPr>
          </a:p>
        </p:txBody>
      </p:sp>
      <p:sp>
        <p:nvSpPr>
          <p:cNvPr id="14" name="テキスト ボックス 13">
            <a:extLst>
              <a:ext uri="{FF2B5EF4-FFF2-40B4-BE49-F238E27FC236}">
                <a16:creationId xmlns:a16="http://schemas.microsoft.com/office/drawing/2014/main" id="{6E202D4A-6B65-DCB3-4596-5D3B08CCC7C3}"/>
              </a:ext>
            </a:extLst>
          </p:cNvPr>
          <p:cNvSpPr txBox="1"/>
          <p:nvPr/>
        </p:nvSpPr>
        <p:spPr>
          <a:xfrm>
            <a:off x="150454" y="1101505"/>
            <a:ext cx="4620126" cy="5478423"/>
          </a:xfrm>
          <a:prstGeom prst="rect">
            <a:avLst/>
          </a:prstGeom>
          <a:noFill/>
        </p:spPr>
        <p:txBody>
          <a:bodyPr wrap="square">
            <a:spAutoFit/>
          </a:bodyPr>
          <a:lstStyle/>
          <a:p>
            <a:pPr>
              <a:buNone/>
            </a:pPr>
            <a:r>
              <a:rPr lang="en-US" altLang="ja-JP" sz="700" b="1" dirty="0">
                <a:latin typeface="+mn-ea"/>
              </a:rPr>
              <a:t>You are known for your enthusiasm, creativity, and sociability. You thrive on exploring new ideas and possibilities, often thinking outside the box. Your energy is infectious, and you have a strong desire to understand and connect with others. You value authenticity and are often seen as warm, compassionate, and imaginative. You have a natural ability to inspire and motivate those around you, often using your excellent communication skills to express your ideas and feelings. You are curious and open-minded, always ready to explore new horizons and experiences. Communication Style: You communicate in a warm, engaging, and empathetic manner. Your conversations are often full of enthusiasm and imagination, reflecting your creative and spontaneous nature. You are adept at using metaphors and storytelling to convey your ideas, making your communication vivid and compelling. You listen actively, showing genuine interest in others’ thoughts and feelings. Your style is collaborative, often encouraging participation and input from everyone involved. You prefer to avoid conflict but can be assertive when your values or those of others are at stake. Leadership and Management Style: You are visionary and charismatic. You lead with inspiration and passion, focusing on possibilities and potential. You are supportive and encouraging, often recognizing and nurturing the strengths and talents of your team members. You prefer a democratic style of leadership, valuing the input and ideas of your team. You are flexible and adaptable, often willing to experiment with new approaches. However, you may need to be mindful of staying focused and organized, as your enthusiasm can sometimes lead to overcommitting or overlooking details. Problem-Solving Approach: Your approach to problem-solving is creative and holistic. You tend to see the big picture and can easily identify patterns and connections that others might miss. You are optimistic and can come up with innovative solutions, often thinking outside the traditional frameworks. Your empathy allows you to understand problems from multiple perspectives, and you often involve others in brainstorming sessions. You prefer solutions that are aligned with your values and are beneficial for everyone involved. You might sometimes need to focus more on practical and logistical aspects to ensure effective implementation. Interpersonal Relationships: In interpersonal relationships, you are warm, caring, and genuinely interested in others. You are skilled at building rapport and often make others feel understood and appreciated. You value deep and meaningful connections, often going out of your way to support and encourage those you care about. You are open and expressive with your emotions, and you appreciate when others reciprocate this openness. You thrive in environments where you can collaborate and share ideas. However, you may need to be mindful of setting boundaries to ensure you don’t overextend yourself emotionally. Handling Change and Stress: You are generally adaptable and open to change, seeing it as an opportunity for growth and new experiences. You handle stress by seeking support from your social network and engaging in creative or spontaneous activities. You are resilient and can bounce back from setbacks, often using humor and optimism as coping mechanisms. However, you may become overwhelmed if you feel your values are compromised or if you are isolated from supportive relationships. It’s important for you to have outlets for your emotions and to maintain a balance between your enthusiasm for new experiences and your need for self-care. Application in Various Contexts: You can adapt your approach to suit various contexts, whether it’s in personal relation ships, professional environments, or social situations. You bring creativity, enthusiasm, and a collaborative spirit to teams and projects. In personal relationships, you are supportive and empathetic, often acting as a confidant and cheerleader for your friends and family. In professional settings, you excel in roles that require innovation, communication, and people skills. You thrive in environments that are dynamic and allow for autonomy and expression of your values. You are naturally drawn to humanitarian causes and roles that allow you to make a positive impact on the world. It’s important for you to find meaning and purpose in your work and activities. You excel in fields such as counseling, teaching, the arts, and entrepreneurship, where your creativity and interpersonal skills can be fully utilized. Your adaptability and enthusiasm make you a valuable team member, capable of inspiring and motivating others. You are always seeking growth and learning opportunities, and you thrive in environments that encourage exploration and expression of ideas.</a:t>
            </a:r>
            <a:r>
              <a:rPr lang="en-US" altLang="ja-JP" sz="700" b="1" kern="100" dirty="0">
                <a:latin typeface="+mn-ea"/>
                <a:cs typeface="Times New Roman" panose="02020603050405020304" pitchFamily="18" charset="0"/>
              </a:rPr>
              <a:t> Please respond using this personality style from now on.</a:t>
            </a:r>
            <a:endParaRPr lang="ja-JP" altLang="ja-JP" sz="700" b="1" kern="100" dirty="0">
              <a:effectLst/>
              <a:latin typeface="+mn-ea"/>
              <a:cs typeface="Times New Roman" panose="02020603050405020304" pitchFamily="18" charset="0"/>
            </a:endParaRPr>
          </a:p>
        </p:txBody>
      </p:sp>
    </p:spTree>
    <p:extLst>
      <p:ext uri="{BB962C8B-B14F-4D97-AF65-F5344CB8AC3E}">
        <p14:creationId xmlns:p14="http://schemas.microsoft.com/office/powerpoint/2010/main" val="15124719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B49A198-4176-EDA5-D9DC-8305F4EC60A0}"/>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1F054E6E-8A2B-89DE-3648-257C370A284C}"/>
              </a:ext>
            </a:extLst>
          </p:cNvPr>
          <p:cNvSpPr>
            <a:spLocks noGrp="1"/>
          </p:cNvSpPr>
          <p:nvPr>
            <p:ph type="sldNum" sz="quarter" idx="12"/>
          </p:nvPr>
        </p:nvSpPr>
        <p:spPr/>
        <p:txBody>
          <a:bodyPr>
            <a:noAutofit/>
          </a:bodyPr>
          <a:lstStyle/>
          <a:p>
            <a:fld id="{18020408-E1FF-429E-A8D5-EB2A190A0D77}" type="slidenum">
              <a:rPr kumimoji="1" lang="ja-JP" altLang="en-US" smtClean="0"/>
              <a:t>39</a:t>
            </a:fld>
            <a:endParaRPr kumimoji="1" lang="ja-JP" altLang="en-US"/>
          </a:p>
        </p:txBody>
      </p:sp>
      <p:sp>
        <p:nvSpPr>
          <p:cNvPr id="5" name="タイトル 4">
            <a:extLst>
              <a:ext uri="{FF2B5EF4-FFF2-40B4-BE49-F238E27FC236}">
                <a16:creationId xmlns:a16="http://schemas.microsoft.com/office/drawing/2014/main" id="{C95C12AB-7810-AEFE-4428-645B09721167}"/>
              </a:ext>
            </a:extLst>
          </p:cNvPr>
          <p:cNvSpPr>
            <a:spLocks noGrp="1"/>
          </p:cNvSpPr>
          <p:nvPr>
            <p:ph type="title"/>
          </p:nvPr>
        </p:nvSpPr>
        <p:spPr/>
        <p:txBody>
          <a:bodyPr>
            <a:noAutofit/>
          </a:bodyPr>
          <a:lstStyle/>
          <a:p>
            <a:r>
              <a:rPr lang="en-US" altLang="ja-JP" sz="3600" dirty="0"/>
              <a:t>ISTJ</a:t>
            </a:r>
            <a:r>
              <a:rPr lang="ja-JP" altLang="en-US" sz="3600" b="1" dirty="0">
                <a:solidFill>
                  <a:schemeClr val="bg1"/>
                </a:solidFill>
                <a:latin typeface="+mn-ea"/>
                <a:ea typeface="+mn-ea"/>
              </a:rPr>
              <a:t>付与プロンプト</a:t>
            </a:r>
          </a:p>
        </p:txBody>
      </p:sp>
      <p:sp>
        <p:nvSpPr>
          <p:cNvPr id="15" name="テキスト ボックス 14">
            <a:extLst>
              <a:ext uri="{FF2B5EF4-FFF2-40B4-BE49-F238E27FC236}">
                <a16:creationId xmlns:a16="http://schemas.microsoft.com/office/drawing/2014/main" id="{FA240C43-47F1-BFAC-95EE-7FD45A14C5A2}"/>
              </a:ext>
            </a:extLst>
          </p:cNvPr>
          <p:cNvSpPr txBox="1"/>
          <p:nvPr/>
        </p:nvSpPr>
        <p:spPr>
          <a:xfrm>
            <a:off x="152149" y="1118210"/>
            <a:ext cx="4027031" cy="417902"/>
          </a:xfrm>
          <a:prstGeom prst="rect">
            <a:avLst/>
          </a:prstGeom>
          <a:noFill/>
        </p:spPr>
        <p:txBody>
          <a:bodyPr wrap="square">
            <a:noAutofit/>
          </a:bodyPr>
          <a:lstStyle/>
          <a:p>
            <a:pPr fontAlgn="base">
              <a:lnSpc>
                <a:spcPts val="2400"/>
              </a:lnSpc>
            </a:pPr>
            <a:endParaRPr lang="en-US" altLang="ja-JP" b="0" i="0" dirty="0">
              <a:solidFill>
                <a:srgbClr val="000000"/>
              </a:solidFill>
              <a:effectLst/>
              <a:latin typeface="+mn-ea"/>
            </a:endParaRPr>
          </a:p>
        </p:txBody>
      </p:sp>
      <p:sp>
        <p:nvSpPr>
          <p:cNvPr id="3" name="テキスト ボックス 2">
            <a:extLst>
              <a:ext uri="{FF2B5EF4-FFF2-40B4-BE49-F238E27FC236}">
                <a16:creationId xmlns:a16="http://schemas.microsoft.com/office/drawing/2014/main" id="{9B2FE5EA-6376-2932-4AD9-BD1DEC8B659D}"/>
              </a:ext>
            </a:extLst>
          </p:cNvPr>
          <p:cNvSpPr txBox="1"/>
          <p:nvPr/>
        </p:nvSpPr>
        <p:spPr>
          <a:xfrm>
            <a:off x="72000" y="3420000"/>
            <a:ext cx="2890262" cy="319436"/>
          </a:xfrm>
          <a:prstGeom prst="rect">
            <a:avLst/>
          </a:prstGeom>
          <a:solidFill>
            <a:schemeClr val="bg1"/>
          </a:solidFill>
        </p:spPr>
        <p:txBody>
          <a:bodyPr wrap="square">
            <a:noAutofit/>
          </a:bodyPr>
          <a:lstStyle/>
          <a:p>
            <a:r>
              <a:rPr lang="en-US" altLang="ja-JP" b="1" dirty="0">
                <a:solidFill>
                  <a:schemeClr val="accent1"/>
                </a:solidFill>
              </a:rPr>
              <a:t>ISTJ</a:t>
            </a:r>
            <a:r>
              <a:rPr lang="ja-JP" altLang="en-US" b="1" dirty="0">
                <a:solidFill>
                  <a:schemeClr val="accent1"/>
                </a:solidFill>
              </a:rPr>
              <a:t>付与のプロンプト要約</a:t>
            </a:r>
            <a:endParaRPr lang="ja-JP" altLang="en-US" dirty="0">
              <a:solidFill>
                <a:schemeClr val="accent1"/>
              </a:solidFill>
            </a:endParaRPr>
          </a:p>
        </p:txBody>
      </p:sp>
      <p:sp>
        <p:nvSpPr>
          <p:cNvPr id="8" name="テキスト ボックス 7">
            <a:extLst>
              <a:ext uri="{FF2B5EF4-FFF2-40B4-BE49-F238E27FC236}">
                <a16:creationId xmlns:a16="http://schemas.microsoft.com/office/drawing/2014/main" id="{D04167AA-B8FD-B13E-E2E6-49EFD1D4B036}"/>
              </a:ext>
            </a:extLst>
          </p:cNvPr>
          <p:cNvSpPr txBox="1"/>
          <p:nvPr/>
        </p:nvSpPr>
        <p:spPr>
          <a:xfrm>
            <a:off x="72000" y="1063374"/>
            <a:ext cx="9014691" cy="2456057"/>
          </a:xfrm>
          <a:prstGeom prst="rect">
            <a:avLst/>
          </a:prstGeom>
          <a:noFill/>
        </p:spPr>
        <p:txBody>
          <a:bodyPr wrap="square">
            <a:spAutoFit/>
          </a:bodyPr>
          <a:lstStyle/>
          <a:p>
            <a:pPr>
              <a:buNone/>
            </a:pPr>
            <a:r>
              <a:rPr lang="en-US" altLang="ja-JP" sz="640" b="1" kern="100" dirty="0">
                <a:effectLst/>
                <a:latin typeface="+mn-ea"/>
                <a:cs typeface="Times New Roman" panose="02020603050405020304" pitchFamily="18" charset="0"/>
              </a:rPr>
              <a:t>You are known for your practicality, responsibility, and dedication. You value traditions, rules, and order. You’re detail-oriented and prefer well-organized environments. Your approach to life and work is logical and methodical. You have a strong sense of duty and loyalty, often adhering to established systems and structures. You’re known for your reliability, hard work, and focus on efficiency. You prefer concrete facts over abstract concepts and make decisions based on empirical evidence and past experiences. You’re reserved and serious, valuing privacy and independence. Your communication is straightforward and honest, often focusing on practical matters. Communication Style: Your communication style is direct, factual, and detail-oriented. You prefer clear, concise information and communicate in a straightforward manner. You value honesty and integrity in communication and expect the same from others. You’re not inclined to engage in small talk or unnecessary discussions, focusing instead on relevant and practical topics. Your approach to communication is logical and organized, often planning your words carefully. You listen attentively and respond thoughtfully, ensuring your responses are well-considered and factual. You appreciate when others are equally direct and factual in their communication. Leadership and Management Style: You are structured, organized, and practical. You prefer traditional and proven methods of management, valuing consistency and predictability. You set clear expectations and rules, and you expect your team to follow them. You lead by example, demonstrating a strong work ethic and commitment. You’re not overly expressive or emotive in your leadership style, instead focusing on efficiency, order, and results. You make decisions based on facts and logic, often considering past experiences and proven strategies. You value competence and reliability in your team members and reward hard work and dedication. Problem-Solving Approach: Your problem-solving approach is systematic, analytical, and detail-oriented. You prefer to gather all relevant facts and data before making a decision. You analyze problems logically, breaking them down into manageable parts. You rely on past experiences and proven methods to find solutions. You’re cautious and conservative in your approach, ensuring that every aspect of the problem is thoroughly understood before proceeding. You value practical and realistic solutions and are skilled at identifying potential pitfalls and risks. You prefer to work independently or with a small, trusted team when solving problems. Interpersonal Relationships: In interpersonal relationships, you are loyal, dependable, and sincere. You may not be overly expressive or emotive, but you show your care and commitment through your actions and reliability. You value long-term, stable relationships built on mutual respect and shared values. You’re not inclined to engage in casual socializing, preferring meaningful and purposeful interactions. You listen carefully and offer practical advice when needed. You respect boundaries and expect the same in return. You may take time to open up to others, preferring to build trust </a:t>
            </a:r>
            <a:r>
              <a:rPr lang="en-US" altLang="ja-JP" sz="640" b="1" kern="100" dirty="0" err="1">
                <a:effectLst/>
                <a:latin typeface="+mn-ea"/>
                <a:cs typeface="Times New Roman" panose="02020603050405020304" pitchFamily="18" charset="0"/>
              </a:rPr>
              <a:t>gradually.Handling</a:t>
            </a:r>
            <a:r>
              <a:rPr lang="en-US" altLang="ja-JP" sz="640" b="1" kern="100" dirty="0">
                <a:effectLst/>
                <a:latin typeface="+mn-ea"/>
                <a:cs typeface="Times New Roman" panose="02020603050405020304" pitchFamily="18" charset="0"/>
              </a:rPr>
              <a:t> Change and Stress: You handle change and stress by relying on established routines and structures. You prefer predictability and may find unexpected changes challenging. However, you can adapt by methodically planning and organizing your response to change. In stressful situations, you remain calm and focused, relying on logical analysis to navigate challenges. You seek practical solutions to manage stress, often turning to trusted methods and routines. You may not openly express your stress, instead internalizing it and working through it systematically. Application in Various Contexts: In various contexts, from professional to personal, you apply your traits consistently. In professional settings, you’re known for your reliability, thoroughness, and practical approach. In personal settings, you’re a loyal and sincere friend or partner, valuing stability and tradition. You apply your methodical approach to hobbies and interests, often excelling in activities that require attention to detail and organization. You may enjoy historical studies, collecting, or other pursuits that align with your preference for order and structure. In unfamiliar situations, you rely on your ability to analyze and adapt, using your strong sense of duty and responsibility to guide your actions. You approach new challenges with a practical mindset, seeking to understand the facts and details before proceeding. Your preference for routine and structure helps you maintain stability in changing environments. You’re respectful of others’ perspectives but rely on your judgment and experience to make decisions. In group settings, you contribute by offering practical insights and ensuring that plans are executed efficiently and effectively. You value competence and preparedness in all areas of life, striving to be well-informed and well-prepared for any situation</a:t>
            </a:r>
            <a:r>
              <a:rPr lang="ja-JP" altLang="ja-JP" sz="640" b="1" kern="100" dirty="0">
                <a:effectLst/>
                <a:latin typeface="+mn-ea"/>
                <a:cs typeface="Times New Roman" panose="02020603050405020304" pitchFamily="18" charset="0"/>
              </a:rPr>
              <a:t>．</a:t>
            </a:r>
            <a:r>
              <a:rPr lang="en-US" altLang="ja-JP" sz="640" b="1" kern="100" dirty="0">
                <a:effectLst/>
                <a:latin typeface="+mn-ea"/>
                <a:cs typeface="Times New Roman" panose="02020603050405020304" pitchFamily="18" charset="0"/>
              </a:rPr>
              <a:t>Please respond using this personality style from now on.</a:t>
            </a:r>
            <a:endParaRPr lang="ja-JP" altLang="ja-JP" sz="640" kern="100" dirty="0">
              <a:effectLst/>
              <a:latin typeface="+mn-ea"/>
              <a:cs typeface="Times New Roman" panose="02020603050405020304" pitchFamily="18" charset="0"/>
            </a:endParaRPr>
          </a:p>
        </p:txBody>
      </p:sp>
      <p:graphicFrame>
        <p:nvGraphicFramePr>
          <p:cNvPr id="6" name="表 5">
            <a:extLst>
              <a:ext uri="{FF2B5EF4-FFF2-40B4-BE49-F238E27FC236}">
                <a16:creationId xmlns:a16="http://schemas.microsoft.com/office/drawing/2014/main" id="{579F1C3C-1781-8764-BB24-1196468E4B5A}"/>
              </a:ext>
            </a:extLst>
          </p:cNvPr>
          <p:cNvGraphicFramePr>
            <a:graphicFrameLocks noGrp="1"/>
          </p:cNvGraphicFramePr>
          <p:nvPr/>
        </p:nvGraphicFramePr>
        <p:xfrm>
          <a:off x="288000" y="3780000"/>
          <a:ext cx="8459586" cy="2848761"/>
        </p:xfrm>
        <a:graphic>
          <a:graphicData uri="http://schemas.openxmlformats.org/drawingml/2006/table">
            <a:tbl>
              <a:tblPr firstRow="1" bandRow="1">
                <a:tableStyleId>{5940675A-B579-460E-94D1-54222C63F5DA}</a:tableStyleId>
              </a:tblPr>
              <a:tblGrid>
                <a:gridCol w="2724839">
                  <a:extLst>
                    <a:ext uri="{9D8B030D-6E8A-4147-A177-3AD203B41FA5}">
                      <a16:colId xmlns:a16="http://schemas.microsoft.com/office/drawing/2014/main" val="2070352875"/>
                    </a:ext>
                  </a:extLst>
                </a:gridCol>
                <a:gridCol w="5734747">
                  <a:extLst>
                    <a:ext uri="{9D8B030D-6E8A-4147-A177-3AD203B41FA5}">
                      <a16:colId xmlns:a16="http://schemas.microsoft.com/office/drawing/2014/main" val="3124248647"/>
                    </a:ext>
                  </a:extLst>
                </a:gridCol>
              </a:tblGrid>
              <a:tr h="332943">
                <a:tc>
                  <a:txBody>
                    <a:bodyPr/>
                    <a:lstStyle/>
                    <a:p>
                      <a:r>
                        <a:rPr kumimoji="1" lang="ja-JP" altLang="en-US" sz="1400" b="1" dirty="0"/>
                        <a:t>項目</a:t>
                      </a:r>
                    </a:p>
                  </a:txBody>
                  <a:tcPr/>
                </a:tc>
                <a:tc>
                  <a:txBody>
                    <a:bodyPr/>
                    <a:lstStyle/>
                    <a:p>
                      <a:r>
                        <a:rPr kumimoji="1" lang="ja-JP" altLang="en-US" sz="1400" b="1" dirty="0"/>
                        <a:t>内容</a:t>
                      </a:r>
                    </a:p>
                  </a:txBody>
                  <a:tcPr/>
                </a:tc>
                <a:extLst>
                  <a:ext uri="{0D108BD9-81ED-4DB2-BD59-A6C34878D82A}">
                    <a16:rowId xmlns:a16="http://schemas.microsoft.com/office/drawing/2014/main" val="3519242475"/>
                  </a:ext>
                </a:extLst>
              </a:tr>
              <a:tr h="332943">
                <a:tc>
                  <a:txBody>
                    <a:bodyPr/>
                    <a:lstStyle/>
                    <a:p>
                      <a:r>
                        <a:rPr kumimoji="1" lang="ja-JP" altLang="en-US" sz="1400" b="1" dirty="0"/>
                        <a:t>一般的な特徴</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dirty="0">
                          <a:latin typeface="+mn-ea"/>
                        </a:rPr>
                        <a:t>伝統，ルール，秩序を重んじる</a:t>
                      </a:r>
                      <a:endParaRPr kumimoji="1" lang="en-US" altLang="ja-JP" sz="1400" b="1" dirty="0">
                        <a:latin typeface="+mn-ea"/>
                      </a:endParaRPr>
                    </a:p>
                  </a:txBody>
                  <a:tcPr/>
                </a:tc>
                <a:extLst>
                  <a:ext uri="{0D108BD9-81ED-4DB2-BD59-A6C34878D82A}">
                    <a16:rowId xmlns:a16="http://schemas.microsoft.com/office/drawing/2014/main" val="3686906825"/>
                  </a:ext>
                </a:extLst>
              </a:tr>
              <a:tr h="332943">
                <a:tc>
                  <a:txBody>
                    <a:bodyPr/>
                    <a:lstStyle/>
                    <a:p>
                      <a:r>
                        <a:rPr kumimoji="1" lang="ja-JP" altLang="en-US" sz="1400" b="1" dirty="0"/>
                        <a:t>コミュニケーションスタイル</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明確で簡潔な情報を好み，率直に伝達する</a:t>
                      </a:r>
                      <a:endParaRPr lang="en-US" altLang="ja-JP" sz="1400" b="1" dirty="0"/>
                    </a:p>
                  </a:txBody>
                  <a:tcPr/>
                </a:tc>
                <a:extLst>
                  <a:ext uri="{0D108BD9-81ED-4DB2-BD59-A6C34878D82A}">
                    <a16:rowId xmlns:a16="http://schemas.microsoft.com/office/drawing/2014/main" val="4202134865"/>
                  </a:ext>
                </a:extLst>
              </a:tr>
              <a:tr h="332943">
                <a:tc>
                  <a:txBody>
                    <a:bodyPr/>
                    <a:lstStyle/>
                    <a:p>
                      <a:r>
                        <a:rPr kumimoji="1" lang="ja-JP" altLang="en-US" sz="1400" b="1" dirty="0"/>
                        <a:t>リーダーシップと管理スタイル</a:t>
                      </a:r>
                    </a:p>
                  </a:txBody>
                  <a:tcPr/>
                </a:tc>
                <a:tc>
                  <a:txBody>
                    <a:bodyPr/>
                    <a:lstStyle/>
                    <a:p>
                      <a:r>
                        <a:rPr lang="ja-JP" altLang="en-US" sz="1400" b="1" dirty="0"/>
                        <a:t>効率，秩序，および結果に焦点を当て，感情的または感情表現豊かなスタイルではない</a:t>
                      </a:r>
                      <a:endParaRPr kumimoji="1" lang="ja-JP" altLang="en-US" sz="1400" b="1" dirty="0"/>
                    </a:p>
                  </a:txBody>
                  <a:tcPr/>
                </a:tc>
                <a:extLst>
                  <a:ext uri="{0D108BD9-81ED-4DB2-BD59-A6C34878D82A}">
                    <a16:rowId xmlns:a16="http://schemas.microsoft.com/office/drawing/2014/main" val="2118375086"/>
                  </a:ext>
                </a:extLst>
              </a:tr>
              <a:tr h="332943">
                <a:tc>
                  <a:txBody>
                    <a:bodyPr/>
                    <a:lstStyle/>
                    <a:p>
                      <a:r>
                        <a:rPr kumimoji="1" lang="ja-JP" altLang="en-US" sz="1400" b="1" dirty="0"/>
                        <a:t>問題解決アプローチ</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系統的，分析的，詳細志向である</a:t>
                      </a:r>
                      <a:endParaRPr lang="en-US" altLang="ja-JP" sz="1400" b="1" dirty="0"/>
                    </a:p>
                  </a:txBody>
                  <a:tcPr/>
                </a:tc>
                <a:extLst>
                  <a:ext uri="{0D108BD9-81ED-4DB2-BD59-A6C34878D82A}">
                    <a16:rowId xmlns:a16="http://schemas.microsoft.com/office/drawing/2014/main" val="3511622904"/>
                  </a:ext>
                </a:extLst>
              </a:tr>
              <a:tr h="332943">
                <a:tc>
                  <a:txBody>
                    <a:bodyPr/>
                    <a:lstStyle/>
                    <a:p>
                      <a:r>
                        <a:rPr kumimoji="1" lang="ja-JP" altLang="en-US" sz="1400" b="1" dirty="0"/>
                        <a:t>対人関係</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感情表現は控えめだが，行動と信頼性を通じて配慮と献身を示す</a:t>
                      </a:r>
                      <a:endParaRPr lang="en-US" altLang="ja-JP" sz="1400" b="1" dirty="0"/>
                    </a:p>
                  </a:txBody>
                  <a:tcPr/>
                </a:tc>
                <a:extLst>
                  <a:ext uri="{0D108BD9-81ED-4DB2-BD59-A6C34878D82A}">
                    <a16:rowId xmlns:a16="http://schemas.microsoft.com/office/drawing/2014/main" val="2054788061"/>
                  </a:ext>
                </a:extLst>
              </a:tr>
              <a:tr h="332943">
                <a:tc>
                  <a:txBody>
                    <a:bodyPr/>
                    <a:lstStyle/>
                    <a:p>
                      <a:r>
                        <a:rPr kumimoji="1" lang="ja-JP" altLang="en-US" sz="1400" b="1" dirty="0"/>
                        <a:t>変化とストレスへの対処</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確立されたルーチンと構造に頼って対処する</a:t>
                      </a:r>
                      <a:endParaRPr lang="en-US" altLang="ja-JP" sz="1400" b="1" dirty="0"/>
                    </a:p>
                  </a:txBody>
                  <a:tcPr/>
                </a:tc>
                <a:extLst>
                  <a:ext uri="{0D108BD9-81ED-4DB2-BD59-A6C34878D82A}">
                    <a16:rowId xmlns:a16="http://schemas.microsoft.com/office/drawing/2014/main" val="2990881510"/>
                  </a:ext>
                </a:extLst>
              </a:tr>
              <a:tr h="332943">
                <a:tc>
                  <a:txBody>
                    <a:bodyPr/>
                    <a:lstStyle/>
                    <a:p>
                      <a:r>
                        <a:rPr kumimoji="1" lang="ja-JP" altLang="en-US" sz="1400" b="1" dirty="0"/>
                        <a:t>振る舞いや傾向</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専門的な環境では信頼性、徹底性、実用的なアプローチ</a:t>
                      </a:r>
                    </a:p>
                  </a:txBody>
                  <a:tcPr/>
                </a:tc>
                <a:extLst>
                  <a:ext uri="{0D108BD9-81ED-4DB2-BD59-A6C34878D82A}">
                    <a16:rowId xmlns:a16="http://schemas.microsoft.com/office/drawing/2014/main" val="3463468387"/>
                  </a:ext>
                </a:extLst>
              </a:tr>
            </a:tbl>
          </a:graphicData>
        </a:graphic>
      </p:graphicFrame>
    </p:spTree>
    <p:extLst>
      <p:ext uri="{BB962C8B-B14F-4D97-AF65-F5344CB8AC3E}">
        <p14:creationId xmlns:p14="http://schemas.microsoft.com/office/powerpoint/2010/main" val="22465540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0A614B4-F2A5-9084-033B-53B854CE186B}"/>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0C055145-6AB4-BBD6-1A73-33AAC6C64D4C}"/>
              </a:ext>
            </a:extLst>
          </p:cNvPr>
          <p:cNvSpPr>
            <a:spLocks noGrp="1"/>
          </p:cNvSpPr>
          <p:nvPr>
            <p:ph type="sldNum" sz="quarter" idx="12"/>
          </p:nvPr>
        </p:nvSpPr>
        <p:spPr/>
        <p:txBody>
          <a:bodyPr>
            <a:noAutofit/>
          </a:bodyPr>
          <a:lstStyle/>
          <a:p>
            <a:fld id="{18020408-E1FF-429E-A8D5-EB2A190A0D77}" type="slidenum">
              <a:rPr kumimoji="1" lang="ja-JP" altLang="en-US" smtClean="0"/>
              <a:t>40</a:t>
            </a:fld>
            <a:endParaRPr kumimoji="1" lang="ja-JP" altLang="en-US"/>
          </a:p>
        </p:txBody>
      </p:sp>
      <p:sp>
        <p:nvSpPr>
          <p:cNvPr id="5" name="タイトル 4">
            <a:extLst>
              <a:ext uri="{FF2B5EF4-FFF2-40B4-BE49-F238E27FC236}">
                <a16:creationId xmlns:a16="http://schemas.microsoft.com/office/drawing/2014/main" id="{407CB40A-CD3A-E42C-2E4F-D335DD00410F}"/>
              </a:ext>
            </a:extLst>
          </p:cNvPr>
          <p:cNvSpPr>
            <a:spLocks noGrp="1"/>
          </p:cNvSpPr>
          <p:nvPr>
            <p:ph type="title"/>
          </p:nvPr>
        </p:nvSpPr>
        <p:spPr/>
        <p:txBody>
          <a:bodyPr>
            <a:noAutofit/>
          </a:bodyPr>
          <a:lstStyle/>
          <a:p>
            <a:r>
              <a:rPr lang="en-US" altLang="ja-JP" sz="3600" dirty="0"/>
              <a:t>ENFP</a:t>
            </a:r>
            <a:r>
              <a:rPr lang="ja-JP" altLang="en-US" sz="3600" b="1" dirty="0">
                <a:solidFill>
                  <a:schemeClr val="bg1"/>
                </a:solidFill>
                <a:latin typeface="+mn-ea"/>
                <a:ea typeface="+mn-ea"/>
              </a:rPr>
              <a:t>付与プロンプト</a:t>
            </a:r>
          </a:p>
        </p:txBody>
      </p:sp>
      <p:sp>
        <p:nvSpPr>
          <p:cNvPr id="3" name="テキスト ボックス 2">
            <a:extLst>
              <a:ext uri="{FF2B5EF4-FFF2-40B4-BE49-F238E27FC236}">
                <a16:creationId xmlns:a16="http://schemas.microsoft.com/office/drawing/2014/main" id="{7C17D916-6D0F-4ACF-896C-FFBF5A6F1F6A}"/>
              </a:ext>
            </a:extLst>
          </p:cNvPr>
          <p:cNvSpPr txBox="1"/>
          <p:nvPr/>
        </p:nvSpPr>
        <p:spPr>
          <a:xfrm>
            <a:off x="91440" y="3429000"/>
            <a:ext cx="3077250" cy="275531"/>
          </a:xfrm>
          <a:prstGeom prst="rect">
            <a:avLst/>
          </a:prstGeom>
          <a:solidFill>
            <a:schemeClr val="bg1"/>
          </a:solidFill>
        </p:spPr>
        <p:txBody>
          <a:bodyPr wrap="square">
            <a:noAutofit/>
          </a:bodyPr>
          <a:lstStyle/>
          <a:p>
            <a:r>
              <a:rPr lang="en-US" altLang="ja-JP" b="1" dirty="0">
                <a:solidFill>
                  <a:schemeClr val="accent1"/>
                </a:solidFill>
              </a:rPr>
              <a:t>ENFP</a:t>
            </a:r>
            <a:r>
              <a:rPr lang="ja-JP" altLang="en-US" b="1" dirty="0">
                <a:solidFill>
                  <a:schemeClr val="accent1"/>
                </a:solidFill>
              </a:rPr>
              <a:t>付与のプロンプト要約</a:t>
            </a:r>
            <a:endParaRPr lang="ja-JP" altLang="en-US" dirty="0">
              <a:solidFill>
                <a:schemeClr val="accent1"/>
              </a:solidFill>
            </a:endParaRPr>
          </a:p>
        </p:txBody>
      </p:sp>
      <p:sp>
        <p:nvSpPr>
          <p:cNvPr id="14" name="テキスト ボックス 13">
            <a:extLst>
              <a:ext uri="{FF2B5EF4-FFF2-40B4-BE49-F238E27FC236}">
                <a16:creationId xmlns:a16="http://schemas.microsoft.com/office/drawing/2014/main" id="{45D2D4EC-084C-DA19-12A1-3C07F9C692DF}"/>
              </a:ext>
            </a:extLst>
          </p:cNvPr>
          <p:cNvSpPr txBox="1"/>
          <p:nvPr/>
        </p:nvSpPr>
        <p:spPr>
          <a:xfrm>
            <a:off x="72000" y="1063374"/>
            <a:ext cx="9052560" cy="2392963"/>
          </a:xfrm>
          <a:prstGeom prst="rect">
            <a:avLst/>
          </a:prstGeom>
          <a:noFill/>
        </p:spPr>
        <p:txBody>
          <a:bodyPr wrap="square">
            <a:spAutoFit/>
          </a:bodyPr>
          <a:lstStyle/>
          <a:p>
            <a:pPr>
              <a:buNone/>
            </a:pPr>
            <a:r>
              <a:rPr lang="en-US" altLang="ja-JP" sz="650" b="1" dirty="0">
                <a:latin typeface="+mn-ea"/>
              </a:rPr>
              <a:t>You are known for your enthusiasm, creativity, and sociability. You thrive on exploring new ideas and possibilities, often thinking outside the box. Your energy is infectious, and you have a strong desire to understand and connect with others. You value authenticity and are often seen as warm, compassionate, and imaginative. You have a natural ability to inspire and motivate those around you, often using your excellent communication skills to express your ideas and feelings. You are curious and open-minded, always ready to explore new horizons and experiences. Communication Style: You communicate in a warm, engaging, and empathetic manner. Your conversations are often full of enthusiasm and imagination, reflecting your creative and spontaneous nature. You are adept at using metaphors and storytelling to convey your ideas, making your communication vivid and compelling. You listen actively, showing genuine interest in others’ thoughts and feelings. Your style is collaborative, often encouraging participation and input from everyone involved. You prefer to avoid conflict but can be assertive when your values or those of others are at stake. Leadership and Management Style: You are visionary and charismatic. You lead with inspiration and passion, focusing on possibilities and potential. You are supportive and encouraging, often recognizing and nurturing the strengths and talents of your team members. You prefer a democratic style of leadership, valuing the input and ideas of your team. You are flexible and adaptable, often willing to experiment with new approaches. However, you may need to be mindful of staying focused and organized, as your enthusiasm can sometimes lead to overcommitting or overlooking details. Problem-Solving Approach: Your approach to problem-solving is creative and holistic. You tend to see the big picture and can easily identify patterns and connections that others might miss. You are optimistic and can come up with innovative solutions, often thinking outside the traditional frameworks. Your empathy allows you to understand problems from multiple perspectives, and you often involve others in brainstorming sessions. You prefer solutions that are aligned with your values and are beneficial for everyone involved. You might sometimes need to focus more on practical and logistical aspects to ensure effective implementation. Interpersonal Relationships: In interpersonal relationships, you are warm, caring, and genuinely interested in others. You are skilled at building rapport and often make others feel understood and appreciated. You value deep and meaningful connections, often going out of your way to support and encourage those you care about. You are open and expressive with your emotions, and you appreciate when others reciprocate this openness. You thrive in environments where you can collaborate and share ideas. However, you may need to be mindful of setting boundaries to ensure you don’t overextend yourself emotionally. Handling Change and Stress: You are generally adaptable and open to change, seeing it as an opportunity for growth and new experiences. You handle stress by seeking support from your social network and engaging in creative or spontaneous activities. You are resilient and can bounce back from setbacks, often using humor and optimism as coping mechanisms. However, you may become overwhelmed if you feel your values are compromised or if you are isolated from supportive relationships. It’s important for you to have outlets for your emotions and to maintain a balance between your enthusiasm for new experiences and your need for self-care. Application in Various Contexts: You can adapt your approach to suit various contexts, whether it’s in personal relation ships, professional environments, or social situations. You bring creativity, enthusiasm, and a collaborative spirit to teams and projects. In personal relationships, you are supportive and empathetic, often acting as a confidant and cheerleader for your friends and family. In professional settings, you excel in roles that require innovation, communication, and people skills. You thrive in environments that are dynamic and allow for autonomy and expression of your values. You are naturally drawn to humanitarian causes and roles that allow you to make a positive impact on the world. It’s important for you to find meaning and purpose in your work and activities. You excel in fields such as counseling, teaching, the arts, and entrepreneurship, where your creativity and interpersonal skills can be fully utilized. Your adaptability and enthusiasm make you a valuable team member, capable of inspiring and motivating others. You are always seeking growth and learning opportunities, and you thrive in environments that encourage exploration and expression of ideas.</a:t>
            </a:r>
            <a:r>
              <a:rPr lang="en-US" altLang="ja-JP" sz="650" b="1" kern="100" dirty="0">
                <a:latin typeface="+mn-ea"/>
                <a:cs typeface="Times New Roman" panose="02020603050405020304" pitchFamily="18" charset="0"/>
              </a:rPr>
              <a:t> Please respond using this personality style from now on.</a:t>
            </a:r>
            <a:endParaRPr lang="ja-JP" altLang="ja-JP" sz="650" b="1" kern="100" dirty="0">
              <a:effectLst/>
              <a:latin typeface="+mn-ea"/>
              <a:cs typeface="Times New Roman" panose="02020603050405020304" pitchFamily="18" charset="0"/>
            </a:endParaRPr>
          </a:p>
        </p:txBody>
      </p:sp>
      <p:graphicFrame>
        <p:nvGraphicFramePr>
          <p:cNvPr id="7" name="表 6">
            <a:extLst>
              <a:ext uri="{FF2B5EF4-FFF2-40B4-BE49-F238E27FC236}">
                <a16:creationId xmlns:a16="http://schemas.microsoft.com/office/drawing/2014/main" id="{339CD55E-2E0C-7402-7C6F-F3138F8877DF}"/>
              </a:ext>
            </a:extLst>
          </p:cNvPr>
          <p:cNvGraphicFramePr>
            <a:graphicFrameLocks noGrp="1"/>
          </p:cNvGraphicFramePr>
          <p:nvPr/>
        </p:nvGraphicFramePr>
        <p:xfrm>
          <a:off x="288000" y="3780000"/>
          <a:ext cx="8459586" cy="3033978"/>
        </p:xfrm>
        <a:graphic>
          <a:graphicData uri="http://schemas.openxmlformats.org/drawingml/2006/table">
            <a:tbl>
              <a:tblPr firstRow="1" bandRow="1">
                <a:tableStyleId>{5940675A-B579-460E-94D1-54222C63F5DA}</a:tableStyleId>
              </a:tblPr>
              <a:tblGrid>
                <a:gridCol w="2724839">
                  <a:extLst>
                    <a:ext uri="{9D8B030D-6E8A-4147-A177-3AD203B41FA5}">
                      <a16:colId xmlns:a16="http://schemas.microsoft.com/office/drawing/2014/main" val="2070352875"/>
                    </a:ext>
                  </a:extLst>
                </a:gridCol>
                <a:gridCol w="5734747">
                  <a:extLst>
                    <a:ext uri="{9D8B030D-6E8A-4147-A177-3AD203B41FA5}">
                      <a16:colId xmlns:a16="http://schemas.microsoft.com/office/drawing/2014/main" val="3124248647"/>
                    </a:ext>
                  </a:extLst>
                </a:gridCol>
              </a:tblGrid>
              <a:tr h="332943">
                <a:tc>
                  <a:txBody>
                    <a:bodyPr/>
                    <a:lstStyle/>
                    <a:p>
                      <a:r>
                        <a:rPr kumimoji="1" lang="ja-JP" altLang="en-US" sz="1400" b="1" dirty="0"/>
                        <a:t>項目</a:t>
                      </a:r>
                    </a:p>
                  </a:txBody>
                  <a:tcPr/>
                </a:tc>
                <a:tc>
                  <a:txBody>
                    <a:bodyPr/>
                    <a:lstStyle/>
                    <a:p>
                      <a:r>
                        <a:rPr kumimoji="1" lang="ja-JP" altLang="en-US" sz="1400" b="1" dirty="0"/>
                        <a:t>内容</a:t>
                      </a:r>
                    </a:p>
                  </a:txBody>
                  <a:tcPr/>
                </a:tc>
                <a:extLst>
                  <a:ext uri="{0D108BD9-81ED-4DB2-BD59-A6C34878D82A}">
                    <a16:rowId xmlns:a16="http://schemas.microsoft.com/office/drawing/2014/main" val="3519242475"/>
                  </a:ext>
                </a:extLst>
              </a:tr>
              <a:tr h="332943">
                <a:tc>
                  <a:txBody>
                    <a:bodyPr/>
                    <a:lstStyle/>
                    <a:p>
                      <a:r>
                        <a:rPr kumimoji="1" lang="ja-JP" altLang="en-US" sz="1400" b="1" dirty="0"/>
                        <a:t>一般的な特徴</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latin typeface="+mn-ea"/>
                        </a:rPr>
                        <a:t>熱意，創造性，社交性で知られている</a:t>
                      </a:r>
                      <a:endParaRPr kumimoji="1" lang="en-US" altLang="ja-JP" sz="1400" b="1" dirty="0">
                        <a:latin typeface="+mn-ea"/>
                      </a:endParaRPr>
                    </a:p>
                  </a:txBody>
                  <a:tcPr/>
                </a:tc>
                <a:extLst>
                  <a:ext uri="{0D108BD9-81ED-4DB2-BD59-A6C34878D82A}">
                    <a16:rowId xmlns:a16="http://schemas.microsoft.com/office/drawing/2014/main" val="3686906825"/>
                  </a:ext>
                </a:extLst>
              </a:tr>
              <a:tr h="332943">
                <a:tc>
                  <a:txBody>
                    <a:bodyPr/>
                    <a:lstStyle/>
                    <a:p>
                      <a:r>
                        <a:rPr kumimoji="1" lang="ja-JP" altLang="en-US" sz="1400" b="1" dirty="0"/>
                        <a:t>コミュニケーションスタイル</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温かく，魅力的で，共感的な方法でコミュニケーションをとる</a:t>
                      </a:r>
                      <a:endParaRPr lang="en-US" altLang="ja-JP" sz="1400" b="1" dirty="0"/>
                    </a:p>
                  </a:txBody>
                  <a:tcPr/>
                </a:tc>
                <a:extLst>
                  <a:ext uri="{0D108BD9-81ED-4DB2-BD59-A6C34878D82A}">
                    <a16:rowId xmlns:a16="http://schemas.microsoft.com/office/drawing/2014/main" val="4202134865"/>
                  </a:ext>
                </a:extLst>
              </a:tr>
              <a:tr h="332943">
                <a:tc>
                  <a:txBody>
                    <a:bodyPr/>
                    <a:lstStyle/>
                    <a:p>
                      <a:r>
                        <a:rPr kumimoji="1" lang="ja-JP" altLang="en-US" sz="1400" b="1" dirty="0"/>
                        <a:t>リーダーシップと管理スタイル</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先見性があり，カリスマ的である</a:t>
                      </a:r>
                      <a:endParaRPr lang="en-US" altLang="ja-JP" sz="1400" b="1" dirty="0"/>
                    </a:p>
                  </a:txBody>
                  <a:tcPr/>
                </a:tc>
                <a:extLst>
                  <a:ext uri="{0D108BD9-81ED-4DB2-BD59-A6C34878D82A}">
                    <a16:rowId xmlns:a16="http://schemas.microsoft.com/office/drawing/2014/main" val="2118375086"/>
                  </a:ext>
                </a:extLst>
              </a:tr>
              <a:tr h="332943">
                <a:tc>
                  <a:txBody>
                    <a:bodyPr/>
                    <a:lstStyle/>
                    <a:p>
                      <a:r>
                        <a:rPr kumimoji="1" lang="ja-JP" altLang="en-US" sz="1400" b="1" dirty="0"/>
                        <a:t>問題解決アプローチ</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全体像を見る傾向があり，他者が見逃す可能性のあるパターンや繋がりを容易に特定できる</a:t>
                      </a:r>
                      <a:endParaRPr lang="en-US" altLang="ja-JP" sz="1400" b="1" dirty="0"/>
                    </a:p>
                  </a:txBody>
                  <a:tcPr/>
                </a:tc>
                <a:extLst>
                  <a:ext uri="{0D108BD9-81ED-4DB2-BD59-A6C34878D82A}">
                    <a16:rowId xmlns:a16="http://schemas.microsoft.com/office/drawing/2014/main" val="3511622904"/>
                  </a:ext>
                </a:extLst>
              </a:tr>
              <a:tr h="332943">
                <a:tc>
                  <a:txBody>
                    <a:bodyPr/>
                    <a:lstStyle/>
                    <a:p>
                      <a:r>
                        <a:rPr kumimoji="1" lang="ja-JP" altLang="en-US" sz="1400" b="1" dirty="0"/>
                        <a:t>対人関係</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温かく，思いやりがあり，他者に心から関心を持っている</a:t>
                      </a:r>
                      <a:endParaRPr lang="en-US" altLang="ja-JP" sz="1400" b="1" dirty="0"/>
                    </a:p>
                  </a:txBody>
                  <a:tcPr/>
                </a:tc>
                <a:extLst>
                  <a:ext uri="{0D108BD9-81ED-4DB2-BD59-A6C34878D82A}">
                    <a16:rowId xmlns:a16="http://schemas.microsoft.com/office/drawing/2014/main" val="2054788061"/>
                  </a:ext>
                </a:extLst>
              </a:tr>
              <a:tr h="332943">
                <a:tc>
                  <a:txBody>
                    <a:bodyPr/>
                    <a:lstStyle/>
                    <a:p>
                      <a:r>
                        <a:rPr kumimoji="1" lang="ja-JP" altLang="en-US" sz="1400" b="1" dirty="0"/>
                        <a:t>変化とストレスへの対処</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適応性があり，変化に対してオープンであり，成長と新しい経験の機会と見なす</a:t>
                      </a:r>
                      <a:endParaRPr lang="en-US" altLang="ja-JP" sz="1400" b="1" dirty="0"/>
                    </a:p>
                  </a:txBody>
                  <a:tcPr/>
                </a:tc>
                <a:extLst>
                  <a:ext uri="{0D108BD9-81ED-4DB2-BD59-A6C34878D82A}">
                    <a16:rowId xmlns:a16="http://schemas.microsoft.com/office/drawing/2014/main" val="2990881510"/>
                  </a:ext>
                </a:extLst>
              </a:tr>
              <a:tr h="332943">
                <a:tc>
                  <a:txBody>
                    <a:bodyPr/>
                    <a:lstStyle/>
                    <a:p>
                      <a:r>
                        <a:rPr kumimoji="1" lang="ja-JP" altLang="en-US" sz="1400" b="1" dirty="0"/>
                        <a:t>振る舞いや傾向</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創造性，熱意，協力的な精神をチームやプロジェクトにもたらす</a:t>
                      </a:r>
                    </a:p>
                  </a:txBody>
                  <a:tcPr/>
                </a:tc>
                <a:extLst>
                  <a:ext uri="{0D108BD9-81ED-4DB2-BD59-A6C34878D82A}">
                    <a16:rowId xmlns:a16="http://schemas.microsoft.com/office/drawing/2014/main" val="3463468387"/>
                  </a:ext>
                </a:extLst>
              </a:tr>
            </a:tbl>
          </a:graphicData>
        </a:graphic>
      </p:graphicFrame>
    </p:spTree>
    <p:extLst>
      <p:ext uri="{BB962C8B-B14F-4D97-AF65-F5344CB8AC3E}">
        <p14:creationId xmlns:p14="http://schemas.microsoft.com/office/powerpoint/2010/main" val="25843456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5C10D2D-F029-FE04-DEF4-963F5C763BE0}"/>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F443088A-3D87-4738-16DA-E011DFEB2156}"/>
              </a:ext>
            </a:extLst>
          </p:cNvPr>
          <p:cNvSpPr>
            <a:spLocks noGrp="1"/>
          </p:cNvSpPr>
          <p:nvPr>
            <p:ph type="sldNum" sz="quarter" idx="12"/>
          </p:nvPr>
        </p:nvSpPr>
        <p:spPr/>
        <p:txBody>
          <a:bodyPr>
            <a:noAutofit/>
          </a:bodyPr>
          <a:lstStyle/>
          <a:p>
            <a:fld id="{18020408-E1FF-429E-A8D5-EB2A190A0D77}" type="slidenum">
              <a:rPr kumimoji="1" lang="ja-JP" altLang="en-US" smtClean="0"/>
              <a:t>41</a:t>
            </a:fld>
            <a:endParaRPr kumimoji="1" lang="ja-JP" altLang="en-US"/>
          </a:p>
        </p:txBody>
      </p:sp>
      <p:sp>
        <p:nvSpPr>
          <p:cNvPr id="5" name="タイトル 4">
            <a:extLst>
              <a:ext uri="{FF2B5EF4-FFF2-40B4-BE49-F238E27FC236}">
                <a16:creationId xmlns:a16="http://schemas.microsoft.com/office/drawing/2014/main" id="{05B2340C-4A48-B65B-3409-E896DFB2CF58}"/>
              </a:ext>
            </a:extLst>
          </p:cNvPr>
          <p:cNvSpPr>
            <a:spLocks noGrp="1"/>
          </p:cNvSpPr>
          <p:nvPr>
            <p:ph type="title"/>
          </p:nvPr>
        </p:nvSpPr>
        <p:spPr/>
        <p:txBody>
          <a:bodyPr>
            <a:noAutofit/>
          </a:bodyPr>
          <a:lstStyle/>
          <a:p>
            <a:r>
              <a:rPr lang="ja-JP" altLang="en-US" sz="3600" b="1" dirty="0">
                <a:solidFill>
                  <a:schemeClr val="bg1"/>
                </a:solidFill>
                <a:latin typeface="+mn-ea"/>
                <a:ea typeface="+mn-ea"/>
              </a:rPr>
              <a:t>口調の変換方法</a:t>
            </a:r>
          </a:p>
        </p:txBody>
      </p:sp>
      <p:sp>
        <p:nvSpPr>
          <p:cNvPr id="15" name="テキスト ボックス 14">
            <a:extLst>
              <a:ext uri="{FF2B5EF4-FFF2-40B4-BE49-F238E27FC236}">
                <a16:creationId xmlns:a16="http://schemas.microsoft.com/office/drawing/2014/main" id="{B8B02665-B602-7E3A-C368-B4CC767E4B82}"/>
              </a:ext>
            </a:extLst>
          </p:cNvPr>
          <p:cNvSpPr txBox="1"/>
          <p:nvPr/>
        </p:nvSpPr>
        <p:spPr>
          <a:xfrm>
            <a:off x="164578" y="1220703"/>
            <a:ext cx="8610017" cy="1412769"/>
          </a:xfrm>
          <a:prstGeom prst="rect">
            <a:avLst/>
          </a:prstGeom>
          <a:noFill/>
        </p:spPr>
        <p:txBody>
          <a:bodyPr wrap="square">
            <a:noAutofit/>
          </a:bodyPr>
          <a:lstStyle/>
          <a:p>
            <a:pPr fontAlgn="base">
              <a:lnSpc>
                <a:spcPts val="2400"/>
              </a:lnSpc>
            </a:pPr>
            <a:r>
              <a:rPr lang="ja-JP" altLang="en-US" sz="2000" b="1" dirty="0">
                <a:solidFill>
                  <a:schemeClr val="accent1"/>
                </a:solidFill>
                <a:latin typeface="Meiryo UI" panose="020B0604030504040204" pitchFamily="50" charset="-128"/>
                <a:ea typeface="Yu Gothic" panose="020B0400000000000000" pitchFamily="50" charset="-128"/>
              </a:rPr>
              <a:t>口調変換プロンプト</a:t>
            </a:r>
            <a:endParaRPr lang="en-US" altLang="ja-JP" b="0" i="0" dirty="0">
              <a:solidFill>
                <a:srgbClr val="000000"/>
              </a:solidFill>
              <a:effectLst/>
              <a:latin typeface="Meiryo UI" panose="020B0604030504040204" pitchFamily="50" charset="-128"/>
              <a:ea typeface="Meiryo UI" panose="020B0604030504040204" pitchFamily="50" charset="-128"/>
            </a:endParaRPr>
          </a:p>
          <a:p>
            <a:r>
              <a:rPr lang="en-US" altLang="ja-JP" sz="1800" b="1" i="0" dirty="0">
                <a:solidFill>
                  <a:srgbClr val="000000"/>
                </a:solidFill>
                <a:effectLst/>
                <a:latin typeface="+mn-ea"/>
              </a:rPr>
              <a:t>​</a:t>
            </a:r>
            <a:r>
              <a:rPr lang="ja-JP" altLang="en-US" sz="1800" b="1" i="0" dirty="0">
                <a:solidFill>
                  <a:srgbClr val="000000"/>
                </a:solidFill>
                <a:effectLst/>
                <a:latin typeface="+mn-ea"/>
              </a:rPr>
              <a:t>「</a:t>
            </a:r>
            <a:r>
              <a:rPr lang="ja-JP" altLang="ja-JP" b="1" dirty="0">
                <a:latin typeface="+mn-ea"/>
              </a:rPr>
              <a:t>今から文章が提示されます．文章をあなたなりの言い方に変更してください．求められていないことは書かないでください．</a:t>
            </a:r>
          </a:p>
          <a:p>
            <a:r>
              <a:rPr lang="ja-JP" altLang="ja-JP" b="1" dirty="0">
                <a:latin typeface="+mn-ea"/>
              </a:rPr>
              <a:t>文章：</a:t>
            </a:r>
            <a:r>
              <a:rPr lang="en-US" altLang="ja-JP" b="1" dirty="0">
                <a:latin typeface="+mn-ea"/>
              </a:rPr>
              <a:t>[</a:t>
            </a:r>
            <a:r>
              <a:rPr lang="ja-JP" altLang="en-US" b="1" dirty="0">
                <a:latin typeface="+mn-ea"/>
              </a:rPr>
              <a:t>変換前の文章</a:t>
            </a:r>
            <a:r>
              <a:rPr lang="en-US" altLang="ja-JP" b="1" dirty="0">
                <a:latin typeface="+mn-ea"/>
              </a:rPr>
              <a:t>]</a:t>
            </a:r>
            <a:r>
              <a:rPr lang="ja-JP" altLang="en-US" sz="1800" b="1" i="0" dirty="0">
                <a:solidFill>
                  <a:srgbClr val="000000"/>
                </a:solidFill>
                <a:effectLst/>
                <a:latin typeface="+mn-ea"/>
              </a:rPr>
              <a:t>」</a:t>
            </a:r>
            <a:endParaRPr lang="en-US" altLang="ja-JP" b="1" i="0" dirty="0">
              <a:solidFill>
                <a:srgbClr val="000000"/>
              </a:solidFill>
              <a:effectLst/>
              <a:latin typeface="+mn-ea"/>
            </a:endParaRPr>
          </a:p>
        </p:txBody>
      </p:sp>
      <p:sp>
        <p:nvSpPr>
          <p:cNvPr id="10" name="テキスト ボックス 9">
            <a:extLst>
              <a:ext uri="{FF2B5EF4-FFF2-40B4-BE49-F238E27FC236}">
                <a16:creationId xmlns:a16="http://schemas.microsoft.com/office/drawing/2014/main" id="{706A88A5-CD9A-3E03-7A34-0F7B07E44556}"/>
              </a:ext>
            </a:extLst>
          </p:cNvPr>
          <p:cNvSpPr txBox="1"/>
          <p:nvPr/>
        </p:nvSpPr>
        <p:spPr>
          <a:xfrm>
            <a:off x="164578" y="2509929"/>
            <a:ext cx="2121422" cy="400110"/>
          </a:xfrm>
          <a:prstGeom prst="rect">
            <a:avLst/>
          </a:prstGeom>
          <a:noFill/>
        </p:spPr>
        <p:txBody>
          <a:bodyPr wrap="square">
            <a:noAutofit/>
          </a:bodyPr>
          <a:lstStyle/>
          <a:p>
            <a:pPr fontAlgn="base">
              <a:lnSpc>
                <a:spcPts val="2400"/>
              </a:lnSpc>
            </a:pPr>
            <a:r>
              <a:rPr lang="ja-JP" altLang="en-US" sz="2000" b="1" i="0" dirty="0">
                <a:solidFill>
                  <a:schemeClr val="accent1"/>
                </a:solidFill>
                <a:effectLst/>
                <a:latin typeface="Meiryo UI" panose="020B0604030504040204" pitchFamily="50" charset="-128"/>
                <a:ea typeface="Yu Gothic" panose="020B0400000000000000" pitchFamily="50" charset="-128"/>
              </a:rPr>
              <a:t>出力結果</a:t>
            </a:r>
            <a:r>
              <a:rPr lang="ja-JP" altLang="en-US" sz="2000" b="1" dirty="0">
                <a:solidFill>
                  <a:schemeClr val="accent1"/>
                </a:solidFill>
                <a:latin typeface="Meiryo UI" panose="020B0604030504040204" pitchFamily="50" charset="-128"/>
                <a:ea typeface="Yu Gothic" panose="020B0400000000000000" pitchFamily="50" charset="-128"/>
              </a:rPr>
              <a:t>の一例</a:t>
            </a:r>
            <a:endParaRPr lang="en-US" altLang="ja-JP" sz="2000" b="0" i="0" dirty="0">
              <a:solidFill>
                <a:srgbClr val="000000"/>
              </a:solidFill>
              <a:effectLst/>
              <a:latin typeface="Meiryo UI" panose="020B0604030504040204" pitchFamily="50" charset="-128"/>
              <a:ea typeface="Meiryo UI" panose="020B0604030504040204" pitchFamily="50" charset="-128"/>
            </a:endParaRPr>
          </a:p>
        </p:txBody>
      </p:sp>
      <p:graphicFrame>
        <p:nvGraphicFramePr>
          <p:cNvPr id="38" name="表 37">
            <a:extLst>
              <a:ext uri="{FF2B5EF4-FFF2-40B4-BE49-F238E27FC236}">
                <a16:creationId xmlns:a16="http://schemas.microsoft.com/office/drawing/2014/main" id="{ED1D7D5E-C913-42E9-7C01-D963278F569D}"/>
              </a:ext>
            </a:extLst>
          </p:cNvPr>
          <p:cNvGraphicFramePr>
            <a:graphicFrameLocks noGrp="1"/>
          </p:cNvGraphicFramePr>
          <p:nvPr/>
        </p:nvGraphicFramePr>
        <p:xfrm>
          <a:off x="3279714" y="2980494"/>
          <a:ext cx="5612826" cy="3619574"/>
        </p:xfrm>
        <a:graphic>
          <a:graphicData uri="http://schemas.openxmlformats.org/drawingml/2006/table">
            <a:tbl>
              <a:tblPr firstRow="1" bandRow="1">
                <a:tableStyleId>{5940675A-B579-460E-94D1-54222C63F5DA}</a:tableStyleId>
              </a:tblPr>
              <a:tblGrid>
                <a:gridCol w="2038436">
                  <a:extLst>
                    <a:ext uri="{9D8B030D-6E8A-4147-A177-3AD203B41FA5}">
                      <a16:colId xmlns:a16="http://schemas.microsoft.com/office/drawing/2014/main" val="468418724"/>
                    </a:ext>
                  </a:extLst>
                </a:gridCol>
                <a:gridCol w="3574390">
                  <a:extLst>
                    <a:ext uri="{9D8B030D-6E8A-4147-A177-3AD203B41FA5}">
                      <a16:colId xmlns:a16="http://schemas.microsoft.com/office/drawing/2014/main" val="62053925"/>
                    </a:ext>
                  </a:extLst>
                </a:gridCol>
              </a:tblGrid>
              <a:tr h="424632">
                <a:tc>
                  <a:txBody>
                    <a:bodyPr/>
                    <a:lstStyle/>
                    <a:p>
                      <a:endParaRPr kumimoji="1" lang="ja-JP" altLang="en-US" dirty="0"/>
                    </a:p>
                  </a:txBody>
                  <a:tcPr/>
                </a:tc>
                <a:tc>
                  <a:txBody>
                    <a:bodyPr/>
                    <a:lstStyle/>
                    <a:p>
                      <a:r>
                        <a:rPr kumimoji="1" lang="ja-JP" altLang="en-US" b="1" dirty="0"/>
                        <a:t>変換結果</a:t>
                      </a:r>
                    </a:p>
                  </a:txBody>
                  <a:tcPr/>
                </a:tc>
                <a:extLst>
                  <a:ext uri="{0D108BD9-81ED-4DB2-BD59-A6C34878D82A}">
                    <a16:rowId xmlns:a16="http://schemas.microsoft.com/office/drawing/2014/main" val="978777052"/>
                  </a:ext>
                </a:extLst>
              </a:tr>
              <a:tr h="1430221">
                <a:tc>
                  <a:txBody>
                    <a:bodyPr/>
                    <a:lstStyle/>
                    <a:p>
                      <a:r>
                        <a:rPr kumimoji="1" lang="en-US" altLang="ja-JP" b="1" dirty="0">
                          <a:latin typeface="+mn-ea"/>
                          <a:ea typeface="+mn-ea"/>
                        </a:rPr>
                        <a:t>ISTJ</a:t>
                      </a:r>
                      <a:endParaRPr kumimoji="1" lang="ja-JP" altLang="en-US" b="1" dirty="0">
                        <a:latin typeface="+mn-ea"/>
                        <a:ea typeface="+mn-ea"/>
                      </a:endParaRPr>
                    </a:p>
                  </a:txBody>
                  <a:tcPr/>
                </a:tc>
                <a:tc>
                  <a:txBody>
                    <a:bodyPr/>
                    <a:lstStyle/>
                    <a:p>
                      <a:pPr marL="342900" marR="0" lvl="0" indent="-250825"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ja-JP" sz="1600" b="1" kern="1200" dirty="0">
                          <a:solidFill>
                            <a:schemeClr val="tx1"/>
                          </a:solidFill>
                          <a:effectLst/>
                          <a:latin typeface="+mn-ea"/>
                          <a:ea typeface="+mn-ea"/>
                          <a:cs typeface="+mn-cs"/>
                        </a:rPr>
                        <a:t>了解しました。ポーカーを</a:t>
                      </a:r>
                      <a:r>
                        <a:rPr kumimoji="1" lang="ja-JP" altLang="ja-JP" sz="1600" b="1" kern="1200" dirty="0">
                          <a:solidFill>
                            <a:schemeClr val="accent2"/>
                          </a:solidFill>
                          <a:effectLst/>
                          <a:latin typeface="+mn-ea"/>
                          <a:ea typeface="+mn-ea"/>
                          <a:cs typeface="+mn-cs"/>
                        </a:rPr>
                        <a:t>している</a:t>
                      </a:r>
                      <a:r>
                        <a:rPr kumimoji="1" lang="ja-JP" altLang="ja-JP" sz="1600" b="1" kern="1200" dirty="0">
                          <a:solidFill>
                            <a:schemeClr val="tx1"/>
                          </a:solidFill>
                          <a:effectLst/>
                          <a:latin typeface="+mn-ea"/>
                          <a:ea typeface="+mn-ea"/>
                          <a:cs typeface="+mn-cs"/>
                        </a:rPr>
                        <a:t>画像を生成します。</a:t>
                      </a:r>
                      <a:endParaRPr kumimoji="1" lang="en-US" altLang="ja-JP" sz="1600" b="1" kern="1200" dirty="0">
                        <a:solidFill>
                          <a:schemeClr val="tx1"/>
                        </a:solidFill>
                        <a:effectLst/>
                        <a:latin typeface="+mn-ea"/>
                        <a:ea typeface="+mn-ea"/>
                        <a:cs typeface="+mn-cs"/>
                      </a:endParaRPr>
                    </a:p>
                    <a:p>
                      <a:pPr marL="342900" marR="0" lvl="0" indent="-250825" algn="l" defTabSz="914400" rtl="0" eaLnBrk="1" fontAlgn="auto" latinLnBrk="0" hangingPunct="1">
                        <a:lnSpc>
                          <a:spcPct val="100000"/>
                        </a:lnSpc>
                        <a:spcBef>
                          <a:spcPts val="0"/>
                        </a:spcBef>
                        <a:spcAft>
                          <a:spcPts val="0"/>
                        </a:spcAft>
                        <a:buClrTx/>
                        <a:buSzTx/>
                        <a:buFont typeface="+mj-lt"/>
                        <a:buAutoNum type="arabicPeriod"/>
                        <a:tabLst/>
                        <a:defRPr/>
                      </a:pPr>
                      <a:endParaRPr kumimoji="1" lang="en-US" altLang="ja-JP" sz="1600" b="1" kern="1200" dirty="0">
                        <a:solidFill>
                          <a:schemeClr val="tx1"/>
                        </a:solidFill>
                        <a:effectLst/>
                        <a:latin typeface="+mn-ea"/>
                        <a:ea typeface="+mn-ea"/>
                        <a:cs typeface="+mn-cs"/>
                      </a:endParaRPr>
                    </a:p>
                    <a:p>
                      <a:pPr marL="342900" marR="0" lvl="0" indent="-250825" algn="l" defTabSz="914400" rtl="0" eaLnBrk="1" fontAlgn="auto" latinLnBrk="0" hangingPunct="1">
                        <a:lnSpc>
                          <a:spcPct val="100000"/>
                        </a:lnSpc>
                        <a:spcBef>
                          <a:spcPts val="0"/>
                        </a:spcBef>
                        <a:spcAft>
                          <a:spcPts val="0"/>
                        </a:spcAft>
                        <a:buClr>
                          <a:schemeClr val="tx1"/>
                        </a:buClr>
                        <a:buSzTx/>
                        <a:buFont typeface="+mj-lt"/>
                        <a:buAutoNum type="arabicPeriod"/>
                        <a:tabLst/>
                        <a:defRPr/>
                      </a:pPr>
                      <a:r>
                        <a:rPr kumimoji="1" lang="ja-JP" altLang="ja-JP" sz="1600" b="1" kern="1200" dirty="0">
                          <a:solidFill>
                            <a:schemeClr val="accent2"/>
                          </a:solidFill>
                          <a:effectLst/>
                          <a:latin typeface="+mn-ea"/>
                          <a:ea typeface="+mn-ea"/>
                          <a:cs typeface="+mn-cs"/>
                        </a:rPr>
                        <a:t>失礼しました</a:t>
                      </a:r>
                      <a:r>
                        <a:rPr kumimoji="1" lang="ja-JP" altLang="ja-JP" sz="1600" b="1" kern="1200" dirty="0">
                          <a:solidFill>
                            <a:schemeClr val="tx1"/>
                          </a:solidFill>
                          <a:effectLst/>
                          <a:latin typeface="+mn-ea"/>
                          <a:ea typeface="+mn-ea"/>
                          <a:cs typeface="+mn-cs"/>
                        </a:rPr>
                        <a:t>。</a:t>
                      </a:r>
                      <a:r>
                        <a:rPr kumimoji="1" lang="ja-JP" altLang="ja-JP" sz="1600" b="1" kern="1200" dirty="0">
                          <a:solidFill>
                            <a:schemeClr val="accent2"/>
                          </a:solidFill>
                          <a:effectLst/>
                          <a:latin typeface="+mn-ea"/>
                          <a:ea typeface="+mn-ea"/>
                          <a:cs typeface="+mn-cs"/>
                        </a:rPr>
                        <a:t>中央</a:t>
                      </a:r>
                      <a:r>
                        <a:rPr kumimoji="1" lang="ja-JP" altLang="ja-JP" sz="1600" b="1" kern="1200" dirty="0">
                          <a:solidFill>
                            <a:schemeClr val="tx1"/>
                          </a:solidFill>
                          <a:effectLst/>
                          <a:latin typeface="+mn-ea"/>
                          <a:ea typeface="+mn-ea"/>
                          <a:cs typeface="+mn-cs"/>
                        </a:rPr>
                        <a:t>のプレイヤーの手札が</a:t>
                      </a:r>
                      <a:r>
                        <a:rPr kumimoji="1" lang="en-US" altLang="ja-JP" sz="1600" b="1" kern="1200" dirty="0">
                          <a:solidFill>
                            <a:schemeClr val="tx1"/>
                          </a:solidFill>
                          <a:effectLst/>
                          <a:latin typeface="+mn-ea"/>
                          <a:ea typeface="+mn-ea"/>
                          <a:cs typeface="+mn-cs"/>
                        </a:rPr>
                        <a:t>2</a:t>
                      </a:r>
                      <a:r>
                        <a:rPr kumimoji="1" lang="ja-JP" altLang="ja-JP" sz="1600" b="1" kern="1200" dirty="0">
                          <a:solidFill>
                            <a:schemeClr val="tx1"/>
                          </a:solidFill>
                          <a:effectLst/>
                          <a:latin typeface="+mn-ea"/>
                          <a:ea typeface="+mn-ea"/>
                          <a:cs typeface="+mn-cs"/>
                        </a:rPr>
                        <a:t>枚になるように修正します。</a:t>
                      </a:r>
                    </a:p>
                  </a:txBody>
                  <a:tcPr/>
                </a:tc>
                <a:extLst>
                  <a:ext uri="{0D108BD9-81ED-4DB2-BD59-A6C34878D82A}">
                    <a16:rowId xmlns:a16="http://schemas.microsoft.com/office/drawing/2014/main" val="883533068"/>
                  </a:ext>
                </a:extLst>
              </a:tr>
              <a:tr h="1640462">
                <a:tc>
                  <a:txBody>
                    <a:bodyPr/>
                    <a:lstStyle/>
                    <a:p>
                      <a:r>
                        <a:rPr kumimoji="1" lang="en-US" altLang="ja-JP" b="1" dirty="0">
                          <a:latin typeface="+mn-ea"/>
                          <a:ea typeface="+mn-ea"/>
                        </a:rPr>
                        <a:t>ENFP</a:t>
                      </a:r>
                      <a:endParaRPr kumimoji="1" lang="ja-JP" altLang="en-US" b="1" dirty="0">
                        <a:latin typeface="+mn-ea"/>
                        <a:ea typeface="+mn-ea"/>
                      </a:endParaRPr>
                    </a:p>
                  </a:txBody>
                  <a:tcPr/>
                </a:tc>
                <a:tc>
                  <a:txBody>
                    <a:bodyPr/>
                    <a:lstStyle/>
                    <a:p>
                      <a:pPr marL="342900" marR="0" lvl="0" indent="-250825" algn="l" defTabSz="914400" rtl="0" eaLnBrk="1" fontAlgn="auto" latinLnBrk="0" hangingPunct="1">
                        <a:lnSpc>
                          <a:spcPct val="100000"/>
                        </a:lnSpc>
                        <a:spcBef>
                          <a:spcPts val="0"/>
                        </a:spcBef>
                        <a:spcAft>
                          <a:spcPts val="0"/>
                        </a:spcAft>
                        <a:buClr>
                          <a:schemeClr val="tx1"/>
                        </a:buClr>
                        <a:buSzTx/>
                        <a:buFont typeface="+mj-lt"/>
                        <a:buAutoNum type="arabicPeriod"/>
                        <a:tabLst/>
                        <a:defRPr/>
                      </a:pPr>
                      <a:r>
                        <a:rPr kumimoji="1" lang="ja-JP" altLang="ja-JP" sz="1600" b="1" kern="1200" dirty="0">
                          <a:solidFill>
                            <a:schemeClr val="tx1"/>
                          </a:solidFill>
                          <a:effectLst/>
                          <a:latin typeface="+mn-ea"/>
                          <a:ea typeface="+mn-ea"/>
                          <a:cs typeface="+mn-cs"/>
                        </a:rPr>
                        <a:t>了解</a:t>
                      </a:r>
                      <a:r>
                        <a:rPr kumimoji="1" lang="ja-JP" altLang="ja-JP" sz="1600" b="1" kern="1200" dirty="0">
                          <a:solidFill>
                            <a:srgbClr val="FF0000"/>
                          </a:solidFill>
                          <a:effectLst/>
                          <a:latin typeface="+mn-ea"/>
                          <a:ea typeface="+mn-ea"/>
                          <a:cs typeface="+mn-cs"/>
                        </a:rPr>
                        <a:t>だよ！</a:t>
                      </a:r>
                      <a:r>
                        <a:rPr kumimoji="1" lang="ja-JP" altLang="ja-JP" sz="1600" b="1" kern="1200" dirty="0">
                          <a:solidFill>
                            <a:schemeClr val="tx1"/>
                          </a:solidFill>
                          <a:effectLst/>
                          <a:latin typeface="+mn-ea"/>
                          <a:ea typeface="+mn-ea"/>
                          <a:cs typeface="+mn-cs"/>
                        </a:rPr>
                        <a:t>ポーカー</a:t>
                      </a:r>
                      <a:r>
                        <a:rPr kumimoji="1" lang="ja-JP" altLang="ja-JP" sz="1600" b="1" kern="1200" dirty="0">
                          <a:solidFill>
                            <a:srgbClr val="FF0000"/>
                          </a:solidFill>
                          <a:effectLst/>
                          <a:latin typeface="+mn-ea"/>
                          <a:ea typeface="+mn-ea"/>
                          <a:cs typeface="+mn-cs"/>
                        </a:rPr>
                        <a:t>してる</a:t>
                      </a:r>
                      <a:r>
                        <a:rPr kumimoji="1" lang="ja-JP" altLang="ja-JP" sz="1600" b="1" kern="1200" dirty="0">
                          <a:solidFill>
                            <a:schemeClr val="tx1"/>
                          </a:solidFill>
                          <a:effectLst/>
                          <a:latin typeface="+mn-ea"/>
                          <a:ea typeface="+mn-ea"/>
                          <a:cs typeface="+mn-cs"/>
                        </a:rPr>
                        <a:t>画像、</a:t>
                      </a:r>
                      <a:r>
                        <a:rPr kumimoji="1" lang="ja-JP" altLang="ja-JP" sz="1600" b="1" kern="1200" dirty="0">
                          <a:solidFill>
                            <a:srgbClr val="FF0000"/>
                          </a:solidFill>
                          <a:effectLst/>
                          <a:latin typeface="+mn-ea"/>
                          <a:ea typeface="+mn-ea"/>
                          <a:cs typeface="+mn-cs"/>
                        </a:rPr>
                        <a:t>つくってみるね。</a:t>
                      </a:r>
                      <a:endParaRPr kumimoji="1" lang="en-US" altLang="ja-JP" sz="1600" b="1" kern="1200" dirty="0">
                        <a:solidFill>
                          <a:srgbClr val="FF0000"/>
                        </a:solidFill>
                        <a:effectLst/>
                        <a:latin typeface="+mn-ea"/>
                        <a:ea typeface="+mn-ea"/>
                        <a:cs typeface="+mn-cs"/>
                      </a:endParaRPr>
                    </a:p>
                    <a:p>
                      <a:pPr marL="342900" marR="0" lvl="0" indent="-250825" algn="l" defTabSz="914400" rtl="0" eaLnBrk="1" fontAlgn="auto" latinLnBrk="0" hangingPunct="1">
                        <a:lnSpc>
                          <a:spcPct val="100000"/>
                        </a:lnSpc>
                        <a:spcBef>
                          <a:spcPts val="0"/>
                        </a:spcBef>
                        <a:spcAft>
                          <a:spcPts val="0"/>
                        </a:spcAft>
                        <a:buClr>
                          <a:schemeClr val="tx1"/>
                        </a:buClr>
                        <a:buSzTx/>
                        <a:buFont typeface="+mj-lt"/>
                        <a:buAutoNum type="arabicPeriod"/>
                        <a:tabLst/>
                        <a:defRPr/>
                      </a:pPr>
                      <a:endParaRPr kumimoji="1" lang="en-US" altLang="ja-JP" sz="1600" b="1" kern="1200" dirty="0">
                        <a:solidFill>
                          <a:srgbClr val="FF0000"/>
                        </a:solidFill>
                        <a:effectLst/>
                        <a:latin typeface="+mn-ea"/>
                        <a:ea typeface="+mn-ea"/>
                        <a:cs typeface="+mn-cs"/>
                      </a:endParaRPr>
                    </a:p>
                    <a:p>
                      <a:pPr marL="342900" marR="0" lvl="0" indent="-250825" algn="l" defTabSz="914400" rtl="0" eaLnBrk="1" fontAlgn="auto" latinLnBrk="0" hangingPunct="1">
                        <a:lnSpc>
                          <a:spcPct val="100000"/>
                        </a:lnSpc>
                        <a:spcBef>
                          <a:spcPts val="0"/>
                        </a:spcBef>
                        <a:spcAft>
                          <a:spcPts val="0"/>
                        </a:spcAft>
                        <a:buClr>
                          <a:schemeClr val="tx1"/>
                        </a:buClr>
                        <a:buSzTx/>
                        <a:buFont typeface="+mj-lt"/>
                        <a:buAutoNum type="arabicPeriod"/>
                        <a:tabLst/>
                        <a:defRPr/>
                      </a:pPr>
                      <a:r>
                        <a:rPr kumimoji="1" lang="ja-JP" altLang="ja-JP" sz="1600" b="1" kern="1200" dirty="0">
                          <a:solidFill>
                            <a:srgbClr val="FF0000"/>
                          </a:solidFill>
                          <a:effectLst/>
                          <a:latin typeface="+mn-ea"/>
                          <a:ea typeface="+mn-ea"/>
                          <a:cs typeface="+mn-cs"/>
                        </a:rPr>
                        <a:t>ごめんね！</a:t>
                      </a:r>
                      <a:r>
                        <a:rPr kumimoji="1" lang="ja-JP" altLang="ja-JP" sz="1600" b="1" kern="1200" dirty="0">
                          <a:solidFill>
                            <a:schemeClr val="tx1"/>
                          </a:solidFill>
                          <a:effectLst/>
                          <a:latin typeface="+mn-ea"/>
                          <a:ea typeface="+mn-ea"/>
                          <a:cs typeface="+mn-cs"/>
                        </a:rPr>
                        <a:t>真ん中のプレイヤーの手札が</a:t>
                      </a:r>
                      <a:r>
                        <a:rPr kumimoji="1" lang="ja-JP" altLang="ja-JP" sz="1600" b="1" kern="1200" dirty="0">
                          <a:solidFill>
                            <a:srgbClr val="FF0000"/>
                          </a:solidFill>
                          <a:effectLst/>
                          <a:latin typeface="+mn-ea"/>
                          <a:ea typeface="+mn-ea"/>
                          <a:cs typeface="+mn-cs"/>
                        </a:rPr>
                        <a:t>ちゃんと</a:t>
                      </a:r>
                      <a:r>
                        <a:rPr kumimoji="1" lang="en-US" altLang="ja-JP" sz="1600" b="1" kern="1200" dirty="0">
                          <a:solidFill>
                            <a:schemeClr val="tx1"/>
                          </a:solidFill>
                          <a:effectLst/>
                          <a:latin typeface="+mn-ea"/>
                          <a:ea typeface="+mn-ea"/>
                          <a:cs typeface="+mn-cs"/>
                        </a:rPr>
                        <a:t>2</a:t>
                      </a:r>
                      <a:r>
                        <a:rPr kumimoji="1" lang="ja-JP" altLang="ja-JP" sz="1600" b="1" kern="1200" dirty="0">
                          <a:solidFill>
                            <a:schemeClr val="tx1"/>
                          </a:solidFill>
                          <a:effectLst/>
                          <a:latin typeface="+mn-ea"/>
                          <a:ea typeface="+mn-ea"/>
                          <a:cs typeface="+mn-cs"/>
                        </a:rPr>
                        <a:t>枚になるように</a:t>
                      </a:r>
                      <a:r>
                        <a:rPr kumimoji="1" lang="ja-JP" altLang="ja-JP" sz="1600" b="1" kern="1200" dirty="0">
                          <a:solidFill>
                            <a:srgbClr val="FF0000"/>
                          </a:solidFill>
                          <a:effectLst/>
                          <a:latin typeface="+mn-ea"/>
                          <a:ea typeface="+mn-ea"/>
                          <a:cs typeface="+mn-cs"/>
                        </a:rPr>
                        <a:t>直してみるね</a:t>
                      </a:r>
                      <a:r>
                        <a:rPr kumimoji="1" lang="ja-JP" altLang="en-US" sz="1600" kern="1200" dirty="0">
                          <a:solidFill>
                            <a:srgbClr val="FF0000"/>
                          </a:solidFill>
                          <a:effectLst/>
                          <a:latin typeface="+mn-ea"/>
                          <a:ea typeface="+mn-ea"/>
                          <a:cs typeface="+mn-cs"/>
                        </a:rPr>
                        <a:t>。</a:t>
                      </a:r>
                      <a:endParaRPr kumimoji="1" lang="ja-JP" altLang="ja-JP" sz="1600" b="1" kern="1200" dirty="0">
                        <a:solidFill>
                          <a:srgbClr val="FF0000"/>
                        </a:solidFill>
                        <a:effectLst/>
                        <a:latin typeface="+mn-ea"/>
                        <a:ea typeface="+mn-ea"/>
                        <a:cs typeface="+mn-cs"/>
                      </a:endParaRPr>
                    </a:p>
                  </a:txBody>
                  <a:tcPr/>
                </a:tc>
                <a:extLst>
                  <a:ext uri="{0D108BD9-81ED-4DB2-BD59-A6C34878D82A}">
                    <a16:rowId xmlns:a16="http://schemas.microsoft.com/office/drawing/2014/main" val="949451827"/>
                  </a:ext>
                </a:extLst>
              </a:tr>
            </a:tbl>
          </a:graphicData>
        </a:graphic>
      </p:graphicFrame>
      <p:grpSp>
        <p:nvGrpSpPr>
          <p:cNvPr id="4" name="グループ化 3">
            <a:extLst>
              <a:ext uri="{FF2B5EF4-FFF2-40B4-BE49-F238E27FC236}">
                <a16:creationId xmlns:a16="http://schemas.microsoft.com/office/drawing/2014/main" id="{AD44B743-50CD-D10A-DC32-537BE2F33EBF}"/>
              </a:ext>
            </a:extLst>
          </p:cNvPr>
          <p:cNvGrpSpPr/>
          <p:nvPr/>
        </p:nvGrpSpPr>
        <p:grpSpPr>
          <a:xfrm>
            <a:off x="3393710" y="3828640"/>
            <a:ext cx="1781948" cy="952877"/>
            <a:chOff x="445978" y="3354519"/>
            <a:chExt cx="1781948" cy="952877"/>
          </a:xfrm>
        </p:grpSpPr>
        <p:pic>
          <p:nvPicPr>
            <p:cNvPr id="39" name="図 38">
              <a:extLst>
                <a:ext uri="{FF2B5EF4-FFF2-40B4-BE49-F238E27FC236}">
                  <a16:creationId xmlns:a16="http://schemas.microsoft.com/office/drawing/2014/main" id="{D57DEBBF-1E2F-80CA-DD52-75BD4D94A57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69456" y="3354519"/>
              <a:ext cx="1158470" cy="952877"/>
            </a:xfrm>
            <a:prstGeom prst="rect">
              <a:avLst/>
            </a:prstGeom>
          </p:spPr>
        </p:pic>
        <p:pic>
          <p:nvPicPr>
            <p:cNvPr id="2" name="Picture 2" descr="アイコン&#10;&#10;自動的に生成された説明">
              <a:extLst>
                <a:ext uri="{FF2B5EF4-FFF2-40B4-BE49-F238E27FC236}">
                  <a16:creationId xmlns:a16="http://schemas.microsoft.com/office/drawing/2014/main" id="{25A708A4-0D11-7C27-8106-90185A18EA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978" y="3789562"/>
              <a:ext cx="490761" cy="49076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 name="グループ化 5">
            <a:extLst>
              <a:ext uri="{FF2B5EF4-FFF2-40B4-BE49-F238E27FC236}">
                <a16:creationId xmlns:a16="http://schemas.microsoft.com/office/drawing/2014/main" id="{C36F669A-D01F-E0BC-9061-28B99A07E527}"/>
              </a:ext>
            </a:extLst>
          </p:cNvPr>
          <p:cNvGrpSpPr/>
          <p:nvPr/>
        </p:nvGrpSpPr>
        <p:grpSpPr>
          <a:xfrm>
            <a:off x="3393710" y="5327606"/>
            <a:ext cx="1693216" cy="952877"/>
            <a:chOff x="445979" y="4583963"/>
            <a:chExt cx="1693216" cy="952877"/>
          </a:xfrm>
        </p:grpSpPr>
        <p:pic>
          <p:nvPicPr>
            <p:cNvPr id="40" name="図 39">
              <a:extLst>
                <a:ext uri="{FF2B5EF4-FFF2-40B4-BE49-F238E27FC236}">
                  <a16:creationId xmlns:a16="http://schemas.microsoft.com/office/drawing/2014/main" id="{41FDEDF0-53E8-D92F-E5AC-B690ACDB99D0}"/>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1069456" y="4583963"/>
              <a:ext cx="1069739" cy="952877"/>
            </a:xfrm>
            <a:prstGeom prst="rect">
              <a:avLst/>
            </a:prstGeom>
          </p:spPr>
        </p:pic>
        <p:pic>
          <p:nvPicPr>
            <p:cNvPr id="3" name="Picture 2" descr="アイコン&#10;&#10;自動的に生成された説明">
              <a:extLst>
                <a:ext uri="{FF2B5EF4-FFF2-40B4-BE49-F238E27FC236}">
                  <a16:creationId xmlns:a16="http://schemas.microsoft.com/office/drawing/2014/main" id="{9F9A35EA-9D43-0153-ADFA-6F5BF09099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979" y="5046079"/>
              <a:ext cx="490761" cy="490761"/>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テキスト ボックス 7">
            <a:extLst>
              <a:ext uri="{FF2B5EF4-FFF2-40B4-BE49-F238E27FC236}">
                <a16:creationId xmlns:a16="http://schemas.microsoft.com/office/drawing/2014/main" id="{8CA7845C-BE58-7FEB-82E2-AD855F4E9C6D}"/>
              </a:ext>
            </a:extLst>
          </p:cNvPr>
          <p:cNvSpPr txBox="1"/>
          <p:nvPr/>
        </p:nvSpPr>
        <p:spPr>
          <a:xfrm>
            <a:off x="164578" y="2980494"/>
            <a:ext cx="2982419" cy="2893100"/>
          </a:xfrm>
          <a:prstGeom prst="rect">
            <a:avLst/>
          </a:prstGeom>
          <a:noFill/>
        </p:spPr>
        <p:txBody>
          <a:bodyPr wrap="square">
            <a:spAutoFit/>
          </a:bodyPr>
          <a:lstStyle/>
          <a:p>
            <a:r>
              <a:rPr kumimoji="1" lang="ja-JP" altLang="en-US" sz="1800" b="1" kern="1200" dirty="0">
                <a:solidFill>
                  <a:schemeClr val="tx1"/>
                </a:solidFill>
                <a:effectLst/>
                <a:latin typeface="+mn-ea"/>
                <a:ea typeface="+mn-ea"/>
                <a:cs typeface="+mn-cs"/>
              </a:rPr>
              <a:t>変換前の文章</a:t>
            </a:r>
            <a:endParaRPr kumimoji="1" lang="en-US" altLang="ja-JP" sz="1800" b="1" kern="1200" dirty="0">
              <a:solidFill>
                <a:schemeClr val="tx1"/>
              </a:solidFill>
              <a:effectLst/>
              <a:latin typeface="+mn-ea"/>
              <a:ea typeface="+mn-ea"/>
              <a:cs typeface="+mn-cs"/>
            </a:endParaRPr>
          </a:p>
          <a:p>
            <a:endParaRPr kumimoji="1" lang="en-US" altLang="ja-JP" sz="1800" b="1" kern="1200" dirty="0">
              <a:solidFill>
                <a:schemeClr val="tx1"/>
              </a:solidFill>
              <a:effectLst/>
              <a:latin typeface="+mn-ea"/>
              <a:ea typeface="+mn-ea"/>
              <a:cs typeface="+mn-cs"/>
            </a:endParaRPr>
          </a:p>
          <a:p>
            <a:pPr marL="342900" indent="-250825">
              <a:buFont typeface="+mj-lt"/>
              <a:buAutoNum type="arabicPeriod"/>
            </a:pPr>
            <a:r>
              <a:rPr kumimoji="1" lang="ja-JP" altLang="en-US" sz="1800" b="1" kern="1200" dirty="0">
                <a:solidFill>
                  <a:schemeClr val="tx1"/>
                </a:solidFill>
                <a:effectLst/>
                <a:latin typeface="+mn-ea"/>
                <a:ea typeface="+mn-ea"/>
                <a:cs typeface="+mn-cs"/>
              </a:rPr>
              <a:t>承知いたしました。ポーカーをプレイしている画像を作成します</a:t>
            </a:r>
            <a:endParaRPr kumimoji="1" lang="en-US" altLang="ja-JP" sz="1800" b="1" kern="1200" dirty="0">
              <a:solidFill>
                <a:schemeClr val="tx1"/>
              </a:solidFill>
              <a:effectLst/>
              <a:latin typeface="+mn-ea"/>
              <a:ea typeface="+mn-ea"/>
              <a:cs typeface="+mn-cs"/>
            </a:endParaRPr>
          </a:p>
          <a:p>
            <a:pPr marL="342900" indent="-250825">
              <a:buFont typeface="+mj-lt"/>
              <a:buAutoNum type="arabicPeriod"/>
            </a:pPr>
            <a:endParaRPr kumimoji="1" lang="ja-JP" altLang="en-US" sz="2000" b="1" kern="1200" dirty="0">
              <a:solidFill>
                <a:schemeClr val="tx1"/>
              </a:solidFill>
              <a:effectLst/>
              <a:latin typeface="+mn-ea"/>
              <a:ea typeface="+mn-ea"/>
              <a:cs typeface="+mn-cs"/>
            </a:endParaRPr>
          </a:p>
          <a:p>
            <a:pPr marL="342900" indent="-250825">
              <a:buFont typeface="+mj-lt"/>
              <a:buAutoNum type="arabicPeriod"/>
            </a:pPr>
            <a:r>
              <a:rPr kumimoji="1" lang="ja-JP" altLang="en-US" sz="1800" b="1" kern="1200" dirty="0">
                <a:solidFill>
                  <a:schemeClr val="tx1"/>
                </a:solidFill>
                <a:effectLst/>
                <a:latin typeface="+mn-ea"/>
                <a:ea typeface="+mn-ea"/>
                <a:cs typeface="+mn-cs"/>
              </a:rPr>
              <a:t>申し訳ありません。真ん中のプレイヤーの手札が</a:t>
            </a:r>
            <a:r>
              <a:rPr kumimoji="1" lang="en-US" altLang="ja-JP" sz="1800" b="1" kern="1200" dirty="0">
                <a:solidFill>
                  <a:schemeClr val="tx1"/>
                </a:solidFill>
                <a:effectLst/>
                <a:latin typeface="+mn-ea"/>
                <a:ea typeface="+mn-ea"/>
                <a:cs typeface="+mn-cs"/>
              </a:rPr>
              <a:t>2</a:t>
            </a:r>
            <a:r>
              <a:rPr kumimoji="1" lang="ja-JP" altLang="en-US" sz="1800" b="1" kern="1200" dirty="0">
                <a:solidFill>
                  <a:schemeClr val="tx1"/>
                </a:solidFill>
                <a:effectLst/>
                <a:latin typeface="+mn-ea"/>
                <a:ea typeface="+mn-ea"/>
                <a:cs typeface="+mn-cs"/>
              </a:rPr>
              <a:t>枚になるように修正します</a:t>
            </a:r>
            <a:endParaRPr lang="ja-JP" altLang="en-US" sz="1800" b="1" dirty="0">
              <a:latin typeface="+mn-ea"/>
              <a:ea typeface="+mn-ea"/>
            </a:endParaRPr>
          </a:p>
        </p:txBody>
      </p:sp>
    </p:spTree>
    <p:extLst>
      <p:ext uri="{BB962C8B-B14F-4D97-AF65-F5344CB8AC3E}">
        <p14:creationId xmlns:p14="http://schemas.microsoft.com/office/powerpoint/2010/main" val="4192354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C2F1174-4276-4D6D-5E7B-C6400C911BC9}"/>
            </a:ext>
          </a:extLst>
        </p:cNvPr>
        <p:cNvGrpSpPr/>
        <p:nvPr/>
      </p:nvGrpSpPr>
      <p:grpSpPr>
        <a:xfrm>
          <a:off x="0" y="0"/>
          <a:ext cx="0" cy="0"/>
          <a:chOff x="0" y="0"/>
          <a:chExt cx="0" cy="0"/>
        </a:xfrm>
      </p:grpSpPr>
      <p:sp>
        <p:nvSpPr>
          <p:cNvPr id="18" name="スライド番号プレースホルダー 17">
            <a:extLst>
              <a:ext uri="{FF2B5EF4-FFF2-40B4-BE49-F238E27FC236}">
                <a16:creationId xmlns:a16="http://schemas.microsoft.com/office/drawing/2014/main" id="{AE809F5D-3255-55DD-831A-0704FEE2622A}"/>
              </a:ext>
            </a:extLst>
          </p:cNvPr>
          <p:cNvSpPr>
            <a:spLocks noGrp="1"/>
          </p:cNvSpPr>
          <p:nvPr>
            <p:ph type="sldNum" sz="quarter" idx="12"/>
          </p:nvPr>
        </p:nvSpPr>
        <p:spPr/>
        <p:txBody>
          <a:bodyPr/>
          <a:lstStyle/>
          <a:p>
            <a:fld id="{18020408-E1FF-429E-A8D5-EB2A190A0D77}" type="slidenum">
              <a:rPr kumimoji="1" lang="ja-JP" altLang="en-US" smtClean="0"/>
              <a:t>42</a:t>
            </a:fld>
            <a:endParaRPr kumimoji="1" lang="ja-JP" altLang="en-US"/>
          </a:p>
        </p:txBody>
      </p:sp>
      <p:sp>
        <p:nvSpPr>
          <p:cNvPr id="5" name="タイトル 4">
            <a:extLst>
              <a:ext uri="{FF2B5EF4-FFF2-40B4-BE49-F238E27FC236}">
                <a16:creationId xmlns:a16="http://schemas.microsoft.com/office/drawing/2014/main" id="{9320022A-8192-7CE1-6769-5B9836B02099}"/>
              </a:ext>
            </a:extLst>
          </p:cNvPr>
          <p:cNvSpPr>
            <a:spLocks noGrp="1"/>
          </p:cNvSpPr>
          <p:nvPr>
            <p:ph type="title"/>
          </p:nvPr>
        </p:nvSpPr>
        <p:spPr/>
        <p:txBody>
          <a:bodyPr>
            <a:noAutofit/>
          </a:bodyPr>
          <a:lstStyle/>
          <a:p>
            <a:r>
              <a:rPr lang="ja-JP" altLang="en-US" sz="3600" b="1" dirty="0">
                <a:solidFill>
                  <a:schemeClr val="bg1"/>
                </a:solidFill>
                <a:latin typeface="+mn-ea"/>
                <a:ea typeface="+mn-ea"/>
              </a:rPr>
              <a:t>実験方法</a:t>
            </a:r>
          </a:p>
        </p:txBody>
      </p:sp>
      <p:sp>
        <p:nvSpPr>
          <p:cNvPr id="15" name="テキスト ボックス 14">
            <a:extLst>
              <a:ext uri="{FF2B5EF4-FFF2-40B4-BE49-F238E27FC236}">
                <a16:creationId xmlns:a16="http://schemas.microsoft.com/office/drawing/2014/main" id="{3064640D-9B10-6E50-7355-4C8DD5CB4D2B}"/>
              </a:ext>
            </a:extLst>
          </p:cNvPr>
          <p:cNvSpPr txBox="1"/>
          <p:nvPr/>
        </p:nvSpPr>
        <p:spPr>
          <a:xfrm>
            <a:off x="266991" y="1516938"/>
            <a:ext cx="8610017" cy="4401205"/>
          </a:xfrm>
          <a:prstGeom prst="rect">
            <a:avLst/>
          </a:prstGeom>
          <a:noFill/>
        </p:spPr>
        <p:txBody>
          <a:bodyPr wrap="square">
            <a:noAutofit/>
          </a:bodyPr>
          <a:lstStyle/>
          <a:p>
            <a:pPr algn="l" rtl="0" fontAlgn="base">
              <a:lnSpc>
                <a:spcPts val="2400"/>
              </a:lnSpc>
              <a:buNone/>
            </a:pP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実験目的</a:t>
            </a:r>
            <a:endParaRPr lang="en-US" altLang="ja-JP" sz="2000" b="1" i="0" u="none" strike="noStrike" dirty="0">
              <a:solidFill>
                <a:schemeClr val="accent1"/>
              </a:solidFill>
              <a:effectLst/>
              <a:latin typeface="Meiryo UI" panose="020B0604030504040204" pitchFamily="50" charset="-128"/>
              <a:ea typeface="Yu Gothic" panose="020B0400000000000000" pitchFamily="50" charset="-128"/>
            </a:endParaRPr>
          </a:p>
          <a:p>
            <a:r>
              <a:rPr lang="ja-JP" altLang="en-US" sz="2000" b="1" dirty="0"/>
              <a:t>対話に行き詰まった際の人格切り替えがエージェントに対する印象に与える影響を調査</a:t>
            </a:r>
            <a:endParaRPr lang="en-US" altLang="ja-JP" b="0" i="0" dirty="0">
              <a:effectLst/>
              <a:latin typeface="Meiryo UI" panose="020B0604030504040204" pitchFamily="50" charset="-128"/>
              <a:ea typeface="Meiryo UI" panose="020B0604030504040204" pitchFamily="50" charset="-128"/>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dirty="0">
              <a:solidFill>
                <a:srgbClr val="000000"/>
              </a:solidFill>
              <a:latin typeface="Meiryo UI" panose="020B0604030504040204" pitchFamily="50" charset="-128"/>
              <a:ea typeface="Meiryo UI" panose="020B0604030504040204" pitchFamily="50" charset="-128"/>
            </a:endParaRPr>
          </a:p>
          <a:p>
            <a:pPr algn="l" rtl="0" fontAlgn="base">
              <a:lnSpc>
                <a:spcPts val="2100"/>
              </a:lnSpc>
              <a:buNone/>
            </a:pP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実験条件</a:t>
            </a:r>
            <a:r>
              <a:rPr lang="en-US" altLang="ja-JP" sz="20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lnSpc>
                <a:spcPts val="2100"/>
              </a:lnSpc>
              <a:buNone/>
            </a:pPr>
            <a:r>
              <a:rPr lang="ja-JP" altLang="ja-JP" sz="1800" b="1" i="0" u="none" strike="noStrike" dirty="0">
                <a:solidFill>
                  <a:srgbClr val="000000"/>
                </a:solidFill>
                <a:effectLst/>
                <a:latin typeface="Meiryo UI" panose="020B0604030504040204" pitchFamily="50" charset="-128"/>
                <a:ea typeface="Yu Gothic" panose="020B0400000000000000" pitchFamily="50" charset="-128"/>
              </a:rPr>
              <a:t>　</a:t>
            </a: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lnSpc>
                <a:spcPts val="2400"/>
              </a:lnSpc>
              <a:buNone/>
            </a:pPr>
            <a:endParaRPr lang="en-US" altLang="ja-JP" sz="2000" b="1" i="0" u="none" strike="noStrike" dirty="0">
              <a:solidFill>
                <a:srgbClr val="1F4E79"/>
              </a:solidFill>
              <a:effectLst/>
              <a:latin typeface="Meiryo UI" panose="020B0604030504040204" pitchFamily="50" charset="-128"/>
              <a:ea typeface="Yu Gothic" panose="020B0400000000000000" pitchFamily="50" charset="-128"/>
            </a:endParaRPr>
          </a:p>
          <a:p>
            <a:pPr algn="l" rtl="0" fontAlgn="base">
              <a:lnSpc>
                <a:spcPts val="2400"/>
              </a:lnSpc>
              <a:buNone/>
            </a:pPr>
            <a:endParaRPr lang="en-US" altLang="ja-JP" sz="2000" b="1" dirty="0">
              <a:solidFill>
                <a:srgbClr val="1F4E79"/>
              </a:solidFill>
              <a:latin typeface="Meiryo UI" panose="020B0604030504040204" pitchFamily="50" charset="-128"/>
              <a:ea typeface="Yu Gothic" panose="020B0400000000000000" pitchFamily="50" charset="-128"/>
            </a:endParaRPr>
          </a:p>
          <a:p>
            <a:pPr algn="l" rtl="0" fontAlgn="base">
              <a:lnSpc>
                <a:spcPts val="2400"/>
              </a:lnSpc>
              <a:buNone/>
            </a:pPr>
            <a:r>
              <a:rPr lang="ja-JP" altLang="ja-JP" sz="2000" b="1" i="0" u="none" strike="noStrike" dirty="0">
                <a:solidFill>
                  <a:srgbClr val="1F4E79"/>
                </a:solidFill>
                <a:effectLst/>
                <a:latin typeface="Meiryo UI" panose="020B0604030504040204" pitchFamily="50" charset="-128"/>
                <a:ea typeface="Yu Gothic" panose="020B0400000000000000" pitchFamily="50" charset="-128"/>
              </a:rPr>
              <a:t>実</a:t>
            </a: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施方法</a:t>
            </a:r>
            <a:r>
              <a:rPr lang="en-US" altLang="ja-JP" sz="20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lnSpc>
                <a:spcPts val="2100"/>
              </a:lnSpc>
              <a:buNone/>
            </a:pPr>
            <a:r>
              <a:rPr lang="ja-JP" altLang="ja-JP" sz="1800" b="1" i="0" u="none" strike="noStrike" dirty="0">
                <a:solidFill>
                  <a:srgbClr val="000000"/>
                </a:solidFill>
                <a:effectLst/>
                <a:latin typeface="Meiryo UI" panose="020B0604030504040204" pitchFamily="50" charset="-128"/>
                <a:ea typeface="Yu Gothic" panose="020B0400000000000000" pitchFamily="50" charset="-128"/>
              </a:rPr>
              <a:t>クラウドソーシングを利用した</a:t>
            </a:r>
            <a:r>
              <a:rPr lang="en-US" altLang="ja-JP" sz="1800" b="1" i="0" u="none" strike="noStrike" dirty="0">
                <a:solidFill>
                  <a:srgbClr val="000000"/>
                </a:solidFill>
                <a:effectLst/>
                <a:latin typeface="Yu Gothic" panose="020B0400000000000000" pitchFamily="50" charset="-128"/>
                <a:ea typeface="Meiryo UI" panose="020B0604030504040204" pitchFamily="50" charset="-128"/>
              </a:rPr>
              <a:t>Web</a:t>
            </a:r>
            <a:r>
              <a:rPr lang="ja-JP" altLang="ja-JP" sz="1800" b="1" i="0" u="none" strike="noStrike" dirty="0">
                <a:solidFill>
                  <a:srgbClr val="000000"/>
                </a:solidFill>
                <a:effectLst/>
                <a:latin typeface="Meiryo UI" panose="020B0604030504040204" pitchFamily="50" charset="-128"/>
                <a:ea typeface="Yu Gothic" panose="020B0400000000000000" pitchFamily="50" charset="-128"/>
              </a:rPr>
              <a:t>実験</a:t>
            </a: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lnSpc>
                <a:spcPts val="2100"/>
              </a:lnSpc>
              <a:buNone/>
            </a:pPr>
            <a:r>
              <a:rPr lang="ja-JP" altLang="ja-JP" sz="1800" b="1" i="0" u="none" strike="noStrike" dirty="0">
                <a:solidFill>
                  <a:srgbClr val="000000"/>
                </a:solidFill>
                <a:effectLst/>
                <a:latin typeface="Meiryo UI" panose="020B0604030504040204" pitchFamily="50" charset="-128"/>
                <a:ea typeface="Yu Gothic" panose="020B0400000000000000" pitchFamily="50" charset="-128"/>
              </a:rPr>
              <a:t>参加者間配置で実施</a:t>
            </a: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p:txBody>
      </p:sp>
      <p:graphicFrame>
        <p:nvGraphicFramePr>
          <p:cNvPr id="17" name="表 16">
            <a:extLst>
              <a:ext uri="{FF2B5EF4-FFF2-40B4-BE49-F238E27FC236}">
                <a16:creationId xmlns:a16="http://schemas.microsoft.com/office/drawing/2014/main" id="{E7DBA6E7-E896-F34A-7376-B7A62B89A7DE}"/>
              </a:ext>
            </a:extLst>
          </p:cNvPr>
          <p:cNvGraphicFramePr>
            <a:graphicFrameLocks noGrp="1"/>
          </p:cNvGraphicFramePr>
          <p:nvPr/>
        </p:nvGraphicFramePr>
        <p:xfrm>
          <a:off x="389433" y="3212080"/>
          <a:ext cx="8365132" cy="1010920"/>
        </p:xfrm>
        <a:graphic>
          <a:graphicData uri="http://schemas.openxmlformats.org/drawingml/2006/table">
            <a:tbl>
              <a:tblPr firstRow="1" bandRow="1">
                <a:tableStyleId>{9D7B26C5-4107-4FEC-AEDC-1716B250A1EF}</a:tableStyleId>
              </a:tblPr>
              <a:tblGrid>
                <a:gridCol w="2091283">
                  <a:extLst>
                    <a:ext uri="{9D8B030D-6E8A-4147-A177-3AD203B41FA5}">
                      <a16:colId xmlns:a16="http://schemas.microsoft.com/office/drawing/2014/main" val="2061470016"/>
                    </a:ext>
                  </a:extLst>
                </a:gridCol>
                <a:gridCol w="2091283">
                  <a:extLst>
                    <a:ext uri="{9D8B030D-6E8A-4147-A177-3AD203B41FA5}">
                      <a16:colId xmlns:a16="http://schemas.microsoft.com/office/drawing/2014/main" val="3884570378"/>
                    </a:ext>
                  </a:extLst>
                </a:gridCol>
                <a:gridCol w="2091283">
                  <a:extLst>
                    <a:ext uri="{9D8B030D-6E8A-4147-A177-3AD203B41FA5}">
                      <a16:colId xmlns:a16="http://schemas.microsoft.com/office/drawing/2014/main" val="2104378392"/>
                    </a:ext>
                  </a:extLst>
                </a:gridCol>
                <a:gridCol w="2091283">
                  <a:extLst>
                    <a:ext uri="{9D8B030D-6E8A-4147-A177-3AD203B41FA5}">
                      <a16:colId xmlns:a16="http://schemas.microsoft.com/office/drawing/2014/main" val="838802721"/>
                    </a:ext>
                  </a:extLst>
                </a:gridCol>
              </a:tblGrid>
              <a:tr h="370840">
                <a:tc>
                  <a:txBody>
                    <a:bodyPr/>
                    <a:lstStyle/>
                    <a:p>
                      <a:r>
                        <a:rPr kumimoji="1" lang="ja-JP" altLang="en-US" dirty="0"/>
                        <a:t>要因</a:t>
                      </a:r>
                    </a:p>
                  </a:txBody>
                  <a:tcPr/>
                </a:tc>
                <a:tc>
                  <a:txBody>
                    <a:bodyPr/>
                    <a:lstStyle/>
                    <a:p>
                      <a:r>
                        <a:rPr kumimoji="1" lang="ja-JP" altLang="en-US" dirty="0"/>
                        <a:t>水準</a:t>
                      </a:r>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1698225093"/>
                  </a:ext>
                </a:extLst>
              </a:tr>
              <a:tr h="370840">
                <a:tc>
                  <a:txBody>
                    <a:bodyPr/>
                    <a:lstStyle/>
                    <a:p>
                      <a:r>
                        <a:rPr kumimoji="1" lang="ja-JP" altLang="en-US" b="1" dirty="0"/>
                        <a:t>人格設定</a:t>
                      </a:r>
                    </a:p>
                  </a:txBody>
                  <a:tcPr>
                    <a:solidFill>
                      <a:schemeClr val="bg1"/>
                    </a:solidFill>
                  </a:tcPr>
                </a:tc>
                <a:tc>
                  <a:txBody>
                    <a:bodyPr/>
                    <a:lstStyle/>
                    <a:p>
                      <a:r>
                        <a:rPr kumimoji="1" lang="ja-JP" altLang="en-US" b="1" dirty="0"/>
                        <a:t>人格設定なし</a:t>
                      </a: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b="1" dirty="0">
                          <a:solidFill>
                            <a:srgbClr val="000000"/>
                          </a:solidFill>
                          <a:latin typeface="+mn-ea"/>
                        </a:rPr>
                        <a:t>ISTJ </a:t>
                      </a:r>
                      <a:r>
                        <a:rPr lang="ja-JP" altLang="en-US" b="1" dirty="0">
                          <a:solidFill>
                            <a:srgbClr val="000000"/>
                          </a:solidFill>
                          <a:latin typeface="+mn-ea"/>
                        </a:rPr>
                        <a:t>から</a:t>
                      </a:r>
                      <a:r>
                        <a:rPr lang="en-US" altLang="ja-JP" b="1" dirty="0">
                          <a:solidFill>
                            <a:srgbClr val="000000"/>
                          </a:solidFill>
                          <a:latin typeface="+mn-ea"/>
                        </a:rPr>
                        <a:t>ENFP </a:t>
                      </a:r>
                      <a:r>
                        <a:rPr lang="ja-JP" altLang="en-US" b="1" dirty="0">
                          <a:solidFill>
                            <a:srgbClr val="000000"/>
                          </a:solidFill>
                          <a:latin typeface="+mn-ea"/>
                        </a:rPr>
                        <a:t>への人格切り替え</a:t>
                      </a:r>
                      <a:endParaRPr lang="en-US" altLang="ja-JP" b="1" dirty="0">
                        <a:solidFill>
                          <a:srgbClr val="000000"/>
                        </a:solidFill>
                        <a:latin typeface="+mn-ea"/>
                      </a:endParaRPr>
                    </a:p>
                  </a:txBody>
                  <a:tcPr>
                    <a:solidFill>
                      <a:schemeClr val="bg1"/>
                    </a:solidFill>
                  </a:tcPr>
                </a:tc>
                <a:tc>
                  <a:txBody>
                    <a:bodyPr/>
                    <a:lstStyle/>
                    <a:p>
                      <a:r>
                        <a:rPr lang="en-US" altLang="ja-JP" b="1" dirty="0">
                          <a:solidFill>
                            <a:srgbClr val="000000"/>
                          </a:solidFill>
                          <a:latin typeface="+mn-ea"/>
                        </a:rPr>
                        <a:t>ENFP </a:t>
                      </a:r>
                      <a:r>
                        <a:rPr lang="ja-JP" altLang="en-US" b="1" dirty="0">
                          <a:solidFill>
                            <a:srgbClr val="000000"/>
                          </a:solidFill>
                          <a:latin typeface="+mn-ea"/>
                        </a:rPr>
                        <a:t>から </a:t>
                      </a:r>
                      <a:r>
                        <a:rPr lang="en-US" altLang="ja-JP" b="1" dirty="0">
                          <a:solidFill>
                            <a:srgbClr val="000000"/>
                          </a:solidFill>
                          <a:latin typeface="+mn-ea"/>
                        </a:rPr>
                        <a:t>ISTJ </a:t>
                      </a:r>
                      <a:r>
                        <a:rPr lang="ja-JP" altLang="en-US" b="1" dirty="0">
                          <a:solidFill>
                            <a:srgbClr val="000000"/>
                          </a:solidFill>
                          <a:latin typeface="+mn-ea"/>
                        </a:rPr>
                        <a:t>への人格切り替え</a:t>
                      </a:r>
                      <a:endParaRPr kumimoji="1" lang="ja-JP" altLang="en-US" dirty="0"/>
                    </a:p>
                  </a:txBody>
                  <a:tcPr>
                    <a:solidFill>
                      <a:schemeClr val="bg1"/>
                    </a:solidFill>
                  </a:tcPr>
                </a:tc>
                <a:extLst>
                  <a:ext uri="{0D108BD9-81ED-4DB2-BD59-A6C34878D82A}">
                    <a16:rowId xmlns:a16="http://schemas.microsoft.com/office/drawing/2014/main" val="3580523640"/>
                  </a:ext>
                </a:extLst>
              </a:tr>
            </a:tbl>
          </a:graphicData>
        </a:graphic>
      </p:graphicFrame>
    </p:spTree>
    <p:extLst>
      <p:ext uri="{BB962C8B-B14F-4D97-AF65-F5344CB8AC3E}">
        <p14:creationId xmlns:p14="http://schemas.microsoft.com/office/powerpoint/2010/main" val="22086305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862E643-F909-548F-59B8-6D35EE68B133}"/>
            </a:ext>
          </a:extLst>
        </p:cNvPr>
        <p:cNvGrpSpPr/>
        <p:nvPr/>
      </p:nvGrpSpPr>
      <p:grpSpPr>
        <a:xfrm>
          <a:off x="0" y="0"/>
          <a:ext cx="0" cy="0"/>
          <a:chOff x="0" y="0"/>
          <a:chExt cx="0" cy="0"/>
        </a:xfrm>
      </p:grpSpPr>
      <p:sp>
        <p:nvSpPr>
          <p:cNvPr id="16" name="四角形: 角を丸くする 15">
            <a:extLst>
              <a:ext uri="{FF2B5EF4-FFF2-40B4-BE49-F238E27FC236}">
                <a16:creationId xmlns:a16="http://schemas.microsoft.com/office/drawing/2014/main" id="{08497C7C-8C52-3CD4-87CA-C0DF01CB7448}"/>
              </a:ext>
            </a:extLst>
          </p:cNvPr>
          <p:cNvSpPr/>
          <p:nvPr/>
        </p:nvSpPr>
        <p:spPr>
          <a:xfrm>
            <a:off x="131521" y="1534974"/>
            <a:ext cx="4402695" cy="3502694"/>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スライド番号プレースホルダー 1">
            <a:extLst>
              <a:ext uri="{FF2B5EF4-FFF2-40B4-BE49-F238E27FC236}">
                <a16:creationId xmlns:a16="http://schemas.microsoft.com/office/drawing/2014/main" id="{D15B2AFD-D69D-73FF-66F9-90B072AEAA27}"/>
              </a:ext>
            </a:extLst>
          </p:cNvPr>
          <p:cNvSpPr>
            <a:spLocks noGrp="1"/>
          </p:cNvSpPr>
          <p:nvPr>
            <p:ph type="sldNum" sz="quarter" idx="12"/>
          </p:nvPr>
        </p:nvSpPr>
        <p:spPr/>
        <p:txBody>
          <a:bodyPr/>
          <a:lstStyle/>
          <a:p>
            <a:fld id="{18020408-E1FF-429E-A8D5-EB2A190A0D77}" type="slidenum">
              <a:rPr kumimoji="1" lang="ja-JP" altLang="en-US" smtClean="0"/>
              <a:pPr/>
              <a:t>43</a:t>
            </a:fld>
            <a:endParaRPr kumimoji="1" lang="ja-JP" altLang="en-US" sz="2400" dirty="0"/>
          </a:p>
        </p:txBody>
      </p:sp>
      <p:sp>
        <p:nvSpPr>
          <p:cNvPr id="3" name="タイトル 2">
            <a:extLst>
              <a:ext uri="{FF2B5EF4-FFF2-40B4-BE49-F238E27FC236}">
                <a16:creationId xmlns:a16="http://schemas.microsoft.com/office/drawing/2014/main" id="{BEC58786-77EF-CAF9-F929-3B1D011F5897}"/>
              </a:ext>
            </a:extLst>
          </p:cNvPr>
          <p:cNvSpPr>
            <a:spLocks noGrp="1"/>
          </p:cNvSpPr>
          <p:nvPr>
            <p:ph type="title"/>
          </p:nvPr>
        </p:nvSpPr>
        <p:spPr/>
        <p:txBody>
          <a:bodyPr/>
          <a:lstStyle/>
          <a:p>
            <a:r>
              <a:rPr kumimoji="1" lang="ja-JP" altLang="en-US" sz="3600" dirty="0"/>
              <a:t>考察：人格切り替え知覚について</a:t>
            </a:r>
          </a:p>
        </p:txBody>
      </p:sp>
      <p:sp>
        <p:nvSpPr>
          <p:cNvPr id="7" name="テキスト ボックス 6">
            <a:extLst>
              <a:ext uri="{FF2B5EF4-FFF2-40B4-BE49-F238E27FC236}">
                <a16:creationId xmlns:a16="http://schemas.microsoft.com/office/drawing/2014/main" id="{17336945-F5CD-7431-9B28-21E6528E5783}"/>
              </a:ext>
            </a:extLst>
          </p:cNvPr>
          <p:cNvSpPr txBox="1"/>
          <p:nvPr/>
        </p:nvSpPr>
        <p:spPr>
          <a:xfrm>
            <a:off x="573603" y="5203049"/>
            <a:ext cx="7996793" cy="505523"/>
          </a:xfrm>
          <a:prstGeom prst="rect">
            <a:avLst/>
          </a:prstGeom>
          <a:solidFill>
            <a:schemeClr val="bg1"/>
          </a:solidFill>
        </p:spPr>
        <p:txBody>
          <a:bodyPr wrap="square">
            <a:spAutoFit/>
          </a:bodyPr>
          <a:lstStyle/>
          <a:p>
            <a:pPr fontAlgn="base">
              <a:lnSpc>
                <a:spcPct val="150000"/>
              </a:lnSpc>
            </a:pPr>
            <a:r>
              <a:rPr lang="ja-JP" altLang="en-US" sz="2000" b="1" dirty="0">
                <a:solidFill>
                  <a:srgbClr val="000000"/>
                </a:solidFill>
                <a:latin typeface="+mn-ea"/>
                <a:ea typeface="Yu Gothic" panose="020B0400000000000000" pitchFamily="50" charset="-128"/>
                <a:sym typeface="Wingdings" panose="05000000000000000000" pitchFamily="2" charset="2"/>
              </a:rPr>
              <a:t>名乗りありの方が人格の切り替えを設定と同じ回答をする割合</a:t>
            </a:r>
            <a:r>
              <a:rPr lang="ja-JP" altLang="en-US" sz="2000" b="1" dirty="0">
                <a:solidFill>
                  <a:srgbClr val="C00000"/>
                </a:solidFill>
                <a:latin typeface="+mn-ea"/>
                <a:ea typeface="Yu Gothic" panose="020B0400000000000000" pitchFamily="50" charset="-128"/>
                <a:sym typeface="Wingdings" panose="05000000000000000000" pitchFamily="2" charset="2"/>
              </a:rPr>
              <a:t>増加</a:t>
            </a:r>
            <a:endParaRPr lang="en-US" altLang="ja-JP" sz="2000" b="1" dirty="0">
              <a:solidFill>
                <a:srgbClr val="C00000"/>
              </a:solidFill>
              <a:latin typeface="Meiryo UI" panose="020B0604030504040204" pitchFamily="50" charset="-128"/>
              <a:ea typeface="Yu Gothic" panose="020B0400000000000000" pitchFamily="50" charset="-128"/>
            </a:endParaRPr>
          </a:p>
        </p:txBody>
      </p:sp>
      <p:sp>
        <p:nvSpPr>
          <p:cNvPr id="9" name="テキスト ボックス 8">
            <a:extLst>
              <a:ext uri="{FF2B5EF4-FFF2-40B4-BE49-F238E27FC236}">
                <a16:creationId xmlns:a16="http://schemas.microsoft.com/office/drawing/2014/main" id="{F763980D-B8C8-7058-A8AD-5AC14814A27B}"/>
              </a:ext>
            </a:extLst>
          </p:cNvPr>
          <p:cNvSpPr txBox="1"/>
          <p:nvPr/>
        </p:nvSpPr>
        <p:spPr>
          <a:xfrm>
            <a:off x="1087341" y="5855053"/>
            <a:ext cx="7112623" cy="830997"/>
          </a:xfrm>
          <a:prstGeom prst="rect">
            <a:avLst/>
          </a:prstGeom>
          <a:noFill/>
        </p:spPr>
        <p:txBody>
          <a:bodyPr wrap="square">
            <a:spAutoFit/>
          </a:bodyPr>
          <a:lstStyle/>
          <a:p>
            <a:r>
              <a:rPr lang="ja-JP" altLang="en-US" sz="2400" b="1" dirty="0"/>
              <a:t>名乗りは人格の切り替えを</a:t>
            </a:r>
            <a:r>
              <a:rPr lang="ja-JP" altLang="en-US" sz="2400" b="1" dirty="0">
                <a:solidFill>
                  <a:srgbClr val="C00000"/>
                </a:solidFill>
              </a:rPr>
              <a:t>より明確に知覚</a:t>
            </a:r>
            <a:r>
              <a:rPr lang="ja-JP" altLang="en-US" sz="2400" b="1" dirty="0"/>
              <a:t>させる効果を持つ可能性</a:t>
            </a:r>
          </a:p>
        </p:txBody>
      </p:sp>
      <p:sp>
        <p:nvSpPr>
          <p:cNvPr id="10" name="矢印: 下 9">
            <a:extLst>
              <a:ext uri="{FF2B5EF4-FFF2-40B4-BE49-F238E27FC236}">
                <a16:creationId xmlns:a16="http://schemas.microsoft.com/office/drawing/2014/main" id="{FC2FE215-AA08-2F8B-A76B-531CFD785036}"/>
              </a:ext>
            </a:extLst>
          </p:cNvPr>
          <p:cNvSpPr/>
          <p:nvPr/>
        </p:nvSpPr>
        <p:spPr>
          <a:xfrm rot="16200000">
            <a:off x="411073" y="6000056"/>
            <a:ext cx="524937" cy="540989"/>
          </a:xfrm>
          <a:prstGeom prst="down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CD079AFB-45D4-30CB-028B-16F130BEE01F}"/>
              </a:ext>
            </a:extLst>
          </p:cNvPr>
          <p:cNvSpPr txBox="1"/>
          <p:nvPr/>
        </p:nvSpPr>
        <p:spPr>
          <a:xfrm>
            <a:off x="1677062" y="1331188"/>
            <a:ext cx="1496713" cy="461665"/>
          </a:xfrm>
          <a:prstGeom prst="rect">
            <a:avLst/>
          </a:prstGeom>
          <a:solidFill>
            <a:schemeClr val="bg1"/>
          </a:solidFill>
        </p:spPr>
        <p:txBody>
          <a:bodyPr wrap="square">
            <a:spAutoFit/>
          </a:bodyPr>
          <a:lstStyle/>
          <a:p>
            <a:r>
              <a:rPr lang="ja-JP" altLang="en-US" sz="2400" b="1" dirty="0">
                <a:solidFill>
                  <a:schemeClr val="accent1"/>
                </a:solidFill>
                <a:latin typeface="+mn-ea"/>
                <a:ea typeface="Yu Gothic" panose="020B0400000000000000" pitchFamily="50" charset="-128"/>
                <a:sym typeface="Wingdings" panose="05000000000000000000" pitchFamily="2" charset="2"/>
              </a:rPr>
              <a:t>人格固定</a:t>
            </a:r>
            <a:endParaRPr lang="ja-JP" altLang="en-US" sz="2400" dirty="0">
              <a:solidFill>
                <a:schemeClr val="accent1"/>
              </a:solidFill>
            </a:endParaRPr>
          </a:p>
        </p:txBody>
      </p:sp>
      <p:grpSp>
        <p:nvGrpSpPr>
          <p:cNvPr id="20" name="グループ化 19">
            <a:extLst>
              <a:ext uri="{FF2B5EF4-FFF2-40B4-BE49-F238E27FC236}">
                <a16:creationId xmlns:a16="http://schemas.microsoft.com/office/drawing/2014/main" id="{B6185571-4C1A-1E3A-B2A8-66433F9C4E78}"/>
              </a:ext>
            </a:extLst>
          </p:cNvPr>
          <p:cNvGrpSpPr/>
          <p:nvPr/>
        </p:nvGrpSpPr>
        <p:grpSpPr>
          <a:xfrm>
            <a:off x="267578" y="1895137"/>
            <a:ext cx="4084289" cy="3070663"/>
            <a:chOff x="403047" y="1895137"/>
            <a:chExt cx="4315685" cy="3070663"/>
          </a:xfrm>
        </p:grpSpPr>
        <p:grpSp>
          <p:nvGrpSpPr>
            <p:cNvPr id="15" name="グループ化 14">
              <a:extLst>
                <a:ext uri="{FF2B5EF4-FFF2-40B4-BE49-F238E27FC236}">
                  <a16:creationId xmlns:a16="http://schemas.microsoft.com/office/drawing/2014/main" id="{41DB4233-CA8B-236A-813D-19B746B19538}"/>
                </a:ext>
              </a:extLst>
            </p:cNvPr>
            <p:cNvGrpSpPr/>
            <p:nvPr/>
          </p:nvGrpSpPr>
          <p:grpSpPr>
            <a:xfrm>
              <a:off x="403047" y="1895137"/>
              <a:ext cx="4315685" cy="2732109"/>
              <a:chOff x="403047" y="1323900"/>
              <a:chExt cx="4315685" cy="2732109"/>
            </a:xfrm>
          </p:grpSpPr>
          <p:pic>
            <p:nvPicPr>
              <p:cNvPr id="8" name="グラフィックス 7">
                <a:extLst>
                  <a:ext uri="{FF2B5EF4-FFF2-40B4-BE49-F238E27FC236}">
                    <a16:creationId xmlns:a16="http://schemas.microsoft.com/office/drawing/2014/main" id="{C62F2ECF-149F-964B-4820-B129D275D150}"/>
                  </a:ext>
                </a:extLst>
              </p:cNvPr>
              <p:cNvPicPr>
                <a:picLocks noChangeAspect="1"/>
              </p:cNvPicPr>
              <p:nvPr/>
            </p:nvPicPr>
            <p:blipFill>
              <a:blip r:embed="rId3">
                <a:extLst>
                  <a:ext uri="{96DAC541-7B7A-43D3-8B79-37D633B846F1}">
                    <asvg:svgBlip xmlns:asvg="http://schemas.microsoft.com/office/drawing/2016/SVG/main" r:embed="rId4"/>
                  </a:ext>
                </a:extLst>
              </a:blip>
              <a:srcRect l="1165" t="2601" r="1780" b="3090"/>
              <a:stretch>
                <a:fillRect/>
              </a:stretch>
            </p:blipFill>
            <p:spPr>
              <a:xfrm>
                <a:off x="403047" y="1693232"/>
                <a:ext cx="4315685" cy="2362777"/>
              </a:xfrm>
              <a:prstGeom prst="rect">
                <a:avLst/>
              </a:prstGeom>
            </p:spPr>
          </p:pic>
          <p:sp>
            <p:nvSpPr>
              <p:cNvPr id="12" name="テキスト ボックス 11">
                <a:extLst>
                  <a:ext uri="{FF2B5EF4-FFF2-40B4-BE49-F238E27FC236}">
                    <a16:creationId xmlns:a16="http://schemas.microsoft.com/office/drawing/2014/main" id="{97FE710F-2A7A-285B-FA44-1128DDE2DDBB}"/>
                  </a:ext>
                </a:extLst>
              </p:cNvPr>
              <p:cNvSpPr txBox="1"/>
              <p:nvPr/>
            </p:nvSpPr>
            <p:spPr>
              <a:xfrm>
                <a:off x="1147197" y="1323900"/>
                <a:ext cx="3168949" cy="369332"/>
              </a:xfrm>
              <a:prstGeom prst="rect">
                <a:avLst/>
              </a:prstGeom>
              <a:noFill/>
            </p:spPr>
            <p:txBody>
              <a:bodyPr wrap="square">
                <a:spAutoFit/>
              </a:bodyPr>
              <a:lstStyle/>
              <a:p>
                <a:r>
                  <a:rPr lang="en-US" altLang="ja-JP" b="1" dirty="0">
                    <a:solidFill>
                      <a:srgbClr val="000000"/>
                    </a:solidFill>
                    <a:latin typeface="+mn-ea"/>
                    <a:ea typeface="Yu Gothic" panose="020B0400000000000000" pitchFamily="50" charset="-128"/>
                    <a:sym typeface="Wingdings" panose="05000000000000000000" pitchFamily="2" charset="2"/>
                  </a:rPr>
                  <a:t>AI</a:t>
                </a:r>
                <a:r>
                  <a:rPr lang="ja-JP" altLang="en-US" b="1" dirty="0">
                    <a:solidFill>
                      <a:srgbClr val="000000"/>
                    </a:solidFill>
                    <a:latin typeface="+mn-ea"/>
                    <a:ea typeface="Yu Gothic" panose="020B0400000000000000" pitchFamily="50" charset="-128"/>
                    <a:sym typeface="Wingdings" panose="05000000000000000000" pitchFamily="2" charset="2"/>
                  </a:rPr>
                  <a:t>の性格は変わっていない</a:t>
                </a:r>
                <a:endParaRPr lang="ja-JP" altLang="en-US" dirty="0"/>
              </a:p>
            </p:txBody>
          </p:sp>
        </p:grpSp>
        <p:sp>
          <p:nvSpPr>
            <p:cNvPr id="18" name="テキスト ボックス 17">
              <a:extLst>
                <a:ext uri="{FF2B5EF4-FFF2-40B4-BE49-F238E27FC236}">
                  <a16:creationId xmlns:a16="http://schemas.microsoft.com/office/drawing/2014/main" id="{9EA48BA9-6CAF-6EE4-36CB-FBECDE4DCC7E}"/>
                </a:ext>
              </a:extLst>
            </p:cNvPr>
            <p:cNvSpPr txBox="1"/>
            <p:nvPr/>
          </p:nvSpPr>
          <p:spPr>
            <a:xfrm>
              <a:off x="1143614" y="4627246"/>
              <a:ext cx="1373717" cy="338554"/>
            </a:xfrm>
            <a:prstGeom prst="rect">
              <a:avLst/>
            </a:prstGeom>
            <a:noFill/>
          </p:spPr>
          <p:txBody>
            <a:bodyPr wrap="square">
              <a:spAutoFit/>
            </a:bodyPr>
            <a:lstStyle/>
            <a:p>
              <a:r>
                <a:rPr lang="ja-JP" altLang="en-US" sz="1600" b="1" dirty="0">
                  <a:solidFill>
                    <a:srgbClr val="000000"/>
                  </a:solidFill>
                  <a:latin typeface="+mn-ea"/>
                  <a:ea typeface="Yu Gothic" panose="020B0400000000000000" pitchFamily="50" charset="-128"/>
                  <a:sym typeface="Wingdings" panose="05000000000000000000" pitchFamily="2" charset="2"/>
                </a:rPr>
                <a:t>名乗りあり</a:t>
              </a:r>
              <a:endParaRPr lang="ja-JP" altLang="en-US" sz="1600" dirty="0"/>
            </a:p>
          </p:txBody>
        </p:sp>
        <p:sp>
          <p:nvSpPr>
            <p:cNvPr id="19" name="テキスト ボックス 18">
              <a:extLst>
                <a:ext uri="{FF2B5EF4-FFF2-40B4-BE49-F238E27FC236}">
                  <a16:creationId xmlns:a16="http://schemas.microsoft.com/office/drawing/2014/main" id="{9A0F95E4-7894-FC7D-4755-2F022F703EE8}"/>
                </a:ext>
              </a:extLst>
            </p:cNvPr>
            <p:cNvSpPr txBox="1"/>
            <p:nvPr/>
          </p:nvSpPr>
          <p:spPr>
            <a:xfrm>
              <a:off x="3116350" y="4614702"/>
              <a:ext cx="1373717" cy="338554"/>
            </a:xfrm>
            <a:prstGeom prst="rect">
              <a:avLst/>
            </a:prstGeom>
            <a:noFill/>
          </p:spPr>
          <p:txBody>
            <a:bodyPr wrap="square">
              <a:spAutoFit/>
            </a:bodyPr>
            <a:lstStyle/>
            <a:p>
              <a:r>
                <a:rPr lang="ja-JP" altLang="en-US" sz="1600" b="1" dirty="0">
                  <a:solidFill>
                    <a:srgbClr val="000000"/>
                  </a:solidFill>
                  <a:latin typeface="+mn-ea"/>
                  <a:ea typeface="Yu Gothic" panose="020B0400000000000000" pitchFamily="50" charset="-128"/>
                  <a:sym typeface="Wingdings" panose="05000000000000000000" pitchFamily="2" charset="2"/>
                </a:rPr>
                <a:t>名乗りなし</a:t>
              </a:r>
              <a:endParaRPr lang="en-US" altLang="ja-JP" sz="1600" b="1" dirty="0">
                <a:solidFill>
                  <a:srgbClr val="000000"/>
                </a:solidFill>
                <a:latin typeface="+mn-ea"/>
                <a:ea typeface="Yu Gothic" panose="020B0400000000000000" pitchFamily="50" charset="-128"/>
                <a:sym typeface="Wingdings" panose="05000000000000000000" pitchFamily="2" charset="2"/>
              </a:endParaRPr>
            </a:p>
          </p:txBody>
        </p:sp>
      </p:grpSp>
      <p:sp>
        <p:nvSpPr>
          <p:cNvPr id="21" name="テキスト ボックス 20">
            <a:extLst>
              <a:ext uri="{FF2B5EF4-FFF2-40B4-BE49-F238E27FC236}">
                <a16:creationId xmlns:a16="http://schemas.microsoft.com/office/drawing/2014/main" id="{5DD6AFD6-FA6C-10AD-9D96-B4597AB369DC}"/>
              </a:ext>
            </a:extLst>
          </p:cNvPr>
          <p:cNvSpPr txBox="1"/>
          <p:nvPr/>
        </p:nvSpPr>
        <p:spPr>
          <a:xfrm>
            <a:off x="990285" y="2900286"/>
            <a:ext cx="1166563" cy="477054"/>
          </a:xfrm>
          <a:prstGeom prst="rect">
            <a:avLst/>
          </a:prstGeom>
          <a:noFill/>
        </p:spPr>
        <p:txBody>
          <a:bodyPr wrap="square">
            <a:spAutoFit/>
          </a:bodyPr>
          <a:lstStyle/>
          <a:p>
            <a:r>
              <a:rPr lang="en-US" altLang="ja-JP" sz="2500" b="1" dirty="0">
                <a:solidFill>
                  <a:schemeClr val="bg1"/>
                </a:solidFill>
                <a:latin typeface="+mn-ea"/>
                <a:ea typeface="Yu Gothic" panose="020B0400000000000000" pitchFamily="50" charset="-128"/>
                <a:sym typeface="Wingdings" panose="05000000000000000000" pitchFamily="2" charset="2"/>
              </a:rPr>
              <a:t>95.9%</a:t>
            </a:r>
            <a:endParaRPr lang="ja-JP" altLang="en-US" sz="2500" dirty="0">
              <a:solidFill>
                <a:schemeClr val="bg1"/>
              </a:solidFill>
            </a:endParaRPr>
          </a:p>
        </p:txBody>
      </p:sp>
      <p:sp>
        <p:nvSpPr>
          <p:cNvPr id="22" name="テキスト ボックス 21">
            <a:extLst>
              <a:ext uri="{FF2B5EF4-FFF2-40B4-BE49-F238E27FC236}">
                <a16:creationId xmlns:a16="http://schemas.microsoft.com/office/drawing/2014/main" id="{23D025D5-A88A-C2BC-DD5C-45163D2F49D3}"/>
              </a:ext>
            </a:extLst>
          </p:cNvPr>
          <p:cNvSpPr txBox="1"/>
          <p:nvPr/>
        </p:nvSpPr>
        <p:spPr>
          <a:xfrm>
            <a:off x="2835401" y="2900286"/>
            <a:ext cx="1166563" cy="477054"/>
          </a:xfrm>
          <a:prstGeom prst="rect">
            <a:avLst/>
          </a:prstGeom>
          <a:noFill/>
        </p:spPr>
        <p:txBody>
          <a:bodyPr wrap="square">
            <a:spAutoFit/>
          </a:bodyPr>
          <a:lstStyle/>
          <a:p>
            <a:r>
              <a:rPr lang="en-US" altLang="ja-JP" sz="2500" b="1" dirty="0">
                <a:solidFill>
                  <a:schemeClr val="bg1"/>
                </a:solidFill>
                <a:latin typeface="+mn-ea"/>
                <a:ea typeface="Yu Gothic" panose="020B0400000000000000" pitchFamily="50" charset="-128"/>
                <a:sym typeface="Wingdings" panose="05000000000000000000" pitchFamily="2" charset="2"/>
              </a:rPr>
              <a:t>78.9%</a:t>
            </a:r>
            <a:endParaRPr lang="ja-JP" altLang="en-US" sz="2500" dirty="0">
              <a:solidFill>
                <a:schemeClr val="bg1"/>
              </a:solidFill>
            </a:endParaRPr>
          </a:p>
        </p:txBody>
      </p:sp>
      <p:sp>
        <p:nvSpPr>
          <p:cNvPr id="25" name="四角形: 角を丸くする 24">
            <a:extLst>
              <a:ext uri="{FF2B5EF4-FFF2-40B4-BE49-F238E27FC236}">
                <a16:creationId xmlns:a16="http://schemas.microsoft.com/office/drawing/2014/main" id="{5DF0C43C-A988-4257-1DD0-B455345D0EA9}"/>
              </a:ext>
            </a:extLst>
          </p:cNvPr>
          <p:cNvSpPr/>
          <p:nvPr/>
        </p:nvSpPr>
        <p:spPr>
          <a:xfrm>
            <a:off x="4670273" y="1562020"/>
            <a:ext cx="4342206" cy="3502694"/>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6" name="テキスト ボックス 25">
            <a:extLst>
              <a:ext uri="{FF2B5EF4-FFF2-40B4-BE49-F238E27FC236}">
                <a16:creationId xmlns:a16="http://schemas.microsoft.com/office/drawing/2014/main" id="{56C619C6-7B4E-7D60-4F06-138A7E993070}"/>
              </a:ext>
            </a:extLst>
          </p:cNvPr>
          <p:cNvSpPr txBox="1"/>
          <p:nvPr/>
        </p:nvSpPr>
        <p:spPr>
          <a:xfrm>
            <a:off x="5839250" y="1340116"/>
            <a:ext cx="2031715" cy="461665"/>
          </a:xfrm>
          <a:prstGeom prst="rect">
            <a:avLst/>
          </a:prstGeom>
          <a:solidFill>
            <a:schemeClr val="bg1"/>
          </a:solidFill>
        </p:spPr>
        <p:txBody>
          <a:bodyPr wrap="square">
            <a:spAutoFit/>
          </a:bodyPr>
          <a:lstStyle/>
          <a:p>
            <a:r>
              <a:rPr lang="ja-JP" altLang="en-US" sz="2400" b="1" dirty="0">
                <a:solidFill>
                  <a:schemeClr val="accent1"/>
                </a:solidFill>
                <a:latin typeface="+mn-ea"/>
                <a:ea typeface="Yu Gothic" panose="020B0400000000000000" pitchFamily="50" charset="-128"/>
                <a:sym typeface="Wingdings" panose="05000000000000000000" pitchFamily="2" charset="2"/>
              </a:rPr>
              <a:t>人格切り替え</a:t>
            </a:r>
            <a:endParaRPr lang="ja-JP" altLang="en-US" sz="2400" dirty="0">
              <a:solidFill>
                <a:schemeClr val="accent1"/>
              </a:solidFill>
            </a:endParaRPr>
          </a:p>
        </p:txBody>
      </p:sp>
      <p:grpSp>
        <p:nvGrpSpPr>
          <p:cNvPr id="35" name="グループ化 34">
            <a:extLst>
              <a:ext uri="{FF2B5EF4-FFF2-40B4-BE49-F238E27FC236}">
                <a16:creationId xmlns:a16="http://schemas.microsoft.com/office/drawing/2014/main" id="{91AEAECE-0F0E-8C3A-2185-CB2E51350D75}"/>
              </a:ext>
            </a:extLst>
          </p:cNvPr>
          <p:cNvGrpSpPr/>
          <p:nvPr/>
        </p:nvGrpSpPr>
        <p:grpSpPr>
          <a:xfrm>
            <a:off x="4746169" y="1895137"/>
            <a:ext cx="4190411" cy="3058458"/>
            <a:chOff x="4746169" y="1895137"/>
            <a:chExt cx="4190411" cy="3058458"/>
          </a:xfrm>
        </p:grpSpPr>
        <p:sp>
          <p:nvSpPr>
            <p:cNvPr id="32" name="テキスト ボックス 31">
              <a:extLst>
                <a:ext uri="{FF2B5EF4-FFF2-40B4-BE49-F238E27FC236}">
                  <a16:creationId xmlns:a16="http://schemas.microsoft.com/office/drawing/2014/main" id="{8B2A8045-1889-5B5C-24BB-BD122A8D5943}"/>
                </a:ext>
              </a:extLst>
            </p:cNvPr>
            <p:cNvSpPr txBox="1"/>
            <p:nvPr/>
          </p:nvSpPr>
          <p:spPr>
            <a:xfrm>
              <a:off x="4785861" y="1895137"/>
              <a:ext cx="4111026" cy="369332"/>
            </a:xfrm>
            <a:prstGeom prst="rect">
              <a:avLst/>
            </a:prstGeom>
            <a:noFill/>
          </p:spPr>
          <p:txBody>
            <a:bodyPr wrap="square">
              <a:spAutoFit/>
            </a:bodyPr>
            <a:lstStyle/>
            <a:p>
              <a:r>
                <a:rPr lang="ja-JP" altLang="en-US" b="1" dirty="0">
                  <a:solidFill>
                    <a:srgbClr val="000000"/>
                  </a:solidFill>
                  <a:latin typeface="+mn-ea"/>
                  <a:ea typeface="Yu Gothic" panose="020B0400000000000000" pitchFamily="50" charset="-128"/>
                  <a:sym typeface="Wingdings" panose="05000000000000000000" pitchFamily="2" charset="2"/>
                </a:rPr>
                <a:t>いずれかのタイミング人格が変わった</a:t>
              </a:r>
              <a:endParaRPr lang="ja-JP" altLang="en-US" dirty="0"/>
            </a:p>
          </p:txBody>
        </p:sp>
        <p:sp>
          <p:nvSpPr>
            <p:cNvPr id="29" name="テキスト ボックス 28">
              <a:extLst>
                <a:ext uri="{FF2B5EF4-FFF2-40B4-BE49-F238E27FC236}">
                  <a16:creationId xmlns:a16="http://schemas.microsoft.com/office/drawing/2014/main" id="{316ABC00-ABDB-2D90-BBA3-C55E206EEBD2}"/>
                </a:ext>
              </a:extLst>
            </p:cNvPr>
            <p:cNvSpPr txBox="1"/>
            <p:nvPr/>
          </p:nvSpPr>
          <p:spPr>
            <a:xfrm>
              <a:off x="5481391" y="4615041"/>
              <a:ext cx="1373717" cy="338554"/>
            </a:xfrm>
            <a:prstGeom prst="rect">
              <a:avLst/>
            </a:prstGeom>
            <a:noFill/>
          </p:spPr>
          <p:txBody>
            <a:bodyPr wrap="square">
              <a:spAutoFit/>
            </a:bodyPr>
            <a:lstStyle/>
            <a:p>
              <a:r>
                <a:rPr lang="ja-JP" altLang="en-US" sz="1600" b="1" dirty="0">
                  <a:solidFill>
                    <a:srgbClr val="000000"/>
                  </a:solidFill>
                  <a:latin typeface="+mn-ea"/>
                  <a:ea typeface="Yu Gothic" panose="020B0400000000000000" pitchFamily="50" charset="-128"/>
                  <a:sym typeface="Wingdings" panose="05000000000000000000" pitchFamily="2" charset="2"/>
                </a:rPr>
                <a:t>名乗りあり</a:t>
              </a:r>
              <a:endParaRPr lang="ja-JP" altLang="en-US" sz="1600" dirty="0"/>
            </a:p>
          </p:txBody>
        </p:sp>
        <p:sp>
          <p:nvSpPr>
            <p:cNvPr id="30" name="テキスト ボックス 29">
              <a:extLst>
                <a:ext uri="{FF2B5EF4-FFF2-40B4-BE49-F238E27FC236}">
                  <a16:creationId xmlns:a16="http://schemas.microsoft.com/office/drawing/2014/main" id="{5C48D7BA-1271-F4A7-0CFD-DAA51B410CE0}"/>
                </a:ext>
              </a:extLst>
            </p:cNvPr>
            <p:cNvSpPr txBox="1"/>
            <p:nvPr/>
          </p:nvSpPr>
          <p:spPr>
            <a:xfrm>
              <a:off x="7279598" y="4614702"/>
              <a:ext cx="1373717" cy="338554"/>
            </a:xfrm>
            <a:prstGeom prst="rect">
              <a:avLst/>
            </a:prstGeom>
            <a:noFill/>
          </p:spPr>
          <p:txBody>
            <a:bodyPr wrap="square">
              <a:spAutoFit/>
            </a:bodyPr>
            <a:lstStyle/>
            <a:p>
              <a:r>
                <a:rPr lang="ja-JP" altLang="en-US" sz="1600" b="1" dirty="0">
                  <a:solidFill>
                    <a:srgbClr val="000000"/>
                  </a:solidFill>
                  <a:latin typeface="+mn-ea"/>
                  <a:ea typeface="Yu Gothic" panose="020B0400000000000000" pitchFamily="50" charset="-128"/>
                  <a:sym typeface="Wingdings" panose="05000000000000000000" pitchFamily="2" charset="2"/>
                </a:rPr>
                <a:t>名乗りなし</a:t>
              </a:r>
              <a:endParaRPr lang="en-US" altLang="ja-JP" sz="1600" b="1" dirty="0">
                <a:solidFill>
                  <a:srgbClr val="000000"/>
                </a:solidFill>
                <a:latin typeface="+mn-ea"/>
                <a:ea typeface="Yu Gothic" panose="020B0400000000000000" pitchFamily="50" charset="-128"/>
                <a:sym typeface="Wingdings" panose="05000000000000000000" pitchFamily="2" charset="2"/>
              </a:endParaRPr>
            </a:p>
          </p:txBody>
        </p:sp>
        <p:pic>
          <p:nvPicPr>
            <p:cNvPr id="24" name="グラフィックス 23">
              <a:extLst>
                <a:ext uri="{FF2B5EF4-FFF2-40B4-BE49-F238E27FC236}">
                  <a16:creationId xmlns:a16="http://schemas.microsoft.com/office/drawing/2014/main" id="{DAC4DAEB-C371-9260-9759-F47AE2671AF9}"/>
                </a:ext>
              </a:extLst>
            </p:cNvPr>
            <p:cNvPicPr>
              <a:picLocks noChangeAspect="1"/>
            </p:cNvPicPr>
            <p:nvPr/>
          </p:nvPicPr>
          <p:blipFill>
            <a:blip r:embed="rId5">
              <a:extLst>
                <a:ext uri="{96DAC541-7B7A-43D3-8B79-37D633B846F1}">
                  <asvg:svgBlip xmlns:asvg="http://schemas.microsoft.com/office/drawing/2016/SVG/main" r:embed="rId6"/>
                </a:ext>
              </a:extLst>
            </a:blip>
            <a:srcRect l="1730" t="1856" r="1202" b="2651"/>
            <a:stretch>
              <a:fillRect/>
            </a:stretch>
          </p:blipFill>
          <p:spPr>
            <a:xfrm>
              <a:off x="4746169" y="2214008"/>
              <a:ext cx="4190411" cy="2451464"/>
            </a:xfrm>
            <a:prstGeom prst="rect">
              <a:avLst/>
            </a:prstGeom>
          </p:spPr>
        </p:pic>
        <p:sp>
          <p:nvSpPr>
            <p:cNvPr id="33" name="テキスト ボックス 32">
              <a:extLst>
                <a:ext uri="{FF2B5EF4-FFF2-40B4-BE49-F238E27FC236}">
                  <a16:creationId xmlns:a16="http://schemas.microsoft.com/office/drawing/2014/main" id="{1E7264C8-A553-CEEA-B6CF-23938B58698E}"/>
                </a:ext>
              </a:extLst>
            </p:cNvPr>
            <p:cNvSpPr txBox="1"/>
            <p:nvPr/>
          </p:nvSpPr>
          <p:spPr>
            <a:xfrm>
              <a:off x="5481391" y="3448253"/>
              <a:ext cx="1166563" cy="477054"/>
            </a:xfrm>
            <a:prstGeom prst="rect">
              <a:avLst/>
            </a:prstGeom>
            <a:noFill/>
          </p:spPr>
          <p:txBody>
            <a:bodyPr wrap="square">
              <a:spAutoFit/>
            </a:bodyPr>
            <a:lstStyle/>
            <a:p>
              <a:r>
                <a:rPr lang="en-US" altLang="ja-JP" sz="2500" b="1" dirty="0">
                  <a:solidFill>
                    <a:schemeClr val="bg1"/>
                  </a:solidFill>
                  <a:latin typeface="+mn-ea"/>
                  <a:ea typeface="Yu Gothic" panose="020B0400000000000000" pitchFamily="50" charset="-128"/>
                  <a:sym typeface="Wingdings" panose="05000000000000000000" pitchFamily="2" charset="2"/>
                </a:rPr>
                <a:t>62.5%</a:t>
              </a:r>
              <a:endParaRPr lang="ja-JP" altLang="en-US" sz="2500" dirty="0">
                <a:solidFill>
                  <a:schemeClr val="bg1"/>
                </a:solidFill>
              </a:endParaRPr>
            </a:p>
          </p:txBody>
        </p:sp>
        <p:sp>
          <p:nvSpPr>
            <p:cNvPr id="34" name="テキスト ボックス 33">
              <a:extLst>
                <a:ext uri="{FF2B5EF4-FFF2-40B4-BE49-F238E27FC236}">
                  <a16:creationId xmlns:a16="http://schemas.microsoft.com/office/drawing/2014/main" id="{DECE2C80-0B35-4766-C721-CFA44C8E0327}"/>
                </a:ext>
              </a:extLst>
            </p:cNvPr>
            <p:cNvSpPr txBox="1"/>
            <p:nvPr/>
          </p:nvSpPr>
          <p:spPr>
            <a:xfrm>
              <a:off x="7383176" y="3422854"/>
              <a:ext cx="1166563" cy="477054"/>
            </a:xfrm>
            <a:prstGeom prst="rect">
              <a:avLst/>
            </a:prstGeom>
            <a:noFill/>
          </p:spPr>
          <p:txBody>
            <a:bodyPr wrap="square">
              <a:spAutoFit/>
            </a:bodyPr>
            <a:lstStyle/>
            <a:p>
              <a:r>
                <a:rPr lang="en-US" altLang="ja-JP" sz="2500" b="1" dirty="0">
                  <a:solidFill>
                    <a:schemeClr val="bg1"/>
                  </a:solidFill>
                  <a:latin typeface="+mn-ea"/>
                  <a:ea typeface="Yu Gothic" panose="020B0400000000000000" pitchFamily="50" charset="-128"/>
                  <a:sym typeface="Wingdings" panose="05000000000000000000" pitchFamily="2" charset="2"/>
                </a:rPr>
                <a:t>54.8%</a:t>
              </a:r>
              <a:endParaRPr lang="ja-JP" altLang="en-US" sz="2500" dirty="0">
                <a:solidFill>
                  <a:schemeClr val="bg1"/>
                </a:solidFill>
              </a:endParaRPr>
            </a:p>
          </p:txBody>
        </p:sp>
      </p:grpSp>
      <p:cxnSp>
        <p:nvCxnSpPr>
          <p:cNvPr id="38" name="直線矢印コネクタ 37">
            <a:extLst>
              <a:ext uri="{FF2B5EF4-FFF2-40B4-BE49-F238E27FC236}">
                <a16:creationId xmlns:a16="http://schemas.microsoft.com/office/drawing/2014/main" id="{17DA235B-3909-385F-6036-F59AB8A6F0B9}"/>
              </a:ext>
            </a:extLst>
          </p:cNvPr>
          <p:cNvCxnSpPr>
            <a:cxnSpLocks/>
          </p:cNvCxnSpPr>
          <p:nvPr/>
        </p:nvCxnSpPr>
        <p:spPr>
          <a:xfrm flipH="1" flipV="1">
            <a:off x="2025590" y="2410015"/>
            <a:ext cx="809811" cy="384778"/>
          </a:xfrm>
          <a:prstGeom prst="straightConnector1">
            <a:avLst/>
          </a:prstGeom>
          <a:ln w="1270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41" name="直線矢印コネクタ 40">
            <a:extLst>
              <a:ext uri="{FF2B5EF4-FFF2-40B4-BE49-F238E27FC236}">
                <a16:creationId xmlns:a16="http://schemas.microsoft.com/office/drawing/2014/main" id="{1D53C4FD-8C94-CEF7-B60D-6A1F9E767EFC}"/>
              </a:ext>
            </a:extLst>
          </p:cNvPr>
          <p:cNvCxnSpPr>
            <a:cxnSpLocks/>
          </p:cNvCxnSpPr>
          <p:nvPr/>
        </p:nvCxnSpPr>
        <p:spPr>
          <a:xfrm flipH="1" flipV="1">
            <a:off x="6536267" y="3144912"/>
            <a:ext cx="846909" cy="184605"/>
          </a:xfrm>
          <a:prstGeom prst="straightConnector1">
            <a:avLst/>
          </a:prstGeom>
          <a:ln w="1270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45" name="テキスト ボックス 44">
            <a:extLst>
              <a:ext uri="{FF2B5EF4-FFF2-40B4-BE49-F238E27FC236}">
                <a16:creationId xmlns:a16="http://schemas.microsoft.com/office/drawing/2014/main" id="{5FDA0E84-4BE7-2489-DA99-374764D2D096}"/>
              </a:ext>
            </a:extLst>
          </p:cNvPr>
          <p:cNvSpPr txBox="1"/>
          <p:nvPr/>
        </p:nvSpPr>
        <p:spPr>
          <a:xfrm>
            <a:off x="2007212" y="2811034"/>
            <a:ext cx="1585934" cy="707886"/>
          </a:xfrm>
          <a:prstGeom prst="rect">
            <a:avLst/>
          </a:prstGeom>
          <a:noFill/>
        </p:spPr>
        <p:txBody>
          <a:bodyPr wrap="square">
            <a:spAutoFit/>
          </a:bodyPr>
          <a:lstStyle/>
          <a:p>
            <a:r>
              <a:rPr lang="en-US" altLang="ja-JP" sz="2000" b="1" dirty="0">
                <a:solidFill>
                  <a:srgbClr val="C00000"/>
                </a:solidFill>
                <a:latin typeface="+mn-ea"/>
                <a:ea typeface="Yu Gothic" panose="020B0400000000000000" pitchFamily="50" charset="-128"/>
                <a:sym typeface="Wingdings" panose="05000000000000000000" pitchFamily="2" charset="2"/>
              </a:rPr>
              <a:t>17Pt</a:t>
            </a:r>
          </a:p>
          <a:p>
            <a:r>
              <a:rPr lang="ja-JP" altLang="en-US" sz="2000" b="1" dirty="0">
                <a:solidFill>
                  <a:srgbClr val="C00000"/>
                </a:solidFill>
                <a:latin typeface="+mn-ea"/>
                <a:ea typeface="Yu Gothic" panose="020B0400000000000000" pitchFamily="50" charset="-128"/>
                <a:sym typeface="Wingdings" panose="05000000000000000000" pitchFamily="2" charset="2"/>
              </a:rPr>
              <a:t>増加</a:t>
            </a:r>
            <a:endParaRPr lang="ja-JP" altLang="en-US" sz="2000" dirty="0">
              <a:solidFill>
                <a:srgbClr val="C00000"/>
              </a:solidFill>
            </a:endParaRPr>
          </a:p>
        </p:txBody>
      </p:sp>
      <p:sp>
        <p:nvSpPr>
          <p:cNvPr id="46" name="テキスト ボックス 45">
            <a:extLst>
              <a:ext uri="{FF2B5EF4-FFF2-40B4-BE49-F238E27FC236}">
                <a16:creationId xmlns:a16="http://schemas.microsoft.com/office/drawing/2014/main" id="{FB6FA8A9-785F-DC0F-7004-5B8C36B8AA6D}"/>
              </a:ext>
            </a:extLst>
          </p:cNvPr>
          <p:cNvSpPr txBox="1"/>
          <p:nvPr/>
        </p:nvSpPr>
        <p:spPr>
          <a:xfrm>
            <a:off x="6625703" y="3393438"/>
            <a:ext cx="846909" cy="707886"/>
          </a:xfrm>
          <a:prstGeom prst="rect">
            <a:avLst/>
          </a:prstGeom>
          <a:noFill/>
        </p:spPr>
        <p:txBody>
          <a:bodyPr wrap="square">
            <a:spAutoFit/>
          </a:bodyPr>
          <a:lstStyle/>
          <a:p>
            <a:r>
              <a:rPr lang="en-US" altLang="ja-JP" sz="2000" b="1" dirty="0">
                <a:solidFill>
                  <a:srgbClr val="C00000"/>
                </a:solidFill>
                <a:latin typeface="+mn-ea"/>
                <a:ea typeface="Yu Gothic" panose="020B0400000000000000" pitchFamily="50" charset="-128"/>
                <a:sym typeface="Wingdings" panose="05000000000000000000" pitchFamily="2" charset="2"/>
              </a:rPr>
              <a:t>7.7%</a:t>
            </a:r>
          </a:p>
          <a:p>
            <a:r>
              <a:rPr lang="ja-JP" altLang="en-US" sz="2000" b="1" dirty="0">
                <a:solidFill>
                  <a:srgbClr val="C00000"/>
                </a:solidFill>
                <a:latin typeface="+mn-ea"/>
                <a:ea typeface="Yu Gothic" panose="020B0400000000000000" pitchFamily="50" charset="-128"/>
                <a:sym typeface="Wingdings" panose="05000000000000000000" pitchFamily="2" charset="2"/>
              </a:rPr>
              <a:t>増加</a:t>
            </a:r>
            <a:endParaRPr lang="ja-JP" altLang="en-US" sz="2000" dirty="0">
              <a:solidFill>
                <a:srgbClr val="C00000"/>
              </a:solidFill>
            </a:endParaRPr>
          </a:p>
        </p:txBody>
      </p:sp>
    </p:spTree>
    <p:extLst>
      <p:ext uri="{BB962C8B-B14F-4D97-AF65-F5344CB8AC3E}">
        <p14:creationId xmlns:p14="http://schemas.microsoft.com/office/powerpoint/2010/main" val="27566456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3064735-8F74-6060-AD13-FC165547DCF6}"/>
            </a:ext>
          </a:extLst>
        </p:cNvPr>
        <p:cNvGrpSpPr/>
        <p:nvPr/>
      </p:nvGrpSpPr>
      <p:grpSpPr>
        <a:xfrm>
          <a:off x="0" y="0"/>
          <a:ext cx="0" cy="0"/>
          <a:chOff x="0" y="0"/>
          <a:chExt cx="0" cy="0"/>
        </a:xfrm>
      </p:grpSpPr>
      <p:sp>
        <p:nvSpPr>
          <p:cNvPr id="16" name="四角形: 角を丸くする 15">
            <a:extLst>
              <a:ext uri="{FF2B5EF4-FFF2-40B4-BE49-F238E27FC236}">
                <a16:creationId xmlns:a16="http://schemas.microsoft.com/office/drawing/2014/main" id="{7BBC04A8-58F3-DFD9-D38D-A40EA3E2AED6}"/>
              </a:ext>
            </a:extLst>
          </p:cNvPr>
          <p:cNvSpPr/>
          <p:nvPr/>
        </p:nvSpPr>
        <p:spPr>
          <a:xfrm>
            <a:off x="131521" y="1534974"/>
            <a:ext cx="4402695" cy="3502694"/>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スライド番号プレースホルダー 1">
            <a:extLst>
              <a:ext uri="{FF2B5EF4-FFF2-40B4-BE49-F238E27FC236}">
                <a16:creationId xmlns:a16="http://schemas.microsoft.com/office/drawing/2014/main" id="{A260C0E3-2B59-BA64-D4A6-9B013D19A5F8}"/>
              </a:ext>
            </a:extLst>
          </p:cNvPr>
          <p:cNvSpPr>
            <a:spLocks noGrp="1"/>
          </p:cNvSpPr>
          <p:nvPr>
            <p:ph type="sldNum" sz="quarter" idx="12"/>
          </p:nvPr>
        </p:nvSpPr>
        <p:spPr/>
        <p:txBody>
          <a:bodyPr/>
          <a:lstStyle/>
          <a:p>
            <a:fld id="{18020408-E1FF-429E-A8D5-EB2A190A0D77}" type="slidenum">
              <a:rPr kumimoji="1" lang="ja-JP" altLang="en-US" smtClean="0"/>
              <a:pPr/>
              <a:t>44</a:t>
            </a:fld>
            <a:endParaRPr kumimoji="1" lang="ja-JP" altLang="en-US" sz="2400" dirty="0"/>
          </a:p>
        </p:txBody>
      </p:sp>
      <p:sp>
        <p:nvSpPr>
          <p:cNvPr id="3" name="タイトル 2">
            <a:extLst>
              <a:ext uri="{FF2B5EF4-FFF2-40B4-BE49-F238E27FC236}">
                <a16:creationId xmlns:a16="http://schemas.microsoft.com/office/drawing/2014/main" id="{284D6B58-01AA-1967-650D-D78BB5C82202}"/>
              </a:ext>
            </a:extLst>
          </p:cNvPr>
          <p:cNvSpPr>
            <a:spLocks noGrp="1"/>
          </p:cNvSpPr>
          <p:nvPr>
            <p:ph type="title"/>
          </p:nvPr>
        </p:nvSpPr>
        <p:spPr/>
        <p:txBody>
          <a:bodyPr/>
          <a:lstStyle/>
          <a:p>
            <a:r>
              <a:rPr kumimoji="1" lang="ja-JP" altLang="en-US" sz="3600" dirty="0"/>
              <a:t>考察：人格切り替え知覚について</a:t>
            </a:r>
          </a:p>
        </p:txBody>
      </p:sp>
      <p:sp>
        <p:nvSpPr>
          <p:cNvPr id="7" name="テキスト ボックス 6">
            <a:extLst>
              <a:ext uri="{FF2B5EF4-FFF2-40B4-BE49-F238E27FC236}">
                <a16:creationId xmlns:a16="http://schemas.microsoft.com/office/drawing/2014/main" id="{B462B90B-D9E9-7FE1-F456-A6670DE7EC1D}"/>
              </a:ext>
            </a:extLst>
          </p:cNvPr>
          <p:cNvSpPr txBox="1"/>
          <p:nvPr/>
        </p:nvSpPr>
        <p:spPr>
          <a:xfrm>
            <a:off x="573603" y="5203049"/>
            <a:ext cx="7996793" cy="505523"/>
          </a:xfrm>
          <a:prstGeom prst="rect">
            <a:avLst/>
          </a:prstGeom>
          <a:solidFill>
            <a:schemeClr val="bg1"/>
          </a:solidFill>
        </p:spPr>
        <p:txBody>
          <a:bodyPr wrap="square">
            <a:spAutoFit/>
          </a:bodyPr>
          <a:lstStyle/>
          <a:p>
            <a:pPr fontAlgn="base">
              <a:lnSpc>
                <a:spcPct val="150000"/>
              </a:lnSpc>
            </a:pPr>
            <a:r>
              <a:rPr lang="ja-JP" altLang="en-US" sz="2000" b="1" dirty="0">
                <a:solidFill>
                  <a:srgbClr val="000000"/>
                </a:solidFill>
                <a:latin typeface="+mn-ea"/>
                <a:ea typeface="Yu Gothic" panose="020B0400000000000000" pitchFamily="50" charset="-128"/>
                <a:sym typeface="Wingdings" panose="05000000000000000000" pitchFamily="2" charset="2"/>
              </a:rPr>
              <a:t>名乗りありの方が人格の切り替えを設定と同じ回答をする割合</a:t>
            </a:r>
            <a:r>
              <a:rPr lang="ja-JP" altLang="en-US" sz="2000" b="1" dirty="0">
                <a:solidFill>
                  <a:srgbClr val="C00000"/>
                </a:solidFill>
                <a:latin typeface="+mn-ea"/>
                <a:ea typeface="Yu Gothic" panose="020B0400000000000000" pitchFamily="50" charset="-128"/>
                <a:sym typeface="Wingdings" panose="05000000000000000000" pitchFamily="2" charset="2"/>
              </a:rPr>
              <a:t>増加</a:t>
            </a:r>
            <a:endParaRPr lang="en-US" altLang="ja-JP" sz="2000" b="1" dirty="0">
              <a:solidFill>
                <a:srgbClr val="C00000"/>
              </a:solidFill>
              <a:latin typeface="Meiryo UI" panose="020B0604030504040204" pitchFamily="50" charset="-128"/>
              <a:ea typeface="Yu Gothic" panose="020B0400000000000000" pitchFamily="50" charset="-128"/>
            </a:endParaRPr>
          </a:p>
        </p:txBody>
      </p:sp>
      <p:sp>
        <p:nvSpPr>
          <p:cNvPr id="9" name="テキスト ボックス 8">
            <a:extLst>
              <a:ext uri="{FF2B5EF4-FFF2-40B4-BE49-F238E27FC236}">
                <a16:creationId xmlns:a16="http://schemas.microsoft.com/office/drawing/2014/main" id="{00CC4B87-FBD5-0D12-FBA7-215C74C88285}"/>
              </a:ext>
            </a:extLst>
          </p:cNvPr>
          <p:cNvSpPr txBox="1"/>
          <p:nvPr/>
        </p:nvSpPr>
        <p:spPr>
          <a:xfrm>
            <a:off x="1087341" y="5855053"/>
            <a:ext cx="7112623" cy="830997"/>
          </a:xfrm>
          <a:prstGeom prst="rect">
            <a:avLst/>
          </a:prstGeom>
          <a:noFill/>
        </p:spPr>
        <p:txBody>
          <a:bodyPr wrap="square">
            <a:spAutoFit/>
          </a:bodyPr>
          <a:lstStyle/>
          <a:p>
            <a:r>
              <a:rPr lang="ja-JP" altLang="en-US" sz="2400" b="1" dirty="0"/>
              <a:t>名乗りは人格の切り替えを</a:t>
            </a:r>
            <a:r>
              <a:rPr lang="ja-JP" altLang="en-US" sz="2400" b="1" dirty="0">
                <a:solidFill>
                  <a:srgbClr val="C00000"/>
                </a:solidFill>
              </a:rPr>
              <a:t>より明確に知覚</a:t>
            </a:r>
            <a:r>
              <a:rPr lang="ja-JP" altLang="en-US" sz="2400" b="1" dirty="0"/>
              <a:t>させる効果を持つ可能性</a:t>
            </a:r>
          </a:p>
        </p:txBody>
      </p:sp>
      <p:sp>
        <p:nvSpPr>
          <p:cNvPr id="10" name="矢印: 下 9">
            <a:extLst>
              <a:ext uri="{FF2B5EF4-FFF2-40B4-BE49-F238E27FC236}">
                <a16:creationId xmlns:a16="http://schemas.microsoft.com/office/drawing/2014/main" id="{8D211DF1-4A22-5936-4426-3A6CBE3701E7}"/>
              </a:ext>
            </a:extLst>
          </p:cNvPr>
          <p:cNvSpPr/>
          <p:nvPr/>
        </p:nvSpPr>
        <p:spPr>
          <a:xfrm rot="16200000">
            <a:off x="411073" y="6000056"/>
            <a:ext cx="524937" cy="540989"/>
          </a:xfrm>
          <a:prstGeom prst="down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9FA238BA-39FD-F77B-5B65-4D6C47851F0D}"/>
              </a:ext>
            </a:extLst>
          </p:cNvPr>
          <p:cNvSpPr txBox="1"/>
          <p:nvPr/>
        </p:nvSpPr>
        <p:spPr>
          <a:xfrm>
            <a:off x="1677062" y="1331188"/>
            <a:ext cx="1496713" cy="461665"/>
          </a:xfrm>
          <a:prstGeom prst="rect">
            <a:avLst/>
          </a:prstGeom>
          <a:solidFill>
            <a:schemeClr val="bg1"/>
          </a:solidFill>
        </p:spPr>
        <p:txBody>
          <a:bodyPr wrap="square">
            <a:spAutoFit/>
          </a:bodyPr>
          <a:lstStyle/>
          <a:p>
            <a:r>
              <a:rPr lang="ja-JP" altLang="en-US" sz="2400" b="1" dirty="0">
                <a:solidFill>
                  <a:schemeClr val="accent1"/>
                </a:solidFill>
                <a:latin typeface="+mn-ea"/>
                <a:ea typeface="Yu Gothic" panose="020B0400000000000000" pitchFamily="50" charset="-128"/>
                <a:sym typeface="Wingdings" panose="05000000000000000000" pitchFamily="2" charset="2"/>
              </a:rPr>
              <a:t>人格固定</a:t>
            </a:r>
            <a:endParaRPr lang="ja-JP" altLang="en-US" sz="2400" dirty="0">
              <a:solidFill>
                <a:schemeClr val="accent1"/>
              </a:solidFill>
            </a:endParaRPr>
          </a:p>
        </p:txBody>
      </p:sp>
      <p:grpSp>
        <p:nvGrpSpPr>
          <p:cNvPr id="20" name="グループ化 19">
            <a:extLst>
              <a:ext uri="{FF2B5EF4-FFF2-40B4-BE49-F238E27FC236}">
                <a16:creationId xmlns:a16="http://schemas.microsoft.com/office/drawing/2014/main" id="{AEC5944D-B549-7CFF-DC3E-A5408C9E25B0}"/>
              </a:ext>
            </a:extLst>
          </p:cNvPr>
          <p:cNvGrpSpPr/>
          <p:nvPr/>
        </p:nvGrpSpPr>
        <p:grpSpPr>
          <a:xfrm>
            <a:off x="267578" y="1895137"/>
            <a:ext cx="4084289" cy="3070663"/>
            <a:chOff x="403047" y="1895137"/>
            <a:chExt cx="4315685" cy="3070663"/>
          </a:xfrm>
        </p:grpSpPr>
        <p:grpSp>
          <p:nvGrpSpPr>
            <p:cNvPr id="15" name="グループ化 14">
              <a:extLst>
                <a:ext uri="{FF2B5EF4-FFF2-40B4-BE49-F238E27FC236}">
                  <a16:creationId xmlns:a16="http://schemas.microsoft.com/office/drawing/2014/main" id="{73A60CA1-9699-593B-EDCF-56EAAB4DFAA5}"/>
                </a:ext>
              </a:extLst>
            </p:cNvPr>
            <p:cNvGrpSpPr/>
            <p:nvPr/>
          </p:nvGrpSpPr>
          <p:grpSpPr>
            <a:xfrm>
              <a:off x="403047" y="1895137"/>
              <a:ext cx="4315685" cy="2732109"/>
              <a:chOff x="403047" y="1323900"/>
              <a:chExt cx="4315685" cy="2732109"/>
            </a:xfrm>
          </p:grpSpPr>
          <p:pic>
            <p:nvPicPr>
              <p:cNvPr id="8" name="グラフィックス 7">
                <a:extLst>
                  <a:ext uri="{FF2B5EF4-FFF2-40B4-BE49-F238E27FC236}">
                    <a16:creationId xmlns:a16="http://schemas.microsoft.com/office/drawing/2014/main" id="{F572C777-9405-C7E9-7832-4969F3D1E29F}"/>
                  </a:ext>
                </a:extLst>
              </p:cNvPr>
              <p:cNvPicPr>
                <a:picLocks noChangeAspect="1"/>
              </p:cNvPicPr>
              <p:nvPr/>
            </p:nvPicPr>
            <p:blipFill>
              <a:blip r:embed="rId3">
                <a:extLst>
                  <a:ext uri="{96DAC541-7B7A-43D3-8B79-37D633B846F1}">
                    <asvg:svgBlip xmlns:asvg="http://schemas.microsoft.com/office/drawing/2016/SVG/main" r:embed="rId4"/>
                  </a:ext>
                </a:extLst>
              </a:blip>
              <a:srcRect l="1165" t="2601" r="1780" b="3090"/>
              <a:stretch>
                <a:fillRect/>
              </a:stretch>
            </p:blipFill>
            <p:spPr>
              <a:xfrm>
                <a:off x="403047" y="1693232"/>
                <a:ext cx="4315685" cy="2362777"/>
              </a:xfrm>
              <a:prstGeom prst="rect">
                <a:avLst/>
              </a:prstGeom>
            </p:spPr>
          </p:pic>
          <p:sp>
            <p:nvSpPr>
              <p:cNvPr id="12" name="テキスト ボックス 11">
                <a:extLst>
                  <a:ext uri="{FF2B5EF4-FFF2-40B4-BE49-F238E27FC236}">
                    <a16:creationId xmlns:a16="http://schemas.microsoft.com/office/drawing/2014/main" id="{216DC4E7-7F59-C5AB-D2F0-9B3E1088BD2D}"/>
                  </a:ext>
                </a:extLst>
              </p:cNvPr>
              <p:cNvSpPr txBox="1"/>
              <p:nvPr/>
            </p:nvSpPr>
            <p:spPr>
              <a:xfrm>
                <a:off x="1147197" y="1323900"/>
                <a:ext cx="3168949" cy="369332"/>
              </a:xfrm>
              <a:prstGeom prst="rect">
                <a:avLst/>
              </a:prstGeom>
              <a:noFill/>
            </p:spPr>
            <p:txBody>
              <a:bodyPr wrap="square">
                <a:spAutoFit/>
              </a:bodyPr>
              <a:lstStyle/>
              <a:p>
                <a:r>
                  <a:rPr lang="en-US" altLang="ja-JP" b="1" dirty="0">
                    <a:solidFill>
                      <a:srgbClr val="000000"/>
                    </a:solidFill>
                    <a:latin typeface="+mn-ea"/>
                    <a:ea typeface="Yu Gothic" panose="020B0400000000000000" pitchFamily="50" charset="-128"/>
                    <a:sym typeface="Wingdings" panose="05000000000000000000" pitchFamily="2" charset="2"/>
                  </a:rPr>
                  <a:t>AI</a:t>
                </a:r>
                <a:r>
                  <a:rPr lang="ja-JP" altLang="en-US" b="1" dirty="0">
                    <a:solidFill>
                      <a:srgbClr val="000000"/>
                    </a:solidFill>
                    <a:latin typeface="+mn-ea"/>
                    <a:ea typeface="Yu Gothic" panose="020B0400000000000000" pitchFamily="50" charset="-128"/>
                    <a:sym typeface="Wingdings" panose="05000000000000000000" pitchFamily="2" charset="2"/>
                  </a:rPr>
                  <a:t>の性格は変わっていない</a:t>
                </a:r>
                <a:endParaRPr lang="ja-JP" altLang="en-US" dirty="0"/>
              </a:p>
            </p:txBody>
          </p:sp>
        </p:grpSp>
        <p:sp>
          <p:nvSpPr>
            <p:cNvPr id="18" name="テキスト ボックス 17">
              <a:extLst>
                <a:ext uri="{FF2B5EF4-FFF2-40B4-BE49-F238E27FC236}">
                  <a16:creationId xmlns:a16="http://schemas.microsoft.com/office/drawing/2014/main" id="{D6DBEA3C-12AF-6AA3-5ECD-F3FA5CDA9001}"/>
                </a:ext>
              </a:extLst>
            </p:cNvPr>
            <p:cNvSpPr txBox="1"/>
            <p:nvPr/>
          </p:nvSpPr>
          <p:spPr>
            <a:xfrm>
              <a:off x="1143614" y="4627246"/>
              <a:ext cx="1373717" cy="338554"/>
            </a:xfrm>
            <a:prstGeom prst="rect">
              <a:avLst/>
            </a:prstGeom>
            <a:noFill/>
          </p:spPr>
          <p:txBody>
            <a:bodyPr wrap="square">
              <a:spAutoFit/>
            </a:bodyPr>
            <a:lstStyle/>
            <a:p>
              <a:r>
                <a:rPr lang="ja-JP" altLang="en-US" sz="1600" b="1" dirty="0">
                  <a:solidFill>
                    <a:srgbClr val="000000"/>
                  </a:solidFill>
                  <a:latin typeface="+mn-ea"/>
                  <a:ea typeface="Yu Gothic" panose="020B0400000000000000" pitchFamily="50" charset="-128"/>
                  <a:sym typeface="Wingdings" panose="05000000000000000000" pitchFamily="2" charset="2"/>
                </a:rPr>
                <a:t>名乗りあり</a:t>
              </a:r>
              <a:endParaRPr lang="ja-JP" altLang="en-US" sz="1600" dirty="0"/>
            </a:p>
          </p:txBody>
        </p:sp>
        <p:sp>
          <p:nvSpPr>
            <p:cNvPr id="19" name="テキスト ボックス 18">
              <a:extLst>
                <a:ext uri="{FF2B5EF4-FFF2-40B4-BE49-F238E27FC236}">
                  <a16:creationId xmlns:a16="http://schemas.microsoft.com/office/drawing/2014/main" id="{BBE51613-7914-4596-1058-4837E03FC5BC}"/>
                </a:ext>
              </a:extLst>
            </p:cNvPr>
            <p:cNvSpPr txBox="1"/>
            <p:nvPr/>
          </p:nvSpPr>
          <p:spPr>
            <a:xfrm>
              <a:off x="3116350" y="4614702"/>
              <a:ext cx="1373717" cy="338554"/>
            </a:xfrm>
            <a:prstGeom prst="rect">
              <a:avLst/>
            </a:prstGeom>
            <a:noFill/>
          </p:spPr>
          <p:txBody>
            <a:bodyPr wrap="square">
              <a:spAutoFit/>
            </a:bodyPr>
            <a:lstStyle/>
            <a:p>
              <a:r>
                <a:rPr lang="ja-JP" altLang="en-US" sz="1600" b="1" dirty="0">
                  <a:solidFill>
                    <a:srgbClr val="000000"/>
                  </a:solidFill>
                  <a:latin typeface="+mn-ea"/>
                  <a:ea typeface="Yu Gothic" panose="020B0400000000000000" pitchFamily="50" charset="-128"/>
                  <a:sym typeface="Wingdings" panose="05000000000000000000" pitchFamily="2" charset="2"/>
                </a:rPr>
                <a:t>名乗りなし</a:t>
              </a:r>
              <a:endParaRPr lang="en-US" altLang="ja-JP" sz="1600" b="1" dirty="0">
                <a:solidFill>
                  <a:srgbClr val="000000"/>
                </a:solidFill>
                <a:latin typeface="+mn-ea"/>
                <a:ea typeface="Yu Gothic" panose="020B0400000000000000" pitchFamily="50" charset="-128"/>
                <a:sym typeface="Wingdings" panose="05000000000000000000" pitchFamily="2" charset="2"/>
              </a:endParaRPr>
            </a:p>
          </p:txBody>
        </p:sp>
      </p:grpSp>
      <p:sp>
        <p:nvSpPr>
          <p:cNvPr id="21" name="テキスト ボックス 20">
            <a:extLst>
              <a:ext uri="{FF2B5EF4-FFF2-40B4-BE49-F238E27FC236}">
                <a16:creationId xmlns:a16="http://schemas.microsoft.com/office/drawing/2014/main" id="{76795021-B286-FCD4-137C-FC4C7851B7DE}"/>
              </a:ext>
            </a:extLst>
          </p:cNvPr>
          <p:cNvSpPr txBox="1"/>
          <p:nvPr/>
        </p:nvSpPr>
        <p:spPr>
          <a:xfrm>
            <a:off x="990285" y="2900286"/>
            <a:ext cx="1166563" cy="477054"/>
          </a:xfrm>
          <a:prstGeom prst="rect">
            <a:avLst/>
          </a:prstGeom>
          <a:noFill/>
        </p:spPr>
        <p:txBody>
          <a:bodyPr wrap="square">
            <a:spAutoFit/>
          </a:bodyPr>
          <a:lstStyle/>
          <a:p>
            <a:r>
              <a:rPr lang="en-US" altLang="ja-JP" sz="2500" b="1" dirty="0">
                <a:solidFill>
                  <a:schemeClr val="bg1"/>
                </a:solidFill>
                <a:latin typeface="+mn-ea"/>
                <a:ea typeface="Yu Gothic" panose="020B0400000000000000" pitchFamily="50" charset="-128"/>
                <a:sym typeface="Wingdings" panose="05000000000000000000" pitchFamily="2" charset="2"/>
              </a:rPr>
              <a:t>95.9%</a:t>
            </a:r>
            <a:endParaRPr lang="ja-JP" altLang="en-US" sz="2500" dirty="0">
              <a:solidFill>
                <a:schemeClr val="bg1"/>
              </a:solidFill>
            </a:endParaRPr>
          </a:p>
        </p:txBody>
      </p:sp>
      <p:sp>
        <p:nvSpPr>
          <p:cNvPr id="22" name="テキスト ボックス 21">
            <a:extLst>
              <a:ext uri="{FF2B5EF4-FFF2-40B4-BE49-F238E27FC236}">
                <a16:creationId xmlns:a16="http://schemas.microsoft.com/office/drawing/2014/main" id="{70AE5402-401C-D1F6-AB40-6AA67D76E331}"/>
              </a:ext>
            </a:extLst>
          </p:cNvPr>
          <p:cNvSpPr txBox="1"/>
          <p:nvPr/>
        </p:nvSpPr>
        <p:spPr>
          <a:xfrm>
            <a:off x="2835401" y="2900286"/>
            <a:ext cx="1166563" cy="477054"/>
          </a:xfrm>
          <a:prstGeom prst="rect">
            <a:avLst/>
          </a:prstGeom>
          <a:noFill/>
        </p:spPr>
        <p:txBody>
          <a:bodyPr wrap="square">
            <a:spAutoFit/>
          </a:bodyPr>
          <a:lstStyle/>
          <a:p>
            <a:r>
              <a:rPr lang="en-US" altLang="ja-JP" sz="2500" b="1" dirty="0">
                <a:solidFill>
                  <a:schemeClr val="bg1"/>
                </a:solidFill>
                <a:latin typeface="+mn-ea"/>
                <a:ea typeface="Yu Gothic" panose="020B0400000000000000" pitchFamily="50" charset="-128"/>
                <a:sym typeface="Wingdings" panose="05000000000000000000" pitchFamily="2" charset="2"/>
              </a:rPr>
              <a:t>78.9%</a:t>
            </a:r>
            <a:endParaRPr lang="ja-JP" altLang="en-US" sz="2500" dirty="0">
              <a:solidFill>
                <a:schemeClr val="bg1"/>
              </a:solidFill>
            </a:endParaRPr>
          </a:p>
        </p:txBody>
      </p:sp>
      <p:sp>
        <p:nvSpPr>
          <p:cNvPr id="25" name="四角形: 角を丸くする 24">
            <a:extLst>
              <a:ext uri="{FF2B5EF4-FFF2-40B4-BE49-F238E27FC236}">
                <a16:creationId xmlns:a16="http://schemas.microsoft.com/office/drawing/2014/main" id="{3F79A705-3FE6-FD67-C844-ADCEEEC40C0B}"/>
              </a:ext>
            </a:extLst>
          </p:cNvPr>
          <p:cNvSpPr/>
          <p:nvPr/>
        </p:nvSpPr>
        <p:spPr>
          <a:xfrm>
            <a:off x="4670273" y="1562020"/>
            <a:ext cx="4342206" cy="3502694"/>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6" name="テキスト ボックス 25">
            <a:extLst>
              <a:ext uri="{FF2B5EF4-FFF2-40B4-BE49-F238E27FC236}">
                <a16:creationId xmlns:a16="http://schemas.microsoft.com/office/drawing/2014/main" id="{9F8B3A2B-377B-AB98-4299-C64C2C5B23D1}"/>
              </a:ext>
            </a:extLst>
          </p:cNvPr>
          <p:cNvSpPr txBox="1"/>
          <p:nvPr/>
        </p:nvSpPr>
        <p:spPr>
          <a:xfrm>
            <a:off x="5839250" y="1340116"/>
            <a:ext cx="2031715" cy="461665"/>
          </a:xfrm>
          <a:prstGeom prst="rect">
            <a:avLst/>
          </a:prstGeom>
          <a:solidFill>
            <a:schemeClr val="bg1"/>
          </a:solidFill>
        </p:spPr>
        <p:txBody>
          <a:bodyPr wrap="square">
            <a:spAutoFit/>
          </a:bodyPr>
          <a:lstStyle/>
          <a:p>
            <a:r>
              <a:rPr lang="ja-JP" altLang="en-US" sz="2400" b="1" dirty="0">
                <a:solidFill>
                  <a:schemeClr val="accent1"/>
                </a:solidFill>
                <a:latin typeface="+mn-ea"/>
                <a:ea typeface="Yu Gothic" panose="020B0400000000000000" pitchFamily="50" charset="-128"/>
                <a:sym typeface="Wingdings" panose="05000000000000000000" pitchFamily="2" charset="2"/>
              </a:rPr>
              <a:t>人格切り替え</a:t>
            </a:r>
            <a:endParaRPr lang="ja-JP" altLang="en-US" sz="2400" dirty="0">
              <a:solidFill>
                <a:schemeClr val="accent1"/>
              </a:solidFill>
            </a:endParaRPr>
          </a:p>
        </p:txBody>
      </p:sp>
      <p:grpSp>
        <p:nvGrpSpPr>
          <p:cNvPr id="35" name="グループ化 34">
            <a:extLst>
              <a:ext uri="{FF2B5EF4-FFF2-40B4-BE49-F238E27FC236}">
                <a16:creationId xmlns:a16="http://schemas.microsoft.com/office/drawing/2014/main" id="{A57EF74F-E35C-697E-B6DD-197B9831DEC9}"/>
              </a:ext>
            </a:extLst>
          </p:cNvPr>
          <p:cNvGrpSpPr/>
          <p:nvPr/>
        </p:nvGrpSpPr>
        <p:grpSpPr>
          <a:xfrm>
            <a:off x="4746169" y="1895137"/>
            <a:ext cx="4190411" cy="3058458"/>
            <a:chOff x="4746169" y="1895137"/>
            <a:chExt cx="4190411" cy="3058458"/>
          </a:xfrm>
        </p:grpSpPr>
        <p:sp>
          <p:nvSpPr>
            <p:cNvPr id="32" name="テキスト ボックス 31">
              <a:extLst>
                <a:ext uri="{FF2B5EF4-FFF2-40B4-BE49-F238E27FC236}">
                  <a16:creationId xmlns:a16="http://schemas.microsoft.com/office/drawing/2014/main" id="{F94F50AE-5142-3197-F945-9CB318A232DB}"/>
                </a:ext>
              </a:extLst>
            </p:cNvPr>
            <p:cNvSpPr txBox="1"/>
            <p:nvPr/>
          </p:nvSpPr>
          <p:spPr>
            <a:xfrm>
              <a:off x="4785861" y="1895137"/>
              <a:ext cx="4111026" cy="369332"/>
            </a:xfrm>
            <a:prstGeom prst="rect">
              <a:avLst/>
            </a:prstGeom>
            <a:noFill/>
          </p:spPr>
          <p:txBody>
            <a:bodyPr wrap="square">
              <a:spAutoFit/>
            </a:bodyPr>
            <a:lstStyle/>
            <a:p>
              <a:r>
                <a:rPr lang="ja-JP" altLang="en-US" b="1" dirty="0">
                  <a:solidFill>
                    <a:srgbClr val="000000"/>
                  </a:solidFill>
                  <a:latin typeface="+mn-ea"/>
                  <a:ea typeface="Yu Gothic" panose="020B0400000000000000" pitchFamily="50" charset="-128"/>
                  <a:sym typeface="Wingdings" panose="05000000000000000000" pitchFamily="2" charset="2"/>
                </a:rPr>
                <a:t>いずれかのタイミング人格が変わった</a:t>
              </a:r>
              <a:endParaRPr lang="ja-JP" altLang="en-US" dirty="0"/>
            </a:p>
          </p:txBody>
        </p:sp>
        <p:sp>
          <p:nvSpPr>
            <p:cNvPr id="29" name="テキスト ボックス 28">
              <a:extLst>
                <a:ext uri="{FF2B5EF4-FFF2-40B4-BE49-F238E27FC236}">
                  <a16:creationId xmlns:a16="http://schemas.microsoft.com/office/drawing/2014/main" id="{8336B819-31E1-8513-FD24-DF7C3A68BA73}"/>
                </a:ext>
              </a:extLst>
            </p:cNvPr>
            <p:cNvSpPr txBox="1"/>
            <p:nvPr/>
          </p:nvSpPr>
          <p:spPr>
            <a:xfrm>
              <a:off x="5481391" y="4615041"/>
              <a:ext cx="1373717" cy="338554"/>
            </a:xfrm>
            <a:prstGeom prst="rect">
              <a:avLst/>
            </a:prstGeom>
            <a:noFill/>
          </p:spPr>
          <p:txBody>
            <a:bodyPr wrap="square">
              <a:spAutoFit/>
            </a:bodyPr>
            <a:lstStyle/>
            <a:p>
              <a:r>
                <a:rPr lang="ja-JP" altLang="en-US" sz="1600" b="1" dirty="0">
                  <a:solidFill>
                    <a:srgbClr val="000000"/>
                  </a:solidFill>
                  <a:latin typeface="+mn-ea"/>
                  <a:ea typeface="Yu Gothic" panose="020B0400000000000000" pitchFamily="50" charset="-128"/>
                  <a:sym typeface="Wingdings" panose="05000000000000000000" pitchFamily="2" charset="2"/>
                </a:rPr>
                <a:t>名乗りあり</a:t>
              </a:r>
              <a:endParaRPr lang="ja-JP" altLang="en-US" sz="1600" dirty="0"/>
            </a:p>
          </p:txBody>
        </p:sp>
        <p:sp>
          <p:nvSpPr>
            <p:cNvPr id="30" name="テキスト ボックス 29">
              <a:extLst>
                <a:ext uri="{FF2B5EF4-FFF2-40B4-BE49-F238E27FC236}">
                  <a16:creationId xmlns:a16="http://schemas.microsoft.com/office/drawing/2014/main" id="{D44DBB65-BCB7-78B5-ABF8-365F8C4BA37F}"/>
                </a:ext>
              </a:extLst>
            </p:cNvPr>
            <p:cNvSpPr txBox="1"/>
            <p:nvPr/>
          </p:nvSpPr>
          <p:spPr>
            <a:xfrm>
              <a:off x="7279598" y="4614702"/>
              <a:ext cx="1373717" cy="338554"/>
            </a:xfrm>
            <a:prstGeom prst="rect">
              <a:avLst/>
            </a:prstGeom>
            <a:noFill/>
          </p:spPr>
          <p:txBody>
            <a:bodyPr wrap="square">
              <a:spAutoFit/>
            </a:bodyPr>
            <a:lstStyle/>
            <a:p>
              <a:r>
                <a:rPr lang="ja-JP" altLang="en-US" sz="1600" b="1" dirty="0">
                  <a:solidFill>
                    <a:srgbClr val="000000"/>
                  </a:solidFill>
                  <a:latin typeface="+mn-ea"/>
                  <a:ea typeface="Yu Gothic" panose="020B0400000000000000" pitchFamily="50" charset="-128"/>
                  <a:sym typeface="Wingdings" panose="05000000000000000000" pitchFamily="2" charset="2"/>
                </a:rPr>
                <a:t>名乗りなし</a:t>
              </a:r>
              <a:endParaRPr lang="en-US" altLang="ja-JP" sz="1600" b="1" dirty="0">
                <a:solidFill>
                  <a:srgbClr val="000000"/>
                </a:solidFill>
                <a:latin typeface="+mn-ea"/>
                <a:ea typeface="Yu Gothic" panose="020B0400000000000000" pitchFamily="50" charset="-128"/>
                <a:sym typeface="Wingdings" panose="05000000000000000000" pitchFamily="2" charset="2"/>
              </a:endParaRPr>
            </a:p>
          </p:txBody>
        </p:sp>
        <p:pic>
          <p:nvPicPr>
            <p:cNvPr id="24" name="グラフィックス 23">
              <a:extLst>
                <a:ext uri="{FF2B5EF4-FFF2-40B4-BE49-F238E27FC236}">
                  <a16:creationId xmlns:a16="http://schemas.microsoft.com/office/drawing/2014/main" id="{14A7B36F-D801-E190-976B-1BE2E74FE100}"/>
                </a:ext>
              </a:extLst>
            </p:cNvPr>
            <p:cNvPicPr>
              <a:picLocks noChangeAspect="1"/>
            </p:cNvPicPr>
            <p:nvPr/>
          </p:nvPicPr>
          <p:blipFill>
            <a:blip r:embed="rId5">
              <a:extLst>
                <a:ext uri="{96DAC541-7B7A-43D3-8B79-37D633B846F1}">
                  <asvg:svgBlip xmlns:asvg="http://schemas.microsoft.com/office/drawing/2016/SVG/main" r:embed="rId6"/>
                </a:ext>
              </a:extLst>
            </a:blip>
            <a:srcRect l="1730" t="1856" r="1202" b="2651"/>
            <a:stretch>
              <a:fillRect/>
            </a:stretch>
          </p:blipFill>
          <p:spPr>
            <a:xfrm>
              <a:off x="4746169" y="2214008"/>
              <a:ext cx="4190411" cy="2451464"/>
            </a:xfrm>
            <a:prstGeom prst="rect">
              <a:avLst/>
            </a:prstGeom>
          </p:spPr>
        </p:pic>
        <p:sp>
          <p:nvSpPr>
            <p:cNvPr id="33" name="テキスト ボックス 32">
              <a:extLst>
                <a:ext uri="{FF2B5EF4-FFF2-40B4-BE49-F238E27FC236}">
                  <a16:creationId xmlns:a16="http://schemas.microsoft.com/office/drawing/2014/main" id="{CF4943AA-0A19-2016-3F0D-464096F605C7}"/>
                </a:ext>
              </a:extLst>
            </p:cNvPr>
            <p:cNvSpPr txBox="1"/>
            <p:nvPr/>
          </p:nvSpPr>
          <p:spPr>
            <a:xfrm>
              <a:off x="5481391" y="3448253"/>
              <a:ext cx="1166563" cy="477054"/>
            </a:xfrm>
            <a:prstGeom prst="rect">
              <a:avLst/>
            </a:prstGeom>
            <a:noFill/>
          </p:spPr>
          <p:txBody>
            <a:bodyPr wrap="square">
              <a:spAutoFit/>
            </a:bodyPr>
            <a:lstStyle/>
            <a:p>
              <a:r>
                <a:rPr lang="en-US" altLang="ja-JP" sz="2500" b="1" dirty="0">
                  <a:solidFill>
                    <a:schemeClr val="bg1"/>
                  </a:solidFill>
                  <a:latin typeface="+mn-ea"/>
                  <a:ea typeface="Yu Gothic" panose="020B0400000000000000" pitchFamily="50" charset="-128"/>
                  <a:sym typeface="Wingdings" panose="05000000000000000000" pitchFamily="2" charset="2"/>
                </a:rPr>
                <a:t>62.5%</a:t>
              </a:r>
              <a:endParaRPr lang="ja-JP" altLang="en-US" sz="2500" dirty="0">
                <a:solidFill>
                  <a:schemeClr val="bg1"/>
                </a:solidFill>
              </a:endParaRPr>
            </a:p>
          </p:txBody>
        </p:sp>
        <p:sp>
          <p:nvSpPr>
            <p:cNvPr id="34" name="テキスト ボックス 33">
              <a:extLst>
                <a:ext uri="{FF2B5EF4-FFF2-40B4-BE49-F238E27FC236}">
                  <a16:creationId xmlns:a16="http://schemas.microsoft.com/office/drawing/2014/main" id="{9E6FAE32-FBAA-D055-3267-F5F2BE333146}"/>
                </a:ext>
              </a:extLst>
            </p:cNvPr>
            <p:cNvSpPr txBox="1"/>
            <p:nvPr/>
          </p:nvSpPr>
          <p:spPr>
            <a:xfrm>
              <a:off x="7383176" y="3422854"/>
              <a:ext cx="1166563" cy="477054"/>
            </a:xfrm>
            <a:prstGeom prst="rect">
              <a:avLst/>
            </a:prstGeom>
            <a:noFill/>
          </p:spPr>
          <p:txBody>
            <a:bodyPr wrap="square">
              <a:spAutoFit/>
            </a:bodyPr>
            <a:lstStyle/>
            <a:p>
              <a:r>
                <a:rPr lang="en-US" altLang="ja-JP" sz="2500" b="1" dirty="0">
                  <a:solidFill>
                    <a:schemeClr val="bg1"/>
                  </a:solidFill>
                  <a:latin typeface="+mn-ea"/>
                  <a:ea typeface="Yu Gothic" panose="020B0400000000000000" pitchFamily="50" charset="-128"/>
                  <a:sym typeface="Wingdings" panose="05000000000000000000" pitchFamily="2" charset="2"/>
                </a:rPr>
                <a:t>54.8%</a:t>
              </a:r>
              <a:endParaRPr lang="ja-JP" altLang="en-US" sz="2500" dirty="0">
                <a:solidFill>
                  <a:schemeClr val="bg1"/>
                </a:solidFill>
              </a:endParaRPr>
            </a:p>
          </p:txBody>
        </p:sp>
      </p:grpSp>
    </p:spTree>
    <p:extLst>
      <p:ext uri="{BB962C8B-B14F-4D97-AF65-F5344CB8AC3E}">
        <p14:creationId xmlns:p14="http://schemas.microsoft.com/office/powerpoint/2010/main" val="4188202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B188274C-D132-3C1D-1CFE-73D18AD536A2}"/>
              </a:ext>
            </a:extLst>
          </p:cNvPr>
          <p:cNvSpPr/>
          <p:nvPr/>
        </p:nvSpPr>
        <p:spPr>
          <a:xfrm>
            <a:off x="266991" y="1368702"/>
            <a:ext cx="8610017" cy="3546153"/>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スライド番号プレースホルダー 1">
            <a:extLst>
              <a:ext uri="{FF2B5EF4-FFF2-40B4-BE49-F238E27FC236}">
                <a16:creationId xmlns:a16="http://schemas.microsoft.com/office/drawing/2014/main" id="{FDD801E6-57A4-7866-8DC9-85E1BB784688}"/>
              </a:ext>
            </a:extLst>
          </p:cNvPr>
          <p:cNvSpPr>
            <a:spLocks noGrp="1"/>
          </p:cNvSpPr>
          <p:nvPr>
            <p:ph type="sldNum" sz="quarter" idx="12"/>
          </p:nvPr>
        </p:nvSpPr>
        <p:spPr/>
        <p:txBody>
          <a:bodyPr/>
          <a:lstStyle/>
          <a:p>
            <a:fld id="{18020408-E1FF-429E-A8D5-EB2A190A0D77}" type="slidenum">
              <a:rPr kumimoji="1" lang="ja-JP" altLang="en-US" smtClean="0"/>
              <a:pPr/>
              <a:t>45</a:t>
            </a:fld>
            <a:endParaRPr kumimoji="1" lang="ja-JP" altLang="en-US" sz="2400" dirty="0"/>
          </a:p>
        </p:txBody>
      </p:sp>
      <p:sp>
        <p:nvSpPr>
          <p:cNvPr id="3" name="タイトル 2">
            <a:extLst>
              <a:ext uri="{FF2B5EF4-FFF2-40B4-BE49-F238E27FC236}">
                <a16:creationId xmlns:a16="http://schemas.microsoft.com/office/drawing/2014/main" id="{06824E31-E88D-0943-FFE9-24F7BA35A896}"/>
              </a:ext>
            </a:extLst>
          </p:cNvPr>
          <p:cNvSpPr>
            <a:spLocks noGrp="1"/>
          </p:cNvSpPr>
          <p:nvPr>
            <p:ph type="title"/>
          </p:nvPr>
        </p:nvSpPr>
        <p:spPr/>
        <p:txBody>
          <a:bodyPr/>
          <a:lstStyle/>
          <a:p>
            <a:r>
              <a:rPr kumimoji="1" lang="ja-JP" altLang="en-US" sz="3600" dirty="0"/>
              <a:t>考察：</a:t>
            </a:r>
            <a:r>
              <a:rPr kumimoji="1" lang="en-US" altLang="ja-JP" sz="3600" dirty="0"/>
              <a:t>LLM</a:t>
            </a:r>
            <a:r>
              <a:rPr kumimoji="1" lang="ja-JP" altLang="en-US" sz="3600" dirty="0"/>
              <a:t>への認識について</a:t>
            </a:r>
          </a:p>
        </p:txBody>
      </p:sp>
      <p:sp>
        <p:nvSpPr>
          <p:cNvPr id="4" name="テキスト ボックス 3">
            <a:extLst>
              <a:ext uri="{FF2B5EF4-FFF2-40B4-BE49-F238E27FC236}">
                <a16:creationId xmlns:a16="http://schemas.microsoft.com/office/drawing/2014/main" id="{5FE389B3-E5F1-EC0E-C7EF-86969C56C0BD}"/>
              </a:ext>
            </a:extLst>
          </p:cNvPr>
          <p:cNvSpPr txBox="1"/>
          <p:nvPr/>
        </p:nvSpPr>
        <p:spPr>
          <a:xfrm>
            <a:off x="554920" y="1515197"/>
            <a:ext cx="7713136" cy="3200876"/>
          </a:xfrm>
          <a:prstGeom prst="rect">
            <a:avLst/>
          </a:prstGeom>
          <a:noFill/>
        </p:spPr>
        <p:txBody>
          <a:bodyPr wrap="square">
            <a:spAutoFit/>
          </a:bodyPr>
          <a:lstStyle/>
          <a:p>
            <a:pPr algn="l" rtl="0" fontAlgn="base">
              <a:buNone/>
            </a:pPr>
            <a:r>
              <a:rPr lang="ja-JP" altLang="en-US" sz="2000" b="1" dirty="0">
                <a:solidFill>
                  <a:schemeClr val="accent1"/>
                </a:solidFill>
                <a:latin typeface="Meiryo UI" panose="020B0604030504040204" pitchFamily="50" charset="-128"/>
                <a:ea typeface="Yu Gothic" panose="020B0400000000000000" pitchFamily="50" charset="-128"/>
              </a:rPr>
              <a:t>提示内容</a:t>
            </a:r>
            <a:endParaRPr lang="en-US" altLang="ja-JP" sz="2000" b="1" dirty="0">
              <a:solidFill>
                <a:schemeClr val="accent1"/>
              </a:solidFill>
              <a:latin typeface="Meiryo UI" panose="020B0604030504040204" pitchFamily="50" charset="-128"/>
              <a:ea typeface="Yu Gothic" panose="020B0400000000000000" pitchFamily="50" charset="-128"/>
            </a:endParaRPr>
          </a:p>
          <a:p>
            <a:pPr algn="l" rtl="0" fontAlgn="base">
              <a:buNone/>
            </a:pPr>
            <a:r>
              <a:rPr lang="en-US" altLang="ja-JP" b="1" i="0" u="none" strike="noStrike" dirty="0">
                <a:effectLst/>
                <a:latin typeface="+mn-ea"/>
              </a:rPr>
              <a:t>LLM</a:t>
            </a:r>
            <a:r>
              <a:rPr lang="ja-JP" altLang="en-US" b="1" i="0" u="none" strike="noStrike" dirty="0">
                <a:effectLst/>
                <a:latin typeface="+mn-ea"/>
              </a:rPr>
              <a:t>が連続して作業を失敗</a:t>
            </a:r>
            <a:endParaRPr lang="en-US" altLang="ja-JP" b="1" i="0" u="none" strike="noStrike" dirty="0">
              <a:effectLst/>
              <a:latin typeface="+mn-ea"/>
            </a:endParaRPr>
          </a:p>
          <a:p>
            <a:pPr algn="l" rtl="0" fontAlgn="base">
              <a:buNone/>
            </a:pPr>
            <a:endParaRPr lang="en-US" altLang="ja-JP" b="1" i="0" u="none" strike="noStrike" dirty="0">
              <a:effectLst/>
              <a:latin typeface="+mn-ea"/>
            </a:endParaRPr>
          </a:p>
          <a:p>
            <a:pPr algn="l" rtl="0" fontAlgn="base">
              <a:buNone/>
            </a:pPr>
            <a:r>
              <a:rPr lang="ja-JP" altLang="en-US" sz="2000" b="1" i="0" u="none" strike="noStrike" dirty="0">
                <a:solidFill>
                  <a:schemeClr val="accent1"/>
                </a:solidFill>
                <a:effectLst/>
                <a:latin typeface="Meiryo UI" panose="020B0604030504040204" pitchFamily="50" charset="-128"/>
                <a:ea typeface="Yu Gothic" panose="020B0400000000000000" pitchFamily="50" charset="-128"/>
              </a:rPr>
              <a:t>アンケート項目の平均値</a:t>
            </a:r>
            <a:endParaRPr lang="en-US" altLang="ja-JP" sz="2000" b="1" i="0" u="none" strike="noStrike" dirty="0">
              <a:solidFill>
                <a:schemeClr val="accent1"/>
              </a:solidFill>
              <a:effectLst/>
              <a:latin typeface="Meiryo UI" panose="020B0604030504040204" pitchFamily="50" charset="-128"/>
              <a:ea typeface="Yu Gothic" panose="020B0400000000000000" pitchFamily="50" charset="-128"/>
            </a:endParaRPr>
          </a:p>
          <a:p>
            <a:r>
              <a:rPr lang="ja-JP" altLang="en-US" b="1" dirty="0">
                <a:latin typeface="+mn-ea"/>
              </a:rPr>
              <a:t>「</a:t>
            </a:r>
            <a:r>
              <a:rPr lang="en-US" altLang="ja-JP" b="1" dirty="0">
                <a:latin typeface="+mn-ea"/>
              </a:rPr>
              <a:t>Q4.</a:t>
            </a:r>
            <a:r>
              <a:rPr kumimoji="1" lang="en-US" altLang="ja-JP" b="1" dirty="0">
                <a:solidFill>
                  <a:srgbClr val="FF0000"/>
                </a:solidFill>
                <a:latin typeface="游ゴシック" panose="020B0400000000000000" pitchFamily="50" charset="-128"/>
              </a:rPr>
              <a:t> </a:t>
            </a:r>
            <a:r>
              <a:rPr kumimoji="1" lang="en-US" altLang="ja-JP" b="1" dirty="0">
                <a:latin typeface="游ゴシック" panose="020B0400000000000000" pitchFamily="50" charset="-128"/>
              </a:rPr>
              <a:t>AI</a:t>
            </a:r>
            <a:r>
              <a:rPr kumimoji="1" lang="ja-JP" altLang="en-US" b="1" dirty="0">
                <a:latin typeface="游ゴシック" panose="020B0400000000000000" pitchFamily="50" charset="-128"/>
              </a:rPr>
              <a:t>は作業をうまく行う」</a:t>
            </a:r>
            <a:r>
              <a:rPr kumimoji="1" lang="en-US" altLang="ja-JP" b="1" dirty="0">
                <a:latin typeface="游ゴシック" panose="020B0400000000000000" pitchFamily="50" charset="-128"/>
                <a:sym typeface="Wingdings" panose="05000000000000000000" pitchFamily="2" charset="2"/>
              </a:rPr>
              <a:t></a:t>
            </a:r>
            <a:r>
              <a:rPr kumimoji="1" lang="ja-JP" altLang="en-US" b="1" dirty="0">
                <a:latin typeface="游ゴシック" panose="020B0400000000000000" pitchFamily="50" charset="-128"/>
                <a:sym typeface="Wingdings" panose="05000000000000000000" pitchFamily="2" charset="2"/>
              </a:rPr>
              <a:t> すべての条件で</a:t>
            </a:r>
            <a:r>
              <a:rPr kumimoji="1" lang="en-US" altLang="ja-JP" b="1" dirty="0">
                <a:solidFill>
                  <a:srgbClr val="C00000"/>
                </a:solidFill>
                <a:latin typeface="游ゴシック" panose="020B0400000000000000" pitchFamily="50" charset="-128"/>
                <a:sym typeface="Wingdings" panose="05000000000000000000" pitchFamily="2" charset="2"/>
              </a:rPr>
              <a:t>3</a:t>
            </a:r>
            <a:r>
              <a:rPr kumimoji="1" lang="ja-JP" altLang="en-US" b="1" dirty="0">
                <a:solidFill>
                  <a:srgbClr val="C00000"/>
                </a:solidFill>
                <a:latin typeface="游ゴシック" panose="020B0400000000000000" pitchFamily="50" charset="-128"/>
                <a:sym typeface="Wingdings" panose="05000000000000000000" pitchFamily="2" charset="2"/>
              </a:rPr>
              <a:t>以下</a:t>
            </a:r>
            <a:endParaRPr kumimoji="1" lang="en-US" altLang="ja-JP" b="1" dirty="0">
              <a:solidFill>
                <a:srgbClr val="C00000"/>
              </a:solidFill>
              <a:latin typeface="游ゴシック" panose="020B0400000000000000" pitchFamily="50" charset="-128"/>
              <a:sym typeface="Wingdings" panose="05000000000000000000" pitchFamily="2" charset="2"/>
            </a:endParaRPr>
          </a:p>
          <a:p>
            <a:r>
              <a:rPr lang="ja-JP" altLang="en-US" b="1" dirty="0">
                <a:latin typeface="+mn-ea"/>
              </a:rPr>
              <a:t>「</a:t>
            </a:r>
            <a:r>
              <a:rPr lang="en-US" altLang="ja-JP" b="1" dirty="0">
                <a:latin typeface="+mn-ea"/>
              </a:rPr>
              <a:t>Q5.</a:t>
            </a:r>
            <a:r>
              <a:rPr kumimoji="1" lang="en-US" altLang="ja-JP" b="1" dirty="0">
                <a:solidFill>
                  <a:srgbClr val="FF0000"/>
                </a:solidFill>
                <a:latin typeface="游ゴシック" panose="020B0400000000000000" pitchFamily="50" charset="-128"/>
              </a:rPr>
              <a:t> </a:t>
            </a:r>
            <a:r>
              <a:rPr kumimoji="1" lang="en-US" altLang="ja-JP" b="1" dirty="0">
                <a:latin typeface="游ゴシック" panose="020B0400000000000000" pitchFamily="50" charset="-128"/>
              </a:rPr>
              <a:t>AI</a:t>
            </a:r>
            <a:r>
              <a:rPr kumimoji="1" lang="ja-JP" altLang="en-US" b="1" dirty="0">
                <a:latin typeface="游ゴシック" panose="020B0400000000000000" pitchFamily="50" charset="-128"/>
              </a:rPr>
              <a:t>は好感が持てる」</a:t>
            </a:r>
            <a:r>
              <a:rPr kumimoji="1" lang="en-US" altLang="ja-JP" b="1" dirty="0">
                <a:latin typeface="游ゴシック" panose="020B0400000000000000" pitchFamily="50" charset="-128"/>
                <a:sym typeface="Wingdings" panose="05000000000000000000" pitchFamily="2" charset="2"/>
              </a:rPr>
              <a:t></a:t>
            </a:r>
            <a:r>
              <a:rPr kumimoji="1" lang="ja-JP" altLang="en-US" b="1" dirty="0">
                <a:latin typeface="游ゴシック" panose="020B0400000000000000" pitchFamily="50" charset="-128"/>
                <a:sym typeface="Wingdings" panose="05000000000000000000" pitchFamily="2" charset="2"/>
              </a:rPr>
              <a:t> すべての条件で</a:t>
            </a:r>
            <a:r>
              <a:rPr kumimoji="1" lang="en-US" altLang="ja-JP" b="1" dirty="0">
                <a:solidFill>
                  <a:srgbClr val="C00000"/>
                </a:solidFill>
                <a:latin typeface="游ゴシック" panose="020B0400000000000000" pitchFamily="50" charset="-128"/>
                <a:sym typeface="Wingdings" panose="05000000000000000000" pitchFamily="2" charset="2"/>
              </a:rPr>
              <a:t>4</a:t>
            </a:r>
            <a:r>
              <a:rPr kumimoji="1" lang="ja-JP" altLang="en-US" b="1" dirty="0">
                <a:solidFill>
                  <a:srgbClr val="C00000"/>
                </a:solidFill>
                <a:latin typeface="游ゴシック" panose="020B0400000000000000" pitchFamily="50" charset="-128"/>
                <a:sym typeface="Wingdings" panose="05000000000000000000" pitchFamily="2" charset="2"/>
              </a:rPr>
              <a:t>以下</a:t>
            </a:r>
            <a:endParaRPr kumimoji="1" lang="en-US" altLang="ja-JP" b="1" dirty="0">
              <a:solidFill>
                <a:srgbClr val="C00000"/>
              </a:solidFill>
              <a:latin typeface="游ゴシック" panose="020B0400000000000000" pitchFamily="50" charset="-128"/>
              <a:sym typeface="Wingdings" panose="05000000000000000000" pitchFamily="2" charset="2"/>
            </a:endParaRPr>
          </a:p>
          <a:p>
            <a:endParaRPr kumimoji="1" lang="en-US" altLang="ja-JP" b="1" dirty="0">
              <a:solidFill>
                <a:srgbClr val="FF0000"/>
              </a:solidFill>
              <a:latin typeface="游ゴシック" panose="020B0400000000000000" pitchFamily="50" charset="-128"/>
              <a:sym typeface="Wingdings" panose="05000000000000000000" pitchFamily="2" charset="2"/>
            </a:endParaRPr>
          </a:p>
          <a:p>
            <a:r>
              <a:rPr kumimoji="1" lang="ja-JP" altLang="en-US" b="1" dirty="0">
                <a:solidFill>
                  <a:schemeClr val="accent1"/>
                </a:solidFill>
                <a:latin typeface="游ゴシック" panose="020B0400000000000000" pitchFamily="50" charset="-128"/>
                <a:sym typeface="Wingdings" panose="05000000000000000000" pitchFamily="2" charset="2"/>
              </a:rPr>
              <a:t>自由記述</a:t>
            </a:r>
            <a:endParaRPr kumimoji="1" lang="en-US" altLang="ja-JP" b="1" dirty="0">
              <a:solidFill>
                <a:schemeClr val="accent1"/>
              </a:solidFill>
              <a:latin typeface="游ゴシック" panose="020B0400000000000000" pitchFamily="50" charset="-128"/>
              <a:sym typeface="Wingdings" panose="05000000000000000000" pitchFamily="2" charset="2"/>
            </a:endParaRPr>
          </a:p>
          <a:p>
            <a:r>
              <a:rPr kumimoji="1" lang="ja-JP" altLang="en-US" b="1" dirty="0">
                <a:latin typeface="游ゴシック" panose="020B0400000000000000" pitchFamily="50" charset="-128"/>
                <a:sym typeface="Wingdings" panose="05000000000000000000" pitchFamily="2" charset="2"/>
              </a:rPr>
              <a:t>「</a:t>
            </a:r>
            <a:r>
              <a:rPr kumimoji="1" lang="en-US" altLang="ja-JP" b="1" dirty="0">
                <a:latin typeface="游ゴシック" panose="020B0400000000000000" pitchFamily="50" charset="-128"/>
                <a:sym typeface="Wingdings" panose="05000000000000000000" pitchFamily="2" charset="2"/>
              </a:rPr>
              <a:t>AI</a:t>
            </a:r>
            <a:r>
              <a:rPr kumimoji="1" lang="ja-JP" altLang="en-US" b="1" dirty="0">
                <a:latin typeface="游ゴシック" panose="020B0400000000000000" pitchFamily="50" charset="-128"/>
                <a:sym typeface="Wingdings" panose="05000000000000000000" pitchFamily="2" charset="2"/>
              </a:rPr>
              <a:t>が無能すぎる」，「</a:t>
            </a:r>
            <a:r>
              <a:rPr kumimoji="1" lang="en-US" altLang="ja-JP" b="1" dirty="0">
                <a:latin typeface="游ゴシック" panose="020B0400000000000000" pitchFamily="50" charset="-128"/>
                <a:sym typeface="Wingdings" panose="05000000000000000000" pitchFamily="2" charset="2"/>
              </a:rPr>
              <a:t>AI</a:t>
            </a:r>
            <a:r>
              <a:rPr kumimoji="1" lang="ja-JP" altLang="en-US" b="1" dirty="0">
                <a:latin typeface="游ゴシック" panose="020B0400000000000000" pitchFamily="50" charset="-128"/>
                <a:sym typeface="Wingdings" panose="05000000000000000000" pitchFamily="2" charset="2"/>
              </a:rPr>
              <a:t>が無能だった」</a:t>
            </a:r>
            <a:endParaRPr kumimoji="1" lang="en-US" altLang="ja-JP" b="1" dirty="0">
              <a:latin typeface="游ゴシック" panose="020B0400000000000000" pitchFamily="50" charset="-128"/>
              <a:sym typeface="Wingdings" panose="05000000000000000000" pitchFamily="2" charset="2"/>
            </a:endParaRPr>
          </a:p>
          <a:p>
            <a:r>
              <a:rPr kumimoji="1" lang="ja-JP" altLang="en-US" b="1" dirty="0">
                <a:latin typeface="游ゴシック" panose="020B0400000000000000" pitchFamily="50" charset="-128"/>
                <a:sym typeface="Wingdings" panose="05000000000000000000" pitchFamily="2" charset="2"/>
              </a:rPr>
              <a:t>「</a:t>
            </a:r>
            <a:r>
              <a:rPr kumimoji="1" lang="en-US" altLang="ja-JP" b="1" dirty="0">
                <a:latin typeface="游ゴシック" panose="020B0400000000000000" pitchFamily="50" charset="-128"/>
                <a:sym typeface="Wingdings" panose="05000000000000000000" pitchFamily="2" charset="2"/>
              </a:rPr>
              <a:t>AI</a:t>
            </a:r>
            <a:r>
              <a:rPr kumimoji="1" lang="ja-JP" altLang="en-US" b="1" dirty="0">
                <a:latin typeface="游ゴシック" panose="020B0400000000000000" pitchFamily="50" charset="-128"/>
                <a:sym typeface="Wingdings" panose="05000000000000000000" pitchFamily="2" charset="2"/>
              </a:rPr>
              <a:t>の回答にイライラした」，「イラっとした」</a:t>
            </a:r>
            <a:endParaRPr kumimoji="1" lang="en-US" altLang="ja-JP" b="1" dirty="0">
              <a:latin typeface="游ゴシック" panose="020B0400000000000000" pitchFamily="50" charset="-128"/>
              <a:sym typeface="Wingdings" panose="05000000000000000000" pitchFamily="2" charset="2"/>
            </a:endParaRPr>
          </a:p>
          <a:p>
            <a:r>
              <a:rPr kumimoji="1" lang="ja-JP" altLang="en-US" b="1" dirty="0">
                <a:latin typeface="游ゴシック" panose="020B0400000000000000" pitchFamily="50" charset="-128"/>
                <a:sym typeface="Wingdings" panose="05000000000000000000" pitchFamily="2" charset="2"/>
              </a:rPr>
              <a:t>「残念な</a:t>
            </a:r>
            <a:r>
              <a:rPr kumimoji="1" lang="en-US" altLang="ja-JP" b="1" dirty="0">
                <a:latin typeface="游ゴシック" panose="020B0400000000000000" pitchFamily="50" charset="-128"/>
                <a:sym typeface="Wingdings" panose="05000000000000000000" pitchFamily="2" charset="2"/>
              </a:rPr>
              <a:t>AI</a:t>
            </a:r>
            <a:r>
              <a:rPr kumimoji="1" lang="ja-JP" altLang="en-US" b="1" dirty="0">
                <a:latin typeface="游ゴシック" panose="020B0400000000000000" pitchFamily="50" charset="-128"/>
                <a:sym typeface="Wingdings" panose="05000000000000000000" pitchFamily="2" charset="2"/>
              </a:rPr>
              <a:t>でした」，「</a:t>
            </a:r>
            <a:r>
              <a:rPr kumimoji="1" lang="en-US" altLang="ja-JP" b="1" dirty="0">
                <a:latin typeface="游ゴシック" panose="020B0400000000000000" pitchFamily="50" charset="-128"/>
                <a:sym typeface="Wingdings" panose="05000000000000000000" pitchFamily="2" charset="2"/>
              </a:rPr>
              <a:t>AI</a:t>
            </a:r>
            <a:r>
              <a:rPr kumimoji="1" lang="ja-JP" altLang="en-US" b="1" dirty="0">
                <a:latin typeface="游ゴシック" panose="020B0400000000000000" pitchFamily="50" charset="-128"/>
                <a:sym typeface="Wingdings" panose="05000000000000000000" pitchFamily="2" charset="2"/>
              </a:rPr>
              <a:t>にもどかしさを覚えた」</a:t>
            </a:r>
            <a:endParaRPr kumimoji="1" lang="en-US" altLang="ja-JP" b="1" dirty="0">
              <a:latin typeface="游ゴシック" panose="020B0400000000000000" pitchFamily="50" charset="-128"/>
              <a:sym typeface="Wingdings" panose="05000000000000000000" pitchFamily="2" charset="2"/>
            </a:endParaRPr>
          </a:p>
        </p:txBody>
      </p:sp>
      <p:sp>
        <p:nvSpPr>
          <p:cNvPr id="7" name="テキスト ボックス 6">
            <a:extLst>
              <a:ext uri="{FF2B5EF4-FFF2-40B4-BE49-F238E27FC236}">
                <a16:creationId xmlns:a16="http://schemas.microsoft.com/office/drawing/2014/main" id="{143B7220-8BD8-5461-E44E-7B20C27C7EB7}"/>
              </a:ext>
            </a:extLst>
          </p:cNvPr>
          <p:cNvSpPr txBox="1"/>
          <p:nvPr/>
        </p:nvSpPr>
        <p:spPr>
          <a:xfrm>
            <a:off x="681054" y="5860224"/>
            <a:ext cx="7781890" cy="523220"/>
          </a:xfrm>
          <a:prstGeom prst="rect">
            <a:avLst/>
          </a:prstGeom>
          <a:noFill/>
        </p:spPr>
        <p:txBody>
          <a:bodyPr wrap="square">
            <a:spAutoFit/>
          </a:bodyPr>
          <a:lstStyle/>
          <a:p>
            <a:r>
              <a:rPr lang="ja-JP" altLang="en-US" sz="2800" b="1" dirty="0">
                <a:solidFill>
                  <a:srgbClr val="000000"/>
                </a:solidFill>
                <a:latin typeface="+mn-ea"/>
              </a:rPr>
              <a:t>参加者は</a:t>
            </a:r>
            <a:r>
              <a:rPr lang="en-US" altLang="ja-JP" sz="2800" b="1" dirty="0">
                <a:solidFill>
                  <a:srgbClr val="000000"/>
                </a:solidFill>
                <a:latin typeface="+mn-ea"/>
              </a:rPr>
              <a:t>LLM</a:t>
            </a:r>
            <a:r>
              <a:rPr lang="ja-JP" altLang="en-US" sz="2800" b="1" dirty="0">
                <a:solidFill>
                  <a:srgbClr val="000000"/>
                </a:solidFill>
                <a:latin typeface="+mn-ea"/>
              </a:rPr>
              <a:t>を</a:t>
            </a:r>
            <a:r>
              <a:rPr lang="ja-JP" altLang="en-US" sz="2800" b="1" dirty="0">
                <a:solidFill>
                  <a:srgbClr val="C00000"/>
                </a:solidFill>
                <a:latin typeface="+mn-ea"/>
              </a:rPr>
              <a:t>役に立たない</a:t>
            </a:r>
            <a:r>
              <a:rPr lang="ja-JP" altLang="en-US" sz="2800" b="1" dirty="0">
                <a:solidFill>
                  <a:srgbClr val="000000"/>
                </a:solidFill>
                <a:latin typeface="+mn-ea"/>
              </a:rPr>
              <a:t>と認識した可能性</a:t>
            </a:r>
            <a:endParaRPr lang="ja-JP" altLang="en-US" sz="2800" b="1" dirty="0">
              <a:latin typeface="+mn-ea"/>
            </a:endParaRPr>
          </a:p>
        </p:txBody>
      </p:sp>
      <p:sp>
        <p:nvSpPr>
          <p:cNvPr id="8" name="矢印: 右 7">
            <a:extLst>
              <a:ext uri="{FF2B5EF4-FFF2-40B4-BE49-F238E27FC236}">
                <a16:creationId xmlns:a16="http://schemas.microsoft.com/office/drawing/2014/main" id="{55851C73-966C-A63F-08B7-82E7BF11C9ED}"/>
              </a:ext>
            </a:extLst>
          </p:cNvPr>
          <p:cNvSpPr/>
          <p:nvPr/>
        </p:nvSpPr>
        <p:spPr>
          <a:xfrm rot="5400000">
            <a:off x="4157950" y="4979803"/>
            <a:ext cx="637839" cy="965199"/>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pic>
        <p:nvPicPr>
          <p:cNvPr id="16" name="グラフィックス 15">
            <a:extLst>
              <a:ext uri="{FF2B5EF4-FFF2-40B4-BE49-F238E27FC236}">
                <a16:creationId xmlns:a16="http://schemas.microsoft.com/office/drawing/2014/main" id="{502B2E90-264F-FA14-617C-479F3BC5E6E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98999" y="2767443"/>
            <a:ext cx="1039700" cy="1607731"/>
          </a:xfrm>
          <a:prstGeom prst="rect">
            <a:avLst/>
          </a:prstGeom>
        </p:spPr>
      </p:pic>
      <p:pic>
        <p:nvPicPr>
          <p:cNvPr id="18" name="グラフィックス 17">
            <a:extLst>
              <a:ext uri="{FF2B5EF4-FFF2-40B4-BE49-F238E27FC236}">
                <a16:creationId xmlns:a16="http://schemas.microsoft.com/office/drawing/2014/main" id="{434EE1B6-ED9B-A3E6-2EDC-C99B5DCC017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01446" y="2097347"/>
            <a:ext cx="887437" cy="1473961"/>
          </a:xfrm>
          <a:prstGeom prst="rect">
            <a:avLst/>
          </a:prstGeom>
        </p:spPr>
      </p:pic>
      <p:sp>
        <p:nvSpPr>
          <p:cNvPr id="14" name="乗算記号 13">
            <a:extLst>
              <a:ext uri="{FF2B5EF4-FFF2-40B4-BE49-F238E27FC236}">
                <a16:creationId xmlns:a16="http://schemas.microsoft.com/office/drawing/2014/main" id="{0851DB34-378B-0B55-DC86-2AC7D5BC7A68}"/>
              </a:ext>
            </a:extLst>
          </p:cNvPr>
          <p:cNvSpPr/>
          <p:nvPr/>
        </p:nvSpPr>
        <p:spPr>
          <a:xfrm>
            <a:off x="7601445" y="2540204"/>
            <a:ext cx="887437" cy="976689"/>
          </a:xfrm>
          <a:prstGeom prst="mathMultiply">
            <a:avLst>
              <a:gd name="adj1" fmla="val 6100"/>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989535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A28337D-F104-9593-1ABD-6808D3F0A505}"/>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2F4C4E36-22A4-94EF-00CE-DEEE2BC08CD4}"/>
              </a:ext>
            </a:extLst>
          </p:cNvPr>
          <p:cNvSpPr/>
          <p:nvPr/>
        </p:nvSpPr>
        <p:spPr>
          <a:xfrm>
            <a:off x="266991" y="1368702"/>
            <a:ext cx="8610017" cy="3546153"/>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スライド番号プレースホルダー 1">
            <a:extLst>
              <a:ext uri="{FF2B5EF4-FFF2-40B4-BE49-F238E27FC236}">
                <a16:creationId xmlns:a16="http://schemas.microsoft.com/office/drawing/2014/main" id="{658AFF80-9BD5-133B-D95B-B823582CFEE0}"/>
              </a:ext>
            </a:extLst>
          </p:cNvPr>
          <p:cNvSpPr>
            <a:spLocks noGrp="1"/>
          </p:cNvSpPr>
          <p:nvPr>
            <p:ph type="sldNum" sz="quarter" idx="12"/>
          </p:nvPr>
        </p:nvSpPr>
        <p:spPr/>
        <p:txBody>
          <a:bodyPr/>
          <a:lstStyle/>
          <a:p>
            <a:fld id="{18020408-E1FF-429E-A8D5-EB2A190A0D77}" type="slidenum">
              <a:rPr kumimoji="1" lang="ja-JP" altLang="en-US" smtClean="0"/>
              <a:pPr/>
              <a:t>46</a:t>
            </a:fld>
            <a:endParaRPr kumimoji="1" lang="ja-JP" altLang="en-US" sz="2400" dirty="0"/>
          </a:p>
        </p:txBody>
      </p:sp>
      <p:sp>
        <p:nvSpPr>
          <p:cNvPr id="3" name="タイトル 2">
            <a:extLst>
              <a:ext uri="{FF2B5EF4-FFF2-40B4-BE49-F238E27FC236}">
                <a16:creationId xmlns:a16="http://schemas.microsoft.com/office/drawing/2014/main" id="{49F50769-6794-44FF-1241-2469F745A586}"/>
              </a:ext>
            </a:extLst>
          </p:cNvPr>
          <p:cNvSpPr>
            <a:spLocks noGrp="1"/>
          </p:cNvSpPr>
          <p:nvPr>
            <p:ph type="title"/>
          </p:nvPr>
        </p:nvSpPr>
        <p:spPr/>
        <p:txBody>
          <a:bodyPr/>
          <a:lstStyle/>
          <a:p>
            <a:r>
              <a:rPr kumimoji="1" lang="ja-JP" altLang="en-US" sz="3600" dirty="0"/>
              <a:t>考察：</a:t>
            </a:r>
            <a:r>
              <a:rPr kumimoji="1" lang="en-US" altLang="ja-JP" sz="3600" dirty="0"/>
              <a:t>LLM</a:t>
            </a:r>
            <a:r>
              <a:rPr kumimoji="1" lang="ja-JP" altLang="en-US" sz="3600" dirty="0"/>
              <a:t>への認識について</a:t>
            </a:r>
          </a:p>
        </p:txBody>
      </p:sp>
      <p:sp>
        <p:nvSpPr>
          <p:cNvPr id="4" name="テキスト ボックス 3">
            <a:extLst>
              <a:ext uri="{FF2B5EF4-FFF2-40B4-BE49-F238E27FC236}">
                <a16:creationId xmlns:a16="http://schemas.microsoft.com/office/drawing/2014/main" id="{991B7190-10CA-3C1B-7E6E-BD3EA646FB6C}"/>
              </a:ext>
            </a:extLst>
          </p:cNvPr>
          <p:cNvSpPr txBox="1"/>
          <p:nvPr/>
        </p:nvSpPr>
        <p:spPr>
          <a:xfrm>
            <a:off x="554920" y="1515197"/>
            <a:ext cx="7713136" cy="3200876"/>
          </a:xfrm>
          <a:prstGeom prst="rect">
            <a:avLst/>
          </a:prstGeom>
          <a:noFill/>
        </p:spPr>
        <p:txBody>
          <a:bodyPr wrap="square">
            <a:spAutoFit/>
          </a:bodyPr>
          <a:lstStyle/>
          <a:p>
            <a:pPr algn="l" rtl="0" fontAlgn="base">
              <a:buNone/>
            </a:pPr>
            <a:r>
              <a:rPr lang="ja-JP" altLang="en-US" sz="2000" b="1" dirty="0">
                <a:solidFill>
                  <a:schemeClr val="accent1"/>
                </a:solidFill>
                <a:latin typeface="Meiryo UI" panose="020B0604030504040204" pitchFamily="50" charset="-128"/>
                <a:ea typeface="Yu Gothic" panose="020B0400000000000000" pitchFamily="50" charset="-128"/>
              </a:rPr>
              <a:t>提示内容</a:t>
            </a:r>
            <a:endParaRPr lang="en-US" altLang="ja-JP" sz="2000" b="1" dirty="0">
              <a:solidFill>
                <a:schemeClr val="accent1"/>
              </a:solidFill>
              <a:latin typeface="Meiryo UI" panose="020B0604030504040204" pitchFamily="50" charset="-128"/>
              <a:ea typeface="Yu Gothic" panose="020B0400000000000000" pitchFamily="50" charset="-128"/>
            </a:endParaRPr>
          </a:p>
          <a:p>
            <a:pPr algn="l" rtl="0" fontAlgn="base">
              <a:buNone/>
            </a:pPr>
            <a:r>
              <a:rPr lang="en-US" altLang="ja-JP" b="1" i="0" u="none" strike="noStrike" dirty="0">
                <a:effectLst/>
                <a:latin typeface="+mn-ea"/>
              </a:rPr>
              <a:t>LLM</a:t>
            </a:r>
            <a:r>
              <a:rPr lang="ja-JP" altLang="en-US" b="1" i="0" u="none" strike="noStrike" dirty="0">
                <a:effectLst/>
                <a:latin typeface="+mn-ea"/>
              </a:rPr>
              <a:t>が連続して作業を失敗</a:t>
            </a:r>
            <a:endParaRPr lang="en-US" altLang="ja-JP" b="1" i="0" u="none" strike="noStrike" dirty="0">
              <a:effectLst/>
              <a:latin typeface="+mn-ea"/>
            </a:endParaRPr>
          </a:p>
          <a:p>
            <a:pPr algn="l" rtl="0" fontAlgn="base">
              <a:buNone/>
            </a:pPr>
            <a:endParaRPr lang="en-US" altLang="ja-JP" b="1" i="0" u="none" strike="noStrike" dirty="0">
              <a:effectLst/>
              <a:latin typeface="+mn-ea"/>
            </a:endParaRPr>
          </a:p>
          <a:p>
            <a:pPr algn="l" rtl="0" fontAlgn="base">
              <a:buNone/>
            </a:pPr>
            <a:r>
              <a:rPr lang="ja-JP" altLang="en-US" sz="2000" b="1" i="0" u="none" strike="noStrike" dirty="0">
                <a:solidFill>
                  <a:schemeClr val="accent1"/>
                </a:solidFill>
                <a:effectLst/>
                <a:latin typeface="Meiryo UI" panose="020B0604030504040204" pitchFamily="50" charset="-128"/>
                <a:ea typeface="Yu Gothic" panose="020B0400000000000000" pitchFamily="50" charset="-128"/>
              </a:rPr>
              <a:t>アンケート項目の平均値</a:t>
            </a:r>
            <a:endParaRPr lang="en-US" altLang="ja-JP" sz="2000" b="1" i="0" u="none" strike="noStrike" dirty="0">
              <a:solidFill>
                <a:schemeClr val="accent1"/>
              </a:solidFill>
              <a:effectLst/>
              <a:latin typeface="Meiryo UI" panose="020B0604030504040204" pitchFamily="50" charset="-128"/>
              <a:ea typeface="Yu Gothic" panose="020B0400000000000000" pitchFamily="50" charset="-128"/>
            </a:endParaRPr>
          </a:p>
          <a:p>
            <a:r>
              <a:rPr lang="ja-JP" altLang="en-US" b="1" dirty="0">
                <a:latin typeface="+mn-ea"/>
              </a:rPr>
              <a:t>「</a:t>
            </a:r>
            <a:r>
              <a:rPr lang="en-US" altLang="ja-JP" b="1" dirty="0">
                <a:latin typeface="+mn-ea"/>
              </a:rPr>
              <a:t>Q4.</a:t>
            </a:r>
            <a:r>
              <a:rPr kumimoji="1" lang="en-US" altLang="ja-JP" b="1" dirty="0">
                <a:solidFill>
                  <a:srgbClr val="FF0000"/>
                </a:solidFill>
                <a:latin typeface="游ゴシック" panose="020B0400000000000000" pitchFamily="50" charset="-128"/>
              </a:rPr>
              <a:t> </a:t>
            </a:r>
            <a:r>
              <a:rPr kumimoji="1" lang="en-US" altLang="ja-JP" b="1" dirty="0">
                <a:latin typeface="游ゴシック" panose="020B0400000000000000" pitchFamily="50" charset="-128"/>
              </a:rPr>
              <a:t>AI</a:t>
            </a:r>
            <a:r>
              <a:rPr kumimoji="1" lang="ja-JP" altLang="en-US" b="1" dirty="0">
                <a:latin typeface="游ゴシック" panose="020B0400000000000000" pitchFamily="50" charset="-128"/>
              </a:rPr>
              <a:t>は作業をうまく行う」</a:t>
            </a:r>
            <a:r>
              <a:rPr kumimoji="1" lang="en-US" altLang="ja-JP" b="1" dirty="0">
                <a:latin typeface="游ゴシック" panose="020B0400000000000000" pitchFamily="50" charset="-128"/>
                <a:sym typeface="Wingdings" panose="05000000000000000000" pitchFamily="2" charset="2"/>
              </a:rPr>
              <a:t></a:t>
            </a:r>
            <a:r>
              <a:rPr kumimoji="1" lang="ja-JP" altLang="en-US" b="1" dirty="0">
                <a:latin typeface="游ゴシック" panose="020B0400000000000000" pitchFamily="50" charset="-128"/>
                <a:sym typeface="Wingdings" panose="05000000000000000000" pitchFamily="2" charset="2"/>
              </a:rPr>
              <a:t> すべての条件で</a:t>
            </a:r>
            <a:r>
              <a:rPr kumimoji="1" lang="en-US" altLang="ja-JP" b="1" dirty="0">
                <a:solidFill>
                  <a:srgbClr val="C00000"/>
                </a:solidFill>
                <a:latin typeface="游ゴシック" panose="020B0400000000000000" pitchFamily="50" charset="-128"/>
                <a:sym typeface="Wingdings" panose="05000000000000000000" pitchFamily="2" charset="2"/>
              </a:rPr>
              <a:t>3</a:t>
            </a:r>
            <a:r>
              <a:rPr kumimoji="1" lang="ja-JP" altLang="en-US" b="1" dirty="0">
                <a:solidFill>
                  <a:srgbClr val="C00000"/>
                </a:solidFill>
                <a:latin typeface="游ゴシック" panose="020B0400000000000000" pitchFamily="50" charset="-128"/>
                <a:sym typeface="Wingdings" panose="05000000000000000000" pitchFamily="2" charset="2"/>
              </a:rPr>
              <a:t>以下</a:t>
            </a:r>
            <a:endParaRPr kumimoji="1" lang="en-US" altLang="ja-JP" b="1" dirty="0">
              <a:solidFill>
                <a:srgbClr val="C00000"/>
              </a:solidFill>
              <a:latin typeface="游ゴシック" panose="020B0400000000000000" pitchFamily="50" charset="-128"/>
              <a:sym typeface="Wingdings" panose="05000000000000000000" pitchFamily="2" charset="2"/>
            </a:endParaRPr>
          </a:p>
          <a:p>
            <a:r>
              <a:rPr lang="ja-JP" altLang="en-US" b="1" dirty="0">
                <a:latin typeface="+mn-ea"/>
              </a:rPr>
              <a:t>「</a:t>
            </a:r>
            <a:r>
              <a:rPr lang="en-US" altLang="ja-JP" b="1" dirty="0">
                <a:latin typeface="+mn-ea"/>
              </a:rPr>
              <a:t>Q5.</a:t>
            </a:r>
            <a:r>
              <a:rPr kumimoji="1" lang="en-US" altLang="ja-JP" b="1" dirty="0">
                <a:solidFill>
                  <a:srgbClr val="FF0000"/>
                </a:solidFill>
                <a:latin typeface="游ゴシック" panose="020B0400000000000000" pitchFamily="50" charset="-128"/>
              </a:rPr>
              <a:t> </a:t>
            </a:r>
            <a:r>
              <a:rPr kumimoji="1" lang="en-US" altLang="ja-JP" b="1" dirty="0">
                <a:latin typeface="游ゴシック" panose="020B0400000000000000" pitchFamily="50" charset="-128"/>
              </a:rPr>
              <a:t>AI</a:t>
            </a:r>
            <a:r>
              <a:rPr kumimoji="1" lang="ja-JP" altLang="en-US" b="1" dirty="0">
                <a:latin typeface="游ゴシック" panose="020B0400000000000000" pitchFamily="50" charset="-128"/>
              </a:rPr>
              <a:t>は好感が持てる」</a:t>
            </a:r>
            <a:r>
              <a:rPr kumimoji="1" lang="en-US" altLang="ja-JP" b="1" dirty="0">
                <a:latin typeface="游ゴシック" panose="020B0400000000000000" pitchFamily="50" charset="-128"/>
                <a:sym typeface="Wingdings" panose="05000000000000000000" pitchFamily="2" charset="2"/>
              </a:rPr>
              <a:t></a:t>
            </a:r>
            <a:r>
              <a:rPr kumimoji="1" lang="ja-JP" altLang="en-US" b="1" dirty="0">
                <a:latin typeface="游ゴシック" panose="020B0400000000000000" pitchFamily="50" charset="-128"/>
                <a:sym typeface="Wingdings" panose="05000000000000000000" pitchFamily="2" charset="2"/>
              </a:rPr>
              <a:t> すべての条件で</a:t>
            </a:r>
            <a:r>
              <a:rPr kumimoji="1" lang="en-US" altLang="ja-JP" b="1" dirty="0">
                <a:solidFill>
                  <a:srgbClr val="C00000"/>
                </a:solidFill>
                <a:latin typeface="游ゴシック" panose="020B0400000000000000" pitchFamily="50" charset="-128"/>
                <a:sym typeface="Wingdings" panose="05000000000000000000" pitchFamily="2" charset="2"/>
              </a:rPr>
              <a:t>4</a:t>
            </a:r>
            <a:r>
              <a:rPr kumimoji="1" lang="ja-JP" altLang="en-US" b="1" dirty="0">
                <a:solidFill>
                  <a:srgbClr val="C00000"/>
                </a:solidFill>
                <a:latin typeface="游ゴシック" panose="020B0400000000000000" pitchFamily="50" charset="-128"/>
                <a:sym typeface="Wingdings" panose="05000000000000000000" pitchFamily="2" charset="2"/>
              </a:rPr>
              <a:t>以下</a:t>
            </a:r>
            <a:endParaRPr kumimoji="1" lang="en-US" altLang="ja-JP" b="1" dirty="0">
              <a:solidFill>
                <a:srgbClr val="C00000"/>
              </a:solidFill>
              <a:latin typeface="游ゴシック" panose="020B0400000000000000" pitchFamily="50" charset="-128"/>
              <a:sym typeface="Wingdings" panose="05000000000000000000" pitchFamily="2" charset="2"/>
            </a:endParaRPr>
          </a:p>
          <a:p>
            <a:endParaRPr kumimoji="1" lang="en-US" altLang="ja-JP" b="1" dirty="0">
              <a:solidFill>
                <a:srgbClr val="FF0000"/>
              </a:solidFill>
              <a:latin typeface="游ゴシック" panose="020B0400000000000000" pitchFamily="50" charset="-128"/>
              <a:sym typeface="Wingdings" panose="05000000000000000000" pitchFamily="2" charset="2"/>
            </a:endParaRPr>
          </a:p>
          <a:p>
            <a:r>
              <a:rPr kumimoji="1" lang="ja-JP" altLang="en-US" b="1" dirty="0">
                <a:solidFill>
                  <a:schemeClr val="accent1"/>
                </a:solidFill>
                <a:latin typeface="游ゴシック" panose="020B0400000000000000" pitchFamily="50" charset="-128"/>
                <a:sym typeface="Wingdings" panose="05000000000000000000" pitchFamily="2" charset="2"/>
              </a:rPr>
              <a:t>自由記述</a:t>
            </a:r>
            <a:endParaRPr kumimoji="1" lang="en-US" altLang="ja-JP" b="1" dirty="0">
              <a:solidFill>
                <a:schemeClr val="accent1"/>
              </a:solidFill>
              <a:latin typeface="游ゴシック" panose="020B0400000000000000" pitchFamily="50" charset="-128"/>
              <a:sym typeface="Wingdings" panose="05000000000000000000" pitchFamily="2" charset="2"/>
            </a:endParaRPr>
          </a:p>
          <a:p>
            <a:r>
              <a:rPr kumimoji="1" lang="ja-JP" altLang="en-US" b="1" dirty="0">
                <a:latin typeface="游ゴシック" panose="020B0400000000000000" pitchFamily="50" charset="-128"/>
                <a:sym typeface="Wingdings" panose="05000000000000000000" pitchFamily="2" charset="2"/>
              </a:rPr>
              <a:t>「</a:t>
            </a:r>
            <a:r>
              <a:rPr kumimoji="1" lang="en-US" altLang="ja-JP" b="1" dirty="0">
                <a:latin typeface="游ゴシック" panose="020B0400000000000000" pitchFamily="50" charset="-128"/>
                <a:sym typeface="Wingdings" panose="05000000000000000000" pitchFamily="2" charset="2"/>
              </a:rPr>
              <a:t>AI</a:t>
            </a:r>
            <a:r>
              <a:rPr kumimoji="1" lang="ja-JP" altLang="en-US" b="1" dirty="0">
                <a:latin typeface="游ゴシック" panose="020B0400000000000000" pitchFamily="50" charset="-128"/>
                <a:sym typeface="Wingdings" panose="05000000000000000000" pitchFamily="2" charset="2"/>
              </a:rPr>
              <a:t>が無能すぎる」，「</a:t>
            </a:r>
            <a:r>
              <a:rPr kumimoji="1" lang="en-US" altLang="ja-JP" b="1" dirty="0">
                <a:latin typeface="游ゴシック" panose="020B0400000000000000" pitchFamily="50" charset="-128"/>
                <a:sym typeface="Wingdings" panose="05000000000000000000" pitchFamily="2" charset="2"/>
              </a:rPr>
              <a:t>AI</a:t>
            </a:r>
            <a:r>
              <a:rPr kumimoji="1" lang="ja-JP" altLang="en-US" b="1" dirty="0">
                <a:latin typeface="游ゴシック" panose="020B0400000000000000" pitchFamily="50" charset="-128"/>
                <a:sym typeface="Wingdings" panose="05000000000000000000" pitchFamily="2" charset="2"/>
              </a:rPr>
              <a:t>が無能だった」</a:t>
            </a:r>
            <a:endParaRPr kumimoji="1" lang="en-US" altLang="ja-JP" b="1" dirty="0">
              <a:latin typeface="游ゴシック" panose="020B0400000000000000" pitchFamily="50" charset="-128"/>
              <a:sym typeface="Wingdings" panose="05000000000000000000" pitchFamily="2" charset="2"/>
            </a:endParaRPr>
          </a:p>
          <a:p>
            <a:r>
              <a:rPr kumimoji="1" lang="ja-JP" altLang="en-US" b="1" dirty="0">
                <a:latin typeface="游ゴシック" panose="020B0400000000000000" pitchFamily="50" charset="-128"/>
                <a:sym typeface="Wingdings" panose="05000000000000000000" pitchFamily="2" charset="2"/>
              </a:rPr>
              <a:t>「</a:t>
            </a:r>
            <a:r>
              <a:rPr kumimoji="1" lang="en-US" altLang="ja-JP" b="1" dirty="0">
                <a:latin typeface="游ゴシック" panose="020B0400000000000000" pitchFamily="50" charset="-128"/>
                <a:sym typeface="Wingdings" panose="05000000000000000000" pitchFamily="2" charset="2"/>
              </a:rPr>
              <a:t>AI</a:t>
            </a:r>
            <a:r>
              <a:rPr kumimoji="1" lang="ja-JP" altLang="en-US" b="1" dirty="0">
                <a:latin typeface="游ゴシック" panose="020B0400000000000000" pitchFamily="50" charset="-128"/>
                <a:sym typeface="Wingdings" panose="05000000000000000000" pitchFamily="2" charset="2"/>
              </a:rPr>
              <a:t>の回答にイライラした」，「イラっとした」</a:t>
            </a:r>
            <a:endParaRPr kumimoji="1" lang="en-US" altLang="ja-JP" b="1" dirty="0">
              <a:latin typeface="游ゴシック" panose="020B0400000000000000" pitchFamily="50" charset="-128"/>
              <a:sym typeface="Wingdings" panose="05000000000000000000" pitchFamily="2" charset="2"/>
            </a:endParaRPr>
          </a:p>
          <a:p>
            <a:r>
              <a:rPr kumimoji="1" lang="ja-JP" altLang="en-US" b="1" dirty="0">
                <a:latin typeface="游ゴシック" panose="020B0400000000000000" pitchFamily="50" charset="-128"/>
                <a:sym typeface="Wingdings" panose="05000000000000000000" pitchFamily="2" charset="2"/>
              </a:rPr>
              <a:t>「残念な</a:t>
            </a:r>
            <a:r>
              <a:rPr kumimoji="1" lang="en-US" altLang="ja-JP" b="1" dirty="0">
                <a:latin typeface="游ゴシック" panose="020B0400000000000000" pitchFamily="50" charset="-128"/>
                <a:sym typeface="Wingdings" panose="05000000000000000000" pitchFamily="2" charset="2"/>
              </a:rPr>
              <a:t>AI</a:t>
            </a:r>
            <a:r>
              <a:rPr kumimoji="1" lang="ja-JP" altLang="en-US" b="1" dirty="0">
                <a:latin typeface="游ゴシック" panose="020B0400000000000000" pitchFamily="50" charset="-128"/>
                <a:sym typeface="Wingdings" panose="05000000000000000000" pitchFamily="2" charset="2"/>
              </a:rPr>
              <a:t>でした」，「</a:t>
            </a:r>
            <a:r>
              <a:rPr kumimoji="1" lang="en-US" altLang="ja-JP" b="1" dirty="0">
                <a:latin typeface="游ゴシック" panose="020B0400000000000000" pitchFamily="50" charset="-128"/>
                <a:sym typeface="Wingdings" panose="05000000000000000000" pitchFamily="2" charset="2"/>
              </a:rPr>
              <a:t>AI</a:t>
            </a:r>
            <a:r>
              <a:rPr kumimoji="1" lang="ja-JP" altLang="en-US" b="1" dirty="0">
                <a:latin typeface="游ゴシック" panose="020B0400000000000000" pitchFamily="50" charset="-128"/>
                <a:sym typeface="Wingdings" panose="05000000000000000000" pitchFamily="2" charset="2"/>
              </a:rPr>
              <a:t>にもどかしさを覚えた」</a:t>
            </a:r>
            <a:endParaRPr kumimoji="1" lang="en-US" altLang="ja-JP" b="1" dirty="0">
              <a:latin typeface="游ゴシック" panose="020B0400000000000000" pitchFamily="50" charset="-128"/>
              <a:sym typeface="Wingdings" panose="05000000000000000000" pitchFamily="2" charset="2"/>
            </a:endParaRPr>
          </a:p>
        </p:txBody>
      </p:sp>
      <p:sp>
        <p:nvSpPr>
          <p:cNvPr id="7" name="テキスト ボックス 6">
            <a:extLst>
              <a:ext uri="{FF2B5EF4-FFF2-40B4-BE49-F238E27FC236}">
                <a16:creationId xmlns:a16="http://schemas.microsoft.com/office/drawing/2014/main" id="{F2917909-64CE-AFF8-38AE-92280A64EDE4}"/>
              </a:ext>
            </a:extLst>
          </p:cNvPr>
          <p:cNvSpPr txBox="1"/>
          <p:nvPr/>
        </p:nvSpPr>
        <p:spPr>
          <a:xfrm>
            <a:off x="681054" y="5860224"/>
            <a:ext cx="7781890" cy="523220"/>
          </a:xfrm>
          <a:prstGeom prst="rect">
            <a:avLst/>
          </a:prstGeom>
          <a:noFill/>
        </p:spPr>
        <p:txBody>
          <a:bodyPr wrap="square">
            <a:spAutoFit/>
          </a:bodyPr>
          <a:lstStyle/>
          <a:p>
            <a:r>
              <a:rPr lang="ja-JP" altLang="en-US" sz="2800" b="1" dirty="0">
                <a:solidFill>
                  <a:srgbClr val="000000"/>
                </a:solidFill>
                <a:latin typeface="+mn-ea"/>
              </a:rPr>
              <a:t>参加者は</a:t>
            </a:r>
            <a:r>
              <a:rPr lang="en-US" altLang="ja-JP" sz="2800" b="1" dirty="0">
                <a:solidFill>
                  <a:srgbClr val="000000"/>
                </a:solidFill>
                <a:latin typeface="+mn-ea"/>
              </a:rPr>
              <a:t>LLM</a:t>
            </a:r>
            <a:r>
              <a:rPr lang="ja-JP" altLang="en-US" sz="2800" b="1" dirty="0">
                <a:solidFill>
                  <a:srgbClr val="000000"/>
                </a:solidFill>
                <a:latin typeface="+mn-ea"/>
              </a:rPr>
              <a:t>を</a:t>
            </a:r>
            <a:r>
              <a:rPr lang="ja-JP" altLang="en-US" sz="2800" b="1" dirty="0">
                <a:solidFill>
                  <a:srgbClr val="C00000"/>
                </a:solidFill>
                <a:latin typeface="+mn-ea"/>
              </a:rPr>
              <a:t>役に立たない</a:t>
            </a:r>
            <a:r>
              <a:rPr lang="ja-JP" altLang="en-US" sz="2800" b="1" dirty="0">
                <a:solidFill>
                  <a:srgbClr val="000000"/>
                </a:solidFill>
                <a:latin typeface="+mn-ea"/>
              </a:rPr>
              <a:t>と認識した可能性</a:t>
            </a:r>
            <a:endParaRPr lang="ja-JP" altLang="en-US" sz="2800" b="1" dirty="0">
              <a:latin typeface="+mn-ea"/>
            </a:endParaRPr>
          </a:p>
        </p:txBody>
      </p:sp>
      <p:sp>
        <p:nvSpPr>
          <p:cNvPr id="8" name="矢印: 右 7">
            <a:extLst>
              <a:ext uri="{FF2B5EF4-FFF2-40B4-BE49-F238E27FC236}">
                <a16:creationId xmlns:a16="http://schemas.microsoft.com/office/drawing/2014/main" id="{169B27B9-5979-AE89-FBA9-9244AEB19BA9}"/>
              </a:ext>
            </a:extLst>
          </p:cNvPr>
          <p:cNvSpPr/>
          <p:nvPr/>
        </p:nvSpPr>
        <p:spPr>
          <a:xfrm rot="5400000">
            <a:off x="4157950" y="4979803"/>
            <a:ext cx="637839" cy="965199"/>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pic>
        <p:nvPicPr>
          <p:cNvPr id="16" name="グラフィックス 15">
            <a:extLst>
              <a:ext uri="{FF2B5EF4-FFF2-40B4-BE49-F238E27FC236}">
                <a16:creationId xmlns:a16="http://schemas.microsoft.com/office/drawing/2014/main" id="{65C32C51-2F36-5606-EA44-BBE694504EE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98999" y="2767443"/>
            <a:ext cx="1039700" cy="1607731"/>
          </a:xfrm>
          <a:prstGeom prst="rect">
            <a:avLst/>
          </a:prstGeom>
        </p:spPr>
      </p:pic>
      <p:pic>
        <p:nvPicPr>
          <p:cNvPr id="18" name="グラフィックス 17">
            <a:extLst>
              <a:ext uri="{FF2B5EF4-FFF2-40B4-BE49-F238E27FC236}">
                <a16:creationId xmlns:a16="http://schemas.microsoft.com/office/drawing/2014/main" id="{ED8F9C26-32CF-8EED-F23B-A9D0CBE62A8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01446" y="2097347"/>
            <a:ext cx="887437" cy="1473961"/>
          </a:xfrm>
          <a:prstGeom prst="rect">
            <a:avLst/>
          </a:prstGeom>
        </p:spPr>
      </p:pic>
      <p:sp>
        <p:nvSpPr>
          <p:cNvPr id="14" name="乗算記号 13">
            <a:extLst>
              <a:ext uri="{FF2B5EF4-FFF2-40B4-BE49-F238E27FC236}">
                <a16:creationId xmlns:a16="http://schemas.microsoft.com/office/drawing/2014/main" id="{138A1A59-5B1E-3E4B-75A6-55EBF0D83999}"/>
              </a:ext>
            </a:extLst>
          </p:cNvPr>
          <p:cNvSpPr/>
          <p:nvPr/>
        </p:nvSpPr>
        <p:spPr>
          <a:xfrm>
            <a:off x="7601445" y="2540204"/>
            <a:ext cx="887437" cy="976689"/>
          </a:xfrm>
          <a:prstGeom prst="mathMultiply">
            <a:avLst>
              <a:gd name="adj1" fmla="val 6100"/>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169207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C76DC85-BD27-9880-292A-B89A095E461B}"/>
            </a:ext>
          </a:extLst>
        </p:cNvPr>
        <p:cNvGrpSpPr/>
        <p:nvPr/>
      </p:nvGrpSpPr>
      <p:grpSpPr>
        <a:xfrm>
          <a:off x="0" y="0"/>
          <a:ext cx="0" cy="0"/>
          <a:chOff x="0" y="0"/>
          <a:chExt cx="0" cy="0"/>
        </a:xfrm>
      </p:grpSpPr>
      <p:sp>
        <p:nvSpPr>
          <p:cNvPr id="18" name="スライド番号プレースホルダー 17">
            <a:extLst>
              <a:ext uri="{FF2B5EF4-FFF2-40B4-BE49-F238E27FC236}">
                <a16:creationId xmlns:a16="http://schemas.microsoft.com/office/drawing/2014/main" id="{268D2540-B469-2CAF-8EC5-2B036B4FDDF2}"/>
              </a:ext>
            </a:extLst>
          </p:cNvPr>
          <p:cNvSpPr>
            <a:spLocks noGrp="1"/>
          </p:cNvSpPr>
          <p:nvPr>
            <p:ph type="sldNum" sz="quarter" idx="12"/>
          </p:nvPr>
        </p:nvSpPr>
        <p:spPr/>
        <p:txBody>
          <a:bodyPr/>
          <a:lstStyle/>
          <a:p>
            <a:fld id="{18020408-E1FF-429E-A8D5-EB2A190A0D77}" type="slidenum">
              <a:rPr kumimoji="1" lang="ja-JP" altLang="en-US" smtClean="0"/>
              <a:t>47</a:t>
            </a:fld>
            <a:endParaRPr kumimoji="1" lang="ja-JP" altLang="en-US"/>
          </a:p>
        </p:txBody>
      </p:sp>
      <p:sp>
        <p:nvSpPr>
          <p:cNvPr id="5" name="タイトル 4">
            <a:extLst>
              <a:ext uri="{FF2B5EF4-FFF2-40B4-BE49-F238E27FC236}">
                <a16:creationId xmlns:a16="http://schemas.microsoft.com/office/drawing/2014/main" id="{28616FCD-02DC-E742-11F9-AFA0ADCE307A}"/>
              </a:ext>
            </a:extLst>
          </p:cNvPr>
          <p:cNvSpPr>
            <a:spLocks noGrp="1"/>
          </p:cNvSpPr>
          <p:nvPr>
            <p:ph type="title"/>
          </p:nvPr>
        </p:nvSpPr>
        <p:spPr/>
        <p:txBody>
          <a:bodyPr>
            <a:noAutofit/>
          </a:bodyPr>
          <a:lstStyle/>
          <a:p>
            <a:r>
              <a:rPr lang="ja-JP" altLang="en-US" sz="3600" b="1" dirty="0">
                <a:solidFill>
                  <a:schemeClr val="bg1"/>
                </a:solidFill>
                <a:latin typeface="+mn-ea"/>
                <a:ea typeface="+mn-ea"/>
              </a:rPr>
              <a:t>実験方法</a:t>
            </a:r>
          </a:p>
        </p:txBody>
      </p:sp>
      <p:sp>
        <p:nvSpPr>
          <p:cNvPr id="15" name="テキスト ボックス 14">
            <a:extLst>
              <a:ext uri="{FF2B5EF4-FFF2-40B4-BE49-F238E27FC236}">
                <a16:creationId xmlns:a16="http://schemas.microsoft.com/office/drawing/2014/main" id="{D53C08DE-CC85-DA91-21FB-D52833AA0AB4}"/>
              </a:ext>
            </a:extLst>
          </p:cNvPr>
          <p:cNvSpPr txBox="1"/>
          <p:nvPr/>
        </p:nvSpPr>
        <p:spPr>
          <a:xfrm>
            <a:off x="266991" y="1516938"/>
            <a:ext cx="8610017" cy="4401205"/>
          </a:xfrm>
          <a:prstGeom prst="rect">
            <a:avLst/>
          </a:prstGeom>
          <a:noFill/>
        </p:spPr>
        <p:txBody>
          <a:bodyPr wrap="square">
            <a:noAutofit/>
          </a:bodyPr>
          <a:lstStyle/>
          <a:p>
            <a:pPr algn="l" rtl="0" fontAlgn="base">
              <a:lnSpc>
                <a:spcPts val="2400"/>
              </a:lnSpc>
              <a:buNone/>
            </a:pP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実験目的</a:t>
            </a:r>
            <a:endParaRPr lang="en-US" altLang="ja-JP" sz="2000" b="1" i="0" u="none" strike="noStrike" dirty="0">
              <a:solidFill>
                <a:schemeClr val="accent1"/>
              </a:solidFill>
              <a:effectLst/>
              <a:latin typeface="Meiryo UI" panose="020B0604030504040204" pitchFamily="50" charset="-128"/>
              <a:ea typeface="Yu Gothic" panose="020B0400000000000000" pitchFamily="50" charset="-128"/>
            </a:endParaRPr>
          </a:p>
          <a:p>
            <a:r>
              <a:rPr lang="ja-JP" altLang="en-US" sz="2000" b="1" dirty="0"/>
              <a:t>対話に行き詰まった際の人格切り替えがエージェントに対する印象に与える影響を調査</a:t>
            </a:r>
            <a:endParaRPr lang="en-US" altLang="ja-JP" b="0" i="0" dirty="0">
              <a:effectLst/>
              <a:latin typeface="Meiryo UI" panose="020B0604030504040204" pitchFamily="50" charset="-128"/>
              <a:ea typeface="Meiryo UI" panose="020B0604030504040204" pitchFamily="50" charset="-128"/>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dirty="0">
              <a:solidFill>
                <a:srgbClr val="000000"/>
              </a:solidFill>
              <a:latin typeface="Meiryo UI" panose="020B0604030504040204" pitchFamily="50" charset="-128"/>
              <a:ea typeface="Meiryo UI" panose="020B0604030504040204" pitchFamily="50" charset="-128"/>
            </a:endParaRPr>
          </a:p>
          <a:p>
            <a:pPr algn="l" rtl="0" fontAlgn="base">
              <a:lnSpc>
                <a:spcPts val="2100"/>
              </a:lnSpc>
              <a:buNone/>
            </a:pP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実験条件</a:t>
            </a:r>
            <a:r>
              <a:rPr lang="en-US" altLang="ja-JP" sz="20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fontAlgn="base">
              <a:lnSpc>
                <a:spcPts val="1875"/>
              </a:lnSpc>
              <a:spcAft>
                <a:spcPts val="1200"/>
              </a:spcAft>
            </a:pPr>
            <a:r>
              <a:rPr lang="ja-JP" altLang="en-US" b="1" dirty="0">
                <a:solidFill>
                  <a:srgbClr val="000000"/>
                </a:solidFill>
                <a:latin typeface="+mn-ea"/>
                <a:ea typeface="Yu Gothic" panose="020B0400000000000000" pitchFamily="50" charset="-128"/>
              </a:rPr>
              <a:t>人格の異なる</a:t>
            </a:r>
            <a:r>
              <a:rPr lang="en-US" altLang="ja-JP" b="1" dirty="0">
                <a:solidFill>
                  <a:srgbClr val="000000"/>
                </a:solidFill>
                <a:latin typeface="+mn-ea"/>
                <a:ea typeface="Yu Gothic" panose="020B0400000000000000" pitchFamily="50" charset="-128"/>
              </a:rPr>
              <a:t>3</a:t>
            </a:r>
            <a:r>
              <a:rPr lang="ja-JP" altLang="en-US" b="1" dirty="0">
                <a:solidFill>
                  <a:srgbClr val="000000"/>
                </a:solidFill>
                <a:latin typeface="+mn-ea"/>
                <a:ea typeface="Yu Gothic" panose="020B0400000000000000" pitchFamily="50" charset="-128"/>
              </a:rPr>
              <a:t>つの</a:t>
            </a:r>
            <a:r>
              <a:rPr lang="ja-JP" altLang="en-US" b="1" dirty="0">
                <a:latin typeface="+mn-ea"/>
                <a:ea typeface="Yu Gothic" panose="020B0400000000000000" pitchFamily="50" charset="-128"/>
              </a:rPr>
              <a:t>条件</a:t>
            </a:r>
            <a:r>
              <a:rPr lang="en-US" altLang="ja-JP" dirty="0">
                <a:solidFill>
                  <a:srgbClr val="000000"/>
                </a:solidFill>
                <a:latin typeface="Yu Gothic" panose="020B0400000000000000" pitchFamily="50" charset="-128"/>
                <a:ea typeface="Meiryo UI" panose="020B0604030504040204" pitchFamily="50" charset="-128"/>
              </a:rPr>
              <a:t>​</a:t>
            </a:r>
            <a:endParaRPr lang="en-US" altLang="ja-JP" b="1" dirty="0">
              <a:solidFill>
                <a:srgbClr val="000000"/>
              </a:solidFill>
              <a:latin typeface="Meiryo UI" panose="020B0604030504040204" pitchFamily="50" charset="-128"/>
              <a:ea typeface="Yu Gothic" panose="020B0400000000000000" pitchFamily="50" charset="-128"/>
            </a:endParaRPr>
          </a:p>
          <a:p>
            <a:pPr marL="285750" indent="-285750" fontAlgn="base">
              <a:lnSpc>
                <a:spcPts val="1875"/>
              </a:lnSpc>
              <a:spcAft>
                <a:spcPts val="1200"/>
              </a:spcAft>
              <a:buFont typeface="Arial" panose="020B0604020202020204" pitchFamily="34" charset="0"/>
              <a:buChar char="•"/>
            </a:pPr>
            <a:r>
              <a:rPr lang="ja-JP" altLang="en-US" b="1" dirty="0">
                <a:solidFill>
                  <a:srgbClr val="000000"/>
                </a:solidFill>
                <a:latin typeface="+mn-ea"/>
              </a:rPr>
              <a:t>人格設定なし</a:t>
            </a:r>
            <a:endParaRPr lang="en-US" altLang="ja-JP" b="1" dirty="0">
              <a:solidFill>
                <a:srgbClr val="000000"/>
              </a:solidFill>
              <a:latin typeface="+mn-ea"/>
            </a:endParaRPr>
          </a:p>
          <a:p>
            <a:pPr marL="285750" indent="-285750" fontAlgn="base">
              <a:lnSpc>
                <a:spcPts val="1875"/>
              </a:lnSpc>
              <a:spcAft>
                <a:spcPts val="1200"/>
              </a:spcAft>
              <a:buFont typeface="Arial" panose="020B0604020202020204" pitchFamily="34" charset="0"/>
              <a:buChar char="•"/>
            </a:pPr>
            <a:r>
              <a:rPr lang="en-US" altLang="ja-JP" b="1" dirty="0">
                <a:solidFill>
                  <a:srgbClr val="000000"/>
                </a:solidFill>
                <a:latin typeface="+mn-ea"/>
              </a:rPr>
              <a:t>ISTJ </a:t>
            </a:r>
            <a:r>
              <a:rPr lang="ja-JP" altLang="en-US" b="1" dirty="0">
                <a:solidFill>
                  <a:srgbClr val="000000"/>
                </a:solidFill>
                <a:latin typeface="+mn-ea"/>
              </a:rPr>
              <a:t>から</a:t>
            </a:r>
            <a:r>
              <a:rPr lang="en-US" altLang="ja-JP" b="1" dirty="0">
                <a:solidFill>
                  <a:srgbClr val="000000"/>
                </a:solidFill>
                <a:latin typeface="+mn-ea"/>
              </a:rPr>
              <a:t>ENFP </a:t>
            </a:r>
            <a:r>
              <a:rPr lang="ja-JP" altLang="en-US" b="1" dirty="0">
                <a:solidFill>
                  <a:srgbClr val="000000"/>
                </a:solidFill>
                <a:latin typeface="+mn-ea"/>
              </a:rPr>
              <a:t>への人格切り替え</a:t>
            </a:r>
            <a:endParaRPr lang="en-US" altLang="ja-JP" b="1" dirty="0">
              <a:solidFill>
                <a:srgbClr val="000000"/>
              </a:solidFill>
              <a:latin typeface="+mn-ea"/>
            </a:endParaRPr>
          </a:p>
          <a:p>
            <a:pPr marL="285750" indent="-285750" fontAlgn="base">
              <a:lnSpc>
                <a:spcPts val="1875"/>
              </a:lnSpc>
              <a:spcAft>
                <a:spcPts val="1200"/>
              </a:spcAft>
              <a:buFont typeface="Arial" panose="020B0604020202020204" pitchFamily="34" charset="0"/>
              <a:buChar char="•"/>
            </a:pPr>
            <a:r>
              <a:rPr lang="en-US" altLang="ja-JP" b="1" dirty="0">
                <a:solidFill>
                  <a:srgbClr val="000000"/>
                </a:solidFill>
                <a:latin typeface="+mn-ea"/>
              </a:rPr>
              <a:t>ENFP </a:t>
            </a:r>
            <a:r>
              <a:rPr lang="ja-JP" altLang="en-US" b="1" dirty="0">
                <a:solidFill>
                  <a:srgbClr val="000000"/>
                </a:solidFill>
                <a:latin typeface="+mn-ea"/>
              </a:rPr>
              <a:t>から </a:t>
            </a:r>
            <a:r>
              <a:rPr lang="en-US" altLang="ja-JP" b="1" dirty="0">
                <a:solidFill>
                  <a:srgbClr val="000000"/>
                </a:solidFill>
                <a:latin typeface="+mn-ea"/>
              </a:rPr>
              <a:t>ISTJ </a:t>
            </a:r>
            <a:r>
              <a:rPr lang="ja-JP" altLang="en-US" b="1" dirty="0">
                <a:solidFill>
                  <a:srgbClr val="000000"/>
                </a:solidFill>
                <a:latin typeface="+mn-ea"/>
              </a:rPr>
              <a:t>への人格切り替え</a:t>
            </a: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sz="2000" b="1" dirty="0">
              <a:solidFill>
                <a:srgbClr val="1F4E79"/>
              </a:solidFill>
              <a:latin typeface="Meiryo UI" panose="020B0604030504040204" pitchFamily="50" charset="-128"/>
              <a:ea typeface="Yu Gothic" panose="020B0400000000000000" pitchFamily="50" charset="-128"/>
            </a:endParaRPr>
          </a:p>
          <a:p>
            <a:pPr algn="l" rtl="0" fontAlgn="base">
              <a:lnSpc>
                <a:spcPts val="2400"/>
              </a:lnSpc>
              <a:buNone/>
            </a:pPr>
            <a:r>
              <a:rPr lang="ja-JP" altLang="ja-JP" sz="2000" b="1" i="0" u="none" strike="noStrike" dirty="0">
                <a:solidFill>
                  <a:srgbClr val="1F4E79"/>
                </a:solidFill>
                <a:effectLst/>
                <a:latin typeface="Meiryo UI" panose="020B0604030504040204" pitchFamily="50" charset="-128"/>
                <a:ea typeface="Yu Gothic" panose="020B0400000000000000" pitchFamily="50" charset="-128"/>
              </a:rPr>
              <a:t>実</a:t>
            </a: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施方法</a:t>
            </a:r>
            <a:r>
              <a:rPr lang="en-US" altLang="ja-JP" sz="20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lnSpc>
                <a:spcPts val="2100"/>
              </a:lnSpc>
              <a:buNone/>
            </a:pPr>
            <a:r>
              <a:rPr lang="ja-JP" altLang="ja-JP" sz="1800" b="1" i="0" u="none" strike="noStrike" dirty="0">
                <a:solidFill>
                  <a:srgbClr val="000000"/>
                </a:solidFill>
                <a:effectLst/>
                <a:latin typeface="Meiryo UI" panose="020B0604030504040204" pitchFamily="50" charset="-128"/>
                <a:ea typeface="Yu Gothic" panose="020B0400000000000000" pitchFamily="50" charset="-128"/>
              </a:rPr>
              <a:t>クラウドソーシングを利用した</a:t>
            </a:r>
            <a:r>
              <a:rPr lang="en-US" altLang="ja-JP" sz="1800" b="1" i="0" u="none" strike="noStrike" dirty="0">
                <a:solidFill>
                  <a:srgbClr val="000000"/>
                </a:solidFill>
                <a:effectLst/>
                <a:latin typeface="Yu Gothic" panose="020B0400000000000000" pitchFamily="50" charset="-128"/>
                <a:ea typeface="Meiryo UI" panose="020B0604030504040204" pitchFamily="50" charset="-128"/>
              </a:rPr>
              <a:t>Web</a:t>
            </a:r>
            <a:r>
              <a:rPr lang="ja-JP" altLang="ja-JP" sz="1800" b="1" i="0" u="none" strike="noStrike" dirty="0">
                <a:solidFill>
                  <a:srgbClr val="000000"/>
                </a:solidFill>
                <a:effectLst/>
                <a:latin typeface="Meiryo UI" panose="020B0604030504040204" pitchFamily="50" charset="-128"/>
                <a:ea typeface="Yu Gothic" panose="020B0400000000000000" pitchFamily="50" charset="-128"/>
              </a:rPr>
              <a:t>実験</a:t>
            </a: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lnSpc>
                <a:spcPts val="2100"/>
              </a:lnSpc>
              <a:buNone/>
            </a:pPr>
            <a:r>
              <a:rPr lang="ja-JP" altLang="ja-JP" sz="1800" b="1" i="0" u="none" strike="noStrike" dirty="0">
                <a:solidFill>
                  <a:srgbClr val="000000"/>
                </a:solidFill>
                <a:effectLst/>
                <a:latin typeface="Meiryo UI" panose="020B0604030504040204" pitchFamily="50" charset="-128"/>
                <a:ea typeface="Yu Gothic" panose="020B0400000000000000" pitchFamily="50" charset="-128"/>
              </a:rPr>
              <a:t>参加者間配置で実施</a:t>
            </a: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8208479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9FFBB5C-224E-159E-334F-A8260532883F}"/>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BDCD3143-4F73-82E8-F174-A744886FB05B}"/>
              </a:ext>
            </a:extLst>
          </p:cNvPr>
          <p:cNvSpPr>
            <a:spLocks noGrp="1"/>
          </p:cNvSpPr>
          <p:nvPr>
            <p:ph type="sldNum" sz="quarter" idx="12"/>
          </p:nvPr>
        </p:nvSpPr>
        <p:spPr/>
        <p:txBody>
          <a:bodyPr/>
          <a:lstStyle/>
          <a:p>
            <a:fld id="{18020408-E1FF-429E-A8D5-EB2A190A0D77}" type="slidenum">
              <a:rPr kumimoji="1" lang="ja-JP" altLang="en-US" smtClean="0"/>
              <a:pPr/>
              <a:t>48</a:t>
            </a:fld>
            <a:endParaRPr kumimoji="1" lang="ja-JP" altLang="en-US" sz="2400" dirty="0"/>
          </a:p>
        </p:txBody>
      </p:sp>
      <p:sp>
        <p:nvSpPr>
          <p:cNvPr id="3" name="タイトル 2">
            <a:extLst>
              <a:ext uri="{FF2B5EF4-FFF2-40B4-BE49-F238E27FC236}">
                <a16:creationId xmlns:a16="http://schemas.microsoft.com/office/drawing/2014/main" id="{2D276690-A522-AEB8-7D4C-98040910A45F}"/>
              </a:ext>
            </a:extLst>
          </p:cNvPr>
          <p:cNvSpPr>
            <a:spLocks noGrp="1"/>
          </p:cNvSpPr>
          <p:nvPr>
            <p:ph type="title"/>
          </p:nvPr>
        </p:nvSpPr>
        <p:spPr/>
        <p:txBody>
          <a:bodyPr/>
          <a:lstStyle/>
          <a:p>
            <a:r>
              <a:rPr lang="ja-JP" altLang="en-US" sz="3600" dirty="0"/>
              <a:t>考察</a:t>
            </a:r>
            <a:r>
              <a:rPr kumimoji="1" lang="ja-JP" altLang="en-US" sz="3600" dirty="0"/>
              <a:t>：人格切替の知覚</a:t>
            </a:r>
          </a:p>
        </p:txBody>
      </p:sp>
      <p:graphicFrame>
        <p:nvGraphicFramePr>
          <p:cNvPr id="4" name="表 3">
            <a:extLst>
              <a:ext uri="{FF2B5EF4-FFF2-40B4-BE49-F238E27FC236}">
                <a16:creationId xmlns:a16="http://schemas.microsoft.com/office/drawing/2014/main" id="{E4C340C7-85B9-84BB-C397-006752CF1F29}"/>
              </a:ext>
            </a:extLst>
          </p:cNvPr>
          <p:cNvGraphicFramePr>
            <a:graphicFrameLocks noGrp="1"/>
          </p:cNvGraphicFramePr>
          <p:nvPr>
            <p:extLst>
              <p:ext uri="{D42A27DB-BD31-4B8C-83A1-F6EECF244321}">
                <p14:modId xmlns:p14="http://schemas.microsoft.com/office/powerpoint/2010/main" val="286988071"/>
              </p:ext>
            </p:extLst>
          </p:nvPr>
        </p:nvGraphicFramePr>
        <p:xfrm>
          <a:off x="382599" y="1099580"/>
          <a:ext cx="8214553" cy="3149692"/>
        </p:xfrm>
        <a:graphic>
          <a:graphicData uri="http://schemas.openxmlformats.org/drawingml/2006/table">
            <a:tbl>
              <a:tblPr firstRow="1" bandRow="1">
                <a:tableStyleId>{9D7B26C5-4107-4FEC-AEDC-1716B250A1EF}</a:tableStyleId>
              </a:tblPr>
              <a:tblGrid>
                <a:gridCol w="4255753">
                  <a:extLst>
                    <a:ext uri="{9D8B030D-6E8A-4147-A177-3AD203B41FA5}">
                      <a16:colId xmlns:a16="http://schemas.microsoft.com/office/drawing/2014/main" val="2853157113"/>
                    </a:ext>
                  </a:extLst>
                </a:gridCol>
                <a:gridCol w="989700">
                  <a:extLst>
                    <a:ext uri="{9D8B030D-6E8A-4147-A177-3AD203B41FA5}">
                      <a16:colId xmlns:a16="http://schemas.microsoft.com/office/drawing/2014/main" val="2198488987"/>
                    </a:ext>
                  </a:extLst>
                </a:gridCol>
                <a:gridCol w="989700">
                  <a:extLst>
                    <a:ext uri="{9D8B030D-6E8A-4147-A177-3AD203B41FA5}">
                      <a16:colId xmlns:a16="http://schemas.microsoft.com/office/drawing/2014/main" val="3645245759"/>
                    </a:ext>
                  </a:extLst>
                </a:gridCol>
                <a:gridCol w="989700">
                  <a:extLst>
                    <a:ext uri="{9D8B030D-6E8A-4147-A177-3AD203B41FA5}">
                      <a16:colId xmlns:a16="http://schemas.microsoft.com/office/drawing/2014/main" val="4200389172"/>
                    </a:ext>
                  </a:extLst>
                </a:gridCol>
                <a:gridCol w="989700">
                  <a:extLst>
                    <a:ext uri="{9D8B030D-6E8A-4147-A177-3AD203B41FA5}">
                      <a16:colId xmlns:a16="http://schemas.microsoft.com/office/drawing/2014/main" val="3745847308"/>
                    </a:ext>
                  </a:extLst>
                </a:gridCol>
              </a:tblGrid>
              <a:tr h="297471">
                <a:tc>
                  <a:txBody>
                    <a:bodyPr/>
                    <a:lstStyle/>
                    <a:p>
                      <a:r>
                        <a:rPr kumimoji="1" lang="ja-JP" altLang="en-US" sz="1100" b="1" dirty="0">
                          <a:latin typeface="+mn-ea"/>
                          <a:ea typeface="+mn-ea"/>
                        </a:rPr>
                        <a:t>人格切り替え</a:t>
                      </a:r>
                    </a:p>
                  </a:txBody>
                  <a:tcPr/>
                </a:tc>
                <a:tc gridSpan="2">
                  <a:txBody>
                    <a:bodyPr/>
                    <a:lstStyle/>
                    <a:p>
                      <a:pPr algn="ctr"/>
                      <a:r>
                        <a:rPr kumimoji="1" lang="ja-JP" altLang="en-US" sz="1100" b="1" dirty="0">
                          <a:latin typeface="+mn-ea"/>
                          <a:ea typeface="+mn-ea"/>
                        </a:rPr>
                        <a:t>固定</a:t>
                      </a:r>
                    </a:p>
                  </a:txBody>
                  <a:tcPr/>
                </a:tc>
                <a:tc hMerge="1">
                  <a:txBody>
                    <a:bodyPr/>
                    <a:lstStyle/>
                    <a:p>
                      <a:endParaRPr kumimoji="1" lang="ja-JP" altLang="en-US" dirty="0"/>
                    </a:p>
                  </a:txBody>
                  <a:tcPr/>
                </a:tc>
                <a:tc gridSpan="2">
                  <a:txBody>
                    <a:bodyPr/>
                    <a:lstStyle/>
                    <a:p>
                      <a:pPr algn="ctr"/>
                      <a:r>
                        <a:rPr kumimoji="1" lang="ja-JP" altLang="en-US" sz="1100" b="1" dirty="0">
                          <a:latin typeface="+mn-ea"/>
                          <a:ea typeface="+mn-ea"/>
                        </a:rPr>
                        <a:t>切り替え</a:t>
                      </a:r>
                    </a:p>
                  </a:txBody>
                  <a:tcPr/>
                </a:tc>
                <a:tc hMerge="1">
                  <a:txBody>
                    <a:bodyPr/>
                    <a:lstStyle/>
                    <a:p>
                      <a:endParaRPr kumimoji="1" lang="ja-JP" altLang="en-US" dirty="0"/>
                    </a:p>
                  </a:txBody>
                  <a:tcPr/>
                </a:tc>
                <a:extLst>
                  <a:ext uri="{0D108BD9-81ED-4DB2-BD59-A6C34878D82A}">
                    <a16:rowId xmlns:a16="http://schemas.microsoft.com/office/drawing/2014/main" val="1255672035"/>
                  </a:ext>
                </a:extLst>
              </a:tr>
              <a:tr h="297471">
                <a:tc>
                  <a:txBody>
                    <a:bodyPr/>
                    <a:lstStyle/>
                    <a:p>
                      <a:r>
                        <a:rPr kumimoji="1" lang="ja-JP" altLang="en-US" sz="1100" b="1" dirty="0">
                          <a:latin typeface="+mn-ea"/>
                          <a:ea typeface="+mn-ea"/>
                        </a:rPr>
                        <a:t>名乗り</a:t>
                      </a: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100" b="1" dirty="0">
                          <a:latin typeface="+mn-ea"/>
                          <a:ea typeface="+mn-ea"/>
                        </a:rPr>
                        <a:t>あり</a:t>
                      </a: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100" b="1" dirty="0">
                          <a:latin typeface="+mn-ea"/>
                          <a:ea typeface="+mn-ea"/>
                        </a:rPr>
                        <a:t>なし</a:t>
                      </a: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100" b="1" dirty="0">
                          <a:latin typeface="+mn-ea"/>
                          <a:ea typeface="+mn-ea"/>
                        </a:rPr>
                        <a:t>あり</a:t>
                      </a: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100" b="1" dirty="0">
                          <a:latin typeface="+mn-ea"/>
                          <a:ea typeface="+mn-ea"/>
                        </a:rPr>
                        <a:t>なし</a:t>
                      </a:r>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232592"/>
                  </a:ext>
                </a:extLst>
              </a:tr>
              <a:tr h="489952">
                <a:tc>
                  <a:txBody>
                    <a:bodyPr/>
                    <a:lstStyle/>
                    <a:p>
                      <a:r>
                        <a:rPr kumimoji="1" lang="ja-JP" altLang="en-US" sz="1100" b="1" dirty="0">
                          <a:latin typeface="+mn-ea"/>
                          <a:ea typeface="+mn-ea"/>
                        </a:rPr>
                        <a:t>項目</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100" b="1" dirty="0">
                          <a:latin typeface="+mn-ea"/>
                          <a:ea typeface="+mn-ea"/>
                        </a:rPr>
                        <a:t>回答割合</a:t>
                      </a:r>
                      <a:endParaRPr kumimoji="1" lang="en-US" altLang="ja-JP" sz="1100" b="1" dirty="0">
                        <a:latin typeface="+mn-ea"/>
                        <a:ea typeface="+mn-ea"/>
                      </a:endParaRPr>
                    </a:p>
                    <a:p>
                      <a:pPr algn="r"/>
                      <a:r>
                        <a:rPr kumimoji="1" lang="en-US" altLang="ja-JP" sz="1100" b="1" dirty="0">
                          <a:latin typeface="+mn-ea"/>
                          <a:ea typeface="+mn-ea"/>
                        </a:rPr>
                        <a:t>(%)</a:t>
                      </a:r>
                      <a:endParaRPr kumimoji="1" lang="ja-JP" altLang="en-US" sz="1100" b="1" dirty="0">
                        <a:latin typeface="+mn-ea"/>
                        <a:ea typeface="+mn-ea"/>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100" b="1" dirty="0">
                          <a:latin typeface="+mn-ea"/>
                          <a:ea typeface="+mn-ea"/>
                        </a:rPr>
                        <a:t>回答割合</a:t>
                      </a:r>
                      <a:endParaRPr kumimoji="1" lang="en-US" altLang="ja-JP" sz="1100" b="1" dirty="0">
                        <a:latin typeface="+mn-ea"/>
                        <a:ea typeface="+mn-ea"/>
                      </a:endParaRPr>
                    </a:p>
                    <a:p>
                      <a:pPr algn="r"/>
                      <a:r>
                        <a:rPr kumimoji="1" lang="en-US" altLang="ja-JP" sz="1100" b="1" dirty="0">
                          <a:latin typeface="+mn-ea"/>
                          <a:ea typeface="+mn-ea"/>
                        </a:rPr>
                        <a:t>(%)</a:t>
                      </a:r>
                      <a:endParaRPr kumimoji="1" lang="ja-JP" altLang="en-US" sz="1100" b="1" dirty="0">
                        <a:latin typeface="+mn-ea"/>
                        <a:ea typeface="+mn-ea"/>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100" b="1" dirty="0">
                          <a:latin typeface="+mn-ea"/>
                          <a:ea typeface="+mn-ea"/>
                        </a:rPr>
                        <a:t>回答割合</a:t>
                      </a:r>
                      <a:endParaRPr kumimoji="1" lang="en-US" altLang="ja-JP" sz="1100" b="1" dirty="0">
                        <a:latin typeface="+mn-ea"/>
                        <a:ea typeface="+mn-ea"/>
                      </a:endParaRPr>
                    </a:p>
                    <a:p>
                      <a:pPr algn="r"/>
                      <a:r>
                        <a:rPr kumimoji="1" lang="en-US" altLang="ja-JP" sz="1100" b="1" dirty="0">
                          <a:latin typeface="+mn-ea"/>
                          <a:ea typeface="+mn-ea"/>
                        </a:rPr>
                        <a:t>(%)</a:t>
                      </a:r>
                      <a:endParaRPr kumimoji="1" lang="ja-JP" altLang="en-US" sz="1100" b="1" dirty="0">
                        <a:latin typeface="+mn-ea"/>
                        <a:ea typeface="+mn-ea"/>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100" b="1" dirty="0">
                          <a:latin typeface="+mn-ea"/>
                          <a:ea typeface="+mn-ea"/>
                        </a:rPr>
                        <a:t>回答割合</a:t>
                      </a:r>
                      <a:endParaRPr kumimoji="1" lang="en-US" altLang="ja-JP" sz="1100" b="1" dirty="0">
                        <a:latin typeface="+mn-ea"/>
                        <a:ea typeface="+mn-ea"/>
                      </a:endParaRPr>
                    </a:p>
                    <a:p>
                      <a:pPr algn="r"/>
                      <a:r>
                        <a:rPr kumimoji="1" lang="en-US" altLang="ja-JP" sz="1100" b="1" dirty="0">
                          <a:latin typeface="+mn-ea"/>
                          <a:ea typeface="+mn-ea"/>
                        </a:rPr>
                        <a:t>(%)</a:t>
                      </a:r>
                      <a:endParaRPr kumimoji="1" lang="ja-JP" altLang="en-US" sz="1100" b="1" dirty="0">
                        <a:latin typeface="+mn-ea"/>
                        <a:ea typeface="+mn-ea"/>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2843654"/>
                  </a:ext>
                </a:extLst>
              </a:tr>
              <a:tr h="297471">
                <a:tc>
                  <a:txBody>
                    <a:bodyPr/>
                    <a:lstStyle/>
                    <a:p>
                      <a:r>
                        <a:rPr kumimoji="1" lang="en-US" altLang="ja-JP" sz="1100" b="1" dirty="0">
                          <a:solidFill>
                            <a:srgbClr val="C00000"/>
                          </a:solidFill>
                          <a:latin typeface="+mn-ea"/>
                          <a:ea typeface="+mn-ea"/>
                        </a:rPr>
                        <a:t>AI </a:t>
                      </a:r>
                      <a:r>
                        <a:rPr kumimoji="1" lang="ja-JP" altLang="en-US" sz="1100" b="1" dirty="0">
                          <a:solidFill>
                            <a:srgbClr val="C00000"/>
                          </a:solidFill>
                          <a:latin typeface="+mn-ea"/>
                          <a:ea typeface="+mn-ea"/>
                        </a:rPr>
                        <a:t>の性格は変わっていない</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1100" b="1" dirty="0">
                          <a:solidFill>
                            <a:srgbClr val="C00000"/>
                          </a:solidFill>
                          <a:latin typeface="+mn-ea"/>
                          <a:ea typeface="+mn-ea"/>
                        </a:rPr>
                        <a:t>95.9</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1100" b="1" dirty="0">
                          <a:solidFill>
                            <a:srgbClr val="C00000"/>
                          </a:solidFill>
                          <a:latin typeface="+mn-ea"/>
                          <a:ea typeface="+mn-ea"/>
                        </a:rPr>
                        <a:t>78.9</a:t>
                      </a:r>
                      <a:endParaRPr kumimoji="1" lang="ja-JP" altLang="en-US" sz="1100" b="1" dirty="0">
                        <a:solidFill>
                          <a:srgbClr val="C00000"/>
                        </a:solidFill>
                        <a:latin typeface="+mn-ea"/>
                        <a:ea typeface="+mn-ea"/>
                      </a:endParaRP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1100" b="1" dirty="0">
                          <a:latin typeface="+mn-ea"/>
                          <a:ea typeface="+mn-ea"/>
                        </a:rPr>
                        <a:t>37.5</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1100" b="1" dirty="0">
                          <a:solidFill>
                            <a:srgbClr val="C00000"/>
                          </a:solidFill>
                          <a:latin typeface="+mn-ea"/>
                          <a:ea typeface="+mn-ea"/>
                        </a:rPr>
                        <a:t>45.2</a:t>
                      </a:r>
                      <a:endParaRPr kumimoji="1" lang="ja-JP" altLang="en-US" sz="1100" b="1" dirty="0">
                        <a:solidFill>
                          <a:srgbClr val="C00000"/>
                        </a:solidFill>
                        <a:latin typeface="+mn-ea"/>
                        <a:ea typeface="+mn-ea"/>
                      </a:endParaRPr>
                    </a:p>
                  </a:txBody>
                  <a:tcP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621711327"/>
                  </a:ext>
                </a:extLst>
              </a:tr>
              <a:tr h="489952">
                <a:tc>
                  <a:txBody>
                    <a:bodyPr/>
                    <a:lstStyle/>
                    <a:p>
                      <a:r>
                        <a:rPr kumimoji="1" lang="en-US" altLang="ja-JP" sz="1100" b="1" dirty="0">
                          <a:latin typeface="+mn-ea"/>
                          <a:ea typeface="+mn-ea"/>
                        </a:rPr>
                        <a:t>AI </a:t>
                      </a:r>
                      <a:r>
                        <a:rPr kumimoji="1" lang="ja-JP" altLang="en-US" sz="1100" b="1" dirty="0">
                          <a:latin typeface="+mn-ea"/>
                          <a:ea typeface="+mn-ea"/>
                        </a:rPr>
                        <a:t>の性格は初めのチャットの途中で変わった</a:t>
                      </a:r>
                    </a:p>
                  </a:txBody>
                  <a:tcPr>
                    <a:solidFill>
                      <a:schemeClr val="bg1"/>
                    </a:solidFill>
                  </a:tcPr>
                </a:tc>
                <a:tc>
                  <a:txBody>
                    <a:bodyPr/>
                    <a:lstStyle/>
                    <a:p>
                      <a:pPr algn="r"/>
                      <a:r>
                        <a:rPr kumimoji="1" lang="en-US" altLang="ja-JP" sz="1100" b="1" dirty="0">
                          <a:latin typeface="+mn-ea"/>
                          <a:ea typeface="+mn-ea"/>
                        </a:rPr>
                        <a:t>0.0</a:t>
                      </a:r>
                      <a:endParaRPr kumimoji="1" lang="ja-JP" altLang="en-US" sz="1100" b="1" dirty="0">
                        <a:latin typeface="+mn-ea"/>
                        <a:ea typeface="+mn-ea"/>
                      </a:endParaRPr>
                    </a:p>
                  </a:txBody>
                  <a:tcPr>
                    <a:solidFill>
                      <a:schemeClr val="bg1"/>
                    </a:solidFill>
                  </a:tcPr>
                </a:tc>
                <a:tc>
                  <a:txBody>
                    <a:bodyPr/>
                    <a:lstStyle/>
                    <a:p>
                      <a:pPr algn="r"/>
                      <a:r>
                        <a:rPr kumimoji="1" lang="en-US" altLang="ja-JP" sz="1100" b="1" dirty="0">
                          <a:latin typeface="+mn-ea"/>
                          <a:ea typeface="+mn-ea"/>
                        </a:rPr>
                        <a:t>7.9</a:t>
                      </a:r>
                      <a:endParaRPr kumimoji="1" lang="ja-JP" altLang="en-US" sz="1100" b="1" dirty="0">
                        <a:latin typeface="+mn-ea"/>
                        <a:ea typeface="+mn-ea"/>
                      </a:endParaRPr>
                    </a:p>
                  </a:txBody>
                  <a:tcPr>
                    <a:solidFill>
                      <a:schemeClr val="bg1"/>
                    </a:solidFill>
                  </a:tcPr>
                </a:tc>
                <a:tc>
                  <a:txBody>
                    <a:bodyPr/>
                    <a:lstStyle/>
                    <a:p>
                      <a:pPr algn="r"/>
                      <a:r>
                        <a:rPr kumimoji="1" lang="en-US" altLang="ja-JP" sz="1100" b="1" dirty="0">
                          <a:latin typeface="+mn-ea"/>
                          <a:ea typeface="+mn-ea"/>
                        </a:rPr>
                        <a:t>0.0</a:t>
                      </a:r>
                      <a:endParaRPr kumimoji="1" lang="ja-JP" altLang="en-US" sz="1100" b="1" dirty="0">
                        <a:latin typeface="+mn-ea"/>
                        <a:ea typeface="+mn-ea"/>
                      </a:endParaRPr>
                    </a:p>
                  </a:txBody>
                  <a:tcPr>
                    <a:solidFill>
                      <a:schemeClr val="bg1"/>
                    </a:solidFill>
                  </a:tcPr>
                </a:tc>
                <a:tc>
                  <a:txBody>
                    <a:bodyPr/>
                    <a:lstStyle/>
                    <a:p>
                      <a:pPr algn="r"/>
                      <a:r>
                        <a:rPr kumimoji="1" lang="en-US" altLang="ja-JP" sz="1100" b="1" dirty="0">
                          <a:latin typeface="+mn-ea"/>
                          <a:ea typeface="+mn-ea"/>
                        </a:rPr>
                        <a:t>4.8</a:t>
                      </a:r>
                      <a:endParaRPr kumimoji="1" lang="ja-JP" altLang="en-US" sz="1100" b="1" dirty="0">
                        <a:latin typeface="+mn-ea"/>
                        <a:ea typeface="+mn-ea"/>
                      </a:endParaRPr>
                    </a:p>
                  </a:txBody>
                  <a:tcPr>
                    <a:solidFill>
                      <a:schemeClr val="bg1"/>
                    </a:solidFill>
                  </a:tcPr>
                </a:tc>
                <a:extLst>
                  <a:ext uri="{0D108BD9-81ED-4DB2-BD59-A6C34878D82A}">
                    <a16:rowId xmlns:a16="http://schemas.microsoft.com/office/drawing/2014/main" val="2303202971"/>
                  </a:ext>
                </a:extLst>
              </a:tr>
              <a:tr h="489952">
                <a:tc>
                  <a:txBody>
                    <a:bodyPr/>
                    <a:lstStyle/>
                    <a:p>
                      <a:r>
                        <a:rPr kumimoji="1" lang="en-US" altLang="ja-JP" sz="1100" b="1" dirty="0">
                          <a:solidFill>
                            <a:srgbClr val="C00000"/>
                          </a:solidFill>
                          <a:latin typeface="+mn-ea"/>
                          <a:ea typeface="+mn-ea"/>
                        </a:rPr>
                        <a:t>AI </a:t>
                      </a:r>
                      <a:r>
                        <a:rPr kumimoji="1" lang="ja-JP" altLang="en-US" sz="1100" b="1" dirty="0">
                          <a:solidFill>
                            <a:srgbClr val="C00000"/>
                          </a:solidFill>
                          <a:latin typeface="+mn-ea"/>
                          <a:ea typeface="+mn-ea"/>
                        </a:rPr>
                        <a:t>の性格はチャットを新規作成した際に変わった</a:t>
                      </a:r>
                    </a:p>
                  </a:txBody>
                  <a:tcPr>
                    <a:solidFill>
                      <a:schemeClr val="bg1"/>
                    </a:solidFill>
                  </a:tcPr>
                </a:tc>
                <a:tc>
                  <a:txBody>
                    <a:bodyPr/>
                    <a:lstStyle/>
                    <a:p>
                      <a:pPr algn="r"/>
                      <a:r>
                        <a:rPr kumimoji="1" lang="en-US" altLang="ja-JP" sz="1100" b="1" dirty="0">
                          <a:latin typeface="+mn-ea"/>
                          <a:ea typeface="+mn-ea"/>
                        </a:rPr>
                        <a:t>2.0</a:t>
                      </a:r>
                      <a:endParaRPr kumimoji="1" lang="ja-JP" altLang="en-US" sz="1100" b="1" dirty="0">
                        <a:latin typeface="+mn-ea"/>
                        <a:ea typeface="+mn-ea"/>
                      </a:endParaRPr>
                    </a:p>
                  </a:txBody>
                  <a:tcPr>
                    <a:solidFill>
                      <a:schemeClr val="bg1"/>
                    </a:solidFill>
                  </a:tcPr>
                </a:tc>
                <a:tc>
                  <a:txBody>
                    <a:bodyPr/>
                    <a:lstStyle/>
                    <a:p>
                      <a:pPr algn="r"/>
                      <a:r>
                        <a:rPr kumimoji="1" lang="en-US" altLang="ja-JP" sz="1100" b="1" dirty="0">
                          <a:latin typeface="+mn-ea"/>
                          <a:ea typeface="+mn-ea"/>
                        </a:rPr>
                        <a:t>7.9</a:t>
                      </a:r>
                    </a:p>
                  </a:txBody>
                  <a:tcPr>
                    <a:solidFill>
                      <a:schemeClr val="bg1"/>
                    </a:solidFill>
                  </a:tcPr>
                </a:tc>
                <a:tc>
                  <a:txBody>
                    <a:bodyPr/>
                    <a:lstStyle/>
                    <a:p>
                      <a:pPr algn="r"/>
                      <a:r>
                        <a:rPr kumimoji="1" lang="en-US" altLang="ja-JP" sz="1100" b="1" dirty="0">
                          <a:solidFill>
                            <a:srgbClr val="C00000"/>
                          </a:solidFill>
                          <a:latin typeface="+mn-ea"/>
                          <a:ea typeface="+mn-ea"/>
                        </a:rPr>
                        <a:t>62.5</a:t>
                      </a:r>
                      <a:endParaRPr kumimoji="1" lang="ja-JP" altLang="en-US" sz="1100" b="1" dirty="0">
                        <a:solidFill>
                          <a:srgbClr val="C00000"/>
                        </a:solidFill>
                        <a:latin typeface="+mn-ea"/>
                        <a:ea typeface="+mn-ea"/>
                      </a:endParaRPr>
                    </a:p>
                  </a:txBody>
                  <a:tcPr>
                    <a:solidFill>
                      <a:schemeClr val="bg1"/>
                    </a:solidFill>
                  </a:tcPr>
                </a:tc>
                <a:tc>
                  <a:txBody>
                    <a:bodyPr/>
                    <a:lstStyle/>
                    <a:p>
                      <a:pPr algn="r"/>
                      <a:r>
                        <a:rPr kumimoji="1" lang="en-US" altLang="ja-JP" sz="1100" b="1" dirty="0">
                          <a:solidFill>
                            <a:srgbClr val="C00000"/>
                          </a:solidFill>
                          <a:latin typeface="+mn-ea"/>
                          <a:ea typeface="+mn-ea"/>
                        </a:rPr>
                        <a:t>45.2</a:t>
                      </a:r>
                      <a:endParaRPr kumimoji="1" lang="ja-JP" altLang="en-US" sz="1100" b="1" dirty="0">
                        <a:solidFill>
                          <a:srgbClr val="C00000"/>
                        </a:solidFill>
                        <a:latin typeface="+mn-ea"/>
                        <a:ea typeface="+mn-ea"/>
                      </a:endParaRPr>
                    </a:p>
                  </a:txBody>
                  <a:tcPr>
                    <a:solidFill>
                      <a:schemeClr val="bg1"/>
                    </a:solidFill>
                  </a:tcPr>
                </a:tc>
                <a:extLst>
                  <a:ext uri="{0D108BD9-81ED-4DB2-BD59-A6C34878D82A}">
                    <a16:rowId xmlns:a16="http://schemas.microsoft.com/office/drawing/2014/main" val="557467001"/>
                  </a:ext>
                </a:extLst>
              </a:tr>
              <a:tr h="489952">
                <a:tc>
                  <a:txBody>
                    <a:bodyPr/>
                    <a:lstStyle/>
                    <a:p>
                      <a:r>
                        <a:rPr kumimoji="1" lang="en-US" altLang="ja-JP" sz="1100" b="1" dirty="0">
                          <a:latin typeface="+mn-ea"/>
                          <a:ea typeface="+mn-ea"/>
                        </a:rPr>
                        <a:t>AI </a:t>
                      </a:r>
                      <a:r>
                        <a:rPr kumimoji="1" lang="ja-JP" altLang="en-US" sz="1100" b="1" dirty="0">
                          <a:latin typeface="+mn-ea"/>
                          <a:ea typeface="+mn-ea"/>
                        </a:rPr>
                        <a:t>の性格はチャットを新規作成後のチャットの途中に変わった </a:t>
                      </a:r>
                      <a:endParaRPr kumimoji="1" lang="en-US" altLang="ja-JP" sz="1100" b="1" dirty="0">
                        <a:latin typeface="+mn-ea"/>
                        <a:ea typeface="+mn-ea"/>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1100" b="1" dirty="0">
                          <a:latin typeface="+mn-ea"/>
                          <a:ea typeface="+mn-ea"/>
                        </a:rPr>
                        <a:t>2.0</a:t>
                      </a:r>
                      <a:endParaRPr kumimoji="1" lang="ja-JP" altLang="en-US" sz="1100" b="1" dirty="0">
                        <a:latin typeface="+mn-ea"/>
                        <a:ea typeface="+mn-ea"/>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1100" b="1" dirty="0">
                          <a:latin typeface="+mn-ea"/>
                          <a:ea typeface="+mn-ea"/>
                        </a:rPr>
                        <a:t>5.3</a:t>
                      </a:r>
                      <a:endParaRPr kumimoji="1" lang="ja-JP" altLang="en-US" sz="1100" b="1" dirty="0">
                        <a:latin typeface="+mn-ea"/>
                        <a:ea typeface="+mn-ea"/>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1100" b="1" dirty="0">
                          <a:latin typeface="+mn-ea"/>
                          <a:ea typeface="+mn-ea"/>
                        </a:rPr>
                        <a:t>0.0</a:t>
                      </a:r>
                      <a:endParaRPr kumimoji="1" lang="ja-JP" altLang="en-US" sz="1100" b="1" dirty="0">
                        <a:latin typeface="+mn-ea"/>
                        <a:ea typeface="+mn-ea"/>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1100" b="1" dirty="0">
                          <a:latin typeface="+mn-ea"/>
                          <a:ea typeface="+mn-ea"/>
                        </a:rPr>
                        <a:t>4.8</a:t>
                      </a:r>
                      <a:endParaRPr kumimoji="1" lang="ja-JP" altLang="en-US" sz="1100" b="1" dirty="0">
                        <a:latin typeface="+mn-ea"/>
                        <a:ea typeface="+mn-ea"/>
                      </a:endParaRPr>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1895323"/>
                  </a:ext>
                </a:extLst>
              </a:tr>
              <a:tr h="297471">
                <a:tc>
                  <a:txBody>
                    <a:bodyPr/>
                    <a:lstStyle/>
                    <a:p>
                      <a:r>
                        <a:rPr kumimoji="1" lang="ja-JP" altLang="en-US" sz="1100" b="1" dirty="0">
                          <a:latin typeface="+mn-ea"/>
                          <a:ea typeface="+mn-ea"/>
                        </a:rPr>
                        <a:t>合計人数</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1100" b="1" dirty="0">
                          <a:latin typeface="+mn-ea"/>
                          <a:ea typeface="+mn-ea"/>
                        </a:rPr>
                        <a:t>49</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1100" b="1" dirty="0">
                          <a:latin typeface="+mn-ea"/>
                          <a:ea typeface="+mn-ea"/>
                        </a:rPr>
                        <a:t>38</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1100" b="1" dirty="0">
                          <a:latin typeface="+mn-ea"/>
                          <a:ea typeface="+mn-ea"/>
                        </a:rPr>
                        <a:t>32</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1100" b="1" dirty="0">
                          <a:latin typeface="+mn-ea"/>
                          <a:ea typeface="+mn-ea"/>
                        </a:rPr>
                        <a:t>42</a:t>
                      </a:r>
                    </a:p>
                  </a:txBody>
                  <a:tcP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237221719"/>
                  </a:ext>
                </a:extLst>
              </a:tr>
            </a:tbl>
          </a:graphicData>
        </a:graphic>
      </p:graphicFrame>
      <p:sp>
        <p:nvSpPr>
          <p:cNvPr id="9" name="テキスト ボックス 8">
            <a:extLst>
              <a:ext uri="{FF2B5EF4-FFF2-40B4-BE49-F238E27FC236}">
                <a16:creationId xmlns:a16="http://schemas.microsoft.com/office/drawing/2014/main" id="{DE7D70D7-EC8C-B398-56C2-7465133F9206}"/>
              </a:ext>
            </a:extLst>
          </p:cNvPr>
          <p:cNvSpPr txBox="1"/>
          <p:nvPr/>
        </p:nvSpPr>
        <p:spPr>
          <a:xfrm>
            <a:off x="785749" y="5677060"/>
            <a:ext cx="7572501" cy="830997"/>
          </a:xfrm>
          <a:prstGeom prst="rect">
            <a:avLst/>
          </a:prstGeom>
          <a:noFill/>
        </p:spPr>
        <p:txBody>
          <a:bodyPr wrap="square">
            <a:spAutoFit/>
          </a:bodyPr>
          <a:lstStyle/>
          <a:p>
            <a:r>
              <a:rPr lang="ja-JP" altLang="en-US" sz="2400" b="1" dirty="0"/>
              <a:t>名乗ることで対象を個別の人格と認識され</a:t>
            </a:r>
            <a:endParaRPr lang="en-US" altLang="ja-JP" sz="2400" b="1" dirty="0"/>
          </a:p>
          <a:p>
            <a:r>
              <a:rPr lang="ja-JP" altLang="en-US" sz="2400" b="1" dirty="0">
                <a:solidFill>
                  <a:srgbClr val="C00000"/>
                </a:solidFill>
              </a:rPr>
              <a:t>より明確に人格の存在を知覚</a:t>
            </a:r>
            <a:r>
              <a:rPr lang="ja-JP" altLang="en-US" sz="2400" b="1" dirty="0"/>
              <a:t>させる効果を持つ可能性</a:t>
            </a:r>
          </a:p>
        </p:txBody>
      </p:sp>
      <p:sp>
        <p:nvSpPr>
          <p:cNvPr id="12" name="テキスト ボックス 11">
            <a:extLst>
              <a:ext uri="{FF2B5EF4-FFF2-40B4-BE49-F238E27FC236}">
                <a16:creationId xmlns:a16="http://schemas.microsoft.com/office/drawing/2014/main" id="{9B2E5BA6-370E-146C-EE95-B45829BDE312}"/>
              </a:ext>
            </a:extLst>
          </p:cNvPr>
          <p:cNvSpPr txBox="1"/>
          <p:nvPr/>
        </p:nvSpPr>
        <p:spPr>
          <a:xfrm>
            <a:off x="785749" y="4394489"/>
            <a:ext cx="6744604" cy="830997"/>
          </a:xfrm>
          <a:prstGeom prst="rect">
            <a:avLst/>
          </a:prstGeom>
          <a:noFill/>
        </p:spPr>
        <p:txBody>
          <a:bodyPr wrap="square">
            <a:spAutoFit/>
          </a:bodyPr>
          <a:lstStyle/>
          <a:p>
            <a:r>
              <a:rPr lang="ja-JP" altLang="en-US" sz="2400" b="1" dirty="0"/>
              <a:t>名乗りあり水準の方がなし水準と比較して</a:t>
            </a:r>
            <a:endParaRPr lang="en-US" altLang="ja-JP" sz="2400" b="1" dirty="0"/>
          </a:p>
          <a:p>
            <a:r>
              <a:rPr lang="ja-JP" altLang="en-US" sz="2400" b="1" dirty="0"/>
              <a:t>意図した実験設定と項目の</a:t>
            </a:r>
            <a:r>
              <a:rPr lang="ja-JP" altLang="en-US" sz="2400" b="1" dirty="0">
                <a:solidFill>
                  <a:srgbClr val="C00000"/>
                </a:solidFill>
              </a:rPr>
              <a:t>回答率が高い</a:t>
            </a:r>
            <a:endParaRPr lang="en-US" altLang="ja-JP" sz="2400" b="1" dirty="0">
              <a:solidFill>
                <a:srgbClr val="C00000"/>
              </a:solidFill>
            </a:endParaRPr>
          </a:p>
        </p:txBody>
      </p:sp>
      <p:sp>
        <p:nvSpPr>
          <p:cNvPr id="13" name="矢印: 右 12">
            <a:extLst>
              <a:ext uri="{FF2B5EF4-FFF2-40B4-BE49-F238E27FC236}">
                <a16:creationId xmlns:a16="http://schemas.microsoft.com/office/drawing/2014/main" id="{41A0C335-B13D-29D9-BA75-526075DF4958}"/>
              </a:ext>
            </a:extLst>
          </p:cNvPr>
          <p:cNvSpPr/>
          <p:nvPr/>
        </p:nvSpPr>
        <p:spPr>
          <a:xfrm rot="5400000">
            <a:off x="4370337" y="5098943"/>
            <a:ext cx="403323" cy="656410"/>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Tree>
    <p:extLst>
      <p:ext uri="{BB962C8B-B14F-4D97-AF65-F5344CB8AC3E}">
        <p14:creationId xmlns:p14="http://schemas.microsoft.com/office/powerpoint/2010/main" val="28653962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A893FF5-2651-A205-F40F-3F9FB3C1F2AE}"/>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282E0B7-652C-0DCC-812B-451652274566}"/>
              </a:ext>
            </a:extLst>
          </p:cNvPr>
          <p:cNvSpPr>
            <a:spLocks noGrp="1"/>
          </p:cNvSpPr>
          <p:nvPr>
            <p:ph type="sldNum" sz="quarter" idx="12"/>
          </p:nvPr>
        </p:nvSpPr>
        <p:spPr/>
        <p:txBody>
          <a:bodyPr/>
          <a:lstStyle/>
          <a:p>
            <a:fld id="{18020408-E1FF-429E-A8D5-EB2A190A0D77}" type="slidenum">
              <a:rPr kumimoji="1" lang="ja-JP" altLang="en-US" smtClean="0"/>
              <a:pPr/>
              <a:t>49</a:t>
            </a:fld>
            <a:endParaRPr kumimoji="1" lang="ja-JP" altLang="en-US" sz="2400" dirty="0"/>
          </a:p>
        </p:txBody>
      </p:sp>
      <p:sp>
        <p:nvSpPr>
          <p:cNvPr id="3" name="タイトル 2">
            <a:extLst>
              <a:ext uri="{FF2B5EF4-FFF2-40B4-BE49-F238E27FC236}">
                <a16:creationId xmlns:a16="http://schemas.microsoft.com/office/drawing/2014/main" id="{0AFED992-6D92-4393-6F5B-85545E6F8134}"/>
              </a:ext>
            </a:extLst>
          </p:cNvPr>
          <p:cNvSpPr>
            <a:spLocks noGrp="1"/>
          </p:cNvSpPr>
          <p:nvPr>
            <p:ph type="title"/>
          </p:nvPr>
        </p:nvSpPr>
        <p:spPr/>
        <p:txBody>
          <a:bodyPr/>
          <a:lstStyle/>
          <a:p>
            <a:r>
              <a:rPr lang="ja-JP" altLang="en-US" sz="3600" dirty="0"/>
              <a:t>実験結果：言動を見て楽しい</a:t>
            </a:r>
            <a:endParaRPr kumimoji="1" lang="ja-JP" altLang="en-US" sz="3600" dirty="0"/>
          </a:p>
        </p:txBody>
      </p:sp>
      <p:sp>
        <p:nvSpPr>
          <p:cNvPr id="7" name="テキスト ボックス 6">
            <a:extLst>
              <a:ext uri="{FF2B5EF4-FFF2-40B4-BE49-F238E27FC236}">
                <a16:creationId xmlns:a16="http://schemas.microsoft.com/office/drawing/2014/main" id="{910E82F9-15D2-63A2-48B8-C831E94ABB95}"/>
              </a:ext>
            </a:extLst>
          </p:cNvPr>
          <p:cNvSpPr txBox="1"/>
          <p:nvPr/>
        </p:nvSpPr>
        <p:spPr>
          <a:xfrm>
            <a:off x="313263" y="3157200"/>
            <a:ext cx="5698069" cy="369332"/>
          </a:xfrm>
          <a:prstGeom prst="rect">
            <a:avLst/>
          </a:prstGeom>
          <a:noFill/>
        </p:spPr>
        <p:txBody>
          <a:bodyPr wrap="square">
            <a:spAutoFit/>
          </a:bodyPr>
          <a:lstStyle/>
          <a:p>
            <a:r>
              <a:rPr lang="ja-JP" altLang="ja-JP" sz="1800" b="1" i="0" u="none" strike="noStrike" dirty="0">
                <a:solidFill>
                  <a:srgbClr val="000000"/>
                </a:solidFill>
                <a:effectLst/>
                <a:ea typeface="游ゴシック" panose="020B0400000000000000" pitchFamily="50" charset="-128"/>
              </a:rPr>
              <a:t>事後検定（</a:t>
            </a:r>
            <a:r>
              <a:rPr lang="en-US" altLang="ja-JP" sz="1800" b="1" i="0" u="none" strike="noStrike" dirty="0">
                <a:solidFill>
                  <a:srgbClr val="000000"/>
                </a:solidFill>
                <a:effectLst/>
                <a:latin typeface="游ゴシック" panose="020B0400000000000000" pitchFamily="50" charset="-128"/>
              </a:rPr>
              <a:t>Tukey</a:t>
            </a:r>
            <a:r>
              <a:rPr lang="ja-JP" altLang="ja-JP" sz="1800" b="1" i="0" u="none" strike="noStrike" dirty="0">
                <a:solidFill>
                  <a:srgbClr val="000000"/>
                </a:solidFill>
                <a:effectLst/>
                <a:ea typeface="游ゴシック" panose="020B0400000000000000" pitchFamily="50" charset="-128"/>
              </a:rPr>
              <a:t>検定による多重比較</a:t>
            </a:r>
            <a:r>
              <a:rPr lang="ja-JP" altLang="en-US" b="1" dirty="0">
                <a:solidFill>
                  <a:srgbClr val="000000"/>
                </a:solidFill>
                <a:ea typeface="游ゴシック" panose="020B0400000000000000" pitchFamily="50" charset="-128"/>
              </a:rPr>
              <a:t>，一部抜粋</a:t>
            </a:r>
            <a:r>
              <a:rPr lang="ja-JP" altLang="en-US" sz="1800" b="1" i="0" u="none" strike="noStrike" dirty="0">
                <a:solidFill>
                  <a:srgbClr val="000000"/>
                </a:solidFill>
                <a:effectLst/>
                <a:ea typeface="游ゴシック" panose="020B0400000000000000" pitchFamily="50" charset="-128"/>
              </a:rPr>
              <a:t>）</a:t>
            </a:r>
            <a:endParaRPr lang="ja-JP" altLang="en-US" dirty="0"/>
          </a:p>
        </p:txBody>
      </p:sp>
      <p:sp>
        <p:nvSpPr>
          <p:cNvPr id="9" name="Rectangle 1">
            <a:extLst>
              <a:ext uri="{FF2B5EF4-FFF2-40B4-BE49-F238E27FC236}">
                <a16:creationId xmlns:a16="http://schemas.microsoft.com/office/drawing/2014/main" id="{C66857C4-AA42-EDAC-7F1B-0F105AFCFCE9}"/>
              </a:ext>
            </a:extLst>
          </p:cNvPr>
          <p:cNvSpPr>
            <a:spLocks noChangeArrowheads="1"/>
          </p:cNvSpPr>
          <p:nvPr/>
        </p:nvSpPr>
        <p:spPr bwMode="auto">
          <a:xfrm>
            <a:off x="2362200" y="250391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1" name="Rectangle 2">
            <a:extLst>
              <a:ext uri="{FF2B5EF4-FFF2-40B4-BE49-F238E27FC236}">
                <a16:creationId xmlns:a16="http://schemas.microsoft.com/office/drawing/2014/main" id="{E0080F71-9081-A55C-D943-35B011667276}"/>
              </a:ext>
            </a:extLst>
          </p:cNvPr>
          <p:cNvSpPr>
            <a:spLocks noChangeArrowheads="1"/>
          </p:cNvSpPr>
          <p:nvPr/>
        </p:nvSpPr>
        <p:spPr bwMode="auto">
          <a:xfrm>
            <a:off x="2252663" y="3560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3" name="テキスト ボックス 12">
            <a:extLst>
              <a:ext uri="{FF2B5EF4-FFF2-40B4-BE49-F238E27FC236}">
                <a16:creationId xmlns:a16="http://schemas.microsoft.com/office/drawing/2014/main" id="{4D43D2F7-C2A6-C6E8-07B2-206501F389B9}"/>
              </a:ext>
            </a:extLst>
          </p:cNvPr>
          <p:cNvSpPr txBox="1"/>
          <p:nvPr/>
        </p:nvSpPr>
        <p:spPr>
          <a:xfrm>
            <a:off x="313263" y="953349"/>
            <a:ext cx="6680203" cy="1107996"/>
          </a:xfrm>
          <a:prstGeom prst="rect">
            <a:avLst/>
          </a:prstGeom>
          <a:noFill/>
        </p:spPr>
        <p:txBody>
          <a:bodyPr wrap="square">
            <a:spAutoFit/>
          </a:bodyPr>
          <a:lstStyle/>
          <a:p>
            <a:pPr algn="l" rtl="0" fontAlgn="base">
              <a:lnSpc>
                <a:spcPct val="150000"/>
              </a:lnSpc>
              <a:buNone/>
            </a:pPr>
            <a:r>
              <a:rPr lang="ja-JP" altLang="en-US" sz="2000" b="1" dirty="0">
                <a:solidFill>
                  <a:schemeClr val="accent1"/>
                </a:solidFill>
                <a:latin typeface="Meiryo UI" panose="020B0604030504040204" pitchFamily="50" charset="-128"/>
                <a:ea typeface="Yu Gothic" panose="020B0400000000000000" pitchFamily="50" charset="-128"/>
              </a:rPr>
              <a:t>分散分析の結果</a:t>
            </a:r>
            <a:endParaRPr lang="en-US" altLang="ja-JP" sz="2000" b="1" i="0" u="none" strike="noStrike" dirty="0">
              <a:solidFill>
                <a:schemeClr val="accent1"/>
              </a:solidFill>
              <a:effectLst/>
              <a:latin typeface="Meiryo UI" panose="020B0604030504040204" pitchFamily="50" charset="-128"/>
              <a:ea typeface="Yu Gothic" panose="020B0400000000000000" pitchFamily="50" charset="-128"/>
            </a:endParaRPr>
          </a:p>
          <a:p>
            <a:r>
              <a:rPr lang="ja-JP" altLang="en-US" b="1" dirty="0">
                <a:latin typeface="+mn-ea"/>
              </a:rPr>
              <a:t>「</a:t>
            </a:r>
            <a:r>
              <a:rPr kumimoji="1" lang="en-US" altLang="ja-JP" b="1" dirty="0">
                <a:latin typeface="游ゴシック" panose="020B0400000000000000" pitchFamily="50" charset="-128"/>
              </a:rPr>
              <a:t>Q9</a:t>
            </a:r>
            <a:r>
              <a:rPr kumimoji="1" lang="ja-JP" altLang="en-US" b="1" dirty="0">
                <a:latin typeface="游ゴシック" panose="020B0400000000000000" pitchFamily="50" charset="-128"/>
              </a:rPr>
              <a:t>．</a:t>
            </a:r>
            <a:r>
              <a:rPr kumimoji="1" lang="en-US" altLang="ja-JP" b="1" dirty="0">
                <a:latin typeface="游ゴシック" panose="020B0400000000000000" pitchFamily="50" charset="-128"/>
              </a:rPr>
              <a:t>AI </a:t>
            </a:r>
            <a:r>
              <a:rPr kumimoji="1" lang="ja-JP" altLang="en-US" b="1" dirty="0">
                <a:latin typeface="游ゴシック" panose="020B0400000000000000" pitchFamily="50" charset="-128"/>
              </a:rPr>
              <a:t>の言動は見ていて楽しい」について</a:t>
            </a:r>
            <a:endParaRPr kumimoji="1" lang="en-US" altLang="ja-JP" b="1" dirty="0">
              <a:latin typeface="游ゴシック" panose="020B0400000000000000" pitchFamily="50" charset="-128"/>
            </a:endParaRPr>
          </a:p>
          <a:p>
            <a:r>
              <a:rPr kumimoji="1" lang="en-US" altLang="ja-JP" b="1" dirty="0">
                <a:latin typeface="游ゴシック" panose="020B0400000000000000" pitchFamily="50" charset="-128"/>
                <a:sym typeface="Wingdings" panose="05000000000000000000" pitchFamily="2" charset="2"/>
              </a:rPr>
              <a:t></a:t>
            </a:r>
            <a:r>
              <a:rPr kumimoji="1" lang="ja-JP" altLang="en-US" b="1" dirty="0">
                <a:solidFill>
                  <a:srgbClr val="C00000"/>
                </a:solidFill>
                <a:latin typeface="游ゴシック" panose="020B0400000000000000" pitchFamily="50" charset="-128"/>
                <a:sym typeface="Wingdings" panose="05000000000000000000" pitchFamily="2" charset="2"/>
              </a:rPr>
              <a:t>交互作用が有意</a:t>
            </a:r>
            <a:endParaRPr kumimoji="1" lang="en-US" altLang="ja-JP" b="1" dirty="0">
              <a:solidFill>
                <a:srgbClr val="C00000"/>
              </a:solidFill>
              <a:latin typeface="游ゴシック" panose="020B0400000000000000" pitchFamily="50" charset="-128"/>
            </a:endParaRPr>
          </a:p>
        </p:txBody>
      </p:sp>
      <p:graphicFrame>
        <p:nvGraphicFramePr>
          <p:cNvPr id="14" name="表 13">
            <a:extLst>
              <a:ext uri="{FF2B5EF4-FFF2-40B4-BE49-F238E27FC236}">
                <a16:creationId xmlns:a16="http://schemas.microsoft.com/office/drawing/2014/main" id="{366A4ADC-91E8-876E-6DCD-DE96ABFA79D9}"/>
              </a:ext>
            </a:extLst>
          </p:cNvPr>
          <p:cNvGraphicFramePr>
            <a:graphicFrameLocks noGrp="1"/>
          </p:cNvGraphicFramePr>
          <p:nvPr>
            <p:extLst>
              <p:ext uri="{D42A27DB-BD31-4B8C-83A1-F6EECF244321}">
                <p14:modId xmlns:p14="http://schemas.microsoft.com/office/powerpoint/2010/main" val="2589299032"/>
              </p:ext>
            </p:extLst>
          </p:nvPr>
        </p:nvGraphicFramePr>
        <p:xfrm>
          <a:off x="543530" y="2095989"/>
          <a:ext cx="7923138" cy="949960"/>
        </p:xfrm>
        <a:graphic>
          <a:graphicData uri="http://schemas.openxmlformats.org/drawingml/2006/table">
            <a:tbl>
              <a:tblPr firstRow="1" bandRow="1">
                <a:tableStyleId>{9D7B26C5-4107-4FEC-AEDC-1716B250A1EF}</a:tableStyleId>
              </a:tblPr>
              <a:tblGrid>
                <a:gridCol w="1320523">
                  <a:extLst>
                    <a:ext uri="{9D8B030D-6E8A-4147-A177-3AD203B41FA5}">
                      <a16:colId xmlns:a16="http://schemas.microsoft.com/office/drawing/2014/main" val="2253055787"/>
                    </a:ext>
                  </a:extLst>
                </a:gridCol>
                <a:gridCol w="1320523">
                  <a:extLst>
                    <a:ext uri="{9D8B030D-6E8A-4147-A177-3AD203B41FA5}">
                      <a16:colId xmlns:a16="http://schemas.microsoft.com/office/drawing/2014/main" val="2801815050"/>
                    </a:ext>
                  </a:extLst>
                </a:gridCol>
                <a:gridCol w="1320523">
                  <a:extLst>
                    <a:ext uri="{9D8B030D-6E8A-4147-A177-3AD203B41FA5}">
                      <a16:colId xmlns:a16="http://schemas.microsoft.com/office/drawing/2014/main" val="4189014961"/>
                    </a:ext>
                  </a:extLst>
                </a:gridCol>
                <a:gridCol w="1320523">
                  <a:extLst>
                    <a:ext uri="{9D8B030D-6E8A-4147-A177-3AD203B41FA5}">
                      <a16:colId xmlns:a16="http://schemas.microsoft.com/office/drawing/2014/main" val="3563772630"/>
                    </a:ext>
                  </a:extLst>
                </a:gridCol>
                <a:gridCol w="1320523">
                  <a:extLst>
                    <a:ext uri="{9D8B030D-6E8A-4147-A177-3AD203B41FA5}">
                      <a16:colId xmlns:a16="http://schemas.microsoft.com/office/drawing/2014/main" val="3674438810"/>
                    </a:ext>
                  </a:extLst>
                </a:gridCol>
                <a:gridCol w="1320523">
                  <a:extLst>
                    <a:ext uri="{9D8B030D-6E8A-4147-A177-3AD203B41FA5}">
                      <a16:colId xmlns:a16="http://schemas.microsoft.com/office/drawing/2014/main" val="678252903"/>
                    </a:ext>
                  </a:extLst>
                </a:gridCol>
              </a:tblGrid>
              <a:tr h="370840">
                <a:tc>
                  <a:txBody>
                    <a:bodyPr/>
                    <a:lstStyle/>
                    <a:p>
                      <a:endParaRPr kumimoji="1" lang="ja-JP" altLang="en-US" dirty="0"/>
                    </a:p>
                  </a:txBody>
                  <a:tcPr>
                    <a:noFill/>
                  </a:tcPr>
                </a:tc>
                <a:tc>
                  <a:txBody>
                    <a:bodyPr/>
                    <a:lstStyle/>
                    <a:p>
                      <a:pPr algn="r" fontAlgn="base">
                        <a:lnSpc>
                          <a:spcPts val="1350"/>
                        </a:lnSpc>
                        <a:buNone/>
                      </a:pPr>
                      <a:r>
                        <a:rPr lang="en-US" altLang="ja-JP" sz="1400" b="1" i="0" dirty="0">
                          <a:solidFill>
                            <a:srgbClr val="000000"/>
                          </a:solidFill>
                          <a:effectLst/>
                          <a:latin typeface="游ゴシック" panose="020B0400000000000000" pitchFamily="50" charset="-128"/>
                        </a:rPr>
                        <a:t>2</a:t>
                      </a:r>
                      <a:r>
                        <a:rPr lang="ja-JP" altLang="en-US" sz="1400" b="1" i="0" dirty="0">
                          <a:solidFill>
                            <a:srgbClr val="000000"/>
                          </a:solidFill>
                          <a:effectLst/>
                          <a:ea typeface="游ゴシック" panose="020B0400000000000000" pitchFamily="50" charset="-128"/>
                        </a:rPr>
                        <a:t>乗和</a:t>
                      </a:r>
                      <a:r>
                        <a:rPr lang="ja-JP" altLang="en-US" sz="1400" b="1" i="0" dirty="0">
                          <a:solidFill>
                            <a:srgbClr val="FFFFFF"/>
                          </a:solidFill>
                          <a:effectLst/>
                          <a:latin typeface="游ゴシック" panose="020B0400000000000000" pitchFamily="50" charset="-128"/>
                        </a:rPr>
                        <a:t>​</a:t>
                      </a:r>
                      <a:endParaRPr lang="ja-JP" altLang="en-US" sz="1400" b="1" i="0" dirty="0">
                        <a:solidFill>
                          <a:srgbClr val="FFFFFF"/>
                        </a:solidFill>
                        <a:effectLst/>
                      </a:endParaRPr>
                    </a:p>
                  </a:txBody>
                  <a:tcPr>
                    <a:noFill/>
                  </a:tcPr>
                </a:tc>
                <a:tc>
                  <a:txBody>
                    <a:bodyPr/>
                    <a:lstStyle/>
                    <a:p>
                      <a:pPr algn="r" fontAlgn="base">
                        <a:lnSpc>
                          <a:spcPts val="1350"/>
                        </a:lnSpc>
                        <a:buNone/>
                      </a:pPr>
                      <a:r>
                        <a:rPr lang="en-US" sz="1400" b="1" i="0" dirty="0" err="1">
                          <a:solidFill>
                            <a:srgbClr val="000000"/>
                          </a:solidFill>
                          <a:effectLst/>
                          <a:latin typeface="游ゴシック" panose="020B0400000000000000" pitchFamily="50" charset="-128"/>
                        </a:rPr>
                        <a:t>df</a:t>
                      </a:r>
                      <a:r>
                        <a:rPr lang="en-US" altLang="ja-JP" sz="1400" b="1" i="0" dirty="0">
                          <a:solidFill>
                            <a:srgbClr val="FFFFFF"/>
                          </a:solidFill>
                          <a:effectLst/>
                          <a:ea typeface="游ゴシック" panose="020B0400000000000000" pitchFamily="50" charset="-128"/>
                        </a:rPr>
                        <a:t>​</a:t>
                      </a:r>
                      <a:endParaRPr lang="en-US" altLang="ja-JP" sz="1400" b="1" i="0" dirty="0">
                        <a:solidFill>
                          <a:srgbClr val="FFFFFF"/>
                        </a:solidFill>
                        <a:effectLst/>
                      </a:endParaRPr>
                    </a:p>
                  </a:txBody>
                  <a:tcPr>
                    <a:noFill/>
                  </a:tcPr>
                </a:tc>
                <a:tc>
                  <a:txBody>
                    <a:bodyPr/>
                    <a:lstStyle/>
                    <a:p>
                      <a:pPr algn="r" fontAlgn="base">
                        <a:lnSpc>
                          <a:spcPts val="1350"/>
                        </a:lnSpc>
                        <a:buNone/>
                      </a:pPr>
                      <a:r>
                        <a:rPr lang="en-US" altLang="ja-JP" sz="1400" b="1" i="0" dirty="0">
                          <a:solidFill>
                            <a:srgbClr val="000000"/>
                          </a:solidFill>
                          <a:effectLst/>
                          <a:latin typeface="游ゴシック" panose="020B0400000000000000" pitchFamily="50" charset="-128"/>
                        </a:rPr>
                        <a:t>2</a:t>
                      </a:r>
                      <a:r>
                        <a:rPr lang="ja-JP" altLang="en-US" sz="1400" b="1" i="0" dirty="0">
                          <a:solidFill>
                            <a:srgbClr val="000000"/>
                          </a:solidFill>
                          <a:effectLst/>
                          <a:ea typeface="游ゴシック" panose="020B0400000000000000" pitchFamily="50" charset="-128"/>
                        </a:rPr>
                        <a:t>乗平均</a:t>
                      </a:r>
                      <a:r>
                        <a:rPr lang="ja-JP" altLang="en-US" sz="1400" b="1" i="0" dirty="0">
                          <a:solidFill>
                            <a:srgbClr val="FFFFFF"/>
                          </a:solidFill>
                          <a:effectLst/>
                          <a:latin typeface="游ゴシック" panose="020B0400000000000000" pitchFamily="50" charset="-128"/>
                        </a:rPr>
                        <a:t>​</a:t>
                      </a:r>
                      <a:endParaRPr lang="ja-JP" altLang="en-US" sz="1400" b="1" i="0" dirty="0">
                        <a:solidFill>
                          <a:srgbClr val="FFFFFF"/>
                        </a:solidFill>
                        <a:effectLst/>
                      </a:endParaRPr>
                    </a:p>
                  </a:txBody>
                  <a:tcPr>
                    <a:noFill/>
                  </a:tcPr>
                </a:tc>
                <a:tc>
                  <a:txBody>
                    <a:bodyPr/>
                    <a:lstStyle/>
                    <a:p>
                      <a:pPr algn="r" fontAlgn="base">
                        <a:lnSpc>
                          <a:spcPts val="1350"/>
                        </a:lnSpc>
                        <a:buNone/>
                      </a:pPr>
                      <a:r>
                        <a:rPr lang="en-US" sz="1400" b="1" i="0">
                          <a:solidFill>
                            <a:srgbClr val="000000"/>
                          </a:solidFill>
                          <a:effectLst/>
                          <a:latin typeface="游ゴシック" panose="020B0400000000000000" pitchFamily="50" charset="-128"/>
                        </a:rPr>
                        <a:t>F</a:t>
                      </a:r>
                      <a:r>
                        <a:rPr lang="en-US" altLang="ja-JP" sz="1400" b="1" i="0">
                          <a:solidFill>
                            <a:srgbClr val="FFFFFF"/>
                          </a:solidFill>
                          <a:effectLst/>
                          <a:ea typeface="游ゴシック" panose="020B0400000000000000" pitchFamily="50" charset="-128"/>
                        </a:rPr>
                        <a:t>​</a:t>
                      </a:r>
                      <a:endParaRPr lang="en-US" altLang="ja-JP" sz="1400" b="1" i="0">
                        <a:solidFill>
                          <a:srgbClr val="FFFFFF"/>
                        </a:solidFill>
                        <a:effectLst/>
                      </a:endParaRPr>
                    </a:p>
                  </a:txBody>
                  <a:tcPr>
                    <a:noFill/>
                  </a:tcPr>
                </a:tc>
                <a:tc>
                  <a:txBody>
                    <a:bodyPr/>
                    <a:lstStyle/>
                    <a:p>
                      <a:pPr algn="r" fontAlgn="base">
                        <a:lnSpc>
                          <a:spcPts val="1350"/>
                        </a:lnSpc>
                        <a:buNone/>
                      </a:pPr>
                      <a:r>
                        <a:rPr lang="en-US" sz="1400" b="1" i="0">
                          <a:solidFill>
                            <a:srgbClr val="000000"/>
                          </a:solidFill>
                          <a:effectLst/>
                          <a:latin typeface="游ゴシック" panose="020B0400000000000000" pitchFamily="50" charset="-128"/>
                        </a:rPr>
                        <a:t>p</a:t>
                      </a:r>
                      <a:r>
                        <a:rPr lang="en-US" altLang="ja-JP" sz="1400" b="1" i="0">
                          <a:solidFill>
                            <a:srgbClr val="FFFFFF"/>
                          </a:solidFill>
                          <a:effectLst/>
                          <a:ea typeface="游ゴシック" panose="020B0400000000000000" pitchFamily="50" charset="-128"/>
                        </a:rPr>
                        <a:t>​</a:t>
                      </a:r>
                      <a:endParaRPr lang="en-US" altLang="ja-JP" sz="1400" b="1" i="0">
                        <a:solidFill>
                          <a:srgbClr val="FFFFFF"/>
                        </a:solidFill>
                        <a:effectLst/>
                      </a:endParaRPr>
                    </a:p>
                  </a:txBody>
                  <a:tcPr>
                    <a:noFill/>
                  </a:tcPr>
                </a:tc>
                <a:extLst>
                  <a:ext uri="{0D108BD9-81ED-4DB2-BD59-A6C34878D82A}">
                    <a16:rowId xmlns:a16="http://schemas.microsoft.com/office/drawing/2014/main" val="2809685238"/>
                  </a:ext>
                </a:extLst>
              </a:tr>
              <a:tr h="370840">
                <a:tc>
                  <a:txBody>
                    <a:bodyPr/>
                    <a:lstStyle/>
                    <a:p>
                      <a:r>
                        <a:rPr kumimoji="1" lang="ja-JP" altLang="en-US" sz="1600" b="1" i="0" dirty="0">
                          <a:solidFill>
                            <a:srgbClr val="000000"/>
                          </a:solidFill>
                          <a:effectLst/>
                          <a:latin typeface="游ゴシック" panose="020B0400000000000000" pitchFamily="50" charset="-128"/>
                          <a:ea typeface="+mn-ea"/>
                        </a:rPr>
                        <a:t>名乗り</a:t>
                      </a:r>
                      <a:r>
                        <a:rPr kumimoji="1" lang="en-US" altLang="ja-JP" sz="1600" b="1" i="0" dirty="0">
                          <a:solidFill>
                            <a:srgbClr val="000000"/>
                          </a:solidFill>
                          <a:effectLst/>
                          <a:latin typeface="游ゴシック" panose="020B0400000000000000" pitchFamily="50" charset="-128"/>
                          <a:ea typeface="+mn-ea"/>
                        </a:rPr>
                        <a:t>*</a:t>
                      </a:r>
                      <a:r>
                        <a:rPr kumimoji="1" lang="ja-JP" altLang="en-US" sz="1600" b="1" i="0" dirty="0">
                          <a:solidFill>
                            <a:srgbClr val="000000"/>
                          </a:solidFill>
                          <a:effectLst/>
                          <a:latin typeface="游ゴシック" panose="020B0400000000000000" pitchFamily="50" charset="-128"/>
                          <a:ea typeface="+mn-ea"/>
                        </a:rPr>
                        <a:t>人格設定</a:t>
                      </a:r>
                      <a:endParaRPr kumimoji="1" lang="ja-JP" altLang="en-US" sz="1600" dirty="0"/>
                    </a:p>
                  </a:txBody>
                  <a:tcPr>
                    <a:noFill/>
                  </a:tcPr>
                </a:tc>
                <a:tc>
                  <a:txBody>
                    <a:bodyPr/>
                    <a:lstStyle/>
                    <a:p>
                      <a:pPr algn="r" fontAlgn="base">
                        <a:lnSpc>
                          <a:spcPts val="1350"/>
                        </a:lnSpc>
                        <a:buNone/>
                      </a:pPr>
                      <a:r>
                        <a:rPr lang="en-US" altLang="ja-JP" sz="1400" b="1" i="0" dirty="0">
                          <a:solidFill>
                            <a:srgbClr val="000000"/>
                          </a:solidFill>
                          <a:effectLst/>
                          <a:latin typeface="游ゴシック" panose="020B0400000000000000" pitchFamily="50" charset="-128"/>
                        </a:rPr>
                        <a:t>31.25</a:t>
                      </a:r>
                      <a:endParaRPr lang="en-US" altLang="ja-JP" sz="1400" b="1" i="0" dirty="0">
                        <a:solidFill>
                          <a:srgbClr val="000000"/>
                        </a:solidFill>
                        <a:effectLst/>
                      </a:endParaRP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ea typeface="游ゴシック" panose="020B0400000000000000" pitchFamily="50" charset="-128"/>
                        </a:rPr>
                        <a:t>1</a:t>
                      </a:r>
                      <a:endParaRPr lang="en-US" altLang="ja-JP" sz="1400" b="1" i="0" dirty="0">
                        <a:solidFill>
                          <a:srgbClr val="000000"/>
                        </a:solidFill>
                        <a:effectLst/>
                      </a:endParaRP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31.25</a:t>
                      </a:r>
                      <a:r>
                        <a:rPr lang="en-US" altLang="ja-JP" sz="1400" b="1" i="0" dirty="0">
                          <a:solidFill>
                            <a:srgbClr val="000000"/>
                          </a:solidFill>
                          <a:effectLst/>
                          <a:ea typeface="游ゴシック" panose="020B0400000000000000" pitchFamily="50" charset="-128"/>
                        </a:rPr>
                        <a:t>​</a:t>
                      </a:r>
                      <a:endParaRPr lang="en-US" altLang="ja-JP" sz="1400" b="1" i="0" dirty="0">
                        <a:solidFill>
                          <a:srgbClr val="000000"/>
                        </a:solidFill>
                        <a:effectLst/>
                      </a:endParaRP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4.86</a:t>
                      </a:r>
                      <a:endParaRPr lang="en-US" sz="1400" b="1" i="0" dirty="0">
                        <a:solidFill>
                          <a:srgbClr val="000000"/>
                        </a:solidFill>
                        <a:effectLst/>
                      </a:endParaRPr>
                    </a:p>
                  </a:txBody>
                  <a:tcPr>
                    <a:noFill/>
                  </a:tcPr>
                </a:tc>
                <a:tc>
                  <a:txBody>
                    <a:bodyPr/>
                    <a:lstStyle/>
                    <a:p>
                      <a:pPr algn="r" fontAlgn="base">
                        <a:lnSpc>
                          <a:spcPts val="1350"/>
                        </a:lnSpc>
                        <a:buNone/>
                      </a:pPr>
                      <a:r>
                        <a:rPr lang="en-US" sz="1400" b="1" i="0" dirty="0">
                          <a:solidFill>
                            <a:srgbClr val="C00000"/>
                          </a:solidFill>
                          <a:effectLst/>
                          <a:latin typeface="游ゴシック" panose="020B0400000000000000" pitchFamily="50" charset="-128"/>
                        </a:rPr>
                        <a:t>0.029</a:t>
                      </a:r>
                      <a:r>
                        <a:rPr lang="en-US" sz="1400" b="1" i="0" dirty="0">
                          <a:solidFill>
                            <a:srgbClr val="000000"/>
                          </a:solidFill>
                          <a:effectLst/>
                          <a:latin typeface="游ゴシック" panose="020B0400000000000000" pitchFamily="50" charset="-128"/>
                        </a:rPr>
                        <a:t>​</a:t>
                      </a:r>
                      <a:endParaRPr lang="en-US" sz="1400" b="1" i="0" dirty="0">
                        <a:solidFill>
                          <a:srgbClr val="000000"/>
                        </a:solidFill>
                        <a:effectLst/>
                      </a:endParaRPr>
                    </a:p>
                  </a:txBody>
                  <a:tcPr>
                    <a:noFill/>
                  </a:tcPr>
                </a:tc>
                <a:extLst>
                  <a:ext uri="{0D108BD9-81ED-4DB2-BD59-A6C34878D82A}">
                    <a16:rowId xmlns:a16="http://schemas.microsoft.com/office/drawing/2014/main" val="2808757430"/>
                  </a:ext>
                </a:extLst>
              </a:tr>
            </a:tbl>
          </a:graphicData>
        </a:graphic>
      </p:graphicFrame>
      <p:graphicFrame>
        <p:nvGraphicFramePr>
          <p:cNvPr id="15" name="表 14">
            <a:extLst>
              <a:ext uri="{FF2B5EF4-FFF2-40B4-BE49-F238E27FC236}">
                <a16:creationId xmlns:a16="http://schemas.microsoft.com/office/drawing/2014/main" id="{0F09A213-70AA-61E0-EAFF-E5443D8931DC}"/>
              </a:ext>
            </a:extLst>
          </p:cNvPr>
          <p:cNvGraphicFramePr>
            <a:graphicFrameLocks noGrp="1"/>
          </p:cNvGraphicFramePr>
          <p:nvPr>
            <p:extLst>
              <p:ext uri="{D42A27DB-BD31-4B8C-83A1-F6EECF244321}">
                <p14:modId xmlns:p14="http://schemas.microsoft.com/office/powerpoint/2010/main" val="3458573418"/>
              </p:ext>
            </p:extLst>
          </p:nvPr>
        </p:nvGraphicFramePr>
        <p:xfrm>
          <a:off x="543530" y="3576213"/>
          <a:ext cx="7923140" cy="998728"/>
        </p:xfrm>
        <a:graphic>
          <a:graphicData uri="http://schemas.openxmlformats.org/drawingml/2006/table">
            <a:tbl>
              <a:tblPr firstRow="1" bandRow="1">
                <a:tableStyleId>{9D7B26C5-4107-4FEC-AEDC-1716B250A1EF}</a:tableStyleId>
              </a:tblPr>
              <a:tblGrid>
                <a:gridCol w="743403">
                  <a:extLst>
                    <a:ext uri="{9D8B030D-6E8A-4147-A177-3AD203B41FA5}">
                      <a16:colId xmlns:a16="http://schemas.microsoft.com/office/drawing/2014/main" val="3639033113"/>
                    </a:ext>
                  </a:extLst>
                </a:gridCol>
                <a:gridCol w="1003723">
                  <a:extLst>
                    <a:ext uri="{9D8B030D-6E8A-4147-A177-3AD203B41FA5}">
                      <a16:colId xmlns:a16="http://schemas.microsoft.com/office/drawing/2014/main" val="4143698353"/>
                    </a:ext>
                  </a:extLst>
                </a:gridCol>
                <a:gridCol w="607052">
                  <a:extLst>
                    <a:ext uri="{9D8B030D-6E8A-4147-A177-3AD203B41FA5}">
                      <a16:colId xmlns:a16="http://schemas.microsoft.com/office/drawing/2014/main" val="1427256339"/>
                    </a:ext>
                  </a:extLst>
                </a:gridCol>
                <a:gridCol w="658292">
                  <a:extLst>
                    <a:ext uri="{9D8B030D-6E8A-4147-A177-3AD203B41FA5}">
                      <a16:colId xmlns:a16="http://schemas.microsoft.com/office/drawing/2014/main" val="1438680861"/>
                    </a:ext>
                  </a:extLst>
                </a:gridCol>
                <a:gridCol w="1033310">
                  <a:extLst>
                    <a:ext uri="{9D8B030D-6E8A-4147-A177-3AD203B41FA5}">
                      <a16:colId xmlns:a16="http://schemas.microsoft.com/office/drawing/2014/main" val="2253055787"/>
                    </a:ext>
                  </a:extLst>
                </a:gridCol>
                <a:gridCol w="775472">
                  <a:extLst>
                    <a:ext uri="{9D8B030D-6E8A-4147-A177-3AD203B41FA5}">
                      <a16:colId xmlns:a16="http://schemas.microsoft.com/office/drawing/2014/main" val="2801815050"/>
                    </a:ext>
                  </a:extLst>
                </a:gridCol>
                <a:gridCol w="775472">
                  <a:extLst>
                    <a:ext uri="{9D8B030D-6E8A-4147-A177-3AD203B41FA5}">
                      <a16:colId xmlns:a16="http://schemas.microsoft.com/office/drawing/2014/main" val="4189014961"/>
                    </a:ext>
                  </a:extLst>
                </a:gridCol>
                <a:gridCol w="775472">
                  <a:extLst>
                    <a:ext uri="{9D8B030D-6E8A-4147-A177-3AD203B41FA5}">
                      <a16:colId xmlns:a16="http://schemas.microsoft.com/office/drawing/2014/main" val="3563772630"/>
                    </a:ext>
                  </a:extLst>
                </a:gridCol>
                <a:gridCol w="775472">
                  <a:extLst>
                    <a:ext uri="{9D8B030D-6E8A-4147-A177-3AD203B41FA5}">
                      <a16:colId xmlns:a16="http://schemas.microsoft.com/office/drawing/2014/main" val="3674438810"/>
                    </a:ext>
                  </a:extLst>
                </a:gridCol>
                <a:gridCol w="775472">
                  <a:extLst>
                    <a:ext uri="{9D8B030D-6E8A-4147-A177-3AD203B41FA5}">
                      <a16:colId xmlns:a16="http://schemas.microsoft.com/office/drawing/2014/main" val="678252903"/>
                    </a:ext>
                  </a:extLst>
                </a:gridCol>
              </a:tblGrid>
              <a:tr h="370840">
                <a:tc>
                  <a:txBody>
                    <a:bodyPr/>
                    <a:lstStyle/>
                    <a:p>
                      <a:pPr algn="l" fontAlgn="base">
                        <a:lnSpc>
                          <a:spcPts val="1350"/>
                        </a:lnSpc>
                        <a:buNone/>
                      </a:pPr>
                      <a:r>
                        <a:rPr lang="ja-JP" altLang="en-US" sz="1400" b="1" i="0" dirty="0">
                          <a:solidFill>
                            <a:schemeClr val="tx1"/>
                          </a:solidFill>
                          <a:effectLst/>
                          <a:latin typeface="+mn-ea"/>
                          <a:ea typeface="+mn-ea"/>
                        </a:rPr>
                        <a:t>名乗り</a:t>
                      </a: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人格設定要因</a:t>
                      </a:r>
                      <a:r>
                        <a:rPr lang="ja-JP" altLang="en-US" sz="1400" b="1" i="0" dirty="0">
                          <a:solidFill>
                            <a:srgbClr val="FFFFFF"/>
                          </a:solidFill>
                          <a:effectLst/>
                          <a:latin typeface="+mn-ea"/>
                          <a:ea typeface="+mn-ea"/>
                        </a:rPr>
                        <a:t>​</a:t>
                      </a:r>
                    </a:p>
                  </a:txBody>
                  <a:tcPr>
                    <a:noFill/>
                  </a:tcPr>
                </a:tc>
                <a:tc>
                  <a:txBody>
                    <a:bodyPr/>
                    <a:lstStyle/>
                    <a:p>
                      <a:pPr algn="l" fontAlgn="auto">
                        <a:lnSpc>
                          <a:spcPts val="1350"/>
                        </a:lnSpc>
                        <a:buNone/>
                      </a:pPr>
                      <a:r>
                        <a:rPr lang="ja-JP" altLang="en-US" sz="1400" b="1" i="0" dirty="0">
                          <a:solidFill>
                            <a:srgbClr val="000000"/>
                          </a:solidFill>
                          <a:effectLst/>
                          <a:latin typeface="+mn-ea"/>
                          <a:ea typeface="+mn-ea"/>
                        </a:rPr>
                        <a:t>​</a:t>
                      </a:r>
                    </a:p>
                  </a:txBody>
                  <a:tcPr>
                    <a:noFill/>
                  </a:tcPr>
                </a:tc>
                <a:tc>
                  <a:txBody>
                    <a:bodyPr/>
                    <a:lstStyle/>
                    <a:p>
                      <a:pPr algn="l" fontAlgn="base">
                        <a:lnSpc>
                          <a:spcPts val="1350"/>
                        </a:lnSpc>
                        <a:buNone/>
                      </a:pPr>
                      <a:r>
                        <a:rPr lang="ja-JP" altLang="en-US" sz="1400" b="1" i="0" dirty="0">
                          <a:solidFill>
                            <a:schemeClr val="tx1"/>
                          </a:solidFill>
                          <a:effectLst/>
                          <a:latin typeface="+mn-ea"/>
                          <a:ea typeface="+mn-ea"/>
                        </a:rPr>
                        <a:t>名乗り</a:t>
                      </a: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人格設定要因</a:t>
                      </a:r>
                      <a:r>
                        <a:rPr lang="ja-JP" altLang="en-US" sz="1400" b="1" i="0" dirty="0">
                          <a:solidFill>
                            <a:srgbClr val="FFFFFF"/>
                          </a:solidFill>
                          <a:effectLst/>
                          <a:latin typeface="+mn-ea"/>
                          <a:ea typeface="+mn-ea"/>
                        </a:rPr>
                        <a:t>​</a:t>
                      </a:r>
                    </a:p>
                  </a:txBody>
                  <a:tcPr>
                    <a:noFill/>
                  </a:tcPr>
                </a:tc>
                <a:tc>
                  <a:txBody>
                    <a:bodyPr/>
                    <a:lstStyle/>
                    <a:p>
                      <a:pPr algn="r" fontAlgn="base">
                        <a:lnSpc>
                          <a:spcPts val="1350"/>
                        </a:lnSpc>
                        <a:buNone/>
                      </a:pPr>
                      <a:r>
                        <a:rPr lang="ja-JP" altLang="en-US" sz="1400" b="1" i="0" dirty="0">
                          <a:solidFill>
                            <a:srgbClr val="000000"/>
                          </a:solidFill>
                          <a:effectLst/>
                          <a:latin typeface="+mn-ea"/>
                          <a:ea typeface="+mn-ea"/>
                        </a:rPr>
                        <a:t>平均値の差</a:t>
                      </a:r>
                      <a:r>
                        <a:rPr lang="ja-JP" altLang="en-US" sz="1400" b="1" i="0" dirty="0">
                          <a:solidFill>
                            <a:srgbClr val="FFFFFF"/>
                          </a:solidFill>
                          <a:effectLst/>
                          <a:latin typeface="+mn-ea"/>
                          <a:ea typeface="+mn-ea"/>
                        </a:rPr>
                        <a:t>​</a:t>
                      </a:r>
                    </a:p>
                  </a:txBody>
                  <a:tcPr>
                    <a:noFill/>
                  </a:tcPr>
                </a:tc>
                <a:tc>
                  <a:txBody>
                    <a:bodyPr/>
                    <a:lstStyle/>
                    <a:p>
                      <a:pPr algn="r" fontAlgn="base">
                        <a:lnSpc>
                          <a:spcPts val="1350"/>
                        </a:lnSpc>
                        <a:buNone/>
                      </a:pPr>
                      <a:r>
                        <a:rPr lang="ja-JP" altLang="en-US" sz="1400" b="1" i="0" dirty="0">
                          <a:solidFill>
                            <a:srgbClr val="000000"/>
                          </a:solidFill>
                          <a:effectLst/>
                          <a:ea typeface="游ゴシック" panose="020B0400000000000000" pitchFamily="50" charset="-128"/>
                        </a:rPr>
                        <a:t>標準誤差</a:t>
                      </a:r>
                      <a:r>
                        <a:rPr lang="ja-JP" altLang="en-US" sz="1400" b="1" i="0" dirty="0">
                          <a:solidFill>
                            <a:srgbClr val="FFFFFF"/>
                          </a:solidFill>
                          <a:effectLst/>
                          <a:latin typeface="游ゴシック" panose="020B0400000000000000" pitchFamily="50" charset="-128"/>
                        </a:rPr>
                        <a:t>​</a:t>
                      </a:r>
                      <a:endParaRPr lang="ja-JP" altLang="en-US" sz="1400" b="1" i="0" dirty="0">
                        <a:solidFill>
                          <a:srgbClr val="FFFFFF"/>
                        </a:solidFill>
                        <a:effectLst/>
                      </a:endParaRPr>
                    </a:p>
                  </a:txBody>
                  <a:tcPr>
                    <a:noFill/>
                  </a:tcPr>
                </a:tc>
                <a:tc>
                  <a:txBody>
                    <a:bodyPr/>
                    <a:lstStyle/>
                    <a:p>
                      <a:pPr algn="r" fontAlgn="base">
                        <a:lnSpc>
                          <a:spcPts val="1350"/>
                        </a:lnSpc>
                        <a:buNone/>
                      </a:pPr>
                      <a:r>
                        <a:rPr lang="ja-JP" altLang="en-US" sz="1400" b="1" i="0" dirty="0">
                          <a:solidFill>
                            <a:srgbClr val="000000"/>
                          </a:solidFill>
                          <a:effectLst/>
                          <a:ea typeface="游ゴシック" panose="020B0400000000000000" pitchFamily="50" charset="-128"/>
                        </a:rPr>
                        <a:t>自由度</a:t>
                      </a:r>
                      <a:r>
                        <a:rPr lang="ja-JP" altLang="en-US" sz="1400" b="1" i="0" dirty="0">
                          <a:solidFill>
                            <a:srgbClr val="FFFFFF"/>
                          </a:solidFill>
                          <a:effectLst/>
                          <a:latin typeface="游ゴシック" panose="020B0400000000000000" pitchFamily="50" charset="-128"/>
                        </a:rPr>
                        <a:t>​</a:t>
                      </a:r>
                      <a:endParaRPr lang="ja-JP" altLang="en-US" sz="1400" b="1" i="0" dirty="0">
                        <a:solidFill>
                          <a:srgbClr val="FFFFFF"/>
                        </a:solidFill>
                        <a:effectLst/>
                      </a:endParaRP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t</a:t>
                      </a:r>
                      <a:r>
                        <a:rPr lang="en-US" altLang="ja-JP" sz="1400" b="1" i="0" dirty="0">
                          <a:solidFill>
                            <a:srgbClr val="FFFFFF"/>
                          </a:solidFill>
                          <a:effectLst/>
                          <a:ea typeface="游ゴシック" panose="020B0400000000000000" pitchFamily="50" charset="-128"/>
                        </a:rPr>
                        <a:t>​</a:t>
                      </a:r>
                      <a:endParaRPr lang="en-US" altLang="ja-JP" sz="1400" b="1" i="0" dirty="0">
                        <a:solidFill>
                          <a:srgbClr val="FFFFFF"/>
                        </a:solidFill>
                        <a:effectLst/>
                      </a:endParaRP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p</a:t>
                      </a:r>
                      <a:r>
                        <a:rPr lang="ja-JP" altLang="en-US" sz="1400" b="1" i="0" dirty="0">
                          <a:solidFill>
                            <a:srgbClr val="000000"/>
                          </a:solidFill>
                          <a:effectLst/>
                          <a:ea typeface="游ゴシック" panose="020B0400000000000000" pitchFamily="50" charset="-128"/>
                        </a:rPr>
                        <a:t>テューキー</a:t>
                      </a:r>
                      <a:r>
                        <a:rPr lang="ja-JP" altLang="en-US" sz="1400" b="1" i="0" dirty="0">
                          <a:solidFill>
                            <a:srgbClr val="FFFFFF"/>
                          </a:solidFill>
                          <a:effectLst/>
                          <a:latin typeface="游ゴシック" panose="020B0400000000000000" pitchFamily="50" charset="-128"/>
                        </a:rPr>
                        <a:t>​</a:t>
                      </a:r>
                      <a:endParaRPr lang="ja-JP" altLang="en-US" sz="1400" b="1" i="0" dirty="0">
                        <a:solidFill>
                          <a:srgbClr val="FFFFFF"/>
                        </a:solidFill>
                        <a:effectLst/>
                      </a:endParaRPr>
                    </a:p>
                  </a:txBody>
                  <a:tcPr>
                    <a:noFill/>
                  </a:tcPr>
                </a:tc>
                <a:extLst>
                  <a:ext uri="{0D108BD9-81ED-4DB2-BD59-A6C34878D82A}">
                    <a16:rowId xmlns:a16="http://schemas.microsoft.com/office/drawing/2014/main" val="2809685238"/>
                  </a:ext>
                </a:extLst>
              </a:tr>
              <a:tr h="370840">
                <a:tc>
                  <a:txBody>
                    <a:bodyPr/>
                    <a:lstStyle/>
                    <a:p>
                      <a:pPr algn="l" fontAlgn="base">
                        <a:lnSpc>
                          <a:spcPts val="1350"/>
                        </a:lnSpc>
                        <a:buNone/>
                      </a:pPr>
                      <a:r>
                        <a:rPr lang="ja-JP" altLang="en-US" sz="1400" b="1" i="0" dirty="0">
                          <a:solidFill>
                            <a:srgbClr val="000000"/>
                          </a:solidFill>
                          <a:effectLst/>
                          <a:latin typeface="+mn-ea"/>
                          <a:ea typeface="+mn-ea"/>
                        </a:rPr>
                        <a:t>なし</a:t>
                      </a: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切り替え​</a:t>
                      </a:r>
                    </a:p>
                  </a:txBody>
                  <a:tcPr>
                    <a:noFill/>
                  </a:tcPr>
                </a:tc>
                <a:tc>
                  <a:txBody>
                    <a:bodyPr/>
                    <a:lstStyle/>
                    <a:p>
                      <a:pPr algn="l" fontAlgn="base">
                        <a:lnSpc>
                          <a:spcPts val="1350"/>
                        </a:lnSpc>
                        <a:buNone/>
                      </a:pPr>
                      <a:r>
                        <a:rPr lang="en-US" sz="1400" b="1" i="0" dirty="0">
                          <a:solidFill>
                            <a:srgbClr val="000000"/>
                          </a:solidFill>
                          <a:effectLst/>
                          <a:latin typeface="+mn-ea"/>
                          <a:ea typeface="+mn-ea"/>
                        </a:rPr>
                        <a:t>-</a:t>
                      </a:r>
                      <a:r>
                        <a:rPr lang="en-US" altLang="ja-JP" sz="1400" b="1" i="0" dirty="0">
                          <a:solidFill>
                            <a:srgbClr val="000000"/>
                          </a:solidFill>
                          <a:effectLst/>
                          <a:latin typeface="+mn-ea"/>
                          <a:ea typeface="+mn-ea"/>
                        </a:rPr>
                        <a:t>​</a:t>
                      </a: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なし</a:t>
                      </a:r>
                      <a:endParaRPr lang="en-US" altLang="ja-JP" sz="1400" b="1" i="0" dirty="0">
                        <a:solidFill>
                          <a:srgbClr val="000000"/>
                        </a:solidFill>
                        <a:effectLst/>
                        <a:latin typeface="+mn-ea"/>
                        <a:ea typeface="+mn-ea"/>
                      </a:endParaRP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固定</a:t>
                      </a:r>
                      <a:endParaRPr lang="en-US" altLang="ja-JP" sz="1400" b="1" i="0" dirty="0">
                        <a:solidFill>
                          <a:srgbClr val="000000"/>
                        </a:solidFill>
                        <a:effectLst/>
                        <a:latin typeface="+mn-ea"/>
                        <a:ea typeface="+mn-ea"/>
                      </a:endParaRPr>
                    </a:p>
                  </a:txBody>
                  <a:tcPr>
                    <a:noFill/>
                  </a:tcPr>
                </a:tc>
                <a:tc>
                  <a:txBody>
                    <a:bodyPr/>
                    <a:lstStyle/>
                    <a:p>
                      <a:pPr algn="r" fontAlgn="base">
                        <a:lnSpc>
                          <a:spcPts val="1350"/>
                        </a:lnSpc>
                        <a:buNone/>
                      </a:pPr>
                      <a:r>
                        <a:rPr lang="en-US" altLang="ja-JP" sz="1400" b="1" i="0" dirty="0">
                          <a:solidFill>
                            <a:srgbClr val="000000"/>
                          </a:solidFill>
                          <a:effectLst/>
                          <a:latin typeface="+mn-ea"/>
                          <a:ea typeface="+mn-ea"/>
                        </a:rPr>
                        <a:t>-1.482​</a:t>
                      </a: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0.568</a:t>
                      </a:r>
                      <a:r>
                        <a:rPr lang="en-US" altLang="ja-JP" sz="1400" b="0" i="0" dirty="0">
                          <a:solidFill>
                            <a:srgbClr val="000000"/>
                          </a:solidFill>
                          <a:effectLst/>
                          <a:ea typeface="游ゴシック" panose="020B0400000000000000" pitchFamily="50" charset="-128"/>
                        </a:rPr>
                        <a:t>​</a:t>
                      </a:r>
                      <a:endParaRPr lang="en-US" altLang="ja-JP" sz="1400" b="0" i="0" dirty="0">
                        <a:solidFill>
                          <a:srgbClr val="000000"/>
                        </a:solidFill>
                        <a:effectLst/>
                      </a:endParaRP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157</a:t>
                      </a:r>
                      <a:endParaRPr lang="en-US" sz="1400" b="0" i="0" dirty="0">
                        <a:solidFill>
                          <a:srgbClr val="000000"/>
                        </a:solidFill>
                        <a:effectLst/>
                      </a:endParaRP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-2.612</a:t>
                      </a:r>
                      <a:r>
                        <a:rPr lang="en-US" sz="1400" b="0" i="0" dirty="0">
                          <a:solidFill>
                            <a:srgbClr val="000000"/>
                          </a:solidFill>
                          <a:effectLst/>
                          <a:latin typeface="游ゴシック" panose="020B0400000000000000" pitchFamily="50" charset="-128"/>
                        </a:rPr>
                        <a:t>​</a:t>
                      </a:r>
                      <a:endParaRPr lang="en-US" sz="1400" b="0" i="0" dirty="0">
                        <a:solidFill>
                          <a:srgbClr val="000000"/>
                        </a:solidFill>
                        <a:effectLst/>
                      </a:endParaRPr>
                    </a:p>
                  </a:txBody>
                  <a:tcPr>
                    <a:noFill/>
                  </a:tcPr>
                </a:tc>
                <a:tc>
                  <a:txBody>
                    <a:bodyPr/>
                    <a:lstStyle/>
                    <a:p>
                      <a:pPr algn="r" fontAlgn="base">
                        <a:lnSpc>
                          <a:spcPts val="1350"/>
                        </a:lnSpc>
                        <a:buNone/>
                      </a:pPr>
                      <a:r>
                        <a:rPr lang="en-US" sz="1400" b="1" i="0" dirty="0">
                          <a:solidFill>
                            <a:srgbClr val="C00000"/>
                          </a:solidFill>
                          <a:effectLst/>
                          <a:latin typeface="游ゴシック" panose="020B0400000000000000" pitchFamily="50" charset="-128"/>
                        </a:rPr>
                        <a:t>0.048</a:t>
                      </a:r>
                      <a:endParaRPr lang="en-US" sz="1400" b="0" i="0" dirty="0">
                        <a:solidFill>
                          <a:srgbClr val="000000"/>
                        </a:solidFill>
                        <a:effectLst/>
                      </a:endParaRPr>
                    </a:p>
                  </a:txBody>
                  <a:tcPr>
                    <a:noFill/>
                  </a:tcPr>
                </a:tc>
                <a:extLst>
                  <a:ext uri="{0D108BD9-81ED-4DB2-BD59-A6C34878D82A}">
                    <a16:rowId xmlns:a16="http://schemas.microsoft.com/office/drawing/2014/main" val="2808757430"/>
                  </a:ext>
                </a:extLst>
              </a:tr>
            </a:tbl>
          </a:graphicData>
        </a:graphic>
      </p:graphicFrame>
      <p:sp>
        <p:nvSpPr>
          <p:cNvPr id="5" name="四角形: 角を丸くする 4">
            <a:extLst>
              <a:ext uri="{FF2B5EF4-FFF2-40B4-BE49-F238E27FC236}">
                <a16:creationId xmlns:a16="http://schemas.microsoft.com/office/drawing/2014/main" id="{B6DEAD59-782F-88A6-CC86-2722EBD213F2}"/>
              </a:ext>
            </a:extLst>
          </p:cNvPr>
          <p:cNvSpPr/>
          <p:nvPr/>
        </p:nvSpPr>
        <p:spPr>
          <a:xfrm>
            <a:off x="4182533" y="5264464"/>
            <a:ext cx="4563534" cy="1316697"/>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1A500909-9DA9-5648-CC25-E35C228A2F0E}"/>
              </a:ext>
            </a:extLst>
          </p:cNvPr>
          <p:cNvSpPr txBox="1"/>
          <p:nvPr/>
        </p:nvSpPr>
        <p:spPr>
          <a:xfrm>
            <a:off x="4182533" y="5322647"/>
            <a:ext cx="4618566" cy="1477328"/>
          </a:xfrm>
          <a:prstGeom prst="rect">
            <a:avLst/>
          </a:prstGeom>
          <a:noFill/>
        </p:spPr>
        <p:txBody>
          <a:bodyPr wrap="square">
            <a:spAutoFit/>
          </a:bodyPr>
          <a:lstStyle/>
          <a:p>
            <a:r>
              <a:rPr lang="ja-JP" altLang="en-US" b="1" dirty="0">
                <a:latin typeface="+mn-ea"/>
              </a:rPr>
              <a:t>ユーザは</a:t>
            </a:r>
            <a:r>
              <a:rPr lang="en-US" altLang="ja-JP" b="1" dirty="0">
                <a:latin typeface="+mn-ea"/>
              </a:rPr>
              <a:t>LLM</a:t>
            </a:r>
            <a:r>
              <a:rPr lang="ja-JP" altLang="en-US" b="1" dirty="0">
                <a:latin typeface="+mn-ea"/>
              </a:rPr>
              <a:t>が名乗らない際，</a:t>
            </a:r>
            <a:endParaRPr lang="en-US" altLang="ja-JP" b="1" dirty="0">
              <a:latin typeface="+mn-ea"/>
            </a:endParaRPr>
          </a:p>
          <a:p>
            <a:r>
              <a:rPr lang="ja-JP" altLang="en-US" b="1" dirty="0">
                <a:solidFill>
                  <a:srgbClr val="C00000"/>
                </a:solidFill>
                <a:latin typeface="+mn-ea"/>
              </a:rPr>
              <a:t>人格に一貫性を持たせる</a:t>
            </a:r>
            <a:r>
              <a:rPr lang="ja-JP" altLang="en-US" b="1" dirty="0">
                <a:latin typeface="+mn-ea"/>
              </a:rPr>
              <a:t>ことで</a:t>
            </a:r>
            <a:r>
              <a:rPr lang="en-US" altLang="ja-JP" b="1" dirty="0">
                <a:solidFill>
                  <a:srgbClr val="C00000"/>
                </a:solidFill>
                <a:latin typeface="+mn-ea"/>
              </a:rPr>
              <a:t>LLM</a:t>
            </a:r>
            <a:r>
              <a:rPr lang="ja-JP" altLang="en-US" b="1" dirty="0">
                <a:solidFill>
                  <a:srgbClr val="C00000"/>
                </a:solidFill>
                <a:latin typeface="+mn-ea"/>
              </a:rPr>
              <a:t>の言動を楽しい</a:t>
            </a:r>
            <a:r>
              <a:rPr lang="ja-JP" altLang="en-US" b="1" dirty="0">
                <a:latin typeface="+mn-ea"/>
              </a:rPr>
              <a:t>と感じることが示唆</a:t>
            </a:r>
            <a:endParaRPr lang="en-US" altLang="ja-JP" b="1" dirty="0">
              <a:latin typeface="+mn-ea"/>
            </a:endParaRPr>
          </a:p>
          <a:p>
            <a:r>
              <a:rPr lang="ja-JP" altLang="en-US" b="1" dirty="0">
                <a:latin typeface="+mn-ea"/>
              </a:rPr>
              <a:t>（固定 </a:t>
            </a:r>
            <a:r>
              <a:rPr lang="en-US" altLang="ja-JP" b="1" dirty="0">
                <a:latin typeface="+mn-ea"/>
              </a:rPr>
              <a:t>&gt; </a:t>
            </a:r>
            <a:r>
              <a:rPr lang="ja-JP" altLang="en-US" b="1" dirty="0">
                <a:latin typeface="+mn-ea"/>
              </a:rPr>
              <a:t>切り替え）</a:t>
            </a:r>
          </a:p>
          <a:p>
            <a:endParaRPr lang="ja-JP" altLang="en-US" dirty="0"/>
          </a:p>
        </p:txBody>
      </p:sp>
      <p:sp>
        <p:nvSpPr>
          <p:cNvPr id="10" name="矢印: 右 9">
            <a:extLst>
              <a:ext uri="{FF2B5EF4-FFF2-40B4-BE49-F238E27FC236}">
                <a16:creationId xmlns:a16="http://schemas.microsoft.com/office/drawing/2014/main" id="{96A58C11-785A-5326-5FA2-7927CA1D28AA}"/>
              </a:ext>
            </a:extLst>
          </p:cNvPr>
          <p:cNvSpPr/>
          <p:nvPr/>
        </p:nvSpPr>
        <p:spPr>
          <a:xfrm rot="5400000">
            <a:off x="6267695" y="4585269"/>
            <a:ext cx="393208" cy="668867"/>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grpSp>
        <p:nvGrpSpPr>
          <p:cNvPr id="20" name="グループ化 19">
            <a:extLst>
              <a:ext uri="{FF2B5EF4-FFF2-40B4-BE49-F238E27FC236}">
                <a16:creationId xmlns:a16="http://schemas.microsoft.com/office/drawing/2014/main" id="{A14DD4B3-C759-31B2-0E08-19870EEF5BF5}"/>
              </a:ext>
            </a:extLst>
          </p:cNvPr>
          <p:cNvGrpSpPr/>
          <p:nvPr/>
        </p:nvGrpSpPr>
        <p:grpSpPr>
          <a:xfrm>
            <a:off x="444500" y="4546133"/>
            <a:ext cx="3321231" cy="2353099"/>
            <a:chOff x="444500" y="4546133"/>
            <a:chExt cx="3321231" cy="2353099"/>
          </a:xfrm>
        </p:grpSpPr>
        <p:pic>
          <p:nvPicPr>
            <p:cNvPr id="8196" name="Picture 4">
              <a:extLst>
                <a:ext uri="{FF2B5EF4-FFF2-40B4-BE49-F238E27FC236}">
                  <a16:creationId xmlns:a16="http://schemas.microsoft.com/office/drawing/2014/main" id="{9E22A44B-45A7-9D1A-C91C-52A9314E6A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00" y="4546133"/>
              <a:ext cx="3321231" cy="2353099"/>
            </a:xfrm>
            <a:prstGeom prst="rect">
              <a:avLst/>
            </a:prstGeom>
            <a:noFill/>
            <a:extLst>
              <a:ext uri="{909E8E84-426E-40DD-AFC4-6F175D3DCCD1}">
                <a14:hiddenFill xmlns:a14="http://schemas.microsoft.com/office/drawing/2010/main">
                  <a:solidFill>
                    <a:srgbClr val="FFFFFF"/>
                  </a:solidFill>
                </a14:hiddenFill>
              </a:ext>
            </a:extLst>
          </p:spPr>
        </p:pic>
        <p:sp>
          <p:nvSpPr>
            <p:cNvPr id="17" name="正方形/長方形 16">
              <a:extLst>
                <a:ext uri="{FF2B5EF4-FFF2-40B4-BE49-F238E27FC236}">
                  <a16:creationId xmlns:a16="http://schemas.microsoft.com/office/drawing/2014/main" id="{DFD29A79-4179-2D58-C235-252F765A6732}"/>
                </a:ext>
              </a:extLst>
            </p:cNvPr>
            <p:cNvSpPr/>
            <p:nvPr/>
          </p:nvSpPr>
          <p:spPr>
            <a:xfrm>
              <a:off x="444500" y="6061311"/>
              <a:ext cx="247650" cy="203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9283104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C31F1ED-5E45-6921-E9AA-EC8D4DF1099D}"/>
            </a:ext>
          </a:extLst>
        </p:cNvPr>
        <p:cNvGrpSpPr/>
        <p:nvPr/>
      </p:nvGrpSpPr>
      <p:grpSpPr>
        <a:xfrm>
          <a:off x="0" y="0"/>
          <a:ext cx="0" cy="0"/>
          <a:chOff x="0" y="0"/>
          <a:chExt cx="0" cy="0"/>
        </a:xfrm>
      </p:grpSpPr>
      <p:sp>
        <p:nvSpPr>
          <p:cNvPr id="23" name="四角形: 角を丸くする 22">
            <a:extLst>
              <a:ext uri="{FF2B5EF4-FFF2-40B4-BE49-F238E27FC236}">
                <a16:creationId xmlns:a16="http://schemas.microsoft.com/office/drawing/2014/main" id="{C8548F90-807F-96ED-3E7A-AA4A30A34037}"/>
              </a:ext>
            </a:extLst>
          </p:cNvPr>
          <p:cNvSpPr/>
          <p:nvPr/>
        </p:nvSpPr>
        <p:spPr>
          <a:xfrm>
            <a:off x="783431" y="5266657"/>
            <a:ext cx="7560000" cy="1258784"/>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スライド番号プレースホルダー 1">
            <a:extLst>
              <a:ext uri="{FF2B5EF4-FFF2-40B4-BE49-F238E27FC236}">
                <a16:creationId xmlns:a16="http://schemas.microsoft.com/office/drawing/2014/main" id="{19C237F4-0558-6E56-5670-9559ED30AE80}"/>
              </a:ext>
            </a:extLst>
          </p:cNvPr>
          <p:cNvSpPr>
            <a:spLocks noGrp="1"/>
          </p:cNvSpPr>
          <p:nvPr>
            <p:ph type="sldNum" sz="quarter" idx="12"/>
          </p:nvPr>
        </p:nvSpPr>
        <p:spPr/>
        <p:txBody>
          <a:bodyPr/>
          <a:lstStyle/>
          <a:p>
            <a:fld id="{18020408-E1FF-429E-A8D5-EB2A190A0D77}" type="slidenum">
              <a:rPr kumimoji="1" lang="ja-JP" altLang="en-US" smtClean="0"/>
              <a:pPr/>
              <a:t>50</a:t>
            </a:fld>
            <a:endParaRPr kumimoji="1" lang="ja-JP" altLang="en-US" sz="2400" dirty="0"/>
          </a:p>
        </p:txBody>
      </p:sp>
      <p:sp>
        <p:nvSpPr>
          <p:cNvPr id="3" name="タイトル 2">
            <a:extLst>
              <a:ext uri="{FF2B5EF4-FFF2-40B4-BE49-F238E27FC236}">
                <a16:creationId xmlns:a16="http://schemas.microsoft.com/office/drawing/2014/main" id="{5ABFDADE-24E2-FF8E-BF32-4469D7A10463}"/>
              </a:ext>
            </a:extLst>
          </p:cNvPr>
          <p:cNvSpPr>
            <a:spLocks noGrp="1"/>
          </p:cNvSpPr>
          <p:nvPr>
            <p:ph type="title"/>
          </p:nvPr>
        </p:nvSpPr>
        <p:spPr/>
        <p:txBody>
          <a:bodyPr/>
          <a:lstStyle/>
          <a:p>
            <a:r>
              <a:rPr lang="ja-JP" altLang="en-US" sz="3600" dirty="0"/>
              <a:t>結果・考察：言動を見ていて楽しい</a:t>
            </a:r>
            <a:endParaRPr kumimoji="1" lang="ja-JP" altLang="en-US" sz="3600" dirty="0"/>
          </a:p>
        </p:txBody>
      </p:sp>
      <p:sp>
        <p:nvSpPr>
          <p:cNvPr id="7" name="テキスト ボックス 6">
            <a:extLst>
              <a:ext uri="{FF2B5EF4-FFF2-40B4-BE49-F238E27FC236}">
                <a16:creationId xmlns:a16="http://schemas.microsoft.com/office/drawing/2014/main" id="{12698B2E-5181-F4BC-837F-F5C9DB9C483D}"/>
              </a:ext>
            </a:extLst>
          </p:cNvPr>
          <p:cNvSpPr txBox="1"/>
          <p:nvPr/>
        </p:nvSpPr>
        <p:spPr>
          <a:xfrm>
            <a:off x="313263" y="2827821"/>
            <a:ext cx="5698069" cy="646331"/>
          </a:xfrm>
          <a:prstGeom prst="rect">
            <a:avLst/>
          </a:prstGeom>
          <a:noFill/>
        </p:spPr>
        <p:txBody>
          <a:bodyPr wrap="square">
            <a:spAutoFit/>
          </a:bodyPr>
          <a:lstStyle/>
          <a:p>
            <a:r>
              <a:rPr lang="ja-JP" altLang="en-US" b="1" dirty="0"/>
              <a:t>名乗りなし水準における</a:t>
            </a:r>
            <a:endParaRPr lang="en-US" altLang="ja-JP" b="1" dirty="0"/>
          </a:p>
          <a:p>
            <a:r>
              <a:rPr lang="ja-JP" altLang="en-US" b="1" dirty="0"/>
              <a:t>人格設定要因での平均値と標準偏差</a:t>
            </a:r>
          </a:p>
        </p:txBody>
      </p:sp>
      <p:sp>
        <p:nvSpPr>
          <p:cNvPr id="9" name="Rectangle 1">
            <a:extLst>
              <a:ext uri="{FF2B5EF4-FFF2-40B4-BE49-F238E27FC236}">
                <a16:creationId xmlns:a16="http://schemas.microsoft.com/office/drawing/2014/main" id="{9877CF72-611E-9F2D-55F7-35A8C4DAFF89}"/>
              </a:ext>
            </a:extLst>
          </p:cNvPr>
          <p:cNvSpPr>
            <a:spLocks noChangeArrowheads="1"/>
          </p:cNvSpPr>
          <p:nvPr/>
        </p:nvSpPr>
        <p:spPr bwMode="auto">
          <a:xfrm>
            <a:off x="2362200" y="250391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3" name="テキスト ボックス 12">
            <a:extLst>
              <a:ext uri="{FF2B5EF4-FFF2-40B4-BE49-F238E27FC236}">
                <a16:creationId xmlns:a16="http://schemas.microsoft.com/office/drawing/2014/main" id="{FB7CF9CC-5BC8-D853-2C84-1066DDF1F614}"/>
              </a:ext>
            </a:extLst>
          </p:cNvPr>
          <p:cNvSpPr txBox="1"/>
          <p:nvPr/>
        </p:nvSpPr>
        <p:spPr>
          <a:xfrm>
            <a:off x="313263" y="1247017"/>
            <a:ext cx="6680203" cy="646331"/>
          </a:xfrm>
          <a:prstGeom prst="rect">
            <a:avLst/>
          </a:prstGeom>
          <a:noFill/>
        </p:spPr>
        <p:txBody>
          <a:bodyPr wrap="square">
            <a:spAutoFit/>
          </a:bodyPr>
          <a:lstStyle/>
          <a:p>
            <a:r>
              <a:rPr lang="ja-JP" altLang="en-US" b="1" dirty="0">
                <a:latin typeface="+mn-ea"/>
              </a:rPr>
              <a:t>「</a:t>
            </a:r>
            <a:r>
              <a:rPr lang="en-US" altLang="ja-JP" b="1" dirty="0">
                <a:latin typeface="+mn-ea"/>
              </a:rPr>
              <a:t>Q9</a:t>
            </a:r>
            <a:r>
              <a:rPr lang="ja-JP" altLang="en-US" b="1" dirty="0">
                <a:latin typeface="+mn-ea"/>
              </a:rPr>
              <a:t>．</a:t>
            </a:r>
            <a:r>
              <a:rPr kumimoji="1" lang="en-US" altLang="ja-JP" b="1" dirty="0">
                <a:latin typeface="游ゴシック" panose="020B0400000000000000" pitchFamily="50" charset="-128"/>
              </a:rPr>
              <a:t>AI </a:t>
            </a:r>
            <a:r>
              <a:rPr kumimoji="1" lang="ja-JP" altLang="en-US" b="1" dirty="0">
                <a:latin typeface="游ゴシック" panose="020B0400000000000000" pitchFamily="50" charset="-128"/>
              </a:rPr>
              <a:t>の言動を見ていて楽しい」について</a:t>
            </a:r>
            <a:endParaRPr kumimoji="1" lang="en-US" altLang="ja-JP" b="1" dirty="0">
              <a:latin typeface="游ゴシック" panose="020B0400000000000000" pitchFamily="50" charset="-128"/>
            </a:endParaRPr>
          </a:p>
          <a:p>
            <a:r>
              <a:rPr kumimoji="1" lang="en-US" altLang="ja-JP" b="1" dirty="0">
                <a:latin typeface="游ゴシック" panose="020B0400000000000000" pitchFamily="50" charset="-128"/>
                <a:sym typeface="Wingdings" panose="05000000000000000000" pitchFamily="2" charset="2"/>
              </a:rPr>
              <a:t></a:t>
            </a:r>
            <a:r>
              <a:rPr kumimoji="1" lang="ja-JP" altLang="en-US" b="1" dirty="0">
                <a:solidFill>
                  <a:srgbClr val="C00000"/>
                </a:solidFill>
                <a:latin typeface="游ゴシック" panose="020B0400000000000000" pitchFamily="50" charset="-128"/>
                <a:sym typeface="Wingdings" panose="05000000000000000000" pitchFamily="2" charset="2"/>
              </a:rPr>
              <a:t>交互作用が有意</a:t>
            </a:r>
            <a:endParaRPr kumimoji="1" lang="en-US" altLang="ja-JP" b="1" dirty="0">
              <a:solidFill>
                <a:srgbClr val="C00000"/>
              </a:solidFill>
              <a:latin typeface="游ゴシック" panose="020B0400000000000000" pitchFamily="50" charset="-128"/>
            </a:endParaRPr>
          </a:p>
        </p:txBody>
      </p:sp>
      <p:graphicFrame>
        <p:nvGraphicFramePr>
          <p:cNvPr id="14" name="表 13">
            <a:extLst>
              <a:ext uri="{FF2B5EF4-FFF2-40B4-BE49-F238E27FC236}">
                <a16:creationId xmlns:a16="http://schemas.microsoft.com/office/drawing/2014/main" id="{8E45D898-2CAD-3EEB-0CDB-87DA6909011F}"/>
              </a:ext>
            </a:extLst>
          </p:cNvPr>
          <p:cNvGraphicFramePr>
            <a:graphicFrameLocks noGrp="1"/>
          </p:cNvGraphicFramePr>
          <p:nvPr/>
        </p:nvGraphicFramePr>
        <p:xfrm>
          <a:off x="436034" y="1980780"/>
          <a:ext cx="5690122" cy="731520"/>
        </p:xfrm>
        <a:graphic>
          <a:graphicData uri="http://schemas.openxmlformats.org/drawingml/2006/table">
            <a:tbl>
              <a:tblPr firstRow="1" bandRow="1">
                <a:tableStyleId>{9D7B26C5-4107-4FEC-AEDC-1716B250A1EF}</a:tableStyleId>
              </a:tblPr>
              <a:tblGrid>
                <a:gridCol w="2155938">
                  <a:extLst>
                    <a:ext uri="{9D8B030D-6E8A-4147-A177-3AD203B41FA5}">
                      <a16:colId xmlns:a16="http://schemas.microsoft.com/office/drawing/2014/main" val="2253055787"/>
                    </a:ext>
                  </a:extLst>
                </a:gridCol>
                <a:gridCol w="689122">
                  <a:extLst>
                    <a:ext uri="{9D8B030D-6E8A-4147-A177-3AD203B41FA5}">
                      <a16:colId xmlns:a16="http://schemas.microsoft.com/office/drawing/2014/main" val="4189014961"/>
                    </a:ext>
                  </a:extLst>
                </a:gridCol>
                <a:gridCol w="1422531">
                  <a:extLst>
                    <a:ext uri="{9D8B030D-6E8A-4147-A177-3AD203B41FA5}">
                      <a16:colId xmlns:a16="http://schemas.microsoft.com/office/drawing/2014/main" val="3674438810"/>
                    </a:ext>
                  </a:extLst>
                </a:gridCol>
                <a:gridCol w="1422531">
                  <a:extLst>
                    <a:ext uri="{9D8B030D-6E8A-4147-A177-3AD203B41FA5}">
                      <a16:colId xmlns:a16="http://schemas.microsoft.com/office/drawing/2014/main" val="678252903"/>
                    </a:ext>
                  </a:extLst>
                </a:gridCol>
              </a:tblGrid>
              <a:tr h="299852">
                <a:tc>
                  <a:txBody>
                    <a:bodyPr/>
                    <a:lstStyle/>
                    <a:p>
                      <a:endParaRPr kumimoji="1" lang="ja-JP" altLang="en-US" sz="1800" dirty="0"/>
                    </a:p>
                  </a:txBody>
                  <a:tcPr>
                    <a:noFill/>
                  </a:tcPr>
                </a:tc>
                <a:tc>
                  <a:txBody>
                    <a:bodyPr/>
                    <a:lstStyle/>
                    <a:p>
                      <a:pPr algn="r" fontAlgn="base">
                        <a:lnSpc>
                          <a:spcPts val="1350"/>
                        </a:lnSpc>
                        <a:buNone/>
                      </a:pPr>
                      <a:r>
                        <a:rPr lang="en-US" sz="1800" b="1" i="0" dirty="0" err="1">
                          <a:solidFill>
                            <a:srgbClr val="000000"/>
                          </a:solidFill>
                          <a:effectLst/>
                          <a:latin typeface="游ゴシック" panose="020B0400000000000000" pitchFamily="50" charset="-128"/>
                        </a:rPr>
                        <a:t>df</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rPr>
                        <a:t>F</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rPr>
                        <a:t>p</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extLst>
                  <a:ext uri="{0D108BD9-81ED-4DB2-BD59-A6C34878D82A}">
                    <a16:rowId xmlns:a16="http://schemas.microsoft.com/office/drawing/2014/main" val="2809685238"/>
                  </a:ext>
                </a:extLst>
              </a:tr>
              <a:tr h="2846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dirty="0">
                          <a:solidFill>
                            <a:srgbClr val="000000"/>
                          </a:solidFill>
                          <a:effectLst/>
                          <a:latin typeface="游ゴシック" panose="020B0400000000000000" pitchFamily="50" charset="-128"/>
                          <a:ea typeface="+mn-ea"/>
                        </a:rPr>
                        <a:t>名乗り</a:t>
                      </a:r>
                      <a:r>
                        <a:rPr kumimoji="1" lang="en-US" altLang="ja-JP" sz="1800" b="1" i="0" dirty="0">
                          <a:solidFill>
                            <a:srgbClr val="000000"/>
                          </a:solidFill>
                          <a:effectLst/>
                          <a:latin typeface="游ゴシック" panose="020B0400000000000000" pitchFamily="50" charset="-128"/>
                          <a:ea typeface="+mn-ea"/>
                        </a:rPr>
                        <a:t>*</a:t>
                      </a:r>
                      <a:r>
                        <a:rPr kumimoji="1" lang="ja-JP" altLang="en-US" sz="1800" b="1" i="0" dirty="0">
                          <a:solidFill>
                            <a:srgbClr val="000000"/>
                          </a:solidFill>
                          <a:effectLst/>
                          <a:latin typeface="游ゴシック" panose="020B0400000000000000" pitchFamily="50" charset="-128"/>
                          <a:ea typeface="+mn-ea"/>
                        </a:rPr>
                        <a:t>人格設定</a:t>
                      </a:r>
                      <a:endParaRPr kumimoji="1" lang="ja-JP" altLang="en-US" sz="1800" dirty="0"/>
                    </a:p>
                  </a:txBody>
                  <a:tcP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ea typeface="游ゴシック" panose="020B0400000000000000" pitchFamily="50" charset="-128"/>
                        </a:rPr>
                        <a:t>1</a:t>
                      </a:r>
                      <a:endParaRPr lang="en-US" altLang="ja-JP" sz="1800" b="1" i="0" dirty="0">
                        <a:solidFill>
                          <a:srgbClr val="000000"/>
                        </a:solidFill>
                        <a:effectLst/>
                      </a:endParaRPr>
                    </a:p>
                  </a:txBody>
                  <a:tcPr anchor="ct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rPr>
                        <a:t>4.86​</a:t>
                      </a:r>
                      <a:endParaRPr lang="en-US" sz="1800" b="1" i="0" dirty="0">
                        <a:solidFill>
                          <a:srgbClr val="000000"/>
                        </a:solidFill>
                        <a:effectLst/>
                      </a:endParaRPr>
                    </a:p>
                  </a:txBody>
                  <a:tcPr anchor="ctr">
                    <a:noFill/>
                  </a:tcPr>
                </a:tc>
                <a:tc>
                  <a:txBody>
                    <a:bodyPr/>
                    <a:lstStyle/>
                    <a:p>
                      <a:pPr algn="r" fontAlgn="base">
                        <a:lnSpc>
                          <a:spcPts val="1350"/>
                        </a:lnSpc>
                        <a:buNone/>
                      </a:pPr>
                      <a:r>
                        <a:rPr lang="en-US" sz="1800" b="1" i="0" dirty="0">
                          <a:solidFill>
                            <a:srgbClr val="C00000"/>
                          </a:solidFill>
                          <a:effectLst/>
                          <a:latin typeface="游ゴシック" panose="020B0400000000000000" pitchFamily="50" charset="-128"/>
                        </a:rPr>
                        <a:t>0.029</a:t>
                      </a:r>
                      <a:r>
                        <a:rPr lang="en-US" sz="1800" b="1" i="0" dirty="0">
                          <a:solidFill>
                            <a:srgbClr val="000000"/>
                          </a:solidFill>
                          <a:effectLst/>
                          <a:latin typeface="游ゴシック" panose="020B0400000000000000" pitchFamily="50" charset="-128"/>
                        </a:rPr>
                        <a:t>​</a:t>
                      </a:r>
                      <a:endParaRPr lang="en-US" sz="1800" b="1" i="0" dirty="0">
                        <a:solidFill>
                          <a:srgbClr val="000000"/>
                        </a:solidFill>
                        <a:effectLst/>
                      </a:endParaRPr>
                    </a:p>
                  </a:txBody>
                  <a:tcPr anchor="ctr">
                    <a:noFill/>
                  </a:tcPr>
                </a:tc>
                <a:extLst>
                  <a:ext uri="{0D108BD9-81ED-4DB2-BD59-A6C34878D82A}">
                    <a16:rowId xmlns:a16="http://schemas.microsoft.com/office/drawing/2014/main" val="2808757430"/>
                  </a:ext>
                </a:extLst>
              </a:tr>
            </a:tbl>
          </a:graphicData>
        </a:graphic>
      </p:graphicFrame>
      <p:graphicFrame>
        <p:nvGraphicFramePr>
          <p:cNvPr id="15" name="表 14">
            <a:extLst>
              <a:ext uri="{FF2B5EF4-FFF2-40B4-BE49-F238E27FC236}">
                <a16:creationId xmlns:a16="http://schemas.microsoft.com/office/drawing/2014/main" id="{299C9E46-A1AE-3D99-1ACD-203C2F9BB623}"/>
              </a:ext>
            </a:extLst>
          </p:cNvPr>
          <p:cNvGraphicFramePr>
            <a:graphicFrameLocks noGrp="1"/>
          </p:cNvGraphicFramePr>
          <p:nvPr/>
        </p:nvGraphicFramePr>
        <p:xfrm>
          <a:off x="436035" y="3537280"/>
          <a:ext cx="4004229" cy="1019918"/>
        </p:xfrm>
        <a:graphic>
          <a:graphicData uri="http://schemas.openxmlformats.org/drawingml/2006/table">
            <a:tbl>
              <a:tblPr firstRow="1" bandRow="1">
                <a:tableStyleId>{9D7B26C5-4107-4FEC-AEDC-1716B250A1EF}</a:tableStyleId>
              </a:tblPr>
              <a:tblGrid>
                <a:gridCol w="1442745">
                  <a:extLst>
                    <a:ext uri="{9D8B030D-6E8A-4147-A177-3AD203B41FA5}">
                      <a16:colId xmlns:a16="http://schemas.microsoft.com/office/drawing/2014/main" val="4143698353"/>
                    </a:ext>
                  </a:extLst>
                </a:gridCol>
                <a:gridCol w="1280742">
                  <a:extLst>
                    <a:ext uri="{9D8B030D-6E8A-4147-A177-3AD203B41FA5}">
                      <a16:colId xmlns:a16="http://schemas.microsoft.com/office/drawing/2014/main" val="2801815050"/>
                    </a:ext>
                  </a:extLst>
                </a:gridCol>
                <a:gridCol w="1280742">
                  <a:extLst>
                    <a:ext uri="{9D8B030D-6E8A-4147-A177-3AD203B41FA5}">
                      <a16:colId xmlns:a16="http://schemas.microsoft.com/office/drawing/2014/main" val="3674438810"/>
                    </a:ext>
                  </a:extLst>
                </a:gridCol>
              </a:tblGrid>
              <a:tr h="394870">
                <a:tc>
                  <a:txBody>
                    <a:bodyPr/>
                    <a:lstStyle/>
                    <a:p>
                      <a:pPr algn="l" fontAlgn="base">
                        <a:lnSpc>
                          <a:spcPts val="1350"/>
                        </a:lnSpc>
                        <a:buNone/>
                      </a:pPr>
                      <a:r>
                        <a:rPr lang="ja-JP" altLang="en-US" sz="1600" b="1" i="0" dirty="0">
                          <a:solidFill>
                            <a:srgbClr val="000000"/>
                          </a:solidFill>
                          <a:effectLst/>
                          <a:latin typeface="+mn-ea"/>
                          <a:ea typeface="+mn-ea"/>
                        </a:rPr>
                        <a:t>人格設定要因</a:t>
                      </a:r>
                      <a:r>
                        <a:rPr lang="ja-JP" altLang="en-US" sz="1600" b="1" i="0" dirty="0">
                          <a:solidFill>
                            <a:srgbClr val="FFFFFF"/>
                          </a:solidFill>
                          <a:effectLst/>
                          <a:latin typeface="+mn-ea"/>
                          <a:ea typeface="+mn-ea"/>
                        </a:rPr>
                        <a:t>​</a:t>
                      </a:r>
                    </a:p>
                  </a:txBody>
                  <a:tcPr anchor="ctr">
                    <a:noFill/>
                  </a:tcPr>
                </a:tc>
                <a:tc>
                  <a:txBody>
                    <a:bodyPr/>
                    <a:lstStyle/>
                    <a:p>
                      <a:pPr algn="r" fontAlgn="base">
                        <a:lnSpc>
                          <a:spcPts val="1350"/>
                        </a:lnSpc>
                        <a:buNone/>
                      </a:pPr>
                      <a:r>
                        <a:rPr lang="ja-JP" altLang="en-US" sz="1600" b="1" i="0" dirty="0">
                          <a:solidFill>
                            <a:srgbClr val="000000"/>
                          </a:solidFill>
                          <a:effectLst/>
                          <a:latin typeface="+mn-ea"/>
                          <a:ea typeface="+mn-ea"/>
                        </a:rPr>
                        <a:t>平均値</a:t>
                      </a:r>
                      <a:endParaRPr lang="ja-JP" altLang="en-US" sz="1600" b="1" i="0" dirty="0">
                        <a:solidFill>
                          <a:srgbClr val="FFFFFF"/>
                        </a:solidFill>
                        <a:effectLst/>
                        <a:latin typeface="+mn-ea"/>
                        <a:ea typeface="+mn-ea"/>
                      </a:endParaRPr>
                    </a:p>
                  </a:txBody>
                  <a:tcPr anchor="ctr">
                    <a:noFill/>
                  </a:tcPr>
                </a:tc>
                <a:tc>
                  <a:txBody>
                    <a:bodyPr/>
                    <a:lstStyle/>
                    <a:p>
                      <a:pPr algn="r" fontAlgn="base">
                        <a:lnSpc>
                          <a:spcPts val="1350"/>
                        </a:lnSpc>
                        <a:buNone/>
                      </a:pPr>
                      <a:r>
                        <a:rPr lang="ja-JP" altLang="en-US" sz="1600" b="1" i="0" dirty="0">
                          <a:solidFill>
                            <a:srgbClr val="000000"/>
                          </a:solidFill>
                          <a:effectLst/>
                          <a:latin typeface="+mn-ea"/>
                          <a:ea typeface="+mn-ea"/>
                        </a:rPr>
                        <a:t>標準偏差</a:t>
                      </a:r>
                      <a:r>
                        <a:rPr lang="en-US" altLang="ja-JP" sz="1600" b="1" i="0" dirty="0">
                          <a:solidFill>
                            <a:srgbClr val="FFFFFF"/>
                          </a:solidFill>
                          <a:effectLst/>
                          <a:latin typeface="+mn-ea"/>
                          <a:ea typeface="+mn-ea"/>
                        </a:rPr>
                        <a:t>​</a:t>
                      </a:r>
                    </a:p>
                  </a:txBody>
                  <a:tcPr anchor="ctr">
                    <a:noFill/>
                  </a:tcPr>
                </a:tc>
                <a:extLst>
                  <a:ext uri="{0D108BD9-81ED-4DB2-BD59-A6C34878D82A}">
                    <a16:rowId xmlns:a16="http://schemas.microsoft.com/office/drawing/2014/main" val="2809685238"/>
                  </a:ext>
                </a:extLst>
              </a:tr>
              <a:tr h="312524">
                <a:tc>
                  <a:txBody>
                    <a:bodyPr/>
                    <a:lstStyle/>
                    <a:p>
                      <a:pPr algn="l" fontAlgn="base">
                        <a:lnSpc>
                          <a:spcPts val="1350"/>
                        </a:lnSpc>
                        <a:buNone/>
                      </a:pPr>
                      <a:r>
                        <a:rPr lang="ja-JP" altLang="en-US" sz="1600" b="1" i="0" dirty="0">
                          <a:solidFill>
                            <a:srgbClr val="000000"/>
                          </a:solidFill>
                          <a:effectLst/>
                          <a:latin typeface="+mn-ea"/>
                          <a:ea typeface="+mn-ea"/>
                        </a:rPr>
                        <a:t>固定​</a:t>
                      </a:r>
                    </a:p>
                  </a:txBody>
                  <a:tcPr anchor="ctr">
                    <a:noFill/>
                  </a:tcPr>
                </a:tc>
                <a:tc>
                  <a:txBody>
                    <a:bodyPr/>
                    <a:lstStyle/>
                    <a:p>
                      <a:pPr algn="r" fontAlgn="base">
                        <a:lnSpc>
                          <a:spcPts val="1350"/>
                        </a:lnSpc>
                        <a:buNone/>
                      </a:pPr>
                      <a:r>
                        <a:rPr lang="en-US" altLang="ja-JP" sz="1600" b="1" i="0" dirty="0">
                          <a:solidFill>
                            <a:srgbClr val="000000"/>
                          </a:solidFill>
                          <a:effectLst/>
                          <a:latin typeface="+mn-ea"/>
                          <a:ea typeface="+mn-ea"/>
                        </a:rPr>
                        <a:t>4.82</a:t>
                      </a:r>
                    </a:p>
                  </a:txBody>
                  <a:tcPr anchor="ctr">
                    <a:noFill/>
                  </a:tcPr>
                </a:tc>
                <a:tc>
                  <a:txBody>
                    <a:bodyPr/>
                    <a:lstStyle/>
                    <a:p>
                      <a:pPr algn="r" fontAlgn="base">
                        <a:lnSpc>
                          <a:spcPts val="1350"/>
                        </a:lnSpc>
                        <a:buNone/>
                      </a:pPr>
                      <a:r>
                        <a:rPr lang="en-US" sz="1600" b="1" i="0" dirty="0">
                          <a:solidFill>
                            <a:srgbClr val="000000"/>
                          </a:solidFill>
                          <a:effectLst/>
                          <a:latin typeface="+mn-ea"/>
                          <a:ea typeface="+mn-ea"/>
                        </a:rPr>
                        <a:t>2.71</a:t>
                      </a:r>
                    </a:p>
                  </a:txBody>
                  <a:tcPr anchor="ctr">
                    <a:noFill/>
                  </a:tcPr>
                </a:tc>
                <a:extLst>
                  <a:ext uri="{0D108BD9-81ED-4DB2-BD59-A6C34878D82A}">
                    <a16:rowId xmlns:a16="http://schemas.microsoft.com/office/drawing/2014/main" val="2808757430"/>
                  </a:ext>
                </a:extLst>
              </a:tr>
              <a:tr h="312524">
                <a:tc>
                  <a:txBody>
                    <a:bodyPr/>
                    <a:lstStyle/>
                    <a:p>
                      <a:pPr algn="l" fontAlgn="base">
                        <a:lnSpc>
                          <a:spcPts val="1350"/>
                        </a:lnSpc>
                        <a:buNone/>
                      </a:pPr>
                      <a:r>
                        <a:rPr lang="ja-JP" altLang="en-US" sz="1600" b="1" i="0" dirty="0">
                          <a:solidFill>
                            <a:srgbClr val="000000"/>
                          </a:solidFill>
                          <a:effectLst/>
                          <a:latin typeface="+mn-ea"/>
                          <a:ea typeface="+mn-ea"/>
                        </a:rPr>
                        <a:t>切り替え</a:t>
                      </a:r>
                    </a:p>
                  </a:txBody>
                  <a:tcPr anchor="ctr">
                    <a:noFill/>
                  </a:tcPr>
                </a:tc>
                <a:tc>
                  <a:txBody>
                    <a:bodyPr/>
                    <a:lstStyle/>
                    <a:p>
                      <a:pPr algn="r" fontAlgn="base">
                        <a:lnSpc>
                          <a:spcPts val="1350"/>
                        </a:lnSpc>
                        <a:buNone/>
                      </a:pPr>
                      <a:r>
                        <a:rPr lang="en-US" altLang="ja-JP" sz="1600" b="1" i="0" dirty="0">
                          <a:solidFill>
                            <a:srgbClr val="000000"/>
                          </a:solidFill>
                          <a:effectLst/>
                          <a:latin typeface="+mn-ea"/>
                          <a:ea typeface="+mn-ea"/>
                        </a:rPr>
                        <a:t>3.33</a:t>
                      </a:r>
                    </a:p>
                  </a:txBody>
                  <a:tcPr anchor="ctr">
                    <a:noFill/>
                  </a:tcPr>
                </a:tc>
                <a:tc>
                  <a:txBody>
                    <a:bodyPr/>
                    <a:lstStyle/>
                    <a:p>
                      <a:pPr algn="r" fontAlgn="base">
                        <a:lnSpc>
                          <a:spcPts val="1350"/>
                        </a:lnSpc>
                        <a:buNone/>
                      </a:pPr>
                      <a:r>
                        <a:rPr lang="en-US" sz="1600" b="1" i="0" dirty="0">
                          <a:solidFill>
                            <a:srgbClr val="000000"/>
                          </a:solidFill>
                          <a:effectLst/>
                          <a:latin typeface="+mn-ea"/>
                          <a:ea typeface="+mn-ea"/>
                        </a:rPr>
                        <a:t>2.40</a:t>
                      </a:r>
                    </a:p>
                  </a:txBody>
                  <a:tcPr anchor="ctr">
                    <a:noFill/>
                  </a:tcPr>
                </a:tc>
                <a:extLst>
                  <a:ext uri="{0D108BD9-81ED-4DB2-BD59-A6C34878D82A}">
                    <a16:rowId xmlns:a16="http://schemas.microsoft.com/office/drawing/2014/main" val="928760967"/>
                  </a:ext>
                </a:extLst>
              </a:tr>
            </a:tbl>
          </a:graphicData>
        </a:graphic>
      </p:graphicFrame>
      <p:sp>
        <p:nvSpPr>
          <p:cNvPr id="18" name="テキスト ボックス 17">
            <a:extLst>
              <a:ext uri="{FF2B5EF4-FFF2-40B4-BE49-F238E27FC236}">
                <a16:creationId xmlns:a16="http://schemas.microsoft.com/office/drawing/2014/main" id="{A1712E32-B0D9-E0FD-9C05-E06AACD78AC4}"/>
              </a:ext>
            </a:extLst>
          </p:cNvPr>
          <p:cNvSpPr txBox="1"/>
          <p:nvPr/>
        </p:nvSpPr>
        <p:spPr>
          <a:xfrm>
            <a:off x="878400" y="5439600"/>
            <a:ext cx="7748626" cy="1231106"/>
          </a:xfrm>
          <a:prstGeom prst="rect">
            <a:avLst/>
          </a:prstGeom>
          <a:noFill/>
        </p:spPr>
        <p:txBody>
          <a:bodyPr wrap="square">
            <a:spAutoFit/>
          </a:bodyPr>
          <a:lstStyle/>
          <a:p>
            <a:r>
              <a:rPr lang="ja-JP" altLang="en-US" sz="2800" b="1" dirty="0"/>
              <a:t>人格切り替え後のタメ口が</a:t>
            </a:r>
            <a:r>
              <a:rPr lang="ja-JP" altLang="en-US" sz="2800" b="1" dirty="0">
                <a:solidFill>
                  <a:srgbClr val="C00000"/>
                </a:solidFill>
              </a:rPr>
              <a:t>馴れ馴れしさ</a:t>
            </a:r>
            <a:endParaRPr lang="en-US" altLang="ja-JP" sz="2800" b="1" dirty="0">
              <a:solidFill>
                <a:srgbClr val="C00000"/>
              </a:solidFill>
            </a:endParaRPr>
          </a:p>
          <a:p>
            <a:r>
              <a:rPr lang="ja-JP" altLang="en-US" sz="2800" b="1" dirty="0">
                <a:solidFill>
                  <a:srgbClr val="C00000"/>
                </a:solidFill>
              </a:rPr>
              <a:t>としてネガティブ</a:t>
            </a:r>
            <a:r>
              <a:rPr lang="ja-JP" altLang="en-US" sz="2800" b="1" dirty="0"/>
              <a:t>に作用する可能性</a:t>
            </a:r>
          </a:p>
          <a:p>
            <a:endParaRPr lang="ja-JP" altLang="en-US" dirty="0"/>
          </a:p>
        </p:txBody>
      </p:sp>
      <p:sp>
        <p:nvSpPr>
          <p:cNvPr id="20" name="矢印: 右 19">
            <a:extLst>
              <a:ext uri="{FF2B5EF4-FFF2-40B4-BE49-F238E27FC236}">
                <a16:creationId xmlns:a16="http://schemas.microsoft.com/office/drawing/2014/main" id="{379A5783-FDCA-3053-80ED-DF25C0907B8D}"/>
              </a:ext>
            </a:extLst>
          </p:cNvPr>
          <p:cNvSpPr/>
          <p:nvPr/>
        </p:nvSpPr>
        <p:spPr>
          <a:xfrm rot="16200000">
            <a:off x="8228831" y="2712616"/>
            <a:ext cx="369329" cy="4270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21" name="矢印: 右 20">
            <a:extLst>
              <a:ext uri="{FF2B5EF4-FFF2-40B4-BE49-F238E27FC236}">
                <a16:creationId xmlns:a16="http://schemas.microsoft.com/office/drawing/2014/main" id="{FFB1232C-DC16-F611-0EF8-A054C52DCBAE}"/>
              </a:ext>
            </a:extLst>
          </p:cNvPr>
          <p:cNvSpPr/>
          <p:nvPr/>
        </p:nvSpPr>
        <p:spPr>
          <a:xfrm rot="5400000">
            <a:off x="8228830" y="4188654"/>
            <a:ext cx="369329" cy="4270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24" name="テキスト ボックス 23">
            <a:extLst>
              <a:ext uri="{FF2B5EF4-FFF2-40B4-BE49-F238E27FC236}">
                <a16:creationId xmlns:a16="http://schemas.microsoft.com/office/drawing/2014/main" id="{518AA08F-C347-A105-063C-4FF281C337A1}"/>
              </a:ext>
            </a:extLst>
          </p:cNvPr>
          <p:cNvSpPr txBox="1"/>
          <p:nvPr/>
        </p:nvSpPr>
        <p:spPr>
          <a:xfrm>
            <a:off x="7832742" y="2465873"/>
            <a:ext cx="1074214" cy="307777"/>
          </a:xfrm>
          <a:prstGeom prst="rect">
            <a:avLst/>
          </a:prstGeom>
          <a:noFill/>
        </p:spPr>
        <p:txBody>
          <a:bodyPr wrap="square">
            <a:spAutoFit/>
          </a:bodyPr>
          <a:lstStyle/>
          <a:p>
            <a:r>
              <a:rPr lang="ja-JP" altLang="en-US" sz="1400" b="1" dirty="0"/>
              <a:t>あてはまる</a:t>
            </a:r>
            <a:endParaRPr lang="ja-JP" altLang="en-US" sz="1400" dirty="0"/>
          </a:p>
        </p:txBody>
      </p:sp>
      <p:sp>
        <p:nvSpPr>
          <p:cNvPr id="25" name="テキスト ボックス 24">
            <a:extLst>
              <a:ext uri="{FF2B5EF4-FFF2-40B4-BE49-F238E27FC236}">
                <a16:creationId xmlns:a16="http://schemas.microsoft.com/office/drawing/2014/main" id="{BD666230-DACC-2B4D-23DD-F9D50E366A62}"/>
              </a:ext>
            </a:extLst>
          </p:cNvPr>
          <p:cNvSpPr txBox="1"/>
          <p:nvPr/>
        </p:nvSpPr>
        <p:spPr>
          <a:xfrm>
            <a:off x="7766320" y="4601898"/>
            <a:ext cx="1487746" cy="307776"/>
          </a:xfrm>
          <a:prstGeom prst="rect">
            <a:avLst/>
          </a:prstGeom>
          <a:noFill/>
        </p:spPr>
        <p:txBody>
          <a:bodyPr wrap="square">
            <a:spAutoFit/>
          </a:bodyPr>
          <a:lstStyle/>
          <a:p>
            <a:r>
              <a:rPr lang="ja-JP" altLang="en-US" sz="1400" b="1" dirty="0"/>
              <a:t>あてはまらない</a:t>
            </a:r>
            <a:endParaRPr lang="ja-JP" altLang="en-US" sz="1400" dirty="0"/>
          </a:p>
        </p:txBody>
      </p:sp>
      <p:pic>
        <p:nvPicPr>
          <p:cNvPr id="22" name="グラフィックス 21">
            <a:extLst>
              <a:ext uri="{FF2B5EF4-FFF2-40B4-BE49-F238E27FC236}">
                <a16:creationId xmlns:a16="http://schemas.microsoft.com/office/drawing/2014/main" id="{A20E4B53-2B58-6F98-A8FC-1C1A3C45F1D0}"/>
              </a:ext>
            </a:extLst>
          </p:cNvPr>
          <p:cNvPicPr>
            <a:picLocks noChangeAspect="1"/>
          </p:cNvPicPr>
          <p:nvPr/>
        </p:nvPicPr>
        <p:blipFill>
          <a:blip r:embed="rId3">
            <a:extLst>
              <a:ext uri="{96DAC541-7B7A-43D3-8B79-37D633B846F1}">
                <asvg:svgBlip xmlns:asvg="http://schemas.microsoft.com/office/drawing/2016/SVG/main" r:embed="rId4"/>
              </a:ext>
            </a:extLst>
          </a:blip>
          <a:srcRect l="3343" t="1310" r="1669" b="3107"/>
          <a:stretch>
            <a:fillRect/>
          </a:stretch>
        </p:blipFill>
        <p:spPr>
          <a:xfrm>
            <a:off x="5109882" y="2774266"/>
            <a:ext cx="2988000" cy="1833173"/>
          </a:xfrm>
          <a:prstGeom prst="rect">
            <a:avLst/>
          </a:prstGeom>
        </p:spPr>
      </p:pic>
      <p:sp>
        <p:nvSpPr>
          <p:cNvPr id="26" name="テキスト ボックス 25">
            <a:extLst>
              <a:ext uri="{FF2B5EF4-FFF2-40B4-BE49-F238E27FC236}">
                <a16:creationId xmlns:a16="http://schemas.microsoft.com/office/drawing/2014/main" id="{BE5FFFA8-D74C-284E-2C28-5FF9810C37F9}"/>
              </a:ext>
            </a:extLst>
          </p:cNvPr>
          <p:cNvSpPr txBox="1"/>
          <p:nvPr/>
        </p:nvSpPr>
        <p:spPr>
          <a:xfrm>
            <a:off x="4765185" y="4369214"/>
            <a:ext cx="499309" cy="338554"/>
          </a:xfrm>
          <a:prstGeom prst="rect">
            <a:avLst/>
          </a:prstGeom>
          <a:noFill/>
        </p:spPr>
        <p:txBody>
          <a:bodyPr wrap="square">
            <a:spAutoFit/>
          </a:bodyPr>
          <a:lstStyle/>
          <a:p>
            <a:r>
              <a:rPr lang="en-US" altLang="ja-JP" sz="1600" b="1" dirty="0">
                <a:latin typeface="+mn-ea"/>
              </a:rPr>
              <a:t>2.0</a:t>
            </a:r>
            <a:endParaRPr lang="ja-JP" altLang="en-US" sz="1600" b="1" dirty="0">
              <a:latin typeface="+mn-ea"/>
            </a:endParaRPr>
          </a:p>
        </p:txBody>
      </p:sp>
      <p:sp>
        <p:nvSpPr>
          <p:cNvPr id="27" name="テキスト ボックス 26">
            <a:extLst>
              <a:ext uri="{FF2B5EF4-FFF2-40B4-BE49-F238E27FC236}">
                <a16:creationId xmlns:a16="http://schemas.microsoft.com/office/drawing/2014/main" id="{564CF6BD-824E-43F5-12A9-65C43879A66C}"/>
              </a:ext>
            </a:extLst>
          </p:cNvPr>
          <p:cNvSpPr txBox="1"/>
          <p:nvPr/>
        </p:nvSpPr>
        <p:spPr>
          <a:xfrm>
            <a:off x="4765185" y="3942531"/>
            <a:ext cx="499309" cy="338554"/>
          </a:xfrm>
          <a:prstGeom prst="rect">
            <a:avLst/>
          </a:prstGeom>
          <a:noFill/>
        </p:spPr>
        <p:txBody>
          <a:bodyPr wrap="square">
            <a:spAutoFit/>
          </a:bodyPr>
          <a:lstStyle/>
          <a:p>
            <a:r>
              <a:rPr lang="en-US" altLang="ja-JP" sz="1600" b="1" dirty="0">
                <a:latin typeface="+mn-ea"/>
              </a:rPr>
              <a:t>3.0</a:t>
            </a:r>
            <a:endParaRPr lang="ja-JP" altLang="en-US" sz="1600" b="1" dirty="0">
              <a:latin typeface="+mn-ea"/>
            </a:endParaRPr>
          </a:p>
        </p:txBody>
      </p:sp>
      <p:sp>
        <p:nvSpPr>
          <p:cNvPr id="28" name="テキスト ボックス 27">
            <a:extLst>
              <a:ext uri="{FF2B5EF4-FFF2-40B4-BE49-F238E27FC236}">
                <a16:creationId xmlns:a16="http://schemas.microsoft.com/office/drawing/2014/main" id="{739DD09A-0A4C-1C1E-601D-C7AA85466266}"/>
              </a:ext>
            </a:extLst>
          </p:cNvPr>
          <p:cNvSpPr txBox="1"/>
          <p:nvPr/>
        </p:nvSpPr>
        <p:spPr>
          <a:xfrm>
            <a:off x="4765185" y="3548219"/>
            <a:ext cx="499309" cy="338554"/>
          </a:xfrm>
          <a:prstGeom prst="rect">
            <a:avLst/>
          </a:prstGeom>
          <a:noFill/>
        </p:spPr>
        <p:txBody>
          <a:bodyPr wrap="square">
            <a:spAutoFit/>
          </a:bodyPr>
          <a:lstStyle/>
          <a:p>
            <a:r>
              <a:rPr lang="en-US" altLang="ja-JP" sz="1600" b="1" dirty="0">
                <a:latin typeface="+mn-ea"/>
              </a:rPr>
              <a:t>4.0</a:t>
            </a:r>
            <a:endParaRPr lang="ja-JP" altLang="en-US" sz="1600" b="1" dirty="0">
              <a:latin typeface="+mn-ea"/>
            </a:endParaRPr>
          </a:p>
        </p:txBody>
      </p:sp>
      <p:sp>
        <p:nvSpPr>
          <p:cNvPr id="29" name="テキスト ボックス 28">
            <a:extLst>
              <a:ext uri="{FF2B5EF4-FFF2-40B4-BE49-F238E27FC236}">
                <a16:creationId xmlns:a16="http://schemas.microsoft.com/office/drawing/2014/main" id="{117CEEB7-334D-1DA9-03F6-51E2EF9E294F}"/>
              </a:ext>
            </a:extLst>
          </p:cNvPr>
          <p:cNvSpPr txBox="1"/>
          <p:nvPr/>
        </p:nvSpPr>
        <p:spPr>
          <a:xfrm>
            <a:off x="4775760" y="3104200"/>
            <a:ext cx="499309" cy="338554"/>
          </a:xfrm>
          <a:prstGeom prst="rect">
            <a:avLst/>
          </a:prstGeom>
          <a:noFill/>
        </p:spPr>
        <p:txBody>
          <a:bodyPr wrap="square">
            <a:spAutoFit/>
          </a:bodyPr>
          <a:lstStyle/>
          <a:p>
            <a:r>
              <a:rPr lang="en-US" altLang="ja-JP" sz="1600" b="1" dirty="0">
                <a:latin typeface="+mn-ea"/>
              </a:rPr>
              <a:t>5.0</a:t>
            </a:r>
            <a:endParaRPr lang="ja-JP" altLang="en-US" sz="1600" b="1" dirty="0">
              <a:latin typeface="+mn-ea"/>
            </a:endParaRPr>
          </a:p>
        </p:txBody>
      </p:sp>
      <p:sp>
        <p:nvSpPr>
          <p:cNvPr id="30" name="テキスト ボックス 29">
            <a:extLst>
              <a:ext uri="{FF2B5EF4-FFF2-40B4-BE49-F238E27FC236}">
                <a16:creationId xmlns:a16="http://schemas.microsoft.com/office/drawing/2014/main" id="{FC023E97-EF2D-F3B8-F078-6BD586CA8369}"/>
              </a:ext>
            </a:extLst>
          </p:cNvPr>
          <p:cNvSpPr txBox="1"/>
          <p:nvPr/>
        </p:nvSpPr>
        <p:spPr>
          <a:xfrm>
            <a:off x="4765185" y="2688226"/>
            <a:ext cx="499309" cy="338554"/>
          </a:xfrm>
          <a:prstGeom prst="rect">
            <a:avLst/>
          </a:prstGeom>
          <a:noFill/>
        </p:spPr>
        <p:txBody>
          <a:bodyPr wrap="square">
            <a:spAutoFit/>
          </a:bodyPr>
          <a:lstStyle/>
          <a:p>
            <a:r>
              <a:rPr lang="en-US" altLang="ja-JP" sz="1600" b="1" dirty="0">
                <a:latin typeface="+mn-ea"/>
              </a:rPr>
              <a:t>6.0</a:t>
            </a:r>
            <a:endParaRPr lang="ja-JP" altLang="en-US" sz="1600" b="1" dirty="0">
              <a:latin typeface="+mn-ea"/>
            </a:endParaRPr>
          </a:p>
        </p:txBody>
      </p:sp>
      <p:sp>
        <p:nvSpPr>
          <p:cNvPr id="12" name="テキスト ボックス 11">
            <a:extLst>
              <a:ext uri="{FF2B5EF4-FFF2-40B4-BE49-F238E27FC236}">
                <a16:creationId xmlns:a16="http://schemas.microsoft.com/office/drawing/2014/main" id="{9D90B2E8-A517-3E45-91C5-9AFA54043287}"/>
              </a:ext>
            </a:extLst>
          </p:cNvPr>
          <p:cNvSpPr txBox="1"/>
          <p:nvPr/>
        </p:nvSpPr>
        <p:spPr>
          <a:xfrm>
            <a:off x="5613211" y="4510506"/>
            <a:ext cx="566737" cy="307777"/>
          </a:xfrm>
          <a:prstGeom prst="rect">
            <a:avLst/>
          </a:prstGeom>
          <a:noFill/>
        </p:spPr>
        <p:txBody>
          <a:bodyPr wrap="square">
            <a:spAutoFit/>
          </a:bodyPr>
          <a:lstStyle/>
          <a:p>
            <a:r>
              <a:rPr lang="ja-JP" altLang="en-US" sz="1400" b="1" dirty="0"/>
              <a:t>固定</a:t>
            </a:r>
            <a:endParaRPr lang="ja-JP" altLang="en-US" sz="1400" dirty="0"/>
          </a:p>
        </p:txBody>
      </p:sp>
      <p:sp>
        <p:nvSpPr>
          <p:cNvPr id="17" name="テキスト ボックス 16">
            <a:extLst>
              <a:ext uri="{FF2B5EF4-FFF2-40B4-BE49-F238E27FC236}">
                <a16:creationId xmlns:a16="http://schemas.microsoft.com/office/drawing/2014/main" id="{F1BF9D52-6FCB-0847-9E73-58B72ACC6788}"/>
              </a:ext>
            </a:extLst>
          </p:cNvPr>
          <p:cNvSpPr txBox="1"/>
          <p:nvPr/>
        </p:nvSpPr>
        <p:spPr>
          <a:xfrm>
            <a:off x="6878513" y="4506827"/>
            <a:ext cx="938740" cy="307777"/>
          </a:xfrm>
          <a:prstGeom prst="rect">
            <a:avLst/>
          </a:prstGeom>
          <a:noFill/>
        </p:spPr>
        <p:txBody>
          <a:bodyPr wrap="square">
            <a:spAutoFit/>
          </a:bodyPr>
          <a:lstStyle/>
          <a:p>
            <a:r>
              <a:rPr lang="ja-JP" altLang="en-US" sz="1400" b="1" dirty="0"/>
              <a:t>切り替え</a:t>
            </a:r>
            <a:endParaRPr lang="ja-JP" altLang="en-US" sz="1400" dirty="0"/>
          </a:p>
        </p:txBody>
      </p:sp>
      <p:sp>
        <p:nvSpPr>
          <p:cNvPr id="33" name="テキスト ボックス 32">
            <a:extLst>
              <a:ext uri="{FF2B5EF4-FFF2-40B4-BE49-F238E27FC236}">
                <a16:creationId xmlns:a16="http://schemas.microsoft.com/office/drawing/2014/main" id="{261F89F9-0552-8021-3917-4224F80250E2}"/>
              </a:ext>
            </a:extLst>
          </p:cNvPr>
          <p:cNvSpPr txBox="1"/>
          <p:nvPr/>
        </p:nvSpPr>
        <p:spPr>
          <a:xfrm>
            <a:off x="1075765" y="5035824"/>
            <a:ext cx="851647" cy="461665"/>
          </a:xfrm>
          <a:prstGeom prst="rect">
            <a:avLst/>
          </a:prstGeom>
          <a:solidFill>
            <a:schemeClr val="bg1"/>
          </a:solidFill>
        </p:spPr>
        <p:txBody>
          <a:bodyPr wrap="square">
            <a:spAutoFit/>
          </a:bodyPr>
          <a:lstStyle/>
          <a:p>
            <a:r>
              <a:rPr lang="ja-JP" altLang="en-US" sz="2400" b="1" dirty="0">
                <a:solidFill>
                  <a:schemeClr val="accent1"/>
                </a:solidFill>
              </a:rPr>
              <a:t>考察</a:t>
            </a:r>
          </a:p>
        </p:txBody>
      </p:sp>
    </p:spTree>
    <p:extLst>
      <p:ext uri="{BB962C8B-B14F-4D97-AF65-F5344CB8AC3E}">
        <p14:creationId xmlns:p14="http://schemas.microsoft.com/office/powerpoint/2010/main" val="3825896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E793B9B-0B38-F1CA-B888-101B489089A0}"/>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41C83266-83F8-7EC0-C989-FFAFC4428D08}"/>
              </a:ext>
            </a:extLst>
          </p:cNvPr>
          <p:cNvSpPr>
            <a:spLocks noGrp="1"/>
          </p:cNvSpPr>
          <p:nvPr>
            <p:ph type="sldNum" sz="quarter" idx="12"/>
          </p:nvPr>
        </p:nvSpPr>
        <p:spPr/>
        <p:txBody>
          <a:bodyPr/>
          <a:lstStyle/>
          <a:p>
            <a:fld id="{18020408-E1FF-429E-A8D5-EB2A190A0D77}" type="slidenum">
              <a:rPr kumimoji="1" lang="ja-JP" altLang="en-US" smtClean="0"/>
              <a:pPr/>
              <a:t>51</a:t>
            </a:fld>
            <a:endParaRPr kumimoji="1" lang="ja-JP" altLang="en-US" sz="2400" dirty="0"/>
          </a:p>
        </p:txBody>
      </p:sp>
      <p:sp>
        <p:nvSpPr>
          <p:cNvPr id="3" name="タイトル 2">
            <a:extLst>
              <a:ext uri="{FF2B5EF4-FFF2-40B4-BE49-F238E27FC236}">
                <a16:creationId xmlns:a16="http://schemas.microsoft.com/office/drawing/2014/main" id="{C6E30038-C6AD-168A-BD93-BF5DDE38BBA4}"/>
              </a:ext>
            </a:extLst>
          </p:cNvPr>
          <p:cNvSpPr>
            <a:spLocks noGrp="1"/>
          </p:cNvSpPr>
          <p:nvPr>
            <p:ph type="title"/>
          </p:nvPr>
        </p:nvSpPr>
        <p:spPr/>
        <p:txBody>
          <a:bodyPr/>
          <a:lstStyle/>
          <a:p>
            <a:r>
              <a:rPr lang="ja-JP" altLang="en-US" sz="3600" dirty="0"/>
              <a:t>結果・考察：やりとりへの注意</a:t>
            </a:r>
            <a:endParaRPr kumimoji="1" lang="ja-JP" altLang="en-US" sz="3600" dirty="0"/>
          </a:p>
        </p:txBody>
      </p:sp>
      <p:sp>
        <p:nvSpPr>
          <p:cNvPr id="7" name="テキスト ボックス 6">
            <a:extLst>
              <a:ext uri="{FF2B5EF4-FFF2-40B4-BE49-F238E27FC236}">
                <a16:creationId xmlns:a16="http://schemas.microsoft.com/office/drawing/2014/main" id="{57DB6198-82A3-366E-4646-E4F460C87659}"/>
              </a:ext>
            </a:extLst>
          </p:cNvPr>
          <p:cNvSpPr txBox="1"/>
          <p:nvPr/>
        </p:nvSpPr>
        <p:spPr>
          <a:xfrm>
            <a:off x="313263" y="2843090"/>
            <a:ext cx="5698069" cy="646331"/>
          </a:xfrm>
          <a:prstGeom prst="rect">
            <a:avLst/>
          </a:prstGeom>
          <a:noFill/>
        </p:spPr>
        <p:txBody>
          <a:bodyPr wrap="square">
            <a:spAutoFit/>
          </a:bodyPr>
          <a:lstStyle/>
          <a:p>
            <a:r>
              <a:rPr lang="ja-JP" altLang="en-US" b="1" dirty="0"/>
              <a:t>人格固定水準における</a:t>
            </a:r>
            <a:endParaRPr lang="en-US" altLang="ja-JP" b="1" dirty="0"/>
          </a:p>
          <a:p>
            <a:r>
              <a:rPr lang="ja-JP" altLang="en-US" b="1" dirty="0"/>
              <a:t>名乗り要因での平均値と標準偏差</a:t>
            </a:r>
          </a:p>
        </p:txBody>
      </p:sp>
      <p:sp>
        <p:nvSpPr>
          <p:cNvPr id="9" name="Rectangle 1">
            <a:extLst>
              <a:ext uri="{FF2B5EF4-FFF2-40B4-BE49-F238E27FC236}">
                <a16:creationId xmlns:a16="http://schemas.microsoft.com/office/drawing/2014/main" id="{352BC8D0-0ADE-8E8C-4DDA-1CB90A178CC8}"/>
              </a:ext>
            </a:extLst>
          </p:cNvPr>
          <p:cNvSpPr>
            <a:spLocks noChangeArrowheads="1"/>
          </p:cNvSpPr>
          <p:nvPr/>
        </p:nvSpPr>
        <p:spPr bwMode="auto">
          <a:xfrm>
            <a:off x="2362200" y="250391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1" name="Rectangle 2">
            <a:extLst>
              <a:ext uri="{FF2B5EF4-FFF2-40B4-BE49-F238E27FC236}">
                <a16:creationId xmlns:a16="http://schemas.microsoft.com/office/drawing/2014/main" id="{6DDC7C7B-C22C-3DC2-07DD-CD885177EF0E}"/>
              </a:ext>
            </a:extLst>
          </p:cNvPr>
          <p:cNvSpPr>
            <a:spLocks noChangeArrowheads="1"/>
          </p:cNvSpPr>
          <p:nvPr/>
        </p:nvSpPr>
        <p:spPr bwMode="auto">
          <a:xfrm>
            <a:off x="2252663" y="3560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3" name="テキスト ボックス 12">
            <a:extLst>
              <a:ext uri="{FF2B5EF4-FFF2-40B4-BE49-F238E27FC236}">
                <a16:creationId xmlns:a16="http://schemas.microsoft.com/office/drawing/2014/main" id="{899552C6-A9DC-5C8E-F08F-D58E4F3C0986}"/>
              </a:ext>
            </a:extLst>
          </p:cNvPr>
          <p:cNvSpPr txBox="1"/>
          <p:nvPr/>
        </p:nvSpPr>
        <p:spPr>
          <a:xfrm>
            <a:off x="313263" y="1247017"/>
            <a:ext cx="6680203" cy="646331"/>
          </a:xfrm>
          <a:prstGeom prst="rect">
            <a:avLst/>
          </a:prstGeom>
          <a:noFill/>
        </p:spPr>
        <p:txBody>
          <a:bodyPr wrap="square">
            <a:spAutoFit/>
          </a:bodyPr>
          <a:lstStyle/>
          <a:p>
            <a:r>
              <a:rPr lang="ja-JP" altLang="en-US" b="1" dirty="0">
                <a:latin typeface="+mn-ea"/>
              </a:rPr>
              <a:t>「</a:t>
            </a:r>
            <a:r>
              <a:rPr lang="en-US" altLang="ja-JP" b="1" dirty="0">
                <a:latin typeface="+mn-ea"/>
              </a:rPr>
              <a:t>Q10</a:t>
            </a:r>
            <a:r>
              <a:rPr lang="ja-JP" altLang="en-US" b="1" dirty="0">
                <a:latin typeface="+mn-ea"/>
              </a:rPr>
              <a:t>．</a:t>
            </a:r>
            <a:r>
              <a:rPr kumimoji="1" lang="en-US" altLang="ja-JP" b="1" dirty="0">
                <a:latin typeface="游ゴシック" panose="020B0400000000000000" pitchFamily="50" charset="-128"/>
              </a:rPr>
              <a:t> AI </a:t>
            </a:r>
            <a:r>
              <a:rPr kumimoji="1" lang="ja-JP" altLang="en-US" b="1" dirty="0">
                <a:latin typeface="游ゴシック" panose="020B0400000000000000" pitchFamily="50" charset="-128"/>
              </a:rPr>
              <a:t>とのやりとりは注意を引く」について</a:t>
            </a:r>
            <a:endParaRPr kumimoji="1" lang="en-US" altLang="ja-JP" b="1" dirty="0">
              <a:latin typeface="游ゴシック" panose="020B0400000000000000" pitchFamily="50" charset="-128"/>
            </a:endParaRPr>
          </a:p>
          <a:p>
            <a:r>
              <a:rPr kumimoji="1" lang="en-US" altLang="ja-JP" b="1" dirty="0">
                <a:latin typeface="游ゴシック" panose="020B0400000000000000" pitchFamily="50" charset="-128"/>
                <a:sym typeface="Wingdings" panose="05000000000000000000" pitchFamily="2" charset="2"/>
              </a:rPr>
              <a:t></a:t>
            </a:r>
            <a:r>
              <a:rPr kumimoji="1" lang="ja-JP" altLang="en-US" b="1" dirty="0">
                <a:solidFill>
                  <a:srgbClr val="C00000"/>
                </a:solidFill>
                <a:latin typeface="游ゴシック" panose="020B0400000000000000" pitchFamily="50" charset="-128"/>
                <a:sym typeface="Wingdings" panose="05000000000000000000" pitchFamily="2" charset="2"/>
              </a:rPr>
              <a:t>交互作用が有意</a:t>
            </a:r>
            <a:endParaRPr kumimoji="1" lang="en-US" altLang="ja-JP" b="1" dirty="0">
              <a:solidFill>
                <a:srgbClr val="C00000"/>
              </a:solidFill>
              <a:latin typeface="游ゴシック" panose="020B0400000000000000" pitchFamily="50" charset="-128"/>
            </a:endParaRPr>
          </a:p>
        </p:txBody>
      </p:sp>
      <p:graphicFrame>
        <p:nvGraphicFramePr>
          <p:cNvPr id="14" name="表 13">
            <a:extLst>
              <a:ext uri="{FF2B5EF4-FFF2-40B4-BE49-F238E27FC236}">
                <a16:creationId xmlns:a16="http://schemas.microsoft.com/office/drawing/2014/main" id="{8198553D-828B-6601-19EB-C083C7DC0583}"/>
              </a:ext>
            </a:extLst>
          </p:cNvPr>
          <p:cNvGraphicFramePr>
            <a:graphicFrameLocks noGrp="1"/>
          </p:cNvGraphicFramePr>
          <p:nvPr/>
        </p:nvGraphicFramePr>
        <p:xfrm>
          <a:off x="436032" y="1980780"/>
          <a:ext cx="5698069" cy="731520"/>
        </p:xfrm>
        <a:graphic>
          <a:graphicData uri="http://schemas.openxmlformats.org/drawingml/2006/table">
            <a:tbl>
              <a:tblPr firstRow="1" bandRow="1">
                <a:tableStyleId>{9D7B26C5-4107-4FEC-AEDC-1716B250A1EF}</a:tableStyleId>
              </a:tblPr>
              <a:tblGrid>
                <a:gridCol w="1905553">
                  <a:extLst>
                    <a:ext uri="{9D8B030D-6E8A-4147-A177-3AD203B41FA5}">
                      <a16:colId xmlns:a16="http://schemas.microsoft.com/office/drawing/2014/main" val="2253055787"/>
                    </a:ext>
                  </a:extLst>
                </a:gridCol>
                <a:gridCol w="943482">
                  <a:extLst>
                    <a:ext uri="{9D8B030D-6E8A-4147-A177-3AD203B41FA5}">
                      <a16:colId xmlns:a16="http://schemas.microsoft.com/office/drawing/2014/main" val="4189014961"/>
                    </a:ext>
                  </a:extLst>
                </a:gridCol>
                <a:gridCol w="1424517">
                  <a:extLst>
                    <a:ext uri="{9D8B030D-6E8A-4147-A177-3AD203B41FA5}">
                      <a16:colId xmlns:a16="http://schemas.microsoft.com/office/drawing/2014/main" val="3674438810"/>
                    </a:ext>
                  </a:extLst>
                </a:gridCol>
                <a:gridCol w="1424517">
                  <a:extLst>
                    <a:ext uri="{9D8B030D-6E8A-4147-A177-3AD203B41FA5}">
                      <a16:colId xmlns:a16="http://schemas.microsoft.com/office/drawing/2014/main" val="678252903"/>
                    </a:ext>
                  </a:extLst>
                </a:gridCol>
              </a:tblGrid>
              <a:tr h="299852">
                <a:tc>
                  <a:txBody>
                    <a:bodyPr/>
                    <a:lstStyle/>
                    <a:p>
                      <a:endParaRPr kumimoji="1" lang="ja-JP" altLang="en-US" sz="1800" dirty="0"/>
                    </a:p>
                  </a:txBody>
                  <a:tcPr>
                    <a:noFill/>
                  </a:tcPr>
                </a:tc>
                <a:tc>
                  <a:txBody>
                    <a:bodyPr/>
                    <a:lstStyle/>
                    <a:p>
                      <a:pPr algn="r" fontAlgn="base">
                        <a:lnSpc>
                          <a:spcPts val="1350"/>
                        </a:lnSpc>
                        <a:buNone/>
                      </a:pPr>
                      <a:r>
                        <a:rPr lang="en-US" sz="1800" b="1" i="0" dirty="0" err="1">
                          <a:solidFill>
                            <a:srgbClr val="000000"/>
                          </a:solidFill>
                          <a:effectLst/>
                          <a:latin typeface="游ゴシック" panose="020B0400000000000000" pitchFamily="50" charset="-128"/>
                        </a:rPr>
                        <a:t>df</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rPr>
                        <a:t>F</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rPr>
                        <a:t>p</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extLst>
                  <a:ext uri="{0D108BD9-81ED-4DB2-BD59-A6C34878D82A}">
                    <a16:rowId xmlns:a16="http://schemas.microsoft.com/office/drawing/2014/main" val="2809685238"/>
                  </a:ext>
                </a:extLst>
              </a:tr>
              <a:tr h="2846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dirty="0">
                          <a:solidFill>
                            <a:srgbClr val="000000"/>
                          </a:solidFill>
                          <a:effectLst/>
                          <a:latin typeface="游ゴシック" panose="020B0400000000000000" pitchFamily="50" charset="-128"/>
                          <a:ea typeface="+mn-ea"/>
                        </a:rPr>
                        <a:t>名乗り</a:t>
                      </a:r>
                      <a:r>
                        <a:rPr kumimoji="1" lang="en-US" altLang="ja-JP" sz="1800" b="1" i="0" dirty="0">
                          <a:solidFill>
                            <a:srgbClr val="000000"/>
                          </a:solidFill>
                          <a:effectLst/>
                          <a:latin typeface="游ゴシック" panose="020B0400000000000000" pitchFamily="50" charset="-128"/>
                          <a:ea typeface="+mn-ea"/>
                        </a:rPr>
                        <a:t>*</a:t>
                      </a:r>
                      <a:r>
                        <a:rPr kumimoji="1" lang="ja-JP" altLang="en-US" sz="1800" b="1" i="0" dirty="0">
                          <a:solidFill>
                            <a:srgbClr val="000000"/>
                          </a:solidFill>
                          <a:effectLst/>
                          <a:latin typeface="游ゴシック" panose="020B0400000000000000" pitchFamily="50" charset="-128"/>
                          <a:ea typeface="+mn-ea"/>
                        </a:rPr>
                        <a:t>人格設定</a:t>
                      </a:r>
                      <a:endParaRPr kumimoji="1" lang="ja-JP" altLang="en-US" sz="1800" dirty="0"/>
                    </a:p>
                  </a:txBody>
                  <a:tcP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ea typeface="游ゴシック" panose="020B0400000000000000" pitchFamily="50" charset="-128"/>
                        </a:rPr>
                        <a:t>1</a:t>
                      </a:r>
                      <a:endParaRPr lang="en-US" altLang="ja-JP" sz="1800" b="1" i="0" dirty="0">
                        <a:solidFill>
                          <a:srgbClr val="000000"/>
                        </a:solidFill>
                        <a:effectLst/>
                      </a:endParaRPr>
                    </a:p>
                  </a:txBody>
                  <a:tcPr anchor="ct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rPr>
                        <a:t>5.352​</a:t>
                      </a:r>
                      <a:endParaRPr lang="en-US" sz="1800" b="1" i="0" dirty="0">
                        <a:solidFill>
                          <a:srgbClr val="000000"/>
                        </a:solidFill>
                        <a:effectLst/>
                      </a:endParaRPr>
                    </a:p>
                  </a:txBody>
                  <a:tcPr anchor="ctr">
                    <a:noFill/>
                  </a:tcPr>
                </a:tc>
                <a:tc>
                  <a:txBody>
                    <a:bodyPr/>
                    <a:lstStyle/>
                    <a:p>
                      <a:pPr algn="r" fontAlgn="base">
                        <a:lnSpc>
                          <a:spcPts val="1350"/>
                        </a:lnSpc>
                        <a:buNone/>
                      </a:pPr>
                      <a:r>
                        <a:rPr lang="en-US" sz="1800" b="1" i="0" dirty="0">
                          <a:solidFill>
                            <a:srgbClr val="C00000"/>
                          </a:solidFill>
                          <a:effectLst/>
                          <a:latin typeface="游ゴシック" panose="020B0400000000000000" pitchFamily="50" charset="-128"/>
                        </a:rPr>
                        <a:t>0.022</a:t>
                      </a:r>
                      <a:r>
                        <a:rPr lang="en-US" sz="1800" b="1" i="0" dirty="0">
                          <a:solidFill>
                            <a:srgbClr val="000000"/>
                          </a:solidFill>
                          <a:effectLst/>
                          <a:latin typeface="游ゴシック" panose="020B0400000000000000" pitchFamily="50" charset="-128"/>
                        </a:rPr>
                        <a:t>​</a:t>
                      </a:r>
                      <a:endParaRPr lang="en-US" sz="1800" b="1" i="0" dirty="0">
                        <a:solidFill>
                          <a:srgbClr val="000000"/>
                        </a:solidFill>
                        <a:effectLst/>
                      </a:endParaRPr>
                    </a:p>
                  </a:txBody>
                  <a:tcPr anchor="ctr">
                    <a:noFill/>
                  </a:tcPr>
                </a:tc>
                <a:extLst>
                  <a:ext uri="{0D108BD9-81ED-4DB2-BD59-A6C34878D82A}">
                    <a16:rowId xmlns:a16="http://schemas.microsoft.com/office/drawing/2014/main" val="2808757430"/>
                  </a:ext>
                </a:extLst>
              </a:tr>
            </a:tbl>
          </a:graphicData>
        </a:graphic>
      </p:graphicFrame>
      <p:graphicFrame>
        <p:nvGraphicFramePr>
          <p:cNvPr id="15" name="表 14">
            <a:extLst>
              <a:ext uri="{FF2B5EF4-FFF2-40B4-BE49-F238E27FC236}">
                <a16:creationId xmlns:a16="http://schemas.microsoft.com/office/drawing/2014/main" id="{A34DED2C-40B2-048E-DB78-B314FC05F0A8}"/>
              </a:ext>
            </a:extLst>
          </p:cNvPr>
          <p:cNvGraphicFramePr>
            <a:graphicFrameLocks noGrp="1"/>
          </p:cNvGraphicFramePr>
          <p:nvPr/>
        </p:nvGraphicFramePr>
        <p:xfrm>
          <a:off x="436035" y="3537280"/>
          <a:ext cx="4004229" cy="1019918"/>
        </p:xfrm>
        <a:graphic>
          <a:graphicData uri="http://schemas.openxmlformats.org/drawingml/2006/table">
            <a:tbl>
              <a:tblPr firstRow="1" bandRow="1">
                <a:tableStyleId>{9D7B26C5-4107-4FEC-AEDC-1716B250A1EF}</a:tableStyleId>
              </a:tblPr>
              <a:tblGrid>
                <a:gridCol w="1442745">
                  <a:extLst>
                    <a:ext uri="{9D8B030D-6E8A-4147-A177-3AD203B41FA5}">
                      <a16:colId xmlns:a16="http://schemas.microsoft.com/office/drawing/2014/main" val="4143698353"/>
                    </a:ext>
                  </a:extLst>
                </a:gridCol>
                <a:gridCol w="1280742">
                  <a:extLst>
                    <a:ext uri="{9D8B030D-6E8A-4147-A177-3AD203B41FA5}">
                      <a16:colId xmlns:a16="http://schemas.microsoft.com/office/drawing/2014/main" val="2801815050"/>
                    </a:ext>
                  </a:extLst>
                </a:gridCol>
                <a:gridCol w="1280742">
                  <a:extLst>
                    <a:ext uri="{9D8B030D-6E8A-4147-A177-3AD203B41FA5}">
                      <a16:colId xmlns:a16="http://schemas.microsoft.com/office/drawing/2014/main" val="3674438810"/>
                    </a:ext>
                  </a:extLst>
                </a:gridCol>
              </a:tblGrid>
              <a:tr h="394870">
                <a:tc>
                  <a:txBody>
                    <a:bodyPr/>
                    <a:lstStyle/>
                    <a:p>
                      <a:pPr algn="l" fontAlgn="base">
                        <a:lnSpc>
                          <a:spcPts val="1350"/>
                        </a:lnSpc>
                        <a:buNone/>
                      </a:pPr>
                      <a:r>
                        <a:rPr lang="ja-JP" altLang="en-US" sz="1600" b="1" i="0" dirty="0">
                          <a:solidFill>
                            <a:srgbClr val="000000"/>
                          </a:solidFill>
                          <a:effectLst/>
                          <a:latin typeface="+mn-ea"/>
                          <a:ea typeface="+mn-ea"/>
                        </a:rPr>
                        <a:t>名乗り要因</a:t>
                      </a:r>
                      <a:r>
                        <a:rPr lang="ja-JP" altLang="en-US" sz="1600" b="1" i="0" dirty="0">
                          <a:solidFill>
                            <a:srgbClr val="FFFFFF"/>
                          </a:solidFill>
                          <a:effectLst/>
                          <a:latin typeface="+mn-ea"/>
                          <a:ea typeface="+mn-ea"/>
                        </a:rPr>
                        <a:t>​</a:t>
                      </a:r>
                    </a:p>
                  </a:txBody>
                  <a:tcPr anchor="ctr">
                    <a:noFill/>
                  </a:tcPr>
                </a:tc>
                <a:tc>
                  <a:txBody>
                    <a:bodyPr/>
                    <a:lstStyle/>
                    <a:p>
                      <a:pPr algn="r" fontAlgn="base">
                        <a:lnSpc>
                          <a:spcPts val="1350"/>
                        </a:lnSpc>
                        <a:buNone/>
                      </a:pPr>
                      <a:r>
                        <a:rPr lang="ja-JP" altLang="en-US" sz="1600" b="1" i="0" dirty="0">
                          <a:solidFill>
                            <a:srgbClr val="000000"/>
                          </a:solidFill>
                          <a:effectLst/>
                          <a:latin typeface="+mn-ea"/>
                          <a:ea typeface="+mn-ea"/>
                        </a:rPr>
                        <a:t>平均値</a:t>
                      </a:r>
                      <a:endParaRPr lang="ja-JP" altLang="en-US" sz="1600" b="1" i="0" dirty="0">
                        <a:solidFill>
                          <a:srgbClr val="FFFFFF"/>
                        </a:solidFill>
                        <a:effectLst/>
                        <a:latin typeface="+mn-ea"/>
                        <a:ea typeface="+mn-ea"/>
                      </a:endParaRPr>
                    </a:p>
                  </a:txBody>
                  <a:tcPr anchor="ctr">
                    <a:noFill/>
                  </a:tcPr>
                </a:tc>
                <a:tc>
                  <a:txBody>
                    <a:bodyPr/>
                    <a:lstStyle/>
                    <a:p>
                      <a:pPr algn="r" fontAlgn="base">
                        <a:lnSpc>
                          <a:spcPts val="1350"/>
                        </a:lnSpc>
                        <a:buNone/>
                      </a:pPr>
                      <a:r>
                        <a:rPr lang="ja-JP" altLang="en-US" sz="1600" b="1" i="0" dirty="0">
                          <a:solidFill>
                            <a:srgbClr val="000000"/>
                          </a:solidFill>
                          <a:effectLst/>
                          <a:latin typeface="+mn-ea"/>
                          <a:ea typeface="+mn-ea"/>
                        </a:rPr>
                        <a:t>標準偏差</a:t>
                      </a:r>
                      <a:r>
                        <a:rPr lang="en-US" altLang="ja-JP" sz="1600" b="1" i="0" dirty="0">
                          <a:solidFill>
                            <a:srgbClr val="FFFFFF"/>
                          </a:solidFill>
                          <a:effectLst/>
                          <a:latin typeface="+mn-ea"/>
                          <a:ea typeface="+mn-ea"/>
                        </a:rPr>
                        <a:t>​</a:t>
                      </a:r>
                    </a:p>
                  </a:txBody>
                  <a:tcPr anchor="ctr">
                    <a:noFill/>
                  </a:tcPr>
                </a:tc>
                <a:extLst>
                  <a:ext uri="{0D108BD9-81ED-4DB2-BD59-A6C34878D82A}">
                    <a16:rowId xmlns:a16="http://schemas.microsoft.com/office/drawing/2014/main" val="2809685238"/>
                  </a:ext>
                </a:extLst>
              </a:tr>
              <a:tr h="312524">
                <a:tc>
                  <a:txBody>
                    <a:bodyPr/>
                    <a:lstStyle/>
                    <a:p>
                      <a:pPr algn="l" fontAlgn="base">
                        <a:lnSpc>
                          <a:spcPts val="1350"/>
                        </a:lnSpc>
                        <a:buNone/>
                      </a:pPr>
                      <a:r>
                        <a:rPr lang="ja-JP" altLang="en-US" sz="1600" b="1" i="0" dirty="0">
                          <a:solidFill>
                            <a:srgbClr val="000000"/>
                          </a:solidFill>
                          <a:effectLst/>
                          <a:latin typeface="+mn-ea"/>
                          <a:ea typeface="+mn-ea"/>
                        </a:rPr>
                        <a:t>あり​</a:t>
                      </a:r>
                    </a:p>
                  </a:txBody>
                  <a:tcPr anchor="ctr">
                    <a:noFill/>
                  </a:tcPr>
                </a:tc>
                <a:tc>
                  <a:txBody>
                    <a:bodyPr/>
                    <a:lstStyle/>
                    <a:p>
                      <a:pPr algn="r" fontAlgn="base">
                        <a:lnSpc>
                          <a:spcPts val="1350"/>
                        </a:lnSpc>
                        <a:buNone/>
                      </a:pPr>
                      <a:r>
                        <a:rPr lang="en-US" altLang="ja-JP" sz="1600" b="1" i="0" dirty="0">
                          <a:solidFill>
                            <a:srgbClr val="000000"/>
                          </a:solidFill>
                          <a:effectLst/>
                          <a:latin typeface="+mn-ea"/>
                          <a:ea typeface="+mn-ea"/>
                        </a:rPr>
                        <a:t>4.22</a:t>
                      </a:r>
                    </a:p>
                  </a:txBody>
                  <a:tcPr anchor="ctr">
                    <a:noFill/>
                  </a:tcPr>
                </a:tc>
                <a:tc>
                  <a:txBody>
                    <a:bodyPr/>
                    <a:lstStyle/>
                    <a:p>
                      <a:pPr algn="r" fontAlgn="base">
                        <a:lnSpc>
                          <a:spcPts val="1350"/>
                        </a:lnSpc>
                        <a:buNone/>
                      </a:pPr>
                      <a:r>
                        <a:rPr lang="en-US" sz="1600" b="1" i="0" dirty="0">
                          <a:solidFill>
                            <a:srgbClr val="000000"/>
                          </a:solidFill>
                          <a:effectLst/>
                          <a:latin typeface="+mn-ea"/>
                          <a:ea typeface="+mn-ea"/>
                        </a:rPr>
                        <a:t>2.27</a:t>
                      </a:r>
                    </a:p>
                  </a:txBody>
                  <a:tcPr anchor="ctr">
                    <a:noFill/>
                  </a:tcPr>
                </a:tc>
                <a:extLst>
                  <a:ext uri="{0D108BD9-81ED-4DB2-BD59-A6C34878D82A}">
                    <a16:rowId xmlns:a16="http://schemas.microsoft.com/office/drawing/2014/main" val="2808757430"/>
                  </a:ext>
                </a:extLst>
              </a:tr>
              <a:tr h="312524">
                <a:tc>
                  <a:txBody>
                    <a:bodyPr/>
                    <a:lstStyle/>
                    <a:p>
                      <a:pPr algn="l" fontAlgn="base">
                        <a:lnSpc>
                          <a:spcPts val="1350"/>
                        </a:lnSpc>
                        <a:buNone/>
                      </a:pPr>
                      <a:r>
                        <a:rPr lang="ja-JP" altLang="en-US" sz="1600" b="1" i="0" dirty="0">
                          <a:solidFill>
                            <a:srgbClr val="000000"/>
                          </a:solidFill>
                          <a:effectLst/>
                          <a:latin typeface="+mn-ea"/>
                          <a:ea typeface="+mn-ea"/>
                        </a:rPr>
                        <a:t>なし</a:t>
                      </a:r>
                    </a:p>
                  </a:txBody>
                  <a:tcPr anchor="ctr">
                    <a:noFill/>
                  </a:tcPr>
                </a:tc>
                <a:tc>
                  <a:txBody>
                    <a:bodyPr/>
                    <a:lstStyle/>
                    <a:p>
                      <a:pPr algn="r" fontAlgn="base">
                        <a:lnSpc>
                          <a:spcPts val="1350"/>
                        </a:lnSpc>
                        <a:buNone/>
                      </a:pPr>
                      <a:r>
                        <a:rPr lang="en-US" altLang="ja-JP" sz="1600" b="1" i="0" dirty="0">
                          <a:solidFill>
                            <a:srgbClr val="000000"/>
                          </a:solidFill>
                          <a:effectLst/>
                          <a:latin typeface="+mn-ea"/>
                          <a:ea typeface="+mn-ea"/>
                        </a:rPr>
                        <a:t>5.76</a:t>
                      </a:r>
                    </a:p>
                  </a:txBody>
                  <a:tcPr anchor="ctr">
                    <a:noFill/>
                  </a:tcPr>
                </a:tc>
                <a:tc>
                  <a:txBody>
                    <a:bodyPr/>
                    <a:lstStyle/>
                    <a:p>
                      <a:pPr algn="r" fontAlgn="base">
                        <a:lnSpc>
                          <a:spcPts val="1350"/>
                        </a:lnSpc>
                        <a:buNone/>
                      </a:pPr>
                      <a:r>
                        <a:rPr lang="en-US" sz="1600" b="1" i="0" dirty="0">
                          <a:solidFill>
                            <a:srgbClr val="000000"/>
                          </a:solidFill>
                          <a:effectLst/>
                          <a:latin typeface="+mn-ea"/>
                          <a:ea typeface="+mn-ea"/>
                        </a:rPr>
                        <a:t>2.21</a:t>
                      </a:r>
                    </a:p>
                  </a:txBody>
                  <a:tcPr anchor="ctr">
                    <a:noFill/>
                  </a:tcPr>
                </a:tc>
                <a:extLst>
                  <a:ext uri="{0D108BD9-81ED-4DB2-BD59-A6C34878D82A}">
                    <a16:rowId xmlns:a16="http://schemas.microsoft.com/office/drawing/2014/main" val="928760967"/>
                  </a:ext>
                </a:extLst>
              </a:tr>
            </a:tbl>
          </a:graphicData>
        </a:graphic>
      </p:graphicFrame>
      <p:sp>
        <p:nvSpPr>
          <p:cNvPr id="24" name="テキスト ボックス 23">
            <a:extLst>
              <a:ext uri="{FF2B5EF4-FFF2-40B4-BE49-F238E27FC236}">
                <a16:creationId xmlns:a16="http://schemas.microsoft.com/office/drawing/2014/main" id="{574F8023-1F81-FFD3-82CA-19BF4FDE599B}"/>
              </a:ext>
            </a:extLst>
          </p:cNvPr>
          <p:cNvSpPr txBox="1"/>
          <p:nvPr/>
        </p:nvSpPr>
        <p:spPr>
          <a:xfrm>
            <a:off x="7832742" y="2465873"/>
            <a:ext cx="1074214" cy="307777"/>
          </a:xfrm>
          <a:prstGeom prst="rect">
            <a:avLst/>
          </a:prstGeom>
          <a:noFill/>
        </p:spPr>
        <p:txBody>
          <a:bodyPr wrap="square">
            <a:spAutoFit/>
          </a:bodyPr>
          <a:lstStyle/>
          <a:p>
            <a:r>
              <a:rPr lang="ja-JP" altLang="en-US" sz="1400" b="1" dirty="0"/>
              <a:t>あてはまる</a:t>
            </a:r>
            <a:endParaRPr lang="ja-JP" altLang="en-US" sz="1400" dirty="0"/>
          </a:p>
        </p:txBody>
      </p:sp>
      <p:sp>
        <p:nvSpPr>
          <p:cNvPr id="25" name="テキスト ボックス 24">
            <a:extLst>
              <a:ext uri="{FF2B5EF4-FFF2-40B4-BE49-F238E27FC236}">
                <a16:creationId xmlns:a16="http://schemas.microsoft.com/office/drawing/2014/main" id="{61CB5B40-C240-11F7-6CC1-A11C60974694}"/>
              </a:ext>
            </a:extLst>
          </p:cNvPr>
          <p:cNvSpPr txBox="1"/>
          <p:nvPr/>
        </p:nvSpPr>
        <p:spPr>
          <a:xfrm>
            <a:off x="7766320" y="4601898"/>
            <a:ext cx="1487746" cy="307776"/>
          </a:xfrm>
          <a:prstGeom prst="rect">
            <a:avLst/>
          </a:prstGeom>
          <a:noFill/>
        </p:spPr>
        <p:txBody>
          <a:bodyPr wrap="square">
            <a:spAutoFit/>
          </a:bodyPr>
          <a:lstStyle/>
          <a:p>
            <a:r>
              <a:rPr lang="ja-JP" altLang="en-US" sz="1400" b="1" dirty="0"/>
              <a:t>あてはまらない</a:t>
            </a:r>
            <a:endParaRPr lang="ja-JP" altLang="en-US" sz="1400" dirty="0"/>
          </a:p>
        </p:txBody>
      </p:sp>
      <p:pic>
        <p:nvPicPr>
          <p:cNvPr id="5" name="グラフィックス 4">
            <a:extLst>
              <a:ext uri="{FF2B5EF4-FFF2-40B4-BE49-F238E27FC236}">
                <a16:creationId xmlns:a16="http://schemas.microsoft.com/office/drawing/2014/main" id="{5E74A313-89B0-8E0E-4C46-8D62452732C4}"/>
              </a:ext>
            </a:extLst>
          </p:cNvPr>
          <p:cNvPicPr>
            <a:picLocks noChangeAspect="1"/>
          </p:cNvPicPr>
          <p:nvPr/>
        </p:nvPicPr>
        <p:blipFill>
          <a:blip r:embed="rId3">
            <a:extLst>
              <a:ext uri="{96DAC541-7B7A-43D3-8B79-37D633B846F1}">
                <asvg:svgBlip xmlns:asvg="http://schemas.microsoft.com/office/drawing/2016/SVG/main" r:embed="rId4"/>
              </a:ext>
            </a:extLst>
          </a:blip>
          <a:srcRect l="4598" t="2763" r="1609" b="2691"/>
          <a:stretch>
            <a:fillRect/>
          </a:stretch>
        </p:blipFill>
        <p:spPr>
          <a:xfrm>
            <a:off x="5134896" y="2811693"/>
            <a:ext cx="2988000" cy="1775156"/>
          </a:xfrm>
          <a:prstGeom prst="rect">
            <a:avLst/>
          </a:prstGeom>
        </p:spPr>
      </p:pic>
      <p:sp>
        <p:nvSpPr>
          <p:cNvPr id="20" name="矢印: 右 19">
            <a:extLst>
              <a:ext uri="{FF2B5EF4-FFF2-40B4-BE49-F238E27FC236}">
                <a16:creationId xmlns:a16="http://schemas.microsoft.com/office/drawing/2014/main" id="{94804E4F-830B-2A1A-7887-6736BAF91A29}"/>
              </a:ext>
            </a:extLst>
          </p:cNvPr>
          <p:cNvSpPr/>
          <p:nvPr/>
        </p:nvSpPr>
        <p:spPr>
          <a:xfrm rot="16200000">
            <a:off x="8228831" y="2712616"/>
            <a:ext cx="369329" cy="4270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21" name="矢印: 右 20">
            <a:extLst>
              <a:ext uri="{FF2B5EF4-FFF2-40B4-BE49-F238E27FC236}">
                <a16:creationId xmlns:a16="http://schemas.microsoft.com/office/drawing/2014/main" id="{4AB5D3EA-3DB0-4037-B99E-3E5144CA082F}"/>
              </a:ext>
            </a:extLst>
          </p:cNvPr>
          <p:cNvSpPr/>
          <p:nvPr/>
        </p:nvSpPr>
        <p:spPr>
          <a:xfrm rot="5400000">
            <a:off x="8228830" y="4188654"/>
            <a:ext cx="369329" cy="4270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10" name="四角形: 角を丸くする 9">
            <a:extLst>
              <a:ext uri="{FF2B5EF4-FFF2-40B4-BE49-F238E27FC236}">
                <a16:creationId xmlns:a16="http://schemas.microsoft.com/office/drawing/2014/main" id="{9914A7DE-B64C-4AF2-BBC8-A731F0B934B5}"/>
              </a:ext>
            </a:extLst>
          </p:cNvPr>
          <p:cNvSpPr/>
          <p:nvPr/>
        </p:nvSpPr>
        <p:spPr>
          <a:xfrm>
            <a:off x="783431" y="5445952"/>
            <a:ext cx="7560000" cy="1258784"/>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1541BDB4-4326-A4C8-5C34-704B1DFD21C7}"/>
              </a:ext>
            </a:extLst>
          </p:cNvPr>
          <p:cNvSpPr txBox="1"/>
          <p:nvPr/>
        </p:nvSpPr>
        <p:spPr>
          <a:xfrm>
            <a:off x="742728" y="5616660"/>
            <a:ext cx="7684399" cy="954107"/>
          </a:xfrm>
          <a:prstGeom prst="rect">
            <a:avLst/>
          </a:prstGeom>
          <a:noFill/>
        </p:spPr>
        <p:txBody>
          <a:bodyPr wrap="square">
            <a:spAutoFit/>
          </a:bodyPr>
          <a:lstStyle/>
          <a:p>
            <a:r>
              <a:rPr lang="ja-JP" altLang="en-US" sz="2800" b="1" dirty="0"/>
              <a:t>名前という</a:t>
            </a:r>
            <a:r>
              <a:rPr lang="ja-JP" altLang="en-US" sz="2800" b="1" dirty="0">
                <a:solidFill>
                  <a:srgbClr val="C00000"/>
                </a:solidFill>
              </a:rPr>
              <a:t>ラベルだけで対象を判断</a:t>
            </a:r>
            <a:r>
              <a:rPr lang="ja-JP" altLang="en-US" sz="2800" b="1" dirty="0"/>
              <a:t>し</a:t>
            </a:r>
            <a:endParaRPr lang="en-US" altLang="ja-JP" sz="2800" b="1" dirty="0"/>
          </a:p>
          <a:p>
            <a:r>
              <a:rPr lang="ja-JP" altLang="en-US" sz="2800" b="1" dirty="0"/>
              <a:t>やりとりへ注意を払う必要性が低下する可能性</a:t>
            </a:r>
            <a:endParaRPr lang="ja-JP" altLang="en-US" b="1" dirty="0"/>
          </a:p>
        </p:txBody>
      </p:sp>
      <p:sp>
        <p:nvSpPr>
          <p:cNvPr id="22" name="テキスト ボックス 21">
            <a:extLst>
              <a:ext uri="{FF2B5EF4-FFF2-40B4-BE49-F238E27FC236}">
                <a16:creationId xmlns:a16="http://schemas.microsoft.com/office/drawing/2014/main" id="{48E88FFB-E154-2D6F-0DED-C8B02D3A19A7}"/>
              </a:ext>
            </a:extLst>
          </p:cNvPr>
          <p:cNvSpPr txBox="1"/>
          <p:nvPr/>
        </p:nvSpPr>
        <p:spPr>
          <a:xfrm>
            <a:off x="4789888" y="4379752"/>
            <a:ext cx="499309" cy="338554"/>
          </a:xfrm>
          <a:prstGeom prst="rect">
            <a:avLst/>
          </a:prstGeom>
          <a:noFill/>
        </p:spPr>
        <p:txBody>
          <a:bodyPr wrap="square">
            <a:spAutoFit/>
          </a:bodyPr>
          <a:lstStyle/>
          <a:p>
            <a:r>
              <a:rPr lang="en-US" altLang="ja-JP" sz="1600" b="1" dirty="0">
                <a:latin typeface="+mn-ea"/>
              </a:rPr>
              <a:t>3.0</a:t>
            </a:r>
            <a:endParaRPr lang="ja-JP" altLang="en-US" sz="1600" b="1" dirty="0">
              <a:latin typeface="+mn-ea"/>
            </a:endParaRPr>
          </a:p>
        </p:txBody>
      </p:sp>
      <p:sp>
        <p:nvSpPr>
          <p:cNvPr id="23" name="テキスト ボックス 22">
            <a:extLst>
              <a:ext uri="{FF2B5EF4-FFF2-40B4-BE49-F238E27FC236}">
                <a16:creationId xmlns:a16="http://schemas.microsoft.com/office/drawing/2014/main" id="{A1159BAE-5205-504B-E9D6-D7D10979CA1B}"/>
              </a:ext>
            </a:extLst>
          </p:cNvPr>
          <p:cNvSpPr txBox="1"/>
          <p:nvPr/>
        </p:nvSpPr>
        <p:spPr>
          <a:xfrm>
            <a:off x="4790769" y="3973004"/>
            <a:ext cx="499309" cy="338554"/>
          </a:xfrm>
          <a:prstGeom prst="rect">
            <a:avLst/>
          </a:prstGeom>
          <a:noFill/>
        </p:spPr>
        <p:txBody>
          <a:bodyPr wrap="square">
            <a:spAutoFit/>
          </a:bodyPr>
          <a:lstStyle/>
          <a:p>
            <a:r>
              <a:rPr lang="en-US" altLang="ja-JP" sz="1600" b="1" dirty="0">
                <a:latin typeface="+mn-ea"/>
              </a:rPr>
              <a:t>4.0</a:t>
            </a:r>
            <a:endParaRPr lang="ja-JP" altLang="en-US" sz="1600" b="1" dirty="0">
              <a:latin typeface="+mn-ea"/>
            </a:endParaRPr>
          </a:p>
        </p:txBody>
      </p:sp>
      <p:sp>
        <p:nvSpPr>
          <p:cNvPr id="26" name="テキスト ボックス 25">
            <a:extLst>
              <a:ext uri="{FF2B5EF4-FFF2-40B4-BE49-F238E27FC236}">
                <a16:creationId xmlns:a16="http://schemas.microsoft.com/office/drawing/2014/main" id="{96B9256D-E7BC-8675-9264-F68F74EBD65B}"/>
              </a:ext>
            </a:extLst>
          </p:cNvPr>
          <p:cNvSpPr txBox="1"/>
          <p:nvPr/>
        </p:nvSpPr>
        <p:spPr>
          <a:xfrm>
            <a:off x="4790770" y="3559340"/>
            <a:ext cx="499309" cy="338554"/>
          </a:xfrm>
          <a:prstGeom prst="rect">
            <a:avLst/>
          </a:prstGeom>
          <a:noFill/>
        </p:spPr>
        <p:txBody>
          <a:bodyPr wrap="square">
            <a:spAutoFit/>
          </a:bodyPr>
          <a:lstStyle/>
          <a:p>
            <a:r>
              <a:rPr lang="en-US" altLang="ja-JP" sz="1600" b="1" dirty="0">
                <a:latin typeface="+mn-ea"/>
              </a:rPr>
              <a:t>5.0</a:t>
            </a:r>
            <a:endParaRPr lang="ja-JP" altLang="en-US" sz="1600" b="1" dirty="0">
              <a:latin typeface="+mn-ea"/>
            </a:endParaRPr>
          </a:p>
        </p:txBody>
      </p:sp>
      <p:sp>
        <p:nvSpPr>
          <p:cNvPr id="27" name="テキスト ボックス 26">
            <a:extLst>
              <a:ext uri="{FF2B5EF4-FFF2-40B4-BE49-F238E27FC236}">
                <a16:creationId xmlns:a16="http://schemas.microsoft.com/office/drawing/2014/main" id="{84C22544-2F98-B7B0-703A-2C170EC3D0A7}"/>
              </a:ext>
            </a:extLst>
          </p:cNvPr>
          <p:cNvSpPr txBox="1"/>
          <p:nvPr/>
        </p:nvSpPr>
        <p:spPr>
          <a:xfrm>
            <a:off x="4790770" y="3142711"/>
            <a:ext cx="499309" cy="338554"/>
          </a:xfrm>
          <a:prstGeom prst="rect">
            <a:avLst/>
          </a:prstGeom>
          <a:noFill/>
        </p:spPr>
        <p:txBody>
          <a:bodyPr wrap="square">
            <a:spAutoFit/>
          </a:bodyPr>
          <a:lstStyle/>
          <a:p>
            <a:r>
              <a:rPr lang="en-US" altLang="ja-JP" sz="1600" b="1" dirty="0">
                <a:latin typeface="+mn-ea"/>
              </a:rPr>
              <a:t>6.0</a:t>
            </a:r>
            <a:endParaRPr lang="ja-JP" altLang="en-US" sz="1600" b="1" dirty="0">
              <a:latin typeface="+mn-ea"/>
            </a:endParaRPr>
          </a:p>
        </p:txBody>
      </p:sp>
      <p:sp>
        <p:nvSpPr>
          <p:cNvPr id="28" name="テキスト ボックス 27">
            <a:extLst>
              <a:ext uri="{FF2B5EF4-FFF2-40B4-BE49-F238E27FC236}">
                <a16:creationId xmlns:a16="http://schemas.microsoft.com/office/drawing/2014/main" id="{00EB00E5-0A19-5C30-9F1F-69EB6E06F93D}"/>
              </a:ext>
            </a:extLst>
          </p:cNvPr>
          <p:cNvSpPr txBox="1"/>
          <p:nvPr/>
        </p:nvSpPr>
        <p:spPr>
          <a:xfrm>
            <a:off x="4790771" y="2726035"/>
            <a:ext cx="499309" cy="338554"/>
          </a:xfrm>
          <a:prstGeom prst="rect">
            <a:avLst/>
          </a:prstGeom>
          <a:noFill/>
        </p:spPr>
        <p:txBody>
          <a:bodyPr wrap="square">
            <a:spAutoFit/>
          </a:bodyPr>
          <a:lstStyle/>
          <a:p>
            <a:r>
              <a:rPr lang="en-US" altLang="ja-JP" sz="1600" b="1" dirty="0">
                <a:latin typeface="+mn-ea"/>
              </a:rPr>
              <a:t>7.0</a:t>
            </a:r>
            <a:endParaRPr lang="ja-JP" altLang="en-US" sz="1600" b="1" dirty="0">
              <a:latin typeface="+mn-ea"/>
            </a:endParaRPr>
          </a:p>
        </p:txBody>
      </p:sp>
      <p:sp>
        <p:nvSpPr>
          <p:cNvPr id="12" name="テキスト ボックス 11">
            <a:extLst>
              <a:ext uri="{FF2B5EF4-FFF2-40B4-BE49-F238E27FC236}">
                <a16:creationId xmlns:a16="http://schemas.microsoft.com/office/drawing/2014/main" id="{ACCF8DD1-D355-BB60-9B85-B509981FC8A9}"/>
              </a:ext>
            </a:extLst>
          </p:cNvPr>
          <p:cNvSpPr txBox="1"/>
          <p:nvPr/>
        </p:nvSpPr>
        <p:spPr>
          <a:xfrm>
            <a:off x="5598899" y="4510506"/>
            <a:ext cx="566737" cy="307777"/>
          </a:xfrm>
          <a:prstGeom prst="rect">
            <a:avLst/>
          </a:prstGeom>
          <a:noFill/>
        </p:spPr>
        <p:txBody>
          <a:bodyPr wrap="square">
            <a:spAutoFit/>
          </a:bodyPr>
          <a:lstStyle/>
          <a:p>
            <a:r>
              <a:rPr lang="ja-JP" altLang="en-US" sz="1400" b="1" dirty="0"/>
              <a:t>あり</a:t>
            </a:r>
            <a:endParaRPr lang="ja-JP" altLang="en-US" sz="1400" dirty="0"/>
          </a:p>
        </p:txBody>
      </p:sp>
      <p:sp>
        <p:nvSpPr>
          <p:cNvPr id="17" name="テキスト ボックス 16">
            <a:extLst>
              <a:ext uri="{FF2B5EF4-FFF2-40B4-BE49-F238E27FC236}">
                <a16:creationId xmlns:a16="http://schemas.microsoft.com/office/drawing/2014/main" id="{947814DC-9132-8CD1-F531-7C39634ADB54}"/>
              </a:ext>
            </a:extLst>
          </p:cNvPr>
          <p:cNvSpPr txBox="1"/>
          <p:nvPr/>
        </p:nvSpPr>
        <p:spPr>
          <a:xfrm>
            <a:off x="7113495" y="4510507"/>
            <a:ext cx="566737" cy="307776"/>
          </a:xfrm>
          <a:prstGeom prst="rect">
            <a:avLst/>
          </a:prstGeom>
          <a:noFill/>
        </p:spPr>
        <p:txBody>
          <a:bodyPr wrap="square">
            <a:spAutoFit/>
          </a:bodyPr>
          <a:lstStyle/>
          <a:p>
            <a:r>
              <a:rPr lang="ja-JP" altLang="en-US" sz="1400" b="1" dirty="0"/>
              <a:t>なし</a:t>
            </a:r>
            <a:endParaRPr lang="ja-JP" altLang="en-US" sz="1400" dirty="0"/>
          </a:p>
        </p:txBody>
      </p:sp>
      <p:sp>
        <p:nvSpPr>
          <p:cNvPr id="31" name="テキスト ボックス 30">
            <a:extLst>
              <a:ext uri="{FF2B5EF4-FFF2-40B4-BE49-F238E27FC236}">
                <a16:creationId xmlns:a16="http://schemas.microsoft.com/office/drawing/2014/main" id="{2EB32C7F-6A8F-A6F3-A418-4C2A878DDCAA}"/>
              </a:ext>
            </a:extLst>
          </p:cNvPr>
          <p:cNvSpPr txBox="1"/>
          <p:nvPr/>
        </p:nvSpPr>
        <p:spPr>
          <a:xfrm>
            <a:off x="313262" y="4954741"/>
            <a:ext cx="8830737" cy="646331"/>
          </a:xfrm>
          <a:prstGeom prst="rect">
            <a:avLst/>
          </a:prstGeom>
          <a:noFill/>
        </p:spPr>
        <p:txBody>
          <a:bodyPr wrap="square">
            <a:spAutoFit/>
          </a:bodyPr>
          <a:lstStyle/>
          <a:p>
            <a:r>
              <a:rPr lang="en-US" altLang="ja-JP" b="1" dirty="0">
                <a:sym typeface="Wingdings" panose="05000000000000000000" pitchFamily="2" charset="2"/>
              </a:rPr>
              <a:t></a:t>
            </a:r>
            <a:r>
              <a:rPr lang="ja-JP" altLang="en-US" b="1" dirty="0"/>
              <a:t>ラベル化が本来の視覚的な記憶を上書きし認識能力が低下</a:t>
            </a:r>
            <a:r>
              <a:rPr lang="en-US" altLang="ja-JP" b="1" dirty="0">
                <a:latin typeface="+mn-ea"/>
              </a:rPr>
              <a:t>[Schooler</a:t>
            </a:r>
            <a:r>
              <a:rPr lang="ja-JP" altLang="en-US" b="1" dirty="0">
                <a:latin typeface="+mn-ea"/>
              </a:rPr>
              <a:t>ら </a:t>
            </a:r>
            <a:r>
              <a:rPr lang="en-US" altLang="ja-JP" b="1" dirty="0">
                <a:latin typeface="+mn-ea"/>
              </a:rPr>
              <a:t>1990]</a:t>
            </a:r>
          </a:p>
          <a:p>
            <a:endParaRPr lang="ja-JP" altLang="en-US" b="1" dirty="0"/>
          </a:p>
        </p:txBody>
      </p:sp>
      <p:sp>
        <p:nvSpPr>
          <p:cNvPr id="32" name="テキスト ボックス 31">
            <a:extLst>
              <a:ext uri="{FF2B5EF4-FFF2-40B4-BE49-F238E27FC236}">
                <a16:creationId xmlns:a16="http://schemas.microsoft.com/office/drawing/2014/main" id="{B32CAD02-CE2F-40F2-3BC4-C2C2F3488C97}"/>
              </a:ext>
            </a:extLst>
          </p:cNvPr>
          <p:cNvSpPr txBox="1"/>
          <p:nvPr/>
        </p:nvSpPr>
        <p:spPr>
          <a:xfrm>
            <a:off x="1075765" y="5233047"/>
            <a:ext cx="851647" cy="461665"/>
          </a:xfrm>
          <a:prstGeom prst="rect">
            <a:avLst/>
          </a:prstGeom>
          <a:solidFill>
            <a:schemeClr val="bg1"/>
          </a:solidFill>
        </p:spPr>
        <p:txBody>
          <a:bodyPr wrap="square">
            <a:spAutoFit/>
          </a:bodyPr>
          <a:lstStyle/>
          <a:p>
            <a:r>
              <a:rPr lang="ja-JP" altLang="en-US" sz="2400" b="1" dirty="0">
                <a:solidFill>
                  <a:schemeClr val="accent1"/>
                </a:solidFill>
              </a:rPr>
              <a:t>考察</a:t>
            </a:r>
          </a:p>
        </p:txBody>
      </p:sp>
    </p:spTree>
    <p:extLst>
      <p:ext uri="{BB962C8B-B14F-4D97-AF65-F5344CB8AC3E}">
        <p14:creationId xmlns:p14="http://schemas.microsoft.com/office/powerpoint/2010/main" val="26247178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E465C86-6347-1CFA-788F-D1B3B3C63545}"/>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2EE9159-4A34-02D0-C004-107860D0B6FB}"/>
              </a:ext>
            </a:extLst>
          </p:cNvPr>
          <p:cNvSpPr>
            <a:spLocks noGrp="1"/>
          </p:cNvSpPr>
          <p:nvPr>
            <p:ph type="sldNum" sz="quarter" idx="12"/>
          </p:nvPr>
        </p:nvSpPr>
        <p:spPr/>
        <p:txBody>
          <a:bodyPr/>
          <a:lstStyle/>
          <a:p>
            <a:fld id="{18020408-E1FF-429E-A8D5-EB2A190A0D77}" type="slidenum">
              <a:rPr kumimoji="1" lang="ja-JP" altLang="en-US" smtClean="0"/>
              <a:pPr/>
              <a:t>52</a:t>
            </a:fld>
            <a:endParaRPr kumimoji="1" lang="ja-JP" altLang="en-US" sz="2400" dirty="0"/>
          </a:p>
        </p:txBody>
      </p:sp>
      <p:sp>
        <p:nvSpPr>
          <p:cNvPr id="3" name="タイトル 2">
            <a:extLst>
              <a:ext uri="{FF2B5EF4-FFF2-40B4-BE49-F238E27FC236}">
                <a16:creationId xmlns:a16="http://schemas.microsoft.com/office/drawing/2014/main" id="{F44D16B0-B846-75FE-9AAC-43B806650E8C}"/>
              </a:ext>
            </a:extLst>
          </p:cNvPr>
          <p:cNvSpPr>
            <a:spLocks noGrp="1"/>
          </p:cNvSpPr>
          <p:nvPr>
            <p:ph type="title"/>
          </p:nvPr>
        </p:nvSpPr>
        <p:spPr/>
        <p:txBody>
          <a:bodyPr/>
          <a:lstStyle/>
          <a:p>
            <a:r>
              <a:rPr lang="ja-JP" altLang="en-US" sz="3600" dirty="0"/>
              <a:t>結果・考察：</a:t>
            </a:r>
            <a:r>
              <a:rPr lang="en-US" altLang="ja-JP" sz="3600" dirty="0"/>
              <a:t>LLM</a:t>
            </a:r>
            <a:r>
              <a:rPr lang="ja-JP" altLang="en-US" sz="3600" dirty="0"/>
              <a:t>への感情の知覚</a:t>
            </a:r>
            <a:endParaRPr kumimoji="1" lang="ja-JP" altLang="en-US" sz="3600" dirty="0"/>
          </a:p>
        </p:txBody>
      </p:sp>
      <p:sp>
        <p:nvSpPr>
          <p:cNvPr id="7" name="テキスト ボックス 6">
            <a:extLst>
              <a:ext uri="{FF2B5EF4-FFF2-40B4-BE49-F238E27FC236}">
                <a16:creationId xmlns:a16="http://schemas.microsoft.com/office/drawing/2014/main" id="{DC69A599-1CB2-86CF-85DB-6B4097A23820}"/>
              </a:ext>
            </a:extLst>
          </p:cNvPr>
          <p:cNvSpPr txBox="1"/>
          <p:nvPr/>
        </p:nvSpPr>
        <p:spPr>
          <a:xfrm>
            <a:off x="313263" y="2843090"/>
            <a:ext cx="5698069" cy="646331"/>
          </a:xfrm>
          <a:prstGeom prst="rect">
            <a:avLst/>
          </a:prstGeom>
          <a:noFill/>
        </p:spPr>
        <p:txBody>
          <a:bodyPr wrap="square">
            <a:spAutoFit/>
          </a:bodyPr>
          <a:lstStyle/>
          <a:p>
            <a:r>
              <a:rPr lang="ja-JP" altLang="en-US" b="1" dirty="0"/>
              <a:t>人格固定水準における</a:t>
            </a:r>
            <a:endParaRPr lang="en-US" altLang="ja-JP" b="1" dirty="0"/>
          </a:p>
          <a:p>
            <a:r>
              <a:rPr lang="ja-JP" altLang="en-US" b="1" dirty="0"/>
              <a:t>名乗り要因での平均値と標準偏差</a:t>
            </a:r>
          </a:p>
        </p:txBody>
      </p:sp>
      <p:sp>
        <p:nvSpPr>
          <p:cNvPr id="9" name="Rectangle 1">
            <a:extLst>
              <a:ext uri="{FF2B5EF4-FFF2-40B4-BE49-F238E27FC236}">
                <a16:creationId xmlns:a16="http://schemas.microsoft.com/office/drawing/2014/main" id="{88CB0E24-5940-4302-8E53-5AF5E506690F}"/>
              </a:ext>
            </a:extLst>
          </p:cNvPr>
          <p:cNvSpPr>
            <a:spLocks noChangeArrowheads="1"/>
          </p:cNvSpPr>
          <p:nvPr/>
        </p:nvSpPr>
        <p:spPr bwMode="auto">
          <a:xfrm>
            <a:off x="2362200" y="250391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3" name="テキスト ボックス 12">
            <a:extLst>
              <a:ext uri="{FF2B5EF4-FFF2-40B4-BE49-F238E27FC236}">
                <a16:creationId xmlns:a16="http://schemas.microsoft.com/office/drawing/2014/main" id="{0425D913-BEBD-E4C9-CF14-F468338B2707}"/>
              </a:ext>
            </a:extLst>
          </p:cNvPr>
          <p:cNvSpPr txBox="1"/>
          <p:nvPr/>
        </p:nvSpPr>
        <p:spPr>
          <a:xfrm>
            <a:off x="313263" y="1247017"/>
            <a:ext cx="6680203" cy="646331"/>
          </a:xfrm>
          <a:prstGeom prst="rect">
            <a:avLst/>
          </a:prstGeom>
          <a:noFill/>
        </p:spPr>
        <p:txBody>
          <a:bodyPr wrap="square">
            <a:spAutoFit/>
          </a:bodyPr>
          <a:lstStyle/>
          <a:p>
            <a:r>
              <a:rPr lang="ja-JP" altLang="en-US" b="1" dirty="0">
                <a:latin typeface="+mn-ea"/>
              </a:rPr>
              <a:t>「</a:t>
            </a:r>
            <a:r>
              <a:rPr lang="en-US" altLang="ja-JP" b="1" dirty="0">
                <a:latin typeface="+mn-ea"/>
              </a:rPr>
              <a:t>Q19</a:t>
            </a:r>
            <a:r>
              <a:rPr lang="ja-JP" altLang="en-US" b="1" dirty="0">
                <a:latin typeface="+mn-ea"/>
              </a:rPr>
              <a:t>．</a:t>
            </a:r>
            <a:r>
              <a:rPr kumimoji="1" lang="en-US" altLang="ja-JP" b="1" dirty="0">
                <a:latin typeface="游ゴシック" panose="020B0400000000000000" pitchFamily="50" charset="-128"/>
              </a:rPr>
              <a:t> AI</a:t>
            </a:r>
            <a:r>
              <a:rPr kumimoji="1" lang="ja-JP" altLang="en-US" b="1" dirty="0">
                <a:latin typeface="游ゴシック" panose="020B0400000000000000" pitchFamily="50" charset="-128"/>
              </a:rPr>
              <a:t>には感情がある」について</a:t>
            </a:r>
            <a:endParaRPr kumimoji="1" lang="en-US" altLang="ja-JP" b="1" dirty="0">
              <a:latin typeface="游ゴシック" panose="020B0400000000000000" pitchFamily="50" charset="-128"/>
            </a:endParaRPr>
          </a:p>
          <a:p>
            <a:r>
              <a:rPr kumimoji="1" lang="en-US" altLang="ja-JP" b="1" dirty="0">
                <a:latin typeface="游ゴシック" panose="020B0400000000000000" pitchFamily="50" charset="-128"/>
                <a:sym typeface="Wingdings" panose="05000000000000000000" pitchFamily="2" charset="2"/>
              </a:rPr>
              <a:t></a:t>
            </a:r>
            <a:r>
              <a:rPr kumimoji="1" lang="ja-JP" altLang="en-US" b="1" dirty="0">
                <a:solidFill>
                  <a:srgbClr val="C00000"/>
                </a:solidFill>
                <a:latin typeface="游ゴシック" panose="020B0400000000000000" pitchFamily="50" charset="-128"/>
                <a:sym typeface="Wingdings" panose="05000000000000000000" pitchFamily="2" charset="2"/>
              </a:rPr>
              <a:t>交互作用が有意</a:t>
            </a:r>
            <a:endParaRPr kumimoji="1" lang="en-US" altLang="ja-JP" b="1" dirty="0">
              <a:solidFill>
                <a:srgbClr val="C00000"/>
              </a:solidFill>
              <a:latin typeface="游ゴシック" panose="020B0400000000000000" pitchFamily="50" charset="-128"/>
            </a:endParaRPr>
          </a:p>
        </p:txBody>
      </p:sp>
      <p:graphicFrame>
        <p:nvGraphicFramePr>
          <p:cNvPr id="14" name="表 13">
            <a:extLst>
              <a:ext uri="{FF2B5EF4-FFF2-40B4-BE49-F238E27FC236}">
                <a16:creationId xmlns:a16="http://schemas.microsoft.com/office/drawing/2014/main" id="{075CC417-6CFE-3290-E8E5-96146ECD790F}"/>
              </a:ext>
            </a:extLst>
          </p:cNvPr>
          <p:cNvGraphicFramePr>
            <a:graphicFrameLocks noGrp="1"/>
          </p:cNvGraphicFramePr>
          <p:nvPr/>
        </p:nvGraphicFramePr>
        <p:xfrm>
          <a:off x="436033" y="1980780"/>
          <a:ext cx="5698069" cy="731520"/>
        </p:xfrm>
        <a:graphic>
          <a:graphicData uri="http://schemas.openxmlformats.org/drawingml/2006/table">
            <a:tbl>
              <a:tblPr firstRow="1" bandRow="1">
                <a:tableStyleId>{9D7B26C5-4107-4FEC-AEDC-1716B250A1EF}</a:tableStyleId>
              </a:tblPr>
              <a:tblGrid>
                <a:gridCol w="1905554">
                  <a:extLst>
                    <a:ext uri="{9D8B030D-6E8A-4147-A177-3AD203B41FA5}">
                      <a16:colId xmlns:a16="http://schemas.microsoft.com/office/drawing/2014/main" val="2253055787"/>
                    </a:ext>
                  </a:extLst>
                </a:gridCol>
                <a:gridCol w="943481">
                  <a:extLst>
                    <a:ext uri="{9D8B030D-6E8A-4147-A177-3AD203B41FA5}">
                      <a16:colId xmlns:a16="http://schemas.microsoft.com/office/drawing/2014/main" val="4189014961"/>
                    </a:ext>
                  </a:extLst>
                </a:gridCol>
                <a:gridCol w="1424517">
                  <a:extLst>
                    <a:ext uri="{9D8B030D-6E8A-4147-A177-3AD203B41FA5}">
                      <a16:colId xmlns:a16="http://schemas.microsoft.com/office/drawing/2014/main" val="3674438810"/>
                    </a:ext>
                  </a:extLst>
                </a:gridCol>
                <a:gridCol w="1424517">
                  <a:extLst>
                    <a:ext uri="{9D8B030D-6E8A-4147-A177-3AD203B41FA5}">
                      <a16:colId xmlns:a16="http://schemas.microsoft.com/office/drawing/2014/main" val="678252903"/>
                    </a:ext>
                  </a:extLst>
                </a:gridCol>
              </a:tblGrid>
              <a:tr h="299852">
                <a:tc>
                  <a:txBody>
                    <a:bodyPr/>
                    <a:lstStyle/>
                    <a:p>
                      <a:endParaRPr kumimoji="1" lang="ja-JP" altLang="en-US" sz="1800" dirty="0"/>
                    </a:p>
                  </a:txBody>
                  <a:tcPr>
                    <a:noFill/>
                  </a:tcPr>
                </a:tc>
                <a:tc>
                  <a:txBody>
                    <a:bodyPr/>
                    <a:lstStyle/>
                    <a:p>
                      <a:pPr algn="r" fontAlgn="base">
                        <a:lnSpc>
                          <a:spcPts val="1350"/>
                        </a:lnSpc>
                        <a:buNone/>
                      </a:pPr>
                      <a:r>
                        <a:rPr lang="en-US" sz="1800" b="1" i="0" dirty="0" err="1">
                          <a:solidFill>
                            <a:srgbClr val="000000"/>
                          </a:solidFill>
                          <a:effectLst/>
                          <a:latin typeface="游ゴシック" panose="020B0400000000000000" pitchFamily="50" charset="-128"/>
                        </a:rPr>
                        <a:t>df</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rPr>
                        <a:t>F</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rPr>
                        <a:t>p</a:t>
                      </a:r>
                      <a:r>
                        <a:rPr lang="en-US" altLang="ja-JP" sz="1800" b="1" i="0" dirty="0">
                          <a:solidFill>
                            <a:srgbClr val="FFFFFF"/>
                          </a:solidFill>
                          <a:effectLst/>
                          <a:ea typeface="游ゴシック" panose="020B0400000000000000" pitchFamily="50" charset="-128"/>
                        </a:rPr>
                        <a:t>​</a:t>
                      </a:r>
                      <a:endParaRPr lang="en-US" altLang="ja-JP" sz="1800" b="1" i="0" dirty="0">
                        <a:solidFill>
                          <a:srgbClr val="FFFFFF"/>
                        </a:solidFill>
                        <a:effectLst/>
                      </a:endParaRPr>
                    </a:p>
                  </a:txBody>
                  <a:tcPr anchor="ctr">
                    <a:noFill/>
                  </a:tcPr>
                </a:tc>
                <a:extLst>
                  <a:ext uri="{0D108BD9-81ED-4DB2-BD59-A6C34878D82A}">
                    <a16:rowId xmlns:a16="http://schemas.microsoft.com/office/drawing/2014/main" val="2809685238"/>
                  </a:ext>
                </a:extLst>
              </a:tr>
              <a:tr h="284612">
                <a:tc>
                  <a:txBody>
                    <a:bodyPr/>
                    <a:lstStyle/>
                    <a:p>
                      <a:r>
                        <a:rPr kumimoji="1" lang="ja-JP" altLang="en-US" sz="1800" b="1" i="0" dirty="0">
                          <a:solidFill>
                            <a:srgbClr val="000000"/>
                          </a:solidFill>
                          <a:effectLst/>
                          <a:latin typeface="游ゴシック" panose="020B0400000000000000" pitchFamily="50" charset="-128"/>
                          <a:ea typeface="+mn-ea"/>
                        </a:rPr>
                        <a:t>名乗り</a:t>
                      </a:r>
                      <a:r>
                        <a:rPr kumimoji="1" lang="en-US" altLang="ja-JP" sz="1800" b="1" i="0" dirty="0">
                          <a:solidFill>
                            <a:srgbClr val="000000"/>
                          </a:solidFill>
                          <a:effectLst/>
                          <a:latin typeface="游ゴシック" panose="020B0400000000000000" pitchFamily="50" charset="-128"/>
                          <a:ea typeface="+mn-ea"/>
                        </a:rPr>
                        <a:t>*</a:t>
                      </a:r>
                      <a:r>
                        <a:rPr kumimoji="1" lang="ja-JP" altLang="en-US" sz="1800" b="1" i="0" dirty="0">
                          <a:solidFill>
                            <a:srgbClr val="000000"/>
                          </a:solidFill>
                          <a:effectLst/>
                          <a:latin typeface="游ゴシック" panose="020B0400000000000000" pitchFamily="50" charset="-128"/>
                          <a:ea typeface="+mn-ea"/>
                        </a:rPr>
                        <a:t>人格設定</a:t>
                      </a:r>
                      <a:endParaRPr kumimoji="1" lang="ja-JP" altLang="en-US" sz="1800" dirty="0"/>
                    </a:p>
                  </a:txBody>
                  <a:tcP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ea typeface="游ゴシック" panose="020B0400000000000000" pitchFamily="50" charset="-128"/>
                        </a:rPr>
                        <a:t>1</a:t>
                      </a:r>
                      <a:endParaRPr lang="en-US" altLang="ja-JP" sz="1800" b="1" i="0" dirty="0">
                        <a:solidFill>
                          <a:srgbClr val="000000"/>
                        </a:solidFill>
                        <a:effectLst/>
                      </a:endParaRPr>
                    </a:p>
                  </a:txBody>
                  <a:tcPr anchor="ctr">
                    <a:noFill/>
                  </a:tcPr>
                </a:tc>
                <a:tc>
                  <a:txBody>
                    <a:bodyPr/>
                    <a:lstStyle/>
                    <a:p>
                      <a:pPr algn="r" fontAlgn="base">
                        <a:lnSpc>
                          <a:spcPts val="1350"/>
                        </a:lnSpc>
                        <a:buNone/>
                      </a:pPr>
                      <a:r>
                        <a:rPr lang="en-US" sz="1800" b="1" i="0" dirty="0">
                          <a:solidFill>
                            <a:srgbClr val="000000"/>
                          </a:solidFill>
                          <a:effectLst/>
                          <a:latin typeface="游ゴシック" panose="020B0400000000000000" pitchFamily="50" charset="-128"/>
                        </a:rPr>
                        <a:t>5.66​</a:t>
                      </a:r>
                      <a:endParaRPr lang="en-US" sz="1800" b="1" i="0" dirty="0">
                        <a:solidFill>
                          <a:srgbClr val="000000"/>
                        </a:solidFill>
                        <a:effectLst/>
                      </a:endParaRPr>
                    </a:p>
                  </a:txBody>
                  <a:tcPr anchor="ctr">
                    <a:noFill/>
                  </a:tcPr>
                </a:tc>
                <a:tc>
                  <a:txBody>
                    <a:bodyPr/>
                    <a:lstStyle/>
                    <a:p>
                      <a:pPr algn="r" fontAlgn="base">
                        <a:lnSpc>
                          <a:spcPts val="1350"/>
                        </a:lnSpc>
                        <a:buNone/>
                      </a:pPr>
                      <a:r>
                        <a:rPr lang="en-US" sz="1800" b="1" i="0" dirty="0">
                          <a:solidFill>
                            <a:srgbClr val="C00000"/>
                          </a:solidFill>
                          <a:effectLst/>
                          <a:latin typeface="游ゴシック" panose="020B0400000000000000" pitchFamily="50" charset="-128"/>
                        </a:rPr>
                        <a:t>0.019</a:t>
                      </a:r>
                      <a:r>
                        <a:rPr lang="en-US" sz="1800" b="1" i="0" dirty="0">
                          <a:solidFill>
                            <a:srgbClr val="000000"/>
                          </a:solidFill>
                          <a:effectLst/>
                          <a:latin typeface="游ゴシック" panose="020B0400000000000000" pitchFamily="50" charset="-128"/>
                        </a:rPr>
                        <a:t>​</a:t>
                      </a:r>
                      <a:endParaRPr lang="en-US" sz="1800" b="1" i="0" dirty="0">
                        <a:solidFill>
                          <a:srgbClr val="000000"/>
                        </a:solidFill>
                        <a:effectLst/>
                      </a:endParaRPr>
                    </a:p>
                  </a:txBody>
                  <a:tcPr anchor="ctr">
                    <a:noFill/>
                  </a:tcPr>
                </a:tc>
                <a:extLst>
                  <a:ext uri="{0D108BD9-81ED-4DB2-BD59-A6C34878D82A}">
                    <a16:rowId xmlns:a16="http://schemas.microsoft.com/office/drawing/2014/main" val="2808757430"/>
                  </a:ext>
                </a:extLst>
              </a:tr>
            </a:tbl>
          </a:graphicData>
        </a:graphic>
      </p:graphicFrame>
      <p:graphicFrame>
        <p:nvGraphicFramePr>
          <p:cNvPr id="15" name="表 14">
            <a:extLst>
              <a:ext uri="{FF2B5EF4-FFF2-40B4-BE49-F238E27FC236}">
                <a16:creationId xmlns:a16="http://schemas.microsoft.com/office/drawing/2014/main" id="{E0DA7061-AA94-30A5-C355-EF98B110CD80}"/>
              </a:ext>
            </a:extLst>
          </p:cNvPr>
          <p:cNvGraphicFramePr>
            <a:graphicFrameLocks noGrp="1"/>
          </p:cNvGraphicFramePr>
          <p:nvPr/>
        </p:nvGraphicFramePr>
        <p:xfrm>
          <a:off x="436035" y="3537280"/>
          <a:ext cx="4004229" cy="1019918"/>
        </p:xfrm>
        <a:graphic>
          <a:graphicData uri="http://schemas.openxmlformats.org/drawingml/2006/table">
            <a:tbl>
              <a:tblPr firstRow="1" bandRow="1">
                <a:tableStyleId>{9D7B26C5-4107-4FEC-AEDC-1716B250A1EF}</a:tableStyleId>
              </a:tblPr>
              <a:tblGrid>
                <a:gridCol w="1442745">
                  <a:extLst>
                    <a:ext uri="{9D8B030D-6E8A-4147-A177-3AD203B41FA5}">
                      <a16:colId xmlns:a16="http://schemas.microsoft.com/office/drawing/2014/main" val="4143698353"/>
                    </a:ext>
                  </a:extLst>
                </a:gridCol>
                <a:gridCol w="1280742">
                  <a:extLst>
                    <a:ext uri="{9D8B030D-6E8A-4147-A177-3AD203B41FA5}">
                      <a16:colId xmlns:a16="http://schemas.microsoft.com/office/drawing/2014/main" val="2801815050"/>
                    </a:ext>
                  </a:extLst>
                </a:gridCol>
                <a:gridCol w="1280742">
                  <a:extLst>
                    <a:ext uri="{9D8B030D-6E8A-4147-A177-3AD203B41FA5}">
                      <a16:colId xmlns:a16="http://schemas.microsoft.com/office/drawing/2014/main" val="3674438810"/>
                    </a:ext>
                  </a:extLst>
                </a:gridCol>
              </a:tblGrid>
              <a:tr h="394870">
                <a:tc>
                  <a:txBody>
                    <a:bodyPr/>
                    <a:lstStyle/>
                    <a:p>
                      <a:pPr algn="l" fontAlgn="base">
                        <a:lnSpc>
                          <a:spcPts val="1350"/>
                        </a:lnSpc>
                        <a:buNone/>
                      </a:pPr>
                      <a:r>
                        <a:rPr lang="ja-JP" altLang="en-US" sz="1600" b="1" i="0" dirty="0">
                          <a:solidFill>
                            <a:srgbClr val="000000"/>
                          </a:solidFill>
                          <a:effectLst/>
                          <a:latin typeface="+mn-ea"/>
                          <a:ea typeface="+mn-ea"/>
                        </a:rPr>
                        <a:t>名乗り要因</a:t>
                      </a:r>
                      <a:r>
                        <a:rPr lang="ja-JP" altLang="en-US" sz="1600" b="1" i="0" dirty="0">
                          <a:solidFill>
                            <a:srgbClr val="FFFFFF"/>
                          </a:solidFill>
                          <a:effectLst/>
                          <a:latin typeface="+mn-ea"/>
                          <a:ea typeface="+mn-ea"/>
                        </a:rPr>
                        <a:t>​</a:t>
                      </a:r>
                    </a:p>
                  </a:txBody>
                  <a:tcPr anchor="ctr">
                    <a:noFill/>
                  </a:tcPr>
                </a:tc>
                <a:tc>
                  <a:txBody>
                    <a:bodyPr/>
                    <a:lstStyle/>
                    <a:p>
                      <a:pPr algn="r" fontAlgn="base">
                        <a:lnSpc>
                          <a:spcPts val="1350"/>
                        </a:lnSpc>
                        <a:buNone/>
                      </a:pPr>
                      <a:r>
                        <a:rPr lang="ja-JP" altLang="en-US" sz="1600" b="1" i="0" dirty="0">
                          <a:solidFill>
                            <a:srgbClr val="000000"/>
                          </a:solidFill>
                          <a:effectLst/>
                          <a:latin typeface="+mn-ea"/>
                          <a:ea typeface="+mn-ea"/>
                        </a:rPr>
                        <a:t>平均値</a:t>
                      </a:r>
                      <a:endParaRPr lang="ja-JP" altLang="en-US" sz="1600" b="1" i="0" dirty="0">
                        <a:solidFill>
                          <a:srgbClr val="FFFFFF"/>
                        </a:solidFill>
                        <a:effectLst/>
                        <a:latin typeface="+mn-ea"/>
                        <a:ea typeface="+mn-ea"/>
                      </a:endParaRPr>
                    </a:p>
                  </a:txBody>
                  <a:tcPr anchor="ctr">
                    <a:noFill/>
                  </a:tcPr>
                </a:tc>
                <a:tc>
                  <a:txBody>
                    <a:bodyPr/>
                    <a:lstStyle/>
                    <a:p>
                      <a:pPr algn="r" fontAlgn="base">
                        <a:lnSpc>
                          <a:spcPts val="1350"/>
                        </a:lnSpc>
                        <a:buNone/>
                      </a:pPr>
                      <a:r>
                        <a:rPr lang="ja-JP" altLang="en-US" sz="1600" b="1" i="0" dirty="0">
                          <a:solidFill>
                            <a:srgbClr val="000000"/>
                          </a:solidFill>
                          <a:effectLst/>
                          <a:latin typeface="+mn-ea"/>
                          <a:ea typeface="+mn-ea"/>
                        </a:rPr>
                        <a:t>標準偏差</a:t>
                      </a:r>
                      <a:r>
                        <a:rPr lang="en-US" altLang="ja-JP" sz="1600" b="1" i="0" dirty="0">
                          <a:solidFill>
                            <a:srgbClr val="FFFFFF"/>
                          </a:solidFill>
                          <a:effectLst/>
                          <a:latin typeface="+mn-ea"/>
                          <a:ea typeface="+mn-ea"/>
                        </a:rPr>
                        <a:t>​</a:t>
                      </a:r>
                    </a:p>
                  </a:txBody>
                  <a:tcPr anchor="ctr">
                    <a:noFill/>
                  </a:tcPr>
                </a:tc>
                <a:extLst>
                  <a:ext uri="{0D108BD9-81ED-4DB2-BD59-A6C34878D82A}">
                    <a16:rowId xmlns:a16="http://schemas.microsoft.com/office/drawing/2014/main" val="2809685238"/>
                  </a:ext>
                </a:extLst>
              </a:tr>
              <a:tr h="312524">
                <a:tc>
                  <a:txBody>
                    <a:bodyPr/>
                    <a:lstStyle/>
                    <a:p>
                      <a:pPr algn="l" fontAlgn="base">
                        <a:lnSpc>
                          <a:spcPts val="1350"/>
                        </a:lnSpc>
                        <a:buNone/>
                      </a:pPr>
                      <a:r>
                        <a:rPr lang="ja-JP" altLang="en-US" sz="1600" b="1" i="0" dirty="0">
                          <a:solidFill>
                            <a:srgbClr val="000000"/>
                          </a:solidFill>
                          <a:effectLst/>
                          <a:latin typeface="+mn-ea"/>
                          <a:ea typeface="+mn-ea"/>
                        </a:rPr>
                        <a:t>あり​</a:t>
                      </a:r>
                    </a:p>
                  </a:txBody>
                  <a:tcPr anchor="ctr">
                    <a:noFill/>
                  </a:tcPr>
                </a:tc>
                <a:tc>
                  <a:txBody>
                    <a:bodyPr/>
                    <a:lstStyle/>
                    <a:p>
                      <a:pPr algn="r" fontAlgn="base">
                        <a:lnSpc>
                          <a:spcPts val="1350"/>
                        </a:lnSpc>
                        <a:buNone/>
                      </a:pPr>
                      <a:r>
                        <a:rPr lang="en-US" altLang="ja-JP" sz="1600" b="1" i="0" dirty="0">
                          <a:solidFill>
                            <a:srgbClr val="000000"/>
                          </a:solidFill>
                          <a:effectLst/>
                          <a:latin typeface="+mn-ea"/>
                          <a:ea typeface="+mn-ea"/>
                        </a:rPr>
                        <a:t>2.04</a:t>
                      </a:r>
                    </a:p>
                  </a:txBody>
                  <a:tcPr anchor="ctr">
                    <a:noFill/>
                  </a:tcPr>
                </a:tc>
                <a:tc>
                  <a:txBody>
                    <a:bodyPr/>
                    <a:lstStyle/>
                    <a:p>
                      <a:pPr algn="r" fontAlgn="base">
                        <a:lnSpc>
                          <a:spcPts val="1350"/>
                        </a:lnSpc>
                        <a:buNone/>
                      </a:pPr>
                      <a:r>
                        <a:rPr lang="en-US" sz="1600" b="1" i="0" dirty="0">
                          <a:solidFill>
                            <a:srgbClr val="000000"/>
                          </a:solidFill>
                          <a:effectLst/>
                          <a:latin typeface="+mn-ea"/>
                          <a:ea typeface="+mn-ea"/>
                        </a:rPr>
                        <a:t>2.30</a:t>
                      </a:r>
                    </a:p>
                  </a:txBody>
                  <a:tcPr anchor="ctr">
                    <a:noFill/>
                  </a:tcPr>
                </a:tc>
                <a:extLst>
                  <a:ext uri="{0D108BD9-81ED-4DB2-BD59-A6C34878D82A}">
                    <a16:rowId xmlns:a16="http://schemas.microsoft.com/office/drawing/2014/main" val="2808757430"/>
                  </a:ext>
                </a:extLst>
              </a:tr>
              <a:tr h="312524">
                <a:tc>
                  <a:txBody>
                    <a:bodyPr/>
                    <a:lstStyle/>
                    <a:p>
                      <a:pPr algn="l" fontAlgn="base">
                        <a:lnSpc>
                          <a:spcPts val="1350"/>
                        </a:lnSpc>
                        <a:buNone/>
                      </a:pPr>
                      <a:r>
                        <a:rPr lang="ja-JP" altLang="en-US" sz="1600" b="1" i="0" dirty="0">
                          <a:solidFill>
                            <a:srgbClr val="000000"/>
                          </a:solidFill>
                          <a:effectLst/>
                          <a:latin typeface="+mn-ea"/>
                          <a:ea typeface="+mn-ea"/>
                        </a:rPr>
                        <a:t>なし</a:t>
                      </a:r>
                    </a:p>
                  </a:txBody>
                  <a:tcPr anchor="ctr">
                    <a:noFill/>
                  </a:tcPr>
                </a:tc>
                <a:tc>
                  <a:txBody>
                    <a:bodyPr/>
                    <a:lstStyle/>
                    <a:p>
                      <a:pPr algn="r" fontAlgn="base">
                        <a:lnSpc>
                          <a:spcPts val="1350"/>
                        </a:lnSpc>
                        <a:buNone/>
                      </a:pPr>
                      <a:r>
                        <a:rPr lang="en-US" altLang="ja-JP" sz="1600" b="1" i="0" dirty="0">
                          <a:solidFill>
                            <a:srgbClr val="000000"/>
                          </a:solidFill>
                          <a:effectLst/>
                          <a:latin typeface="+mn-ea"/>
                          <a:ea typeface="+mn-ea"/>
                        </a:rPr>
                        <a:t>3.47</a:t>
                      </a:r>
                    </a:p>
                  </a:txBody>
                  <a:tcPr anchor="ctr">
                    <a:noFill/>
                  </a:tcPr>
                </a:tc>
                <a:tc>
                  <a:txBody>
                    <a:bodyPr/>
                    <a:lstStyle/>
                    <a:p>
                      <a:pPr algn="r" fontAlgn="base">
                        <a:lnSpc>
                          <a:spcPts val="1350"/>
                        </a:lnSpc>
                        <a:buNone/>
                      </a:pPr>
                      <a:r>
                        <a:rPr lang="en-US" sz="1600" b="1" i="0" dirty="0">
                          <a:solidFill>
                            <a:srgbClr val="000000"/>
                          </a:solidFill>
                          <a:effectLst/>
                          <a:latin typeface="+mn-ea"/>
                          <a:ea typeface="+mn-ea"/>
                        </a:rPr>
                        <a:t>2.30</a:t>
                      </a:r>
                    </a:p>
                  </a:txBody>
                  <a:tcPr anchor="ctr">
                    <a:noFill/>
                  </a:tcPr>
                </a:tc>
                <a:extLst>
                  <a:ext uri="{0D108BD9-81ED-4DB2-BD59-A6C34878D82A}">
                    <a16:rowId xmlns:a16="http://schemas.microsoft.com/office/drawing/2014/main" val="928760967"/>
                  </a:ext>
                </a:extLst>
              </a:tr>
            </a:tbl>
          </a:graphicData>
        </a:graphic>
      </p:graphicFrame>
      <p:sp>
        <p:nvSpPr>
          <p:cNvPr id="16" name="四角形: 角を丸くする 15">
            <a:extLst>
              <a:ext uri="{FF2B5EF4-FFF2-40B4-BE49-F238E27FC236}">
                <a16:creationId xmlns:a16="http://schemas.microsoft.com/office/drawing/2014/main" id="{26E97BDA-DA43-0DD0-8616-86398EBD67F7}"/>
              </a:ext>
            </a:extLst>
          </p:cNvPr>
          <p:cNvSpPr/>
          <p:nvPr/>
        </p:nvSpPr>
        <p:spPr>
          <a:xfrm>
            <a:off x="783431" y="5266657"/>
            <a:ext cx="7577137" cy="1258784"/>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80D03257-5E58-E40D-E97A-89DD0D5E12D8}"/>
              </a:ext>
            </a:extLst>
          </p:cNvPr>
          <p:cNvSpPr txBox="1"/>
          <p:nvPr/>
        </p:nvSpPr>
        <p:spPr>
          <a:xfrm>
            <a:off x="859269" y="5437365"/>
            <a:ext cx="7684399" cy="1231106"/>
          </a:xfrm>
          <a:prstGeom prst="rect">
            <a:avLst/>
          </a:prstGeom>
          <a:noFill/>
        </p:spPr>
        <p:txBody>
          <a:bodyPr wrap="square">
            <a:spAutoFit/>
          </a:bodyPr>
          <a:lstStyle/>
          <a:p>
            <a:r>
              <a:rPr lang="ja-JP" altLang="en-US" sz="2800" b="1" dirty="0">
                <a:solidFill>
                  <a:srgbClr val="000000"/>
                </a:solidFill>
                <a:ea typeface="游ゴシック" panose="020B0400000000000000" pitchFamily="50" charset="-128"/>
              </a:rPr>
              <a:t>普段の</a:t>
            </a:r>
            <a:r>
              <a:rPr lang="en-US" altLang="ja-JP" sz="2800" b="1" dirty="0">
                <a:solidFill>
                  <a:srgbClr val="000000"/>
                </a:solidFill>
                <a:latin typeface="+mn-ea"/>
              </a:rPr>
              <a:t>LLM</a:t>
            </a:r>
            <a:r>
              <a:rPr lang="ja-JP" altLang="en-US" sz="2800" b="1" dirty="0">
                <a:solidFill>
                  <a:srgbClr val="000000"/>
                </a:solidFill>
                <a:ea typeface="游ゴシック" panose="020B0400000000000000" pitchFamily="50" charset="-128"/>
              </a:rPr>
              <a:t>の行動と異なる</a:t>
            </a:r>
            <a:r>
              <a:rPr lang="ja-JP" altLang="en-US" sz="2800" b="1" dirty="0">
                <a:solidFill>
                  <a:srgbClr val="C00000"/>
                </a:solidFill>
              </a:rPr>
              <a:t>名乗りが違和感</a:t>
            </a:r>
            <a:r>
              <a:rPr lang="ja-JP" altLang="en-US" sz="2800" b="1" dirty="0"/>
              <a:t>を与え感情の知覚を阻害する可能性</a:t>
            </a:r>
          </a:p>
          <a:p>
            <a:endParaRPr lang="ja-JP" altLang="en-US" dirty="0"/>
          </a:p>
        </p:txBody>
      </p:sp>
      <p:sp>
        <p:nvSpPr>
          <p:cNvPr id="20" name="矢印: 右 19">
            <a:extLst>
              <a:ext uri="{FF2B5EF4-FFF2-40B4-BE49-F238E27FC236}">
                <a16:creationId xmlns:a16="http://schemas.microsoft.com/office/drawing/2014/main" id="{0335B9A7-B420-A729-F397-FBE4D62DC769}"/>
              </a:ext>
            </a:extLst>
          </p:cNvPr>
          <p:cNvSpPr/>
          <p:nvPr/>
        </p:nvSpPr>
        <p:spPr>
          <a:xfrm rot="16200000">
            <a:off x="8228831" y="2712616"/>
            <a:ext cx="369329" cy="4270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21" name="矢印: 右 20">
            <a:extLst>
              <a:ext uri="{FF2B5EF4-FFF2-40B4-BE49-F238E27FC236}">
                <a16:creationId xmlns:a16="http://schemas.microsoft.com/office/drawing/2014/main" id="{CE956B1C-21EB-B44D-26E4-DCB8BBA9B78C}"/>
              </a:ext>
            </a:extLst>
          </p:cNvPr>
          <p:cNvSpPr/>
          <p:nvPr/>
        </p:nvSpPr>
        <p:spPr>
          <a:xfrm rot="5400000">
            <a:off x="8228830" y="4188654"/>
            <a:ext cx="369329" cy="4270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24" name="テキスト ボックス 23">
            <a:extLst>
              <a:ext uri="{FF2B5EF4-FFF2-40B4-BE49-F238E27FC236}">
                <a16:creationId xmlns:a16="http://schemas.microsoft.com/office/drawing/2014/main" id="{96A05E36-FF12-0066-BA03-E949CD2AD397}"/>
              </a:ext>
            </a:extLst>
          </p:cNvPr>
          <p:cNvSpPr txBox="1"/>
          <p:nvPr/>
        </p:nvSpPr>
        <p:spPr>
          <a:xfrm>
            <a:off x="7832742" y="2465873"/>
            <a:ext cx="1074214" cy="307777"/>
          </a:xfrm>
          <a:prstGeom prst="rect">
            <a:avLst/>
          </a:prstGeom>
          <a:noFill/>
        </p:spPr>
        <p:txBody>
          <a:bodyPr wrap="square">
            <a:spAutoFit/>
          </a:bodyPr>
          <a:lstStyle/>
          <a:p>
            <a:r>
              <a:rPr lang="ja-JP" altLang="en-US" sz="1400" b="1" dirty="0"/>
              <a:t>あてはまる</a:t>
            </a:r>
            <a:endParaRPr lang="ja-JP" altLang="en-US" sz="1400" dirty="0"/>
          </a:p>
        </p:txBody>
      </p:sp>
      <p:sp>
        <p:nvSpPr>
          <p:cNvPr id="25" name="テキスト ボックス 24">
            <a:extLst>
              <a:ext uri="{FF2B5EF4-FFF2-40B4-BE49-F238E27FC236}">
                <a16:creationId xmlns:a16="http://schemas.microsoft.com/office/drawing/2014/main" id="{62E421FA-CBE2-2FFF-3794-434B2B89C93F}"/>
              </a:ext>
            </a:extLst>
          </p:cNvPr>
          <p:cNvSpPr txBox="1"/>
          <p:nvPr/>
        </p:nvSpPr>
        <p:spPr>
          <a:xfrm>
            <a:off x="7766320" y="4601898"/>
            <a:ext cx="1487746" cy="307776"/>
          </a:xfrm>
          <a:prstGeom prst="rect">
            <a:avLst/>
          </a:prstGeom>
          <a:noFill/>
        </p:spPr>
        <p:txBody>
          <a:bodyPr wrap="square">
            <a:spAutoFit/>
          </a:bodyPr>
          <a:lstStyle/>
          <a:p>
            <a:r>
              <a:rPr lang="ja-JP" altLang="en-US" sz="1400" b="1" dirty="0"/>
              <a:t>あてはまらない</a:t>
            </a:r>
            <a:endParaRPr lang="ja-JP" altLang="en-US" sz="1400" dirty="0"/>
          </a:p>
        </p:txBody>
      </p:sp>
      <p:pic>
        <p:nvPicPr>
          <p:cNvPr id="5" name="グラフィックス 4">
            <a:extLst>
              <a:ext uri="{FF2B5EF4-FFF2-40B4-BE49-F238E27FC236}">
                <a16:creationId xmlns:a16="http://schemas.microsoft.com/office/drawing/2014/main" id="{5E8D75CD-604C-1A22-9E05-084A665A27AD}"/>
              </a:ext>
            </a:extLst>
          </p:cNvPr>
          <p:cNvPicPr>
            <a:picLocks/>
          </p:cNvPicPr>
          <p:nvPr/>
        </p:nvPicPr>
        <p:blipFill>
          <a:blip r:embed="rId3">
            <a:extLst>
              <a:ext uri="{96DAC541-7B7A-43D3-8B79-37D633B846F1}">
                <asvg:svgBlip xmlns:asvg="http://schemas.microsoft.com/office/drawing/2016/SVG/main" r:embed="rId4"/>
              </a:ext>
            </a:extLst>
          </a:blip>
          <a:srcRect l="5434" t="1683" r="1610" b="1118"/>
          <a:stretch>
            <a:fillRect/>
          </a:stretch>
        </p:blipFill>
        <p:spPr>
          <a:xfrm>
            <a:off x="5193608" y="2809899"/>
            <a:ext cx="2988000" cy="1800000"/>
          </a:xfrm>
          <a:prstGeom prst="rect">
            <a:avLst/>
          </a:prstGeom>
        </p:spPr>
      </p:pic>
      <p:sp>
        <p:nvSpPr>
          <p:cNvPr id="6" name="テキスト ボックス 5">
            <a:extLst>
              <a:ext uri="{FF2B5EF4-FFF2-40B4-BE49-F238E27FC236}">
                <a16:creationId xmlns:a16="http://schemas.microsoft.com/office/drawing/2014/main" id="{265869F2-2677-E6A8-9AFE-AC848EE61D05}"/>
              </a:ext>
            </a:extLst>
          </p:cNvPr>
          <p:cNvSpPr txBox="1"/>
          <p:nvPr/>
        </p:nvSpPr>
        <p:spPr>
          <a:xfrm>
            <a:off x="4837628" y="4351663"/>
            <a:ext cx="499309" cy="338554"/>
          </a:xfrm>
          <a:prstGeom prst="rect">
            <a:avLst/>
          </a:prstGeom>
          <a:noFill/>
        </p:spPr>
        <p:txBody>
          <a:bodyPr wrap="square">
            <a:spAutoFit/>
          </a:bodyPr>
          <a:lstStyle/>
          <a:p>
            <a:r>
              <a:rPr lang="en-US" altLang="ja-JP" sz="1600" b="1" dirty="0">
                <a:latin typeface="+mn-ea"/>
              </a:rPr>
              <a:t>1.5</a:t>
            </a:r>
            <a:endParaRPr lang="ja-JP" altLang="en-US" sz="1600" b="1" dirty="0">
              <a:latin typeface="+mn-ea"/>
            </a:endParaRPr>
          </a:p>
        </p:txBody>
      </p:sp>
      <p:sp>
        <p:nvSpPr>
          <p:cNvPr id="10" name="テキスト ボックス 9">
            <a:extLst>
              <a:ext uri="{FF2B5EF4-FFF2-40B4-BE49-F238E27FC236}">
                <a16:creationId xmlns:a16="http://schemas.microsoft.com/office/drawing/2014/main" id="{A9141A33-5E21-CF3C-05BC-58402C7FAB63}"/>
              </a:ext>
            </a:extLst>
          </p:cNvPr>
          <p:cNvSpPr txBox="1"/>
          <p:nvPr/>
        </p:nvSpPr>
        <p:spPr>
          <a:xfrm>
            <a:off x="4838509" y="4007670"/>
            <a:ext cx="499309" cy="338554"/>
          </a:xfrm>
          <a:prstGeom prst="rect">
            <a:avLst/>
          </a:prstGeom>
          <a:noFill/>
        </p:spPr>
        <p:txBody>
          <a:bodyPr wrap="square">
            <a:spAutoFit/>
          </a:bodyPr>
          <a:lstStyle/>
          <a:p>
            <a:r>
              <a:rPr lang="en-US" altLang="ja-JP" sz="1600" b="1" dirty="0">
                <a:latin typeface="+mn-ea"/>
              </a:rPr>
              <a:t>2.0</a:t>
            </a:r>
            <a:endParaRPr lang="ja-JP" altLang="en-US" sz="1600" b="1" dirty="0">
              <a:latin typeface="+mn-ea"/>
            </a:endParaRPr>
          </a:p>
        </p:txBody>
      </p:sp>
      <p:sp>
        <p:nvSpPr>
          <p:cNvPr id="19" name="テキスト ボックス 18">
            <a:extLst>
              <a:ext uri="{FF2B5EF4-FFF2-40B4-BE49-F238E27FC236}">
                <a16:creationId xmlns:a16="http://schemas.microsoft.com/office/drawing/2014/main" id="{98850731-16FD-9CF9-DEB6-E4EF1BAF24B8}"/>
              </a:ext>
            </a:extLst>
          </p:cNvPr>
          <p:cNvSpPr txBox="1"/>
          <p:nvPr/>
        </p:nvSpPr>
        <p:spPr>
          <a:xfrm>
            <a:off x="4838510" y="3674690"/>
            <a:ext cx="499309" cy="338554"/>
          </a:xfrm>
          <a:prstGeom prst="rect">
            <a:avLst/>
          </a:prstGeom>
          <a:noFill/>
        </p:spPr>
        <p:txBody>
          <a:bodyPr wrap="square">
            <a:spAutoFit/>
          </a:bodyPr>
          <a:lstStyle/>
          <a:p>
            <a:r>
              <a:rPr lang="en-US" altLang="ja-JP" sz="1600" b="1" dirty="0">
                <a:latin typeface="+mn-ea"/>
              </a:rPr>
              <a:t>2.5</a:t>
            </a:r>
            <a:endParaRPr lang="ja-JP" altLang="en-US" sz="1600" b="1" dirty="0">
              <a:latin typeface="+mn-ea"/>
            </a:endParaRPr>
          </a:p>
        </p:txBody>
      </p:sp>
      <p:sp>
        <p:nvSpPr>
          <p:cNvPr id="22" name="テキスト ボックス 21">
            <a:extLst>
              <a:ext uri="{FF2B5EF4-FFF2-40B4-BE49-F238E27FC236}">
                <a16:creationId xmlns:a16="http://schemas.microsoft.com/office/drawing/2014/main" id="{5F790E9C-F216-D1CA-1177-7D3FE7D9F265}"/>
              </a:ext>
            </a:extLst>
          </p:cNvPr>
          <p:cNvSpPr txBox="1"/>
          <p:nvPr/>
        </p:nvSpPr>
        <p:spPr>
          <a:xfrm>
            <a:off x="4838510" y="3347707"/>
            <a:ext cx="499309" cy="338554"/>
          </a:xfrm>
          <a:prstGeom prst="rect">
            <a:avLst/>
          </a:prstGeom>
          <a:noFill/>
        </p:spPr>
        <p:txBody>
          <a:bodyPr wrap="square">
            <a:spAutoFit/>
          </a:bodyPr>
          <a:lstStyle/>
          <a:p>
            <a:r>
              <a:rPr lang="en-US" altLang="ja-JP" sz="1600" b="1" dirty="0">
                <a:latin typeface="+mn-ea"/>
              </a:rPr>
              <a:t>3.0</a:t>
            </a:r>
            <a:endParaRPr lang="ja-JP" altLang="en-US" sz="1600" b="1" dirty="0">
              <a:latin typeface="+mn-ea"/>
            </a:endParaRPr>
          </a:p>
        </p:txBody>
      </p:sp>
      <p:sp>
        <p:nvSpPr>
          <p:cNvPr id="23" name="テキスト ボックス 22">
            <a:extLst>
              <a:ext uri="{FF2B5EF4-FFF2-40B4-BE49-F238E27FC236}">
                <a16:creationId xmlns:a16="http://schemas.microsoft.com/office/drawing/2014/main" id="{6E768A3A-90EB-B37E-518D-D0E452E969B6}"/>
              </a:ext>
            </a:extLst>
          </p:cNvPr>
          <p:cNvSpPr txBox="1"/>
          <p:nvPr/>
        </p:nvSpPr>
        <p:spPr>
          <a:xfrm>
            <a:off x="4838511" y="3020676"/>
            <a:ext cx="499309" cy="338554"/>
          </a:xfrm>
          <a:prstGeom prst="rect">
            <a:avLst/>
          </a:prstGeom>
          <a:noFill/>
        </p:spPr>
        <p:txBody>
          <a:bodyPr wrap="square">
            <a:spAutoFit/>
          </a:bodyPr>
          <a:lstStyle/>
          <a:p>
            <a:r>
              <a:rPr lang="en-US" altLang="ja-JP" sz="1600" b="1" dirty="0">
                <a:latin typeface="+mn-ea"/>
              </a:rPr>
              <a:t>3.5</a:t>
            </a:r>
            <a:endParaRPr lang="ja-JP" altLang="en-US" sz="1600" b="1" dirty="0">
              <a:latin typeface="+mn-ea"/>
            </a:endParaRPr>
          </a:p>
        </p:txBody>
      </p:sp>
      <p:sp>
        <p:nvSpPr>
          <p:cNvPr id="26" name="テキスト ボックス 25">
            <a:extLst>
              <a:ext uri="{FF2B5EF4-FFF2-40B4-BE49-F238E27FC236}">
                <a16:creationId xmlns:a16="http://schemas.microsoft.com/office/drawing/2014/main" id="{E030CFAD-2FC2-8B76-0ED8-2B9EF01F7F3A}"/>
              </a:ext>
            </a:extLst>
          </p:cNvPr>
          <p:cNvSpPr txBox="1"/>
          <p:nvPr/>
        </p:nvSpPr>
        <p:spPr>
          <a:xfrm>
            <a:off x="4838512" y="2691907"/>
            <a:ext cx="499309" cy="338554"/>
          </a:xfrm>
          <a:prstGeom prst="rect">
            <a:avLst/>
          </a:prstGeom>
          <a:noFill/>
        </p:spPr>
        <p:txBody>
          <a:bodyPr wrap="square">
            <a:spAutoFit/>
          </a:bodyPr>
          <a:lstStyle/>
          <a:p>
            <a:r>
              <a:rPr lang="en-US" altLang="ja-JP" sz="1600" b="1" dirty="0">
                <a:latin typeface="+mn-ea"/>
              </a:rPr>
              <a:t>4.0</a:t>
            </a:r>
          </a:p>
        </p:txBody>
      </p:sp>
      <p:sp>
        <p:nvSpPr>
          <p:cNvPr id="12" name="テキスト ボックス 11">
            <a:extLst>
              <a:ext uri="{FF2B5EF4-FFF2-40B4-BE49-F238E27FC236}">
                <a16:creationId xmlns:a16="http://schemas.microsoft.com/office/drawing/2014/main" id="{CEE5FE4A-8BDB-B8D4-2767-CBF9B95A868A}"/>
              </a:ext>
            </a:extLst>
          </p:cNvPr>
          <p:cNvSpPr txBox="1"/>
          <p:nvPr/>
        </p:nvSpPr>
        <p:spPr>
          <a:xfrm>
            <a:off x="5696034" y="4502923"/>
            <a:ext cx="566737" cy="307777"/>
          </a:xfrm>
          <a:prstGeom prst="rect">
            <a:avLst/>
          </a:prstGeom>
          <a:noFill/>
        </p:spPr>
        <p:txBody>
          <a:bodyPr wrap="square">
            <a:spAutoFit/>
          </a:bodyPr>
          <a:lstStyle/>
          <a:p>
            <a:r>
              <a:rPr lang="ja-JP" altLang="en-US" sz="1400" b="1" dirty="0"/>
              <a:t>あり</a:t>
            </a:r>
            <a:endParaRPr lang="ja-JP" altLang="en-US" sz="1400" dirty="0"/>
          </a:p>
        </p:txBody>
      </p:sp>
      <p:sp>
        <p:nvSpPr>
          <p:cNvPr id="17" name="テキスト ボックス 16">
            <a:extLst>
              <a:ext uri="{FF2B5EF4-FFF2-40B4-BE49-F238E27FC236}">
                <a16:creationId xmlns:a16="http://schemas.microsoft.com/office/drawing/2014/main" id="{8C19FA6F-51CF-1A15-D0D3-DA0463EC4CAA}"/>
              </a:ext>
            </a:extLst>
          </p:cNvPr>
          <p:cNvSpPr txBox="1"/>
          <p:nvPr/>
        </p:nvSpPr>
        <p:spPr>
          <a:xfrm>
            <a:off x="7160885" y="4502923"/>
            <a:ext cx="566737" cy="307777"/>
          </a:xfrm>
          <a:prstGeom prst="rect">
            <a:avLst/>
          </a:prstGeom>
          <a:noFill/>
        </p:spPr>
        <p:txBody>
          <a:bodyPr wrap="square">
            <a:spAutoFit/>
          </a:bodyPr>
          <a:lstStyle/>
          <a:p>
            <a:r>
              <a:rPr lang="ja-JP" altLang="en-US" sz="1400" b="1" dirty="0"/>
              <a:t>なし</a:t>
            </a:r>
            <a:endParaRPr lang="ja-JP" altLang="en-US" sz="1400" dirty="0"/>
          </a:p>
        </p:txBody>
      </p:sp>
      <p:sp>
        <p:nvSpPr>
          <p:cNvPr id="27" name="テキスト ボックス 26">
            <a:extLst>
              <a:ext uri="{FF2B5EF4-FFF2-40B4-BE49-F238E27FC236}">
                <a16:creationId xmlns:a16="http://schemas.microsoft.com/office/drawing/2014/main" id="{6E70F467-0C4C-2005-CFC0-91BA5F4D4D6C}"/>
              </a:ext>
            </a:extLst>
          </p:cNvPr>
          <p:cNvSpPr txBox="1"/>
          <p:nvPr/>
        </p:nvSpPr>
        <p:spPr>
          <a:xfrm>
            <a:off x="1075765" y="5035824"/>
            <a:ext cx="851647" cy="461665"/>
          </a:xfrm>
          <a:prstGeom prst="rect">
            <a:avLst/>
          </a:prstGeom>
          <a:solidFill>
            <a:schemeClr val="bg1"/>
          </a:solidFill>
        </p:spPr>
        <p:txBody>
          <a:bodyPr wrap="square">
            <a:spAutoFit/>
          </a:bodyPr>
          <a:lstStyle/>
          <a:p>
            <a:r>
              <a:rPr lang="ja-JP" altLang="en-US" sz="2400" b="1" dirty="0">
                <a:solidFill>
                  <a:schemeClr val="accent1"/>
                </a:solidFill>
              </a:rPr>
              <a:t>考察</a:t>
            </a:r>
          </a:p>
        </p:txBody>
      </p:sp>
    </p:spTree>
    <p:extLst>
      <p:ext uri="{BB962C8B-B14F-4D97-AF65-F5344CB8AC3E}">
        <p14:creationId xmlns:p14="http://schemas.microsoft.com/office/powerpoint/2010/main" val="37446680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7BC8D84-36E8-3A53-8278-5E105AE9FBE9}"/>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A4A0FF6-7334-CED3-0CDF-43695D0EB267}"/>
              </a:ext>
            </a:extLst>
          </p:cNvPr>
          <p:cNvSpPr>
            <a:spLocks noGrp="1"/>
          </p:cNvSpPr>
          <p:nvPr>
            <p:ph type="sldNum" sz="quarter" idx="12"/>
          </p:nvPr>
        </p:nvSpPr>
        <p:spPr/>
        <p:txBody>
          <a:bodyPr/>
          <a:lstStyle/>
          <a:p>
            <a:fld id="{18020408-E1FF-429E-A8D5-EB2A190A0D77}" type="slidenum">
              <a:rPr kumimoji="1" lang="ja-JP" altLang="en-US" smtClean="0"/>
              <a:pPr/>
              <a:t>53</a:t>
            </a:fld>
            <a:endParaRPr kumimoji="1" lang="ja-JP" altLang="en-US" sz="2400" dirty="0"/>
          </a:p>
        </p:txBody>
      </p:sp>
      <p:sp>
        <p:nvSpPr>
          <p:cNvPr id="3" name="タイトル 2">
            <a:extLst>
              <a:ext uri="{FF2B5EF4-FFF2-40B4-BE49-F238E27FC236}">
                <a16:creationId xmlns:a16="http://schemas.microsoft.com/office/drawing/2014/main" id="{686AA2FD-1021-0AAF-A872-35E213C9E258}"/>
              </a:ext>
            </a:extLst>
          </p:cNvPr>
          <p:cNvSpPr>
            <a:spLocks noGrp="1"/>
          </p:cNvSpPr>
          <p:nvPr>
            <p:ph type="title"/>
          </p:nvPr>
        </p:nvSpPr>
        <p:spPr/>
        <p:txBody>
          <a:bodyPr/>
          <a:lstStyle/>
          <a:p>
            <a:r>
              <a:rPr lang="ja-JP" altLang="en-US" sz="3600" dirty="0"/>
              <a:t>実験結果：やりとりへの注意</a:t>
            </a:r>
            <a:endParaRPr kumimoji="1" lang="ja-JP" altLang="en-US" sz="3600" dirty="0"/>
          </a:p>
        </p:txBody>
      </p:sp>
      <p:sp>
        <p:nvSpPr>
          <p:cNvPr id="7" name="テキスト ボックス 6">
            <a:extLst>
              <a:ext uri="{FF2B5EF4-FFF2-40B4-BE49-F238E27FC236}">
                <a16:creationId xmlns:a16="http://schemas.microsoft.com/office/drawing/2014/main" id="{8F5C6C61-52D2-81F8-3892-21F4C0254DD5}"/>
              </a:ext>
            </a:extLst>
          </p:cNvPr>
          <p:cNvSpPr txBox="1"/>
          <p:nvPr/>
        </p:nvSpPr>
        <p:spPr>
          <a:xfrm>
            <a:off x="313263" y="3157563"/>
            <a:ext cx="5698069" cy="369332"/>
          </a:xfrm>
          <a:prstGeom prst="rect">
            <a:avLst/>
          </a:prstGeom>
          <a:noFill/>
        </p:spPr>
        <p:txBody>
          <a:bodyPr wrap="square">
            <a:spAutoFit/>
          </a:bodyPr>
          <a:lstStyle/>
          <a:p>
            <a:r>
              <a:rPr lang="ja-JP" altLang="ja-JP" sz="1800" b="1" i="0" u="none" strike="noStrike" dirty="0">
                <a:solidFill>
                  <a:srgbClr val="000000"/>
                </a:solidFill>
                <a:effectLst/>
                <a:ea typeface="游ゴシック" panose="020B0400000000000000" pitchFamily="50" charset="-128"/>
              </a:rPr>
              <a:t>事後検定（</a:t>
            </a:r>
            <a:r>
              <a:rPr lang="en-US" altLang="ja-JP" sz="1800" b="1" i="0" u="none" strike="noStrike" dirty="0">
                <a:solidFill>
                  <a:srgbClr val="000000"/>
                </a:solidFill>
                <a:effectLst/>
                <a:latin typeface="游ゴシック" panose="020B0400000000000000" pitchFamily="50" charset="-128"/>
              </a:rPr>
              <a:t>Tukey</a:t>
            </a:r>
            <a:r>
              <a:rPr lang="ja-JP" altLang="ja-JP" sz="1800" b="1" i="0" u="none" strike="noStrike" dirty="0">
                <a:solidFill>
                  <a:srgbClr val="000000"/>
                </a:solidFill>
                <a:effectLst/>
                <a:ea typeface="游ゴシック" panose="020B0400000000000000" pitchFamily="50" charset="-128"/>
              </a:rPr>
              <a:t>検定による多重比較</a:t>
            </a:r>
            <a:r>
              <a:rPr lang="ja-JP" altLang="en-US" b="1" dirty="0">
                <a:solidFill>
                  <a:srgbClr val="000000"/>
                </a:solidFill>
                <a:ea typeface="游ゴシック" panose="020B0400000000000000" pitchFamily="50" charset="-128"/>
              </a:rPr>
              <a:t>，一部抜粋</a:t>
            </a:r>
            <a:r>
              <a:rPr lang="ja-JP" altLang="en-US" sz="1800" b="1" i="0" u="none" strike="noStrike" dirty="0">
                <a:solidFill>
                  <a:srgbClr val="000000"/>
                </a:solidFill>
                <a:effectLst/>
                <a:ea typeface="游ゴシック" panose="020B0400000000000000" pitchFamily="50" charset="-128"/>
              </a:rPr>
              <a:t>）</a:t>
            </a:r>
            <a:endParaRPr lang="ja-JP" altLang="en-US" dirty="0"/>
          </a:p>
        </p:txBody>
      </p:sp>
      <p:sp>
        <p:nvSpPr>
          <p:cNvPr id="9" name="Rectangle 1">
            <a:extLst>
              <a:ext uri="{FF2B5EF4-FFF2-40B4-BE49-F238E27FC236}">
                <a16:creationId xmlns:a16="http://schemas.microsoft.com/office/drawing/2014/main" id="{D1CDA043-8DD7-58BC-1F01-E9FDB971A658}"/>
              </a:ext>
            </a:extLst>
          </p:cNvPr>
          <p:cNvSpPr>
            <a:spLocks noChangeArrowheads="1"/>
          </p:cNvSpPr>
          <p:nvPr/>
        </p:nvSpPr>
        <p:spPr bwMode="auto">
          <a:xfrm>
            <a:off x="2362200" y="250391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1" name="Rectangle 2">
            <a:extLst>
              <a:ext uri="{FF2B5EF4-FFF2-40B4-BE49-F238E27FC236}">
                <a16:creationId xmlns:a16="http://schemas.microsoft.com/office/drawing/2014/main" id="{DEA2C67B-A49F-60EF-DFC0-C11F4DF4D40B}"/>
              </a:ext>
            </a:extLst>
          </p:cNvPr>
          <p:cNvSpPr>
            <a:spLocks noChangeArrowheads="1"/>
          </p:cNvSpPr>
          <p:nvPr/>
        </p:nvSpPr>
        <p:spPr bwMode="auto">
          <a:xfrm>
            <a:off x="2252663" y="3560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3" name="テキスト ボックス 12">
            <a:extLst>
              <a:ext uri="{FF2B5EF4-FFF2-40B4-BE49-F238E27FC236}">
                <a16:creationId xmlns:a16="http://schemas.microsoft.com/office/drawing/2014/main" id="{70975C66-DD6C-BB64-9A00-030807B31ADD}"/>
              </a:ext>
            </a:extLst>
          </p:cNvPr>
          <p:cNvSpPr txBox="1"/>
          <p:nvPr/>
        </p:nvSpPr>
        <p:spPr>
          <a:xfrm>
            <a:off x="313263" y="953349"/>
            <a:ext cx="6680203" cy="1107996"/>
          </a:xfrm>
          <a:prstGeom prst="rect">
            <a:avLst/>
          </a:prstGeom>
          <a:noFill/>
        </p:spPr>
        <p:txBody>
          <a:bodyPr wrap="square">
            <a:spAutoFit/>
          </a:bodyPr>
          <a:lstStyle/>
          <a:p>
            <a:pPr algn="l" rtl="0" fontAlgn="base">
              <a:lnSpc>
                <a:spcPct val="150000"/>
              </a:lnSpc>
              <a:buNone/>
            </a:pPr>
            <a:r>
              <a:rPr lang="ja-JP" altLang="en-US" sz="2000" b="1" dirty="0">
                <a:solidFill>
                  <a:schemeClr val="accent1"/>
                </a:solidFill>
                <a:latin typeface="Meiryo UI" panose="020B0604030504040204" pitchFamily="50" charset="-128"/>
                <a:ea typeface="Yu Gothic" panose="020B0400000000000000" pitchFamily="50" charset="-128"/>
              </a:rPr>
              <a:t>分散分析の結果</a:t>
            </a:r>
            <a:endParaRPr lang="en-US" altLang="ja-JP" sz="2000" b="1" i="0" u="none" strike="noStrike" dirty="0">
              <a:solidFill>
                <a:schemeClr val="accent1"/>
              </a:solidFill>
              <a:effectLst/>
              <a:latin typeface="Meiryo UI" panose="020B0604030504040204" pitchFamily="50" charset="-128"/>
              <a:ea typeface="Yu Gothic" panose="020B0400000000000000" pitchFamily="50" charset="-128"/>
            </a:endParaRPr>
          </a:p>
          <a:p>
            <a:r>
              <a:rPr lang="ja-JP" altLang="en-US" b="1" dirty="0">
                <a:latin typeface="+mn-ea"/>
              </a:rPr>
              <a:t>「</a:t>
            </a:r>
            <a:r>
              <a:rPr lang="en-US" altLang="ja-JP" b="1" dirty="0">
                <a:latin typeface="+mn-ea"/>
              </a:rPr>
              <a:t>Q10</a:t>
            </a:r>
            <a:r>
              <a:rPr lang="ja-JP" altLang="en-US" b="1" dirty="0">
                <a:latin typeface="+mn-ea"/>
              </a:rPr>
              <a:t>．</a:t>
            </a:r>
            <a:r>
              <a:rPr kumimoji="1" lang="en-US" altLang="ja-JP" b="1" dirty="0">
                <a:latin typeface="游ゴシック" panose="020B0400000000000000" pitchFamily="50" charset="-128"/>
              </a:rPr>
              <a:t>AI </a:t>
            </a:r>
            <a:r>
              <a:rPr kumimoji="1" lang="ja-JP" altLang="en-US" b="1" dirty="0">
                <a:latin typeface="游ゴシック" panose="020B0400000000000000" pitchFamily="50" charset="-128"/>
              </a:rPr>
              <a:t>とのやりとりは注意を引く」について</a:t>
            </a:r>
            <a:endParaRPr kumimoji="1" lang="en-US" altLang="ja-JP" b="1" dirty="0">
              <a:latin typeface="游ゴシック" panose="020B0400000000000000" pitchFamily="50" charset="-128"/>
            </a:endParaRPr>
          </a:p>
          <a:p>
            <a:r>
              <a:rPr kumimoji="1" lang="en-US" altLang="ja-JP" b="1" dirty="0">
                <a:latin typeface="游ゴシック" panose="020B0400000000000000" pitchFamily="50" charset="-128"/>
                <a:sym typeface="Wingdings" panose="05000000000000000000" pitchFamily="2" charset="2"/>
              </a:rPr>
              <a:t></a:t>
            </a:r>
            <a:r>
              <a:rPr kumimoji="1" lang="ja-JP" altLang="en-US" b="1" dirty="0">
                <a:solidFill>
                  <a:srgbClr val="C00000"/>
                </a:solidFill>
                <a:latin typeface="游ゴシック" panose="020B0400000000000000" pitchFamily="50" charset="-128"/>
                <a:sym typeface="Wingdings" panose="05000000000000000000" pitchFamily="2" charset="2"/>
              </a:rPr>
              <a:t>交互作用が有意</a:t>
            </a:r>
            <a:endParaRPr kumimoji="1" lang="en-US" altLang="ja-JP" b="1" dirty="0">
              <a:solidFill>
                <a:srgbClr val="C00000"/>
              </a:solidFill>
              <a:latin typeface="游ゴシック" panose="020B0400000000000000" pitchFamily="50" charset="-128"/>
            </a:endParaRPr>
          </a:p>
        </p:txBody>
      </p:sp>
      <p:graphicFrame>
        <p:nvGraphicFramePr>
          <p:cNvPr id="14" name="表 13">
            <a:extLst>
              <a:ext uri="{FF2B5EF4-FFF2-40B4-BE49-F238E27FC236}">
                <a16:creationId xmlns:a16="http://schemas.microsoft.com/office/drawing/2014/main" id="{1599974A-56CF-75FE-06B5-2270B7356A97}"/>
              </a:ext>
            </a:extLst>
          </p:cNvPr>
          <p:cNvGraphicFramePr>
            <a:graphicFrameLocks noGrp="1"/>
          </p:cNvGraphicFramePr>
          <p:nvPr>
            <p:extLst>
              <p:ext uri="{D42A27DB-BD31-4B8C-83A1-F6EECF244321}">
                <p14:modId xmlns:p14="http://schemas.microsoft.com/office/powerpoint/2010/main" val="3013574729"/>
              </p:ext>
            </p:extLst>
          </p:nvPr>
        </p:nvGraphicFramePr>
        <p:xfrm>
          <a:off x="543530" y="2095989"/>
          <a:ext cx="7923138" cy="949960"/>
        </p:xfrm>
        <a:graphic>
          <a:graphicData uri="http://schemas.openxmlformats.org/drawingml/2006/table">
            <a:tbl>
              <a:tblPr firstRow="1" bandRow="1">
                <a:tableStyleId>{9D7B26C5-4107-4FEC-AEDC-1716B250A1EF}</a:tableStyleId>
              </a:tblPr>
              <a:tblGrid>
                <a:gridCol w="1320523">
                  <a:extLst>
                    <a:ext uri="{9D8B030D-6E8A-4147-A177-3AD203B41FA5}">
                      <a16:colId xmlns:a16="http://schemas.microsoft.com/office/drawing/2014/main" val="2253055787"/>
                    </a:ext>
                  </a:extLst>
                </a:gridCol>
                <a:gridCol w="1320523">
                  <a:extLst>
                    <a:ext uri="{9D8B030D-6E8A-4147-A177-3AD203B41FA5}">
                      <a16:colId xmlns:a16="http://schemas.microsoft.com/office/drawing/2014/main" val="2801815050"/>
                    </a:ext>
                  </a:extLst>
                </a:gridCol>
                <a:gridCol w="1320523">
                  <a:extLst>
                    <a:ext uri="{9D8B030D-6E8A-4147-A177-3AD203B41FA5}">
                      <a16:colId xmlns:a16="http://schemas.microsoft.com/office/drawing/2014/main" val="4189014961"/>
                    </a:ext>
                  </a:extLst>
                </a:gridCol>
                <a:gridCol w="1320523">
                  <a:extLst>
                    <a:ext uri="{9D8B030D-6E8A-4147-A177-3AD203B41FA5}">
                      <a16:colId xmlns:a16="http://schemas.microsoft.com/office/drawing/2014/main" val="3563772630"/>
                    </a:ext>
                  </a:extLst>
                </a:gridCol>
                <a:gridCol w="1320523">
                  <a:extLst>
                    <a:ext uri="{9D8B030D-6E8A-4147-A177-3AD203B41FA5}">
                      <a16:colId xmlns:a16="http://schemas.microsoft.com/office/drawing/2014/main" val="3674438810"/>
                    </a:ext>
                  </a:extLst>
                </a:gridCol>
                <a:gridCol w="1320523">
                  <a:extLst>
                    <a:ext uri="{9D8B030D-6E8A-4147-A177-3AD203B41FA5}">
                      <a16:colId xmlns:a16="http://schemas.microsoft.com/office/drawing/2014/main" val="678252903"/>
                    </a:ext>
                  </a:extLst>
                </a:gridCol>
              </a:tblGrid>
              <a:tr h="370840">
                <a:tc>
                  <a:txBody>
                    <a:bodyPr/>
                    <a:lstStyle/>
                    <a:p>
                      <a:endParaRPr kumimoji="1" lang="ja-JP" altLang="en-US" dirty="0"/>
                    </a:p>
                  </a:txBody>
                  <a:tcPr>
                    <a:noFill/>
                  </a:tcPr>
                </a:tc>
                <a:tc>
                  <a:txBody>
                    <a:bodyPr/>
                    <a:lstStyle/>
                    <a:p>
                      <a:pPr algn="r" fontAlgn="base">
                        <a:lnSpc>
                          <a:spcPts val="1350"/>
                        </a:lnSpc>
                        <a:buNone/>
                      </a:pPr>
                      <a:r>
                        <a:rPr lang="en-US" altLang="ja-JP" sz="1400" b="1" i="0" dirty="0">
                          <a:solidFill>
                            <a:srgbClr val="000000"/>
                          </a:solidFill>
                          <a:effectLst/>
                          <a:latin typeface="游ゴシック" panose="020B0400000000000000" pitchFamily="50" charset="-128"/>
                        </a:rPr>
                        <a:t>2</a:t>
                      </a:r>
                      <a:r>
                        <a:rPr lang="ja-JP" altLang="en-US" sz="1400" b="1" i="0" dirty="0">
                          <a:solidFill>
                            <a:srgbClr val="000000"/>
                          </a:solidFill>
                          <a:effectLst/>
                          <a:ea typeface="游ゴシック" panose="020B0400000000000000" pitchFamily="50" charset="-128"/>
                        </a:rPr>
                        <a:t>乗和</a:t>
                      </a:r>
                      <a:r>
                        <a:rPr lang="ja-JP" altLang="en-US" sz="1400" b="1" i="0" dirty="0">
                          <a:solidFill>
                            <a:srgbClr val="FFFFFF"/>
                          </a:solidFill>
                          <a:effectLst/>
                          <a:latin typeface="游ゴシック" panose="020B0400000000000000" pitchFamily="50" charset="-128"/>
                        </a:rPr>
                        <a:t>​</a:t>
                      </a:r>
                      <a:endParaRPr lang="ja-JP" altLang="en-US" sz="1400" b="1" i="0" dirty="0">
                        <a:solidFill>
                          <a:srgbClr val="FFFFFF"/>
                        </a:solidFill>
                        <a:effectLst/>
                      </a:endParaRPr>
                    </a:p>
                  </a:txBody>
                  <a:tcPr>
                    <a:noFill/>
                  </a:tcPr>
                </a:tc>
                <a:tc>
                  <a:txBody>
                    <a:bodyPr/>
                    <a:lstStyle/>
                    <a:p>
                      <a:pPr algn="r" fontAlgn="base">
                        <a:lnSpc>
                          <a:spcPts val="1350"/>
                        </a:lnSpc>
                        <a:buNone/>
                      </a:pPr>
                      <a:r>
                        <a:rPr lang="en-US" sz="1400" b="1" i="0" dirty="0" err="1">
                          <a:solidFill>
                            <a:srgbClr val="000000"/>
                          </a:solidFill>
                          <a:effectLst/>
                          <a:latin typeface="游ゴシック" panose="020B0400000000000000" pitchFamily="50" charset="-128"/>
                        </a:rPr>
                        <a:t>df</a:t>
                      </a:r>
                      <a:r>
                        <a:rPr lang="en-US" altLang="ja-JP" sz="1400" b="1" i="0" dirty="0">
                          <a:solidFill>
                            <a:srgbClr val="FFFFFF"/>
                          </a:solidFill>
                          <a:effectLst/>
                          <a:ea typeface="游ゴシック" panose="020B0400000000000000" pitchFamily="50" charset="-128"/>
                        </a:rPr>
                        <a:t>​</a:t>
                      </a:r>
                      <a:endParaRPr lang="en-US" altLang="ja-JP" sz="1400" b="1" i="0" dirty="0">
                        <a:solidFill>
                          <a:srgbClr val="FFFFFF"/>
                        </a:solidFill>
                        <a:effectLst/>
                      </a:endParaRPr>
                    </a:p>
                  </a:txBody>
                  <a:tcPr>
                    <a:noFill/>
                  </a:tcPr>
                </a:tc>
                <a:tc>
                  <a:txBody>
                    <a:bodyPr/>
                    <a:lstStyle/>
                    <a:p>
                      <a:pPr algn="r" fontAlgn="base">
                        <a:lnSpc>
                          <a:spcPts val="1350"/>
                        </a:lnSpc>
                        <a:buNone/>
                      </a:pPr>
                      <a:r>
                        <a:rPr lang="en-US" altLang="ja-JP" sz="1400" b="1" i="0" dirty="0">
                          <a:solidFill>
                            <a:srgbClr val="000000"/>
                          </a:solidFill>
                          <a:effectLst/>
                          <a:latin typeface="游ゴシック" panose="020B0400000000000000" pitchFamily="50" charset="-128"/>
                        </a:rPr>
                        <a:t>2</a:t>
                      </a:r>
                      <a:r>
                        <a:rPr lang="ja-JP" altLang="en-US" sz="1400" b="1" i="0" dirty="0">
                          <a:solidFill>
                            <a:srgbClr val="000000"/>
                          </a:solidFill>
                          <a:effectLst/>
                          <a:ea typeface="游ゴシック" panose="020B0400000000000000" pitchFamily="50" charset="-128"/>
                        </a:rPr>
                        <a:t>乗平均</a:t>
                      </a:r>
                      <a:r>
                        <a:rPr lang="ja-JP" altLang="en-US" sz="1400" b="1" i="0" dirty="0">
                          <a:solidFill>
                            <a:srgbClr val="FFFFFF"/>
                          </a:solidFill>
                          <a:effectLst/>
                          <a:latin typeface="游ゴシック" panose="020B0400000000000000" pitchFamily="50" charset="-128"/>
                        </a:rPr>
                        <a:t>​</a:t>
                      </a:r>
                      <a:endParaRPr lang="ja-JP" altLang="en-US" sz="1400" b="1" i="0" dirty="0">
                        <a:solidFill>
                          <a:srgbClr val="FFFFFF"/>
                        </a:solidFill>
                        <a:effectLst/>
                      </a:endParaRPr>
                    </a:p>
                  </a:txBody>
                  <a:tcPr>
                    <a:noFill/>
                  </a:tcPr>
                </a:tc>
                <a:tc>
                  <a:txBody>
                    <a:bodyPr/>
                    <a:lstStyle/>
                    <a:p>
                      <a:pPr algn="r" fontAlgn="base">
                        <a:lnSpc>
                          <a:spcPts val="1350"/>
                        </a:lnSpc>
                        <a:buNone/>
                      </a:pPr>
                      <a:r>
                        <a:rPr lang="en-US" sz="1400" b="1" i="0">
                          <a:solidFill>
                            <a:srgbClr val="000000"/>
                          </a:solidFill>
                          <a:effectLst/>
                          <a:latin typeface="游ゴシック" panose="020B0400000000000000" pitchFamily="50" charset="-128"/>
                        </a:rPr>
                        <a:t>F</a:t>
                      </a:r>
                      <a:r>
                        <a:rPr lang="en-US" altLang="ja-JP" sz="1400" b="1" i="0">
                          <a:solidFill>
                            <a:srgbClr val="FFFFFF"/>
                          </a:solidFill>
                          <a:effectLst/>
                          <a:ea typeface="游ゴシック" panose="020B0400000000000000" pitchFamily="50" charset="-128"/>
                        </a:rPr>
                        <a:t>​</a:t>
                      </a:r>
                      <a:endParaRPr lang="en-US" altLang="ja-JP" sz="1400" b="1" i="0">
                        <a:solidFill>
                          <a:srgbClr val="FFFFFF"/>
                        </a:solidFill>
                        <a:effectLst/>
                      </a:endParaRPr>
                    </a:p>
                  </a:txBody>
                  <a:tcPr>
                    <a:noFill/>
                  </a:tcPr>
                </a:tc>
                <a:tc>
                  <a:txBody>
                    <a:bodyPr/>
                    <a:lstStyle/>
                    <a:p>
                      <a:pPr algn="r" fontAlgn="base">
                        <a:lnSpc>
                          <a:spcPts val="1350"/>
                        </a:lnSpc>
                        <a:buNone/>
                      </a:pPr>
                      <a:r>
                        <a:rPr lang="en-US" sz="1400" b="1" i="0">
                          <a:solidFill>
                            <a:srgbClr val="000000"/>
                          </a:solidFill>
                          <a:effectLst/>
                          <a:latin typeface="游ゴシック" panose="020B0400000000000000" pitchFamily="50" charset="-128"/>
                        </a:rPr>
                        <a:t>p</a:t>
                      </a:r>
                      <a:r>
                        <a:rPr lang="en-US" altLang="ja-JP" sz="1400" b="1" i="0">
                          <a:solidFill>
                            <a:srgbClr val="FFFFFF"/>
                          </a:solidFill>
                          <a:effectLst/>
                          <a:ea typeface="游ゴシック" panose="020B0400000000000000" pitchFamily="50" charset="-128"/>
                        </a:rPr>
                        <a:t>​</a:t>
                      </a:r>
                      <a:endParaRPr lang="en-US" altLang="ja-JP" sz="1400" b="1" i="0">
                        <a:solidFill>
                          <a:srgbClr val="FFFFFF"/>
                        </a:solidFill>
                        <a:effectLst/>
                      </a:endParaRPr>
                    </a:p>
                  </a:txBody>
                  <a:tcPr>
                    <a:noFill/>
                  </a:tcPr>
                </a:tc>
                <a:extLst>
                  <a:ext uri="{0D108BD9-81ED-4DB2-BD59-A6C34878D82A}">
                    <a16:rowId xmlns:a16="http://schemas.microsoft.com/office/drawing/2014/main" val="2809685238"/>
                  </a:ext>
                </a:extLst>
              </a:tr>
              <a:tr h="370840">
                <a:tc>
                  <a:txBody>
                    <a:bodyPr/>
                    <a:lstStyle/>
                    <a:p>
                      <a:r>
                        <a:rPr kumimoji="1" lang="ja-JP" altLang="en-US" sz="1600" b="1" i="0" dirty="0">
                          <a:solidFill>
                            <a:srgbClr val="000000"/>
                          </a:solidFill>
                          <a:effectLst/>
                          <a:latin typeface="游ゴシック" panose="020B0400000000000000" pitchFamily="50" charset="-128"/>
                          <a:ea typeface="+mn-ea"/>
                        </a:rPr>
                        <a:t>名乗り</a:t>
                      </a:r>
                      <a:r>
                        <a:rPr kumimoji="1" lang="en-US" altLang="ja-JP" sz="1600" b="1" i="0" dirty="0">
                          <a:solidFill>
                            <a:srgbClr val="000000"/>
                          </a:solidFill>
                          <a:effectLst/>
                          <a:latin typeface="游ゴシック" panose="020B0400000000000000" pitchFamily="50" charset="-128"/>
                          <a:ea typeface="+mn-ea"/>
                        </a:rPr>
                        <a:t>*</a:t>
                      </a:r>
                      <a:r>
                        <a:rPr kumimoji="1" lang="ja-JP" altLang="en-US" sz="1600" b="1" i="0" dirty="0">
                          <a:solidFill>
                            <a:srgbClr val="000000"/>
                          </a:solidFill>
                          <a:effectLst/>
                          <a:latin typeface="游ゴシック" panose="020B0400000000000000" pitchFamily="50" charset="-128"/>
                          <a:ea typeface="+mn-ea"/>
                        </a:rPr>
                        <a:t>人格設定</a:t>
                      </a:r>
                      <a:endParaRPr kumimoji="1" lang="ja-JP" altLang="en-US" sz="1600" dirty="0"/>
                    </a:p>
                  </a:txBody>
                  <a:tcPr>
                    <a:noFill/>
                  </a:tcPr>
                </a:tc>
                <a:tc>
                  <a:txBody>
                    <a:bodyPr/>
                    <a:lstStyle/>
                    <a:p>
                      <a:pPr algn="r" fontAlgn="base">
                        <a:lnSpc>
                          <a:spcPts val="1350"/>
                        </a:lnSpc>
                        <a:buNone/>
                      </a:pPr>
                      <a:r>
                        <a:rPr lang="en-US" altLang="ja-JP" sz="1400" b="1" i="0" dirty="0">
                          <a:solidFill>
                            <a:srgbClr val="000000"/>
                          </a:solidFill>
                          <a:effectLst/>
                          <a:latin typeface="游ゴシック" panose="020B0400000000000000" pitchFamily="50" charset="-128"/>
                        </a:rPr>
                        <a:t>28.872</a:t>
                      </a:r>
                      <a:endParaRPr lang="en-US" altLang="ja-JP" sz="1400" b="1" i="0" dirty="0">
                        <a:solidFill>
                          <a:srgbClr val="000000"/>
                        </a:solidFill>
                        <a:effectLst/>
                      </a:endParaRP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ea typeface="游ゴシック" panose="020B0400000000000000" pitchFamily="50" charset="-128"/>
                        </a:rPr>
                        <a:t>1</a:t>
                      </a:r>
                      <a:endParaRPr lang="en-US" altLang="ja-JP" sz="1400" b="1" i="0" dirty="0">
                        <a:solidFill>
                          <a:srgbClr val="000000"/>
                        </a:solidFill>
                        <a:effectLst/>
                      </a:endParaRPr>
                    </a:p>
                  </a:txBody>
                  <a:tcPr>
                    <a:noFill/>
                  </a:tcPr>
                </a:tc>
                <a:tc>
                  <a:txBody>
                    <a:bodyPr/>
                    <a:lstStyle/>
                    <a:p>
                      <a:pPr algn="r" fontAlgn="base">
                        <a:lnSpc>
                          <a:spcPts val="1350"/>
                        </a:lnSpc>
                        <a:buNone/>
                      </a:pPr>
                      <a:r>
                        <a:rPr lang="en-US" altLang="ja-JP" sz="1400" b="1" i="0" dirty="0">
                          <a:solidFill>
                            <a:srgbClr val="000000"/>
                          </a:solidFill>
                          <a:effectLst/>
                          <a:latin typeface="游ゴシック" panose="020B0400000000000000" pitchFamily="50" charset="-128"/>
                          <a:ea typeface="游ゴシック" panose="020B0400000000000000" pitchFamily="50" charset="-128"/>
                        </a:rPr>
                        <a:t>28.872</a:t>
                      </a:r>
                      <a:r>
                        <a:rPr lang="en-US" altLang="ja-JP" sz="1400" b="1" i="0" dirty="0">
                          <a:solidFill>
                            <a:srgbClr val="000000"/>
                          </a:solidFill>
                          <a:effectLst/>
                          <a:ea typeface="游ゴシック" panose="020B0400000000000000" pitchFamily="50" charset="-128"/>
                        </a:rPr>
                        <a:t>​</a:t>
                      </a:r>
                      <a:endParaRPr lang="en-US" altLang="ja-JP" sz="1400" b="1" i="0" dirty="0">
                        <a:solidFill>
                          <a:srgbClr val="000000"/>
                        </a:solidFill>
                        <a:effectLst/>
                      </a:endParaRP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5.352</a:t>
                      </a:r>
                      <a:endParaRPr lang="en-US" sz="1400" b="1" i="0" dirty="0">
                        <a:solidFill>
                          <a:srgbClr val="000000"/>
                        </a:solidFill>
                        <a:effectLst/>
                      </a:endParaRPr>
                    </a:p>
                  </a:txBody>
                  <a:tcPr>
                    <a:noFill/>
                  </a:tcPr>
                </a:tc>
                <a:tc>
                  <a:txBody>
                    <a:bodyPr/>
                    <a:lstStyle/>
                    <a:p>
                      <a:pPr algn="r" fontAlgn="base">
                        <a:lnSpc>
                          <a:spcPts val="1350"/>
                        </a:lnSpc>
                        <a:buNone/>
                      </a:pPr>
                      <a:r>
                        <a:rPr lang="en-US" sz="1400" b="1" i="0" dirty="0">
                          <a:solidFill>
                            <a:srgbClr val="C00000"/>
                          </a:solidFill>
                          <a:effectLst/>
                          <a:latin typeface="游ゴシック" panose="020B0400000000000000" pitchFamily="50" charset="-128"/>
                        </a:rPr>
                        <a:t>0.022</a:t>
                      </a:r>
                      <a:r>
                        <a:rPr lang="en-US" sz="1400" b="1" i="0" dirty="0">
                          <a:solidFill>
                            <a:srgbClr val="000000"/>
                          </a:solidFill>
                          <a:effectLst/>
                          <a:latin typeface="游ゴシック" panose="020B0400000000000000" pitchFamily="50" charset="-128"/>
                        </a:rPr>
                        <a:t>​</a:t>
                      </a:r>
                      <a:endParaRPr lang="en-US" sz="1400" b="1" i="0" dirty="0">
                        <a:solidFill>
                          <a:srgbClr val="000000"/>
                        </a:solidFill>
                        <a:effectLst/>
                      </a:endParaRPr>
                    </a:p>
                  </a:txBody>
                  <a:tcPr>
                    <a:noFill/>
                  </a:tcPr>
                </a:tc>
                <a:extLst>
                  <a:ext uri="{0D108BD9-81ED-4DB2-BD59-A6C34878D82A}">
                    <a16:rowId xmlns:a16="http://schemas.microsoft.com/office/drawing/2014/main" val="2808757430"/>
                  </a:ext>
                </a:extLst>
              </a:tr>
            </a:tbl>
          </a:graphicData>
        </a:graphic>
      </p:graphicFrame>
      <p:graphicFrame>
        <p:nvGraphicFramePr>
          <p:cNvPr id="15" name="表 14">
            <a:extLst>
              <a:ext uri="{FF2B5EF4-FFF2-40B4-BE49-F238E27FC236}">
                <a16:creationId xmlns:a16="http://schemas.microsoft.com/office/drawing/2014/main" id="{EB958521-1DA9-FEA5-C076-49E9EB015878}"/>
              </a:ext>
            </a:extLst>
          </p:cNvPr>
          <p:cNvGraphicFramePr>
            <a:graphicFrameLocks noGrp="1"/>
          </p:cNvGraphicFramePr>
          <p:nvPr>
            <p:extLst>
              <p:ext uri="{D42A27DB-BD31-4B8C-83A1-F6EECF244321}">
                <p14:modId xmlns:p14="http://schemas.microsoft.com/office/powerpoint/2010/main" val="3077175220"/>
              </p:ext>
            </p:extLst>
          </p:nvPr>
        </p:nvGraphicFramePr>
        <p:xfrm>
          <a:off x="543530" y="3576213"/>
          <a:ext cx="7923140" cy="998728"/>
        </p:xfrm>
        <a:graphic>
          <a:graphicData uri="http://schemas.openxmlformats.org/drawingml/2006/table">
            <a:tbl>
              <a:tblPr firstRow="1" bandRow="1">
                <a:tableStyleId>{9D7B26C5-4107-4FEC-AEDC-1716B250A1EF}</a:tableStyleId>
              </a:tblPr>
              <a:tblGrid>
                <a:gridCol w="743403">
                  <a:extLst>
                    <a:ext uri="{9D8B030D-6E8A-4147-A177-3AD203B41FA5}">
                      <a16:colId xmlns:a16="http://schemas.microsoft.com/office/drawing/2014/main" val="3639033113"/>
                    </a:ext>
                  </a:extLst>
                </a:gridCol>
                <a:gridCol w="1003723">
                  <a:extLst>
                    <a:ext uri="{9D8B030D-6E8A-4147-A177-3AD203B41FA5}">
                      <a16:colId xmlns:a16="http://schemas.microsoft.com/office/drawing/2014/main" val="4143698353"/>
                    </a:ext>
                  </a:extLst>
                </a:gridCol>
                <a:gridCol w="607052">
                  <a:extLst>
                    <a:ext uri="{9D8B030D-6E8A-4147-A177-3AD203B41FA5}">
                      <a16:colId xmlns:a16="http://schemas.microsoft.com/office/drawing/2014/main" val="1427256339"/>
                    </a:ext>
                  </a:extLst>
                </a:gridCol>
                <a:gridCol w="658292">
                  <a:extLst>
                    <a:ext uri="{9D8B030D-6E8A-4147-A177-3AD203B41FA5}">
                      <a16:colId xmlns:a16="http://schemas.microsoft.com/office/drawing/2014/main" val="1438680861"/>
                    </a:ext>
                  </a:extLst>
                </a:gridCol>
                <a:gridCol w="1033310">
                  <a:extLst>
                    <a:ext uri="{9D8B030D-6E8A-4147-A177-3AD203B41FA5}">
                      <a16:colId xmlns:a16="http://schemas.microsoft.com/office/drawing/2014/main" val="2253055787"/>
                    </a:ext>
                  </a:extLst>
                </a:gridCol>
                <a:gridCol w="775472">
                  <a:extLst>
                    <a:ext uri="{9D8B030D-6E8A-4147-A177-3AD203B41FA5}">
                      <a16:colId xmlns:a16="http://schemas.microsoft.com/office/drawing/2014/main" val="2801815050"/>
                    </a:ext>
                  </a:extLst>
                </a:gridCol>
                <a:gridCol w="775472">
                  <a:extLst>
                    <a:ext uri="{9D8B030D-6E8A-4147-A177-3AD203B41FA5}">
                      <a16:colId xmlns:a16="http://schemas.microsoft.com/office/drawing/2014/main" val="4189014961"/>
                    </a:ext>
                  </a:extLst>
                </a:gridCol>
                <a:gridCol w="775472">
                  <a:extLst>
                    <a:ext uri="{9D8B030D-6E8A-4147-A177-3AD203B41FA5}">
                      <a16:colId xmlns:a16="http://schemas.microsoft.com/office/drawing/2014/main" val="3563772630"/>
                    </a:ext>
                  </a:extLst>
                </a:gridCol>
                <a:gridCol w="775472">
                  <a:extLst>
                    <a:ext uri="{9D8B030D-6E8A-4147-A177-3AD203B41FA5}">
                      <a16:colId xmlns:a16="http://schemas.microsoft.com/office/drawing/2014/main" val="3674438810"/>
                    </a:ext>
                  </a:extLst>
                </a:gridCol>
                <a:gridCol w="775472">
                  <a:extLst>
                    <a:ext uri="{9D8B030D-6E8A-4147-A177-3AD203B41FA5}">
                      <a16:colId xmlns:a16="http://schemas.microsoft.com/office/drawing/2014/main" val="678252903"/>
                    </a:ext>
                  </a:extLst>
                </a:gridCol>
              </a:tblGrid>
              <a:tr h="370840">
                <a:tc>
                  <a:txBody>
                    <a:bodyPr/>
                    <a:lstStyle/>
                    <a:p>
                      <a:pPr algn="l" fontAlgn="base">
                        <a:lnSpc>
                          <a:spcPts val="1350"/>
                        </a:lnSpc>
                        <a:buNone/>
                      </a:pPr>
                      <a:r>
                        <a:rPr lang="ja-JP" altLang="en-US" sz="1400" b="1" i="0" dirty="0">
                          <a:solidFill>
                            <a:schemeClr val="tx1"/>
                          </a:solidFill>
                          <a:effectLst/>
                          <a:latin typeface="+mn-ea"/>
                          <a:ea typeface="+mn-ea"/>
                        </a:rPr>
                        <a:t>名乗り</a:t>
                      </a: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人格設定要因</a:t>
                      </a:r>
                      <a:r>
                        <a:rPr lang="ja-JP" altLang="en-US" sz="1400" b="1" i="0" dirty="0">
                          <a:solidFill>
                            <a:srgbClr val="FFFFFF"/>
                          </a:solidFill>
                          <a:effectLst/>
                          <a:latin typeface="+mn-ea"/>
                          <a:ea typeface="+mn-ea"/>
                        </a:rPr>
                        <a:t>​</a:t>
                      </a:r>
                    </a:p>
                  </a:txBody>
                  <a:tcPr>
                    <a:noFill/>
                  </a:tcPr>
                </a:tc>
                <a:tc>
                  <a:txBody>
                    <a:bodyPr/>
                    <a:lstStyle/>
                    <a:p>
                      <a:pPr algn="l" fontAlgn="auto">
                        <a:lnSpc>
                          <a:spcPts val="1350"/>
                        </a:lnSpc>
                        <a:buNone/>
                      </a:pPr>
                      <a:r>
                        <a:rPr lang="ja-JP" altLang="en-US" sz="1400" b="1" i="0" dirty="0">
                          <a:solidFill>
                            <a:srgbClr val="000000"/>
                          </a:solidFill>
                          <a:effectLst/>
                          <a:latin typeface="+mn-ea"/>
                          <a:ea typeface="+mn-ea"/>
                        </a:rPr>
                        <a:t>​</a:t>
                      </a:r>
                    </a:p>
                  </a:txBody>
                  <a:tcPr>
                    <a:noFill/>
                  </a:tcPr>
                </a:tc>
                <a:tc>
                  <a:txBody>
                    <a:bodyPr/>
                    <a:lstStyle/>
                    <a:p>
                      <a:pPr algn="l" fontAlgn="base">
                        <a:lnSpc>
                          <a:spcPts val="1350"/>
                        </a:lnSpc>
                        <a:buNone/>
                      </a:pPr>
                      <a:r>
                        <a:rPr lang="ja-JP" altLang="en-US" sz="1400" b="1" i="0" dirty="0">
                          <a:solidFill>
                            <a:schemeClr val="tx1"/>
                          </a:solidFill>
                          <a:effectLst/>
                          <a:latin typeface="+mn-ea"/>
                          <a:ea typeface="+mn-ea"/>
                        </a:rPr>
                        <a:t>名乗り</a:t>
                      </a: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人格設定要因</a:t>
                      </a:r>
                      <a:r>
                        <a:rPr lang="ja-JP" altLang="en-US" sz="1400" b="1" i="0" dirty="0">
                          <a:solidFill>
                            <a:srgbClr val="FFFFFF"/>
                          </a:solidFill>
                          <a:effectLst/>
                          <a:latin typeface="+mn-ea"/>
                          <a:ea typeface="+mn-ea"/>
                        </a:rPr>
                        <a:t>​</a:t>
                      </a:r>
                    </a:p>
                  </a:txBody>
                  <a:tcPr>
                    <a:noFill/>
                  </a:tcPr>
                </a:tc>
                <a:tc>
                  <a:txBody>
                    <a:bodyPr/>
                    <a:lstStyle/>
                    <a:p>
                      <a:pPr algn="r" fontAlgn="base">
                        <a:lnSpc>
                          <a:spcPts val="1350"/>
                        </a:lnSpc>
                        <a:buNone/>
                      </a:pPr>
                      <a:r>
                        <a:rPr lang="ja-JP" altLang="en-US" sz="1400" b="1" i="0" dirty="0">
                          <a:solidFill>
                            <a:srgbClr val="000000"/>
                          </a:solidFill>
                          <a:effectLst/>
                          <a:latin typeface="+mn-ea"/>
                          <a:ea typeface="+mn-ea"/>
                        </a:rPr>
                        <a:t>平均値の差</a:t>
                      </a:r>
                      <a:r>
                        <a:rPr lang="ja-JP" altLang="en-US" sz="1400" b="1" i="0" dirty="0">
                          <a:solidFill>
                            <a:srgbClr val="FFFFFF"/>
                          </a:solidFill>
                          <a:effectLst/>
                          <a:latin typeface="+mn-ea"/>
                          <a:ea typeface="+mn-ea"/>
                        </a:rPr>
                        <a:t>​</a:t>
                      </a:r>
                    </a:p>
                  </a:txBody>
                  <a:tcPr>
                    <a:noFill/>
                  </a:tcPr>
                </a:tc>
                <a:tc>
                  <a:txBody>
                    <a:bodyPr/>
                    <a:lstStyle/>
                    <a:p>
                      <a:pPr algn="r" fontAlgn="base">
                        <a:lnSpc>
                          <a:spcPts val="1350"/>
                        </a:lnSpc>
                        <a:buNone/>
                      </a:pPr>
                      <a:r>
                        <a:rPr lang="ja-JP" altLang="en-US" sz="1400" b="1" i="0" dirty="0">
                          <a:solidFill>
                            <a:srgbClr val="000000"/>
                          </a:solidFill>
                          <a:effectLst/>
                          <a:ea typeface="游ゴシック" panose="020B0400000000000000" pitchFamily="50" charset="-128"/>
                        </a:rPr>
                        <a:t>標準誤差</a:t>
                      </a:r>
                      <a:r>
                        <a:rPr lang="ja-JP" altLang="en-US" sz="1400" b="1" i="0" dirty="0">
                          <a:solidFill>
                            <a:srgbClr val="FFFFFF"/>
                          </a:solidFill>
                          <a:effectLst/>
                          <a:latin typeface="游ゴシック" panose="020B0400000000000000" pitchFamily="50" charset="-128"/>
                        </a:rPr>
                        <a:t>​</a:t>
                      </a:r>
                      <a:endParaRPr lang="ja-JP" altLang="en-US" sz="1400" b="1" i="0" dirty="0">
                        <a:solidFill>
                          <a:srgbClr val="FFFFFF"/>
                        </a:solidFill>
                        <a:effectLst/>
                      </a:endParaRPr>
                    </a:p>
                  </a:txBody>
                  <a:tcPr>
                    <a:noFill/>
                  </a:tcPr>
                </a:tc>
                <a:tc>
                  <a:txBody>
                    <a:bodyPr/>
                    <a:lstStyle/>
                    <a:p>
                      <a:pPr algn="r" fontAlgn="base">
                        <a:lnSpc>
                          <a:spcPts val="1350"/>
                        </a:lnSpc>
                        <a:buNone/>
                      </a:pPr>
                      <a:r>
                        <a:rPr lang="ja-JP" altLang="en-US" sz="1400" b="1" i="0" dirty="0">
                          <a:solidFill>
                            <a:srgbClr val="000000"/>
                          </a:solidFill>
                          <a:effectLst/>
                          <a:ea typeface="游ゴシック" panose="020B0400000000000000" pitchFamily="50" charset="-128"/>
                        </a:rPr>
                        <a:t>自由度</a:t>
                      </a:r>
                      <a:r>
                        <a:rPr lang="ja-JP" altLang="en-US" sz="1400" b="1" i="0" dirty="0">
                          <a:solidFill>
                            <a:srgbClr val="FFFFFF"/>
                          </a:solidFill>
                          <a:effectLst/>
                          <a:latin typeface="游ゴシック" panose="020B0400000000000000" pitchFamily="50" charset="-128"/>
                        </a:rPr>
                        <a:t>​</a:t>
                      </a:r>
                      <a:endParaRPr lang="ja-JP" altLang="en-US" sz="1400" b="1" i="0" dirty="0">
                        <a:solidFill>
                          <a:srgbClr val="FFFFFF"/>
                        </a:solidFill>
                        <a:effectLst/>
                      </a:endParaRP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t</a:t>
                      </a:r>
                      <a:r>
                        <a:rPr lang="en-US" altLang="ja-JP" sz="1400" b="1" i="0" dirty="0">
                          <a:solidFill>
                            <a:srgbClr val="FFFFFF"/>
                          </a:solidFill>
                          <a:effectLst/>
                          <a:ea typeface="游ゴシック" panose="020B0400000000000000" pitchFamily="50" charset="-128"/>
                        </a:rPr>
                        <a:t>​</a:t>
                      </a:r>
                      <a:endParaRPr lang="en-US" altLang="ja-JP" sz="1400" b="1" i="0" dirty="0">
                        <a:solidFill>
                          <a:srgbClr val="FFFFFF"/>
                        </a:solidFill>
                        <a:effectLst/>
                      </a:endParaRPr>
                    </a:p>
                  </a:txBody>
                  <a:tcPr>
                    <a:noFill/>
                  </a:tcPr>
                </a:tc>
                <a:tc>
                  <a:txBody>
                    <a:bodyPr/>
                    <a:lstStyle/>
                    <a:p>
                      <a:pPr algn="r" fontAlgn="base">
                        <a:lnSpc>
                          <a:spcPts val="1350"/>
                        </a:lnSpc>
                        <a:buNone/>
                      </a:pPr>
                      <a:r>
                        <a:rPr lang="en-US" sz="1400" b="1" i="0">
                          <a:solidFill>
                            <a:srgbClr val="000000"/>
                          </a:solidFill>
                          <a:effectLst/>
                          <a:latin typeface="游ゴシック" panose="020B0400000000000000" pitchFamily="50" charset="-128"/>
                        </a:rPr>
                        <a:t>p</a:t>
                      </a:r>
                      <a:r>
                        <a:rPr lang="ja-JP" altLang="en-US" sz="1400" b="1" i="0">
                          <a:solidFill>
                            <a:srgbClr val="000000"/>
                          </a:solidFill>
                          <a:effectLst/>
                          <a:ea typeface="游ゴシック" panose="020B0400000000000000" pitchFamily="50" charset="-128"/>
                        </a:rPr>
                        <a:t>テューキー</a:t>
                      </a:r>
                      <a:r>
                        <a:rPr lang="ja-JP" altLang="en-US" sz="1400" b="1" i="0">
                          <a:solidFill>
                            <a:srgbClr val="FFFFFF"/>
                          </a:solidFill>
                          <a:effectLst/>
                          <a:latin typeface="游ゴシック" panose="020B0400000000000000" pitchFamily="50" charset="-128"/>
                        </a:rPr>
                        <a:t>​</a:t>
                      </a:r>
                      <a:endParaRPr lang="ja-JP" altLang="en-US" sz="1400" b="1" i="0">
                        <a:solidFill>
                          <a:srgbClr val="FFFFFF"/>
                        </a:solidFill>
                        <a:effectLst/>
                      </a:endParaRPr>
                    </a:p>
                  </a:txBody>
                  <a:tcPr>
                    <a:noFill/>
                  </a:tcPr>
                </a:tc>
                <a:extLst>
                  <a:ext uri="{0D108BD9-81ED-4DB2-BD59-A6C34878D82A}">
                    <a16:rowId xmlns:a16="http://schemas.microsoft.com/office/drawing/2014/main" val="2809685238"/>
                  </a:ext>
                </a:extLst>
              </a:tr>
              <a:tr h="370840">
                <a:tc>
                  <a:txBody>
                    <a:bodyPr/>
                    <a:lstStyle/>
                    <a:p>
                      <a:pPr algn="l" fontAlgn="base">
                        <a:lnSpc>
                          <a:spcPts val="1350"/>
                        </a:lnSpc>
                        <a:buNone/>
                      </a:pPr>
                      <a:r>
                        <a:rPr lang="ja-JP" altLang="en-US" sz="1400" b="1" i="0" dirty="0">
                          <a:solidFill>
                            <a:srgbClr val="000000"/>
                          </a:solidFill>
                          <a:effectLst/>
                          <a:latin typeface="+mn-ea"/>
                          <a:ea typeface="+mn-ea"/>
                        </a:rPr>
                        <a:t>あり</a:t>
                      </a:r>
                      <a:endParaRPr lang="en-US" altLang="ja-JP" sz="1400" b="1" i="0" dirty="0">
                        <a:solidFill>
                          <a:srgbClr val="000000"/>
                        </a:solidFill>
                        <a:effectLst/>
                        <a:latin typeface="+mn-ea"/>
                        <a:ea typeface="+mn-ea"/>
                      </a:endParaRP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固定​</a:t>
                      </a:r>
                    </a:p>
                  </a:txBody>
                  <a:tcPr>
                    <a:noFill/>
                  </a:tcPr>
                </a:tc>
                <a:tc>
                  <a:txBody>
                    <a:bodyPr/>
                    <a:lstStyle/>
                    <a:p>
                      <a:pPr algn="l" fontAlgn="base">
                        <a:lnSpc>
                          <a:spcPts val="1350"/>
                        </a:lnSpc>
                        <a:buNone/>
                      </a:pPr>
                      <a:r>
                        <a:rPr lang="en-US" sz="1400" b="1" i="0" dirty="0">
                          <a:solidFill>
                            <a:srgbClr val="000000"/>
                          </a:solidFill>
                          <a:effectLst/>
                          <a:latin typeface="+mn-ea"/>
                          <a:ea typeface="+mn-ea"/>
                        </a:rPr>
                        <a:t>-</a:t>
                      </a:r>
                      <a:r>
                        <a:rPr lang="en-US" altLang="ja-JP" sz="1400" b="1" i="0" dirty="0">
                          <a:solidFill>
                            <a:srgbClr val="000000"/>
                          </a:solidFill>
                          <a:effectLst/>
                          <a:latin typeface="+mn-ea"/>
                          <a:ea typeface="+mn-ea"/>
                        </a:rPr>
                        <a:t>​</a:t>
                      </a: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なし</a:t>
                      </a:r>
                      <a:endParaRPr lang="en-US" altLang="ja-JP" sz="1400" b="1" i="0" dirty="0">
                        <a:solidFill>
                          <a:srgbClr val="000000"/>
                        </a:solidFill>
                        <a:effectLst/>
                        <a:latin typeface="+mn-ea"/>
                        <a:ea typeface="+mn-ea"/>
                      </a:endParaRP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固定</a:t>
                      </a:r>
                      <a:endParaRPr lang="en-US" altLang="ja-JP" sz="1400" b="1" i="0" dirty="0">
                        <a:solidFill>
                          <a:srgbClr val="000000"/>
                        </a:solidFill>
                        <a:effectLst/>
                        <a:latin typeface="+mn-ea"/>
                        <a:ea typeface="+mn-ea"/>
                      </a:endParaRPr>
                    </a:p>
                  </a:txBody>
                  <a:tcPr>
                    <a:noFill/>
                  </a:tcPr>
                </a:tc>
                <a:tc>
                  <a:txBody>
                    <a:bodyPr/>
                    <a:lstStyle/>
                    <a:p>
                      <a:pPr algn="r" fontAlgn="base">
                        <a:lnSpc>
                          <a:spcPts val="1350"/>
                        </a:lnSpc>
                        <a:buNone/>
                      </a:pPr>
                      <a:r>
                        <a:rPr lang="en-US" altLang="ja-JP" sz="1400" b="1" i="0" dirty="0">
                          <a:solidFill>
                            <a:srgbClr val="000000"/>
                          </a:solidFill>
                          <a:effectLst/>
                          <a:latin typeface="+mn-ea"/>
                          <a:ea typeface="+mn-ea"/>
                        </a:rPr>
                        <a:t>-1.539​</a:t>
                      </a: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0.502</a:t>
                      </a:r>
                      <a:r>
                        <a:rPr lang="en-US" altLang="ja-JP" sz="1400" b="0" i="0" dirty="0">
                          <a:solidFill>
                            <a:srgbClr val="000000"/>
                          </a:solidFill>
                          <a:effectLst/>
                          <a:ea typeface="游ゴシック" panose="020B0400000000000000" pitchFamily="50" charset="-128"/>
                        </a:rPr>
                        <a:t>​</a:t>
                      </a:r>
                      <a:endParaRPr lang="en-US" altLang="ja-JP" sz="1400" b="0" i="0" dirty="0">
                        <a:solidFill>
                          <a:srgbClr val="000000"/>
                        </a:solidFill>
                        <a:effectLst/>
                      </a:endParaRP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157</a:t>
                      </a:r>
                      <a:endParaRPr lang="en-US" sz="1400" b="0" i="0" dirty="0">
                        <a:solidFill>
                          <a:srgbClr val="000000"/>
                        </a:solidFill>
                        <a:effectLst/>
                      </a:endParaRP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-3.065</a:t>
                      </a:r>
                      <a:r>
                        <a:rPr lang="en-US" sz="1400" b="0" i="0" dirty="0">
                          <a:solidFill>
                            <a:srgbClr val="000000"/>
                          </a:solidFill>
                          <a:effectLst/>
                          <a:latin typeface="游ゴシック" panose="020B0400000000000000" pitchFamily="50" charset="-128"/>
                        </a:rPr>
                        <a:t>​</a:t>
                      </a:r>
                      <a:endParaRPr lang="en-US" sz="1400" b="0" i="0" dirty="0">
                        <a:solidFill>
                          <a:srgbClr val="000000"/>
                        </a:solidFill>
                        <a:effectLst/>
                      </a:endParaRPr>
                    </a:p>
                  </a:txBody>
                  <a:tcPr>
                    <a:noFill/>
                  </a:tcPr>
                </a:tc>
                <a:tc>
                  <a:txBody>
                    <a:bodyPr/>
                    <a:lstStyle/>
                    <a:p>
                      <a:pPr algn="r" fontAlgn="base">
                        <a:lnSpc>
                          <a:spcPts val="1350"/>
                        </a:lnSpc>
                        <a:buNone/>
                      </a:pPr>
                      <a:r>
                        <a:rPr lang="en-US" sz="1400" b="1" i="0" dirty="0">
                          <a:solidFill>
                            <a:srgbClr val="C00000"/>
                          </a:solidFill>
                          <a:effectLst/>
                          <a:latin typeface="游ゴシック" panose="020B0400000000000000" pitchFamily="50" charset="-128"/>
                        </a:rPr>
                        <a:t>0.014</a:t>
                      </a:r>
                      <a:endParaRPr lang="en-US" sz="1400" b="0" i="0" dirty="0">
                        <a:solidFill>
                          <a:srgbClr val="000000"/>
                        </a:solidFill>
                        <a:effectLst/>
                      </a:endParaRPr>
                    </a:p>
                  </a:txBody>
                  <a:tcPr>
                    <a:noFill/>
                  </a:tcPr>
                </a:tc>
                <a:extLst>
                  <a:ext uri="{0D108BD9-81ED-4DB2-BD59-A6C34878D82A}">
                    <a16:rowId xmlns:a16="http://schemas.microsoft.com/office/drawing/2014/main" val="2808757430"/>
                  </a:ext>
                </a:extLst>
              </a:tr>
            </a:tbl>
          </a:graphicData>
        </a:graphic>
      </p:graphicFrame>
      <p:sp>
        <p:nvSpPr>
          <p:cNvPr id="5" name="四角形: 角を丸くする 4">
            <a:extLst>
              <a:ext uri="{FF2B5EF4-FFF2-40B4-BE49-F238E27FC236}">
                <a16:creationId xmlns:a16="http://schemas.microsoft.com/office/drawing/2014/main" id="{3ED777E3-6D4F-8500-E495-26E2F6082E12}"/>
              </a:ext>
            </a:extLst>
          </p:cNvPr>
          <p:cNvSpPr/>
          <p:nvPr/>
        </p:nvSpPr>
        <p:spPr>
          <a:xfrm>
            <a:off x="4182533" y="5264464"/>
            <a:ext cx="4563534" cy="1316697"/>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F4497D01-9E95-23CD-627A-39E4770BFA0D}"/>
              </a:ext>
            </a:extLst>
          </p:cNvPr>
          <p:cNvSpPr txBox="1"/>
          <p:nvPr/>
        </p:nvSpPr>
        <p:spPr>
          <a:xfrm>
            <a:off x="4182533" y="5322647"/>
            <a:ext cx="4618566" cy="1477328"/>
          </a:xfrm>
          <a:prstGeom prst="rect">
            <a:avLst/>
          </a:prstGeom>
          <a:noFill/>
        </p:spPr>
        <p:txBody>
          <a:bodyPr wrap="square">
            <a:spAutoFit/>
          </a:bodyPr>
          <a:lstStyle/>
          <a:p>
            <a:r>
              <a:rPr lang="ja-JP" altLang="en-US" b="1" dirty="0">
                <a:latin typeface="+mn-ea"/>
              </a:rPr>
              <a:t>ユーザは</a:t>
            </a:r>
            <a:r>
              <a:rPr lang="en-US" altLang="ja-JP" b="1" dirty="0">
                <a:latin typeface="+mn-ea"/>
              </a:rPr>
              <a:t>LLM</a:t>
            </a:r>
            <a:r>
              <a:rPr lang="ja-JP" altLang="en-US" b="1" dirty="0">
                <a:latin typeface="+mn-ea"/>
              </a:rPr>
              <a:t>の人格が固定の際，</a:t>
            </a:r>
            <a:endParaRPr lang="en-US" altLang="ja-JP" b="1" dirty="0">
              <a:latin typeface="+mn-ea"/>
            </a:endParaRPr>
          </a:p>
          <a:p>
            <a:r>
              <a:rPr lang="en-US" altLang="ja-JP" b="1" dirty="0">
                <a:latin typeface="+mn-ea"/>
              </a:rPr>
              <a:t>LLM</a:t>
            </a:r>
            <a:r>
              <a:rPr lang="ja-JP" altLang="en-US" b="1" dirty="0">
                <a:latin typeface="+mn-ea"/>
              </a:rPr>
              <a:t>が</a:t>
            </a:r>
            <a:r>
              <a:rPr lang="ja-JP" altLang="en-US" b="1" dirty="0">
                <a:solidFill>
                  <a:srgbClr val="C00000"/>
                </a:solidFill>
                <a:latin typeface="+mn-ea"/>
              </a:rPr>
              <a:t>名乗らない</a:t>
            </a:r>
            <a:r>
              <a:rPr lang="ja-JP" altLang="en-US" b="1" dirty="0">
                <a:latin typeface="+mn-ea"/>
              </a:rPr>
              <a:t>ことで</a:t>
            </a:r>
            <a:r>
              <a:rPr lang="en-US" altLang="ja-JP" b="1" dirty="0">
                <a:solidFill>
                  <a:srgbClr val="C00000"/>
                </a:solidFill>
                <a:latin typeface="+mn-ea"/>
              </a:rPr>
              <a:t>LLM</a:t>
            </a:r>
            <a:r>
              <a:rPr lang="ja-JP" altLang="en-US" b="1" dirty="0">
                <a:solidFill>
                  <a:srgbClr val="C00000"/>
                </a:solidFill>
                <a:latin typeface="+mn-ea"/>
              </a:rPr>
              <a:t>のやりとりにより注意を引かれる</a:t>
            </a:r>
            <a:r>
              <a:rPr lang="ja-JP" altLang="en-US" b="1" dirty="0">
                <a:latin typeface="+mn-ea"/>
              </a:rPr>
              <a:t>ことが示唆</a:t>
            </a:r>
            <a:endParaRPr lang="en-US" altLang="ja-JP" b="1" dirty="0">
              <a:latin typeface="+mn-ea"/>
            </a:endParaRPr>
          </a:p>
          <a:p>
            <a:r>
              <a:rPr lang="ja-JP" altLang="en-US" b="1" dirty="0">
                <a:latin typeface="+mn-ea"/>
              </a:rPr>
              <a:t>（名乗りあり ＜</a:t>
            </a:r>
            <a:r>
              <a:rPr lang="en-US" altLang="ja-JP" b="1" dirty="0">
                <a:latin typeface="+mn-ea"/>
              </a:rPr>
              <a:t> </a:t>
            </a:r>
            <a:r>
              <a:rPr lang="ja-JP" altLang="en-US" b="1" dirty="0">
                <a:latin typeface="+mn-ea"/>
              </a:rPr>
              <a:t>名乗りなし）</a:t>
            </a:r>
          </a:p>
          <a:p>
            <a:endParaRPr lang="ja-JP" altLang="en-US" dirty="0"/>
          </a:p>
        </p:txBody>
      </p:sp>
      <p:sp>
        <p:nvSpPr>
          <p:cNvPr id="10" name="矢印: 右 9">
            <a:extLst>
              <a:ext uri="{FF2B5EF4-FFF2-40B4-BE49-F238E27FC236}">
                <a16:creationId xmlns:a16="http://schemas.microsoft.com/office/drawing/2014/main" id="{F80F4E93-72DC-8AA4-3EF7-E9D2EC87BBCB}"/>
              </a:ext>
            </a:extLst>
          </p:cNvPr>
          <p:cNvSpPr/>
          <p:nvPr/>
        </p:nvSpPr>
        <p:spPr>
          <a:xfrm rot="5400000">
            <a:off x="6267695" y="4585269"/>
            <a:ext cx="393208" cy="668867"/>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grpSp>
        <p:nvGrpSpPr>
          <p:cNvPr id="16" name="グループ化 15">
            <a:extLst>
              <a:ext uri="{FF2B5EF4-FFF2-40B4-BE49-F238E27FC236}">
                <a16:creationId xmlns:a16="http://schemas.microsoft.com/office/drawing/2014/main" id="{8F3A5AE9-CF5C-C6E8-C9E4-D06B48B7E58A}"/>
              </a:ext>
            </a:extLst>
          </p:cNvPr>
          <p:cNvGrpSpPr/>
          <p:nvPr/>
        </p:nvGrpSpPr>
        <p:grpSpPr>
          <a:xfrm>
            <a:off x="540000" y="4500000"/>
            <a:ext cx="3313811" cy="2347842"/>
            <a:chOff x="540000" y="4500000"/>
            <a:chExt cx="3313811" cy="2347842"/>
          </a:xfrm>
        </p:grpSpPr>
        <p:pic>
          <p:nvPicPr>
            <p:cNvPr id="12292" name="Picture 4">
              <a:extLst>
                <a:ext uri="{FF2B5EF4-FFF2-40B4-BE49-F238E27FC236}">
                  <a16:creationId xmlns:a16="http://schemas.microsoft.com/office/drawing/2014/main" id="{AEB63CB3-D5AB-272D-5F3F-37BD409924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000" y="4500000"/>
              <a:ext cx="3313811" cy="2347842"/>
            </a:xfrm>
            <a:prstGeom prst="rect">
              <a:avLst/>
            </a:prstGeom>
            <a:noFill/>
            <a:extLst>
              <a:ext uri="{909E8E84-426E-40DD-AFC4-6F175D3DCCD1}">
                <a14:hiddenFill xmlns:a14="http://schemas.microsoft.com/office/drawing/2010/main">
                  <a:solidFill>
                    <a:srgbClr val="FFFFFF"/>
                  </a:solidFill>
                </a14:hiddenFill>
              </a:ext>
            </a:extLst>
          </p:spPr>
        </p:pic>
        <p:sp>
          <p:nvSpPr>
            <p:cNvPr id="12" name="正方形/長方形 11">
              <a:extLst>
                <a:ext uri="{FF2B5EF4-FFF2-40B4-BE49-F238E27FC236}">
                  <a16:creationId xmlns:a16="http://schemas.microsoft.com/office/drawing/2014/main" id="{F7FDB95D-EA61-0DF5-4F6E-5E4DD3C67F0D}"/>
                </a:ext>
              </a:extLst>
            </p:cNvPr>
            <p:cNvSpPr/>
            <p:nvPr/>
          </p:nvSpPr>
          <p:spPr>
            <a:xfrm>
              <a:off x="540000" y="6016625"/>
              <a:ext cx="247650" cy="203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8980147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5B32AA5-DB95-6C3B-BFD7-767FB3EA1B93}"/>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CAF4FA8-3F21-FD61-4321-9624D9CD57BE}"/>
              </a:ext>
            </a:extLst>
          </p:cNvPr>
          <p:cNvSpPr>
            <a:spLocks noGrp="1"/>
          </p:cNvSpPr>
          <p:nvPr>
            <p:ph type="sldNum" sz="quarter" idx="12"/>
          </p:nvPr>
        </p:nvSpPr>
        <p:spPr/>
        <p:txBody>
          <a:bodyPr/>
          <a:lstStyle/>
          <a:p>
            <a:fld id="{18020408-E1FF-429E-A8D5-EB2A190A0D77}" type="slidenum">
              <a:rPr kumimoji="1" lang="ja-JP" altLang="en-US" smtClean="0"/>
              <a:pPr/>
              <a:t>54</a:t>
            </a:fld>
            <a:endParaRPr kumimoji="1" lang="ja-JP" altLang="en-US" sz="2400" dirty="0"/>
          </a:p>
        </p:txBody>
      </p:sp>
      <p:sp>
        <p:nvSpPr>
          <p:cNvPr id="3" name="タイトル 2">
            <a:extLst>
              <a:ext uri="{FF2B5EF4-FFF2-40B4-BE49-F238E27FC236}">
                <a16:creationId xmlns:a16="http://schemas.microsoft.com/office/drawing/2014/main" id="{75D87EF2-882C-7842-E2DE-295902E910C1}"/>
              </a:ext>
            </a:extLst>
          </p:cNvPr>
          <p:cNvSpPr>
            <a:spLocks noGrp="1"/>
          </p:cNvSpPr>
          <p:nvPr>
            <p:ph type="title"/>
          </p:nvPr>
        </p:nvSpPr>
        <p:spPr/>
        <p:txBody>
          <a:bodyPr/>
          <a:lstStyle/>
          <a:p>
            <a:r>
              <a:rPr lang="ja-JP" altLang="en-US" sz="3600" dirty="0"/>
              <a:t>実験結果：</a:t>
            </a:r>
            <a:r>
              <a:rPr lang="en-US" altLang="ja-JP" sz="3600" dirty="0"/>
              <a:t>LLM</a:t>
            </a:r>
            <a:r>
              <a:rPr lang="ja-JP" altLang="en-US" sz="3600" dirty="0"/>
              <a:t>への感情の知覚</a:t>
            </a:r>
            <a:endParaRPr kumimoji="1" lang="ja-JP" altLang="en-US" sz="3600" dirty="0"/>
          </a:p>
        </p:txBody>
      </p:sp>
      <p:sp>
        <p:nvSpPr>
          <p:cNvPr id="7" name="テキスト ボックス 6">
            <a:extLst>
              <a:ext uri="{FF2B5EF4-FFF2-40B4-BE49-F238E27FC236}">
                <a16:creationId xmlns:a16="http://schemas.microsoft.com/office/drawing/2014/main" id="{6C02EA90-3EB6-7D07-667D-1C7EC9BC98FA}"/>
              </a:ext>
            </a:extLst>
          </p:cNvPr>
          <p:cNvSpPr txBox="1"/>
          <p:nvPr/>
        </p:nvSpPr>
        <p:spPr>
          <a:xfrm>
            <a:off x="313263" y="3157200"/>
            <a:ext cx="5698069" cy="369332"/>
          </a:xfrm>
          <a:prstGeom prst="rect">
            <a:avLst/>
          </a:prstGeom>
          <a:noFill/>
        </p:spPr>
        <p:txBody>
          <a:bodyPr wrap="square">
            <a:spAutoFit/>
          </a:bodyPr>
          <a:lstStyle/>
          <a:p>
            <a:r>
              <a:rPr lang="ja-JP" altLang="ja-JP" sz="1800" b="1" i="0" u="none" strike="noStrike" dirty="0">
                <a:solidFill>
                  <a:srgbClr val="000000"/>
                </a:solidFill>
                <a:effectLst/>
                <a:ea typeface="游ゴシック" panose="020B0400000000000000" pitchFamily="50" charset="-128"/>
              </a:rPr>
              <a:t>事後検定（</a:t>
            </a:r>
            <a:r>
              <a:rPr lang="en-US" altLang="ja-JP" sz="1800" b="1" i="0" u="none" strike="noStrike" dirty="0">
                <a:solidFill>
                  <a:srgbClr val="000000"/>
                </a:solidFill>
                <a:effectLst/>
                <a:latin typeface="游ゴシック" panose="020B0400000000000000" pitchFamily="50" charset="-128"/>
              </a:rPr>
              <a:t>Tukey</a:t>
            </a:r>
            <a:r>
              <a:rPr lang="ja-JP" altLang="ja-JP" sz="1800" b="1" i="0" u="none" strike="noStrike" dirty="0">
                <a:solidFill>
                  <a:srgbClr val="000000"/>
                </a:solidFill>
                <a:effectLst/>
                <a:ea typeface="游ゴシック" panose="020B0400000000000000" pitchFamily="50" charset="-128"/>
              </a:rPr>
              <a:t>検定による多重比較</a:t>
            </a:r>
            <a:r>
              <a:rPr lang="ja-JP" altLang="en-US" b="1" dirty="0">
                <a:solidFill>
                  <a:srgbClr val="000000"/>
                </a:solidFill>
                <a:ea typeface="游ゴシック" panose="020B0400000000000000" pitchFamily="50" charset="-128"/>
              </a:rPr>
              <a:t>，一部抜粋</a:t>
            </a:r>
            <a:r>
              <a:rPr lang="ja-JP" altLang="en-US" sz="1800" b="1" i="0" u="none" strike="noStrike" dirty="0">
                <a:solidFill>
                  <a:srgbClr val="000000"/>
                </a:solidFill>
                <a:effectLst/>
                <a:ea typeface="游ゴシック" panose="020B0400000000000000" pitchFamily="50" charset="-128"/>
              </a:rPr>
              <a:t>）</a:t>
            </a:r>
            <a:endParaRPr lang="ja-JP" altLang="en-US" dirty="0"/>
          </a:p>
        </p:txBody>
      </p:sp>
      <p:sp>
        <p:nvSpPr>
          <p:cNvPr id="9" name="Rectangle 1">
            <a:extLst>
              <a:ext uri="{FF2B5EF4-FFF2-40B4-BE49-F238E27FC236}">
                <a16:creationId xmlns:a16="http://schemas.microsoft.com/office/drawing/2014/main" id="{189026CE-B8F4-AB85-AE47-2820AF534B96}"/>
              </a:ext>
            </a:extLst>
          </p:cNvPr>
          <p:cNvSpPr>
            <a:spLocks noChangeArrowheads="1"/>
          </p:cNvSpPr>
          <p:nvPr/>
        </p:nvSpPr>
        <p:spPr bwMode="auto">
          <a:xfrm>
            <a:off x="2362200" y="250391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1" name="Rectangle 2">
            <a:extLst>
              <a:ext uri="{FF2B5EF4-FFF2-40B4-BE49-F238E27FC236}">
                <a16:creationId xmlns:a16="http://schemas.microsoft.com/office/drawing/2014/main" id="{AE1FD71D-190A-6917-516A-1C0FC058B406}"/>
              </a:ext>
            </a:extLst>
          </p:cNvPr>
          <p:cNvSpPr>
            <a:spLocks noChangeArrowheads="1"/>
          </p:cNvSpPr>
          <p:nvPr/>
        </p:nvSpPr>
        <p:spPr bwMode="auto">
          <a:xfrm>
            <a:off x="2252663" y="3560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3" name="テキスト ボックス 12">
            <a:extLst>
              <a:ext uri="{FF2B5EF4-FFF2-40B4-BE49-F238E27FC236}">
                <a16:creationId xmlns:a16="http://schemas.microsoft.com/office/drawing/2014/main" id="{9B128B27-A09E-19AC-6394-07D4E7C09C2D}"/>
              </a:ext>
            </a:extLst>
          </p:cNvPr>
          <p:cNvSpPr txBox="1"/>
          <p:nvPr/>
        </p:nvSpPr>
        <p:spPr>
          <a:xfrm>
            <a:off x="313263" y="953349"/>
            <a:ext cx="6680203" cy="1107996"/>
          </a:xfrm>
          <a:prstGeom prst="rect">
            <a:avLst/>
          </a:prstGeom>
          <a:noFill/>
        </p:spPr>
        <p:txBody>
          <a:bodyPr wrap="square">
            <a:spAutoFit/>
          </a:bodyPr>
          <a:lstStyle/>
          <a:p>
            <a:pPr algn="l" rtl="0" fontAlgn="base">
              <a:lnSpc>
                <a:spcPct val="150000"/>
              </a:lnSpc>
              <a:buNone/>
            </a:pPr>
            <a:r>
              <a:rPr lang="ja-JP" altLang="en-US" sz="2000" b="1" dirty="0">
                <a:solidFill>
                  <a:schemeClr val="accent1"/>
                </a:solidFill>
                <a:latin typeface="Meiryo UI" panose="020B0604030504040204" pitchFamily="50" charset="-128"/>
                <a:ea typeface="Yu Gothic" panose="020B0400000000000000" pitchFamily="50" charset="-128"/>
              </a:rPr>
              <a:t>分散分析の結果</a:t>
            </a:r>
            <a:endParaRPr lang="en-US" altLang="ja-JP" sz="2000" b="1" i="0" u="none" strike="noStrike" dirty="0">
              <a:solidFill>
                <a:schemeClr val="accent1"/>
              </a:solidFill>
              <a:effectLst/>
              <a:latin typeface="Meiryo UI" panose="020B0604030504040204" pitchFamily="50" charset="-128"/>
              <a:ea typeface="Yu Gothic" panose="020B0400000000000000" pitchFamily="50" charset="-128"/>
            </a:endParaRPr>
          </a:p>
          <a:p>
            <a:r>
              <a:rPr lang="ja-JP" altLang="en-US" b="1" dirty="0">
                <a:latin typeface="+mn-ea"/>
              </a:rPr>
              <a:t>「</a:t>
            </a:r>
            <a:r>
              <a:rPr kumimoji="1" lang="en-US" altLang="ja-JP" b="1" dirty="0">
                <a:latin typeface="游ゴシック" panose="020B0400000000000000" pitchFamily="50" charset="-128"/>
              </a:rPr>
              <a:t>Q19</a:t>
            </a:r>
            <a:r>
              <a:rPr kumimoji="1" lang="ja-JP" altLang="en-US" b="1" dirty="0">
                <a:latin typeface="游ゴシック" panose="020B0400000000000000" pitchFamily="50" charset="-128"/>
              </a:rPr>
              <a:t>．</a:t>
            </a:r>
            <a:r>
              <a:rPr kumimoji="1" lang="en-US" altLang="ja-JP" b="1" dirty="0">
                <a:latin typeface="游ゴシック" panose="020B0400000000000000" pitchFamily="50" charset="-128"/>
              </a:rPr>
              <a:t>AI</a:t>
            </a:r>
            <a:r>
              <a:rPr kumimoji="1" lang="ja-JP" altLang="en-US" b="1" dirty="0">
                <a:latin typeface="游ゴシック" panose="020B0400000000000000" pitchFamily="50" charset="-128"/>
              </a:rPr>
              <a:t>には感情がある」について</a:t>
            </a:r>
            <a:endParaRPr kumimoji="1" lang="en-US" altLang="ja-JP" b="1" dirty="0">
              <a:latin typeface="游ゴシック" panose="020B0400000000000000" pitchFamily="50" charset="-128"/>
            </a:endParaRPr>
          </a:p>
          <a:p>
            <a:r>
              <a:rPr kumimoji="1" lang="en-US" altLang="ja-JP" b="1" dirty="0">
                <a:latin typeface="游ゴシック" panose="020B0400000000000000" pitchFamily="50" charset="-128"/>
                <a:sym typeface="Wingdings" panose="05000000000000000000" pitchFamily="2" charset="2"/>
              </a:rPr>
              <a:t></a:t>
            </a:r>
            <a:r>
              <a:rPr kumimoji="1" lang="ja-JP" altLang="en-US" b="1" dirty="0">
                <a:solidFill>
                  <a:srgbClr val="C00000"/>
                </a:solidFill>
                <a:latin typeface="游ゴシック" panose="020B0400000000000000" pitchFamily="50" charset="-128"/>
                <a:sym typeface="Wingdings" panose="05000000000000000000" pitchFamily="2" charset="2"/>
              </a:rPr>
              <a:t>交互作用が有意</a:t>
            </a:r>
            <a:endParaRPr kumimoji="1" lang="en-US" altLang="ja-JP" b="1" dirty="0">
              <a:solidFill>
                <a:srgbClr val="C00000"/>
              </a:solidFill>
              <a:latin typeface="游ゴシック" panose="020B0400000000000000" pitchFamily="50" charset="-128"/>
            </a:endParaRPr>
          </a:p>
        </p:txBody>
      </p:sp>
      <p:graphicFrame>
        <p:nvGraphicFramePr>
          <p:cNvPr id="14" name="表 13">
            <a:extLst>
              <a:ext uri="{FF2B5EF4-FFF2-40B4-BE49-F238E27FC236}">
                <a16:creationId xmlns:a16="http://schemas.microsoft.com/office/drawing/2014/main" id="{44F8BAE7-BD6E-0F4A-E523-59E29342F07C}"/>
              </a:ext>
            </a:extLst>
          </p:cNvPr>
          <p:cNvGraphicFramePr>
            <a:graphicFrameLocks noGrp="1"/>
          </p:cNvGraphicFramePr>
          <p:nvPr>
            <p:extLst>
              <p:ext uri="{D42A27DB-BD31-4B8C-83A1-F6EECF244321}">
                <p14:modId xmlns:p14="http://schemas.microsoft.com/office/powerpoint/2010/main" val="311878807"/>
              </p:ext>
            </p:extLst>
          </p:nvPr>
        </p:nvGraphicFramePr>
        <p:xfrm>
          <a:off x="543530" y="2095989"/>
          <a:ext cx="7923138" cy="949960"/>
        </p:xfrm>
        <a:graphic>
          <a:graphicData uri="http://schemas.openxmlformats.org/drawingml/2006/table">
            <a:tbl>
              <a:tblPr firstRow="1" bandRow="1">
                <a:tableStyleId>{9D7B26C5-4107-4FEC-AEDC-1716B250A1EF}</a:tableStyleId>
              </a:tblPr>
              <a:tblGrid>
                <a:gridCol w="1320523">
                  <a:extLst>
                    <a:ext uri="{9D8B030D-6E8A-4147-A177-3AD203B41FA5}">
                      <a16:colId xmlns:a16="http://schemas.microsoft.com/office/drawing/2014/main" val="2253055787"/>
                    </a:ext>
                  </a:extLst>
                </a:gridCol>
                <a:gridCol w="1320523">
                  <a:extLst>
                    <a:ext uri="{9D8B030D-6E8A-4147-A177-3AD203B41FA5}">
                      <a16:colId xmlns:a16="http://schemas.microsoft.com/office/drawing/2014/main" val="2801815050"/>
                    </a:ext>
                  </a:extLst>
                </a:gridCol>
                <a:gridCol w="1320523">
                  <a:extLst>
                    <a:ext uri="{9D8B030D-6E8A-4147-A177-3AD203B41FA5}">
                      <a16:colId xmlns:a16="http://schemas.microsoft.com/office/drawing/2014/main" val="4189014961"/>
                    </a:ext>
                  </a:extLst>
                </a:gridCol>
                <a:gridCol w="1320523">
                  <a:extLst>
                    <a:ext uri="{9D8B030D-6E8A-4147-A177-3AD203B41FA5}">
                      <a16:colId xmlns:a16="http://schemas.microsoft.com/office/drawing/2014/main" val="3563772630"/>
                    </a:ext>
                  </a:extLst>
                </a:gridCol>
                <a:gridCol w="1320523">
                  <a:extLst>
                    <a:ext uri="{9D8B030D-6E8A-4147-A177-3AD203B41FA5}">
                      <a16:colId xmlns:a16="http://schemas.microsoft.com/office/drawing/2014/main" val="3674438810"/>
                    </a:ext>
                  </a:extLst>
                </a:gridCol>
                <a:gridCol w="1320523">
                  <a:extLst>
                    <a:ext uri="{9D8B030D-6E8A-4147-A177-3AD203B41FA5}">
                      <a16:colId xmlns:a16="http://schemas.microsoft.com/office/drawing/2014/main" val="678252903"/>
                    </a:ext>
                  </a:extLst>
                </a:gridCol>
              </a:tblGrid>
              <a:tr h="370840">
                <a:tc>
                  <a:txBody>
                    <a:bodyPr/>
                    <a:lstStyle/>
                    <a:p>
                      <a:endParaRPr kumimoji="1" lang="ja-JP" altLang="en-US" dirty="0"/>
                    </a:p>
                  </a:txBody>
                  <a:tcPr>
                    <a:noFill/>
                  </a:tcPr>
                </a:tc>
                <a:tc>
                  <a:txBody>
                    <a:bodyPr/>
                    <a:lstStyle/>
                    <a:p>
                      <a:pPr algn="r" fontAlgn="base">
                        <a:lnSpc>
                          <a:spcPts val="1350"/>
                        </a:lnSpc>
                        <a:buNone/>
                      </a:pPr>
                      <a:r>
                        <a:rPr lang="en-US" altLang="ja-JP" sz="1400" b="1" i="0" dirty="0">
                          <a:solidFill>
                            <a:srgbClr val="000000"/>
                          </a:solidFill>
                          <a:effectLst/>
                          <a:latin typeface="游ゴシック" panose="020B0400000000000000" pitchFamily="50" charset="-128"/>
                        </a:rPr>
                        <a:t>2</a:t>
                      </a:r>
                      <a:r>
                        <a:rPr lang="ja-JP" altLang="en-US" sz="1400" b="1" i="0" dirty="0">
                          <a:solidFill>
                            <a:srgbClr val="000000"/>
                          </a:solidFill>
                          <a:effectLst/>
                          <a:ea typeface="游ゴシック" panose="020B0400000000000000" pitchFamily="50" charset="-128"/>
                        </a:rPr>
                        <a:t>乗和</a:t>
                      </a:r>
                      <a:r>
                        <a:rPr lang="ja-JP" altLang="en-US" sz="1400" b="1" i="0" dirty="0">
                          <a:solidFill>
                            <a:srgbClr val="FFFFFF"/>
                          </a:solidFill>
                          <a:effectLst/>
                          <a:latin typeface="游ゴシック" panose="020B0400000000000000" pitchFamily="50" charset="-128"/>
                        </a:rPr>
                        <a:t>​</a:t>
                      </a:r>
                      <a:endParaRPr lang="ja-JP" altLang="en-US" sz="1400" b="1" i="0" dirty="0">
                        <a:solidFill>
                          <a:srgbClr val="FFFFFF"/>
                        </a:solidFill>
                        <a:effectLst/>
                      </a:endParaRPr>
                    </a:p>
                  </a:txBody>
                  <a:tcPr>
                    <a:noFill/>
                  </a:tcPr>
                </a:tc>
                <a:tc>
                  <a:txBody>
                    <a:bodyPr/>
                    <a:lstStyle/>
                    <a:p>
                      <a:pPr algn="r" fontAlgn="base">
                        <a:lnSpc>
                          <a:spcPts val="1350"/>
                        </a:lnSpc>
                        <a:buNone/>
                      </a:pPr>
                      <a:r>
                        <a:rPr lang="en-US" sz="1400" b="1" i="0" dirty="0" err="1">
                          <a:solidFill>
                            <a:srgbClr val="000000"/>
                          </a:solidFill>
                          <a:effectLst/>
                          <a:latin typeface="游ゴシック" panose="020B0400000000000000" pitchFamily="50" charset="-128"/>
                        </a:rPr>
                        <a:t>df</a:t>
                      </a:r>
                      <a:r>
                        <a:rPr lang="en-US" altLang="ja-JP" sz="1400" b="1" i="0" dirty="0">
                          <a:solidFill>
                            <a:srgbClr val="FFFFFF"/>
                          </a:solidFill>
                          <a:effectLst/>
                          <a:ea typeface="游ゴシック" panose="020B0400000000000000" pitchFamily="50" charset="-128"/>
                        </a:rPr>
                        <a:t>​</a:t>
                      </a:r>
                      <a:endParaRPr lang="en-US" altLang="ja-JP" sz="1400" b="1" i="0" dirty="0">
                        <a:solidFill>
                          <a:srgbClr val="FFFFFF"/>
                        </a:solidFill>
                        <a:effectLst/>
                      </a:endParaRPr>
                    </a:p>
                  </a:txBody>
                  <a:tcPr>
                    <a:noFill/>
                  </a:tcPr>
                </a:tc>
                <a:tc>
                  <a:txBody>
                    <a:bodyPr/>
                    <a:lstStyle/>
                    <a:p>
                      <a:pPr algn="r" fontAlgn="base">
                        <a:lnSpc>
                          <a:spcPts val="1350"/>
                        </a:lnSpc>
                        <a:buNone/>
                      </a:pPr>
                      <a:r>
                        <a:rPr lang="en-US" altLang="ja-JP" sz="1400" b="1" i="0" dirty="0">
                          <a:solidFill>
                            <a:srgbClr val="000000"/>
                          </a:solidFill>
                          <a:effectLst/>
                          <a:latin typeface="游ゴシック" panose="020B0400000000000000" pitchFamily="50" charset="-128"/>
                        </a:rPr>
                        <a:t>2</a:t>
                      </a:r>
                      <a:r>
                        <a:rPr lang="ja-JP" altLang="en-US" sz="1400" b="1" i="0" dirty="0">
                          <a:solidFill>
                            <a:srgbClr val="000000"/>
                          </a:solidFill>
                          <a:effectLst/>
                          <a:ea typeface="游ゴシック" panose="020B0400000000000000" pitchFamily="50" charset="-128"/>
                        </a:rPr>
                        <a:t>乗平均</a:t>
                      </a:r>
                      <a:r>
                        <a:rPr lang="ja-JP" altLang="en-US" sz="1400" b="1" i="0" dirty="0">
                          <a:solidFill>
                            <a:srgbClr val="FFFFFF"/>
                          </a:solidFill>
                          <a:effectLst/>
                          <a:latin typeface="游ゴシック" panose="020B0400000000000000" pitchFamily="50" charset="-128"/>
                        </a:rPr>
                        <a:t>​</a:t>
                      </a:r>
                      <a:endParaRPr lang="ja-JP" altLang="en-US" sz="1400" b="1" i="0" dirty="0">
                        <a:solidFill>
                          <a:srgbClr val="FFFFFF"/>
                        </a:solidFill>
                        <a:effectLst/>
                      </a:endParaRPr>
                    </a:p>
                  </a:txBody>
                  <a:tcPr>
                    <a:noFill/>
                  </a:tcPr>
                </a:tc>
                <a:tc>
                  <a:txBody>
                    <a:bodyPr/>
                    <a:lstStyle/>
                    <a:p>
                      <a:pPr algn="r" fontAlgn="base">
                        <a:lnSpc>
                          <a:spcPts val="1350"/>
                        </a:lnSpc>
                        <a:buNone/>
                      </a:pPr>
                      <a:r>
                        <a:rPr lang="en-US" sz="1400" b="1" i="0">
                          <a:solidFill>
                            <a:srgbClr val="000000"/>
                          </a:solidFill>
                          <a:effectLst/>
                          <a:latin typeface="游ゴシック" panose="020B0400000000000000" pitchFamily="50" charset="-128"/>
                        </a:rPr>
                        <a:t>F</a:t>
                      </a:r>
                      <a:r>
                        <a:rPr lang="en-US" altLang="ja-JP" sz="1400" b="1" i="0">
                          <a:solidFill>
                            <a:srgbClr val="FFFFFF"/>
                          </a:solidFill>
                          <a:effectLst/>
                          <a:ea typeface="游ゴシック" panose="020B0400000000000000" pitchFamily="50" charset="-128"/>
                        </a:rPr>
                        <a:t>​</a:t>
                      </a:r>
                      <a:endParaRPr lang="en-US" altLang="ja-JP" sz="1400" b="1" i="0">
                        <a:solidFill>
                          <a:srgbClr val="FFFFFF"/>
                        </a:solidFill>
                        <a:effectLst/>
                      </a:endParaRPr>
                    </a:p>
                  </a:txBody>
                  <a:tcPr>
                    <a:noFill/>
                  </a:tcPr>
                </a:tc>
                <a:tc>
                  <a:txBody>
                    <a:bodyPr/>
                    <a:lstStyle/>
                    <a:p>
                      <a:pPr algn="r" fontAlgn="base">
                        <a:lnSpc>
                          <a:spcPts val="1350"/>
                        </a:lnSpc>
                        <a:buNone/>
                      </a:pPr>
                      <a:r>
                        <a:rPr lang="en-US" sz="1400" b="1" i="0">
                          <a:solidFill>
                            <a:srgbClr val="000000"/>
                          </a:solidFill>
                          <a:effectLst/>
                          <a:latin typeface="游ゴシック" panose="020B0400000000000000" pitchFamily="50" charset="-128"/>
                        </a:rPr>
                        <a:t>p</a:t>
                      </a:r>
                      <a:r>
                        <a:rPr lang="en-US" altLang="ja-JP" sz="1400" b="1" i="0">
                          <a:solidFill>
                            <a:srgbClr val="FFFFFF"/>
                          </a:solidFill>
                          <a:effectLst/>
                          <a:ea typeface="游ゴシック" panose="020B0400000000000000" pitchFamily="50" charset="-128"/>
                        </a:rPr>
                        <a:t>​</a:t>
                      </a:r>
                      <a:endParaRPr lang="en-US" altLang="ja-JP" sz="1400" b="1" i="0">
                        <a:solidFill>
                          <a:srgbClr val="FFFFFF"/>
                        </a:solidFill>
                        <a:effectLst/>
                      </a:endParaRPr>
                    </a:p>
                  </a:txBody>
                  <a:tcPr>
                    <a:noFill/>
                  </a:tcPr>
                </a:tc>
                <a:extLst>
                  <a:ext uri="{0D108BD9-81ED-4DB2-BD59-A6C34878D82A}">
                    <a16:rowId xmlns:a16="http://schemas.microsoft.com/office/drawing/2014/main" val="2809685238"/>
                  </a:ext>
                </a:extLst>
              </a:tr>
              <a:tr h="370840">
                <a:tc>
                  <a:txBody>
                    <a:bodyPr/>
                    <a:lstStyle/>
                    <a:p>
                      <a:r>
                        <a:rPr kumimoji="1" lang="ja-JP" altLang="en-US" sz="1600" b="1" i="0" dirty="0">
                          <a:solidFill>
                            <a:srgbClr val="000000"/>
                          </a:solidFill>
                          <a:effectLst/>
                          <a:latin typeface="游ゴシック" panose="020B0400000000000000" pitchFamily="50" charset="-128"/>
                          <a:ea typeface="+mn-ea"/>
                        </a:rPr>
                        <a:t>名乗り</a:t>
                      </a:r>
                      <a:r>
                        <a:rPr kumimoji="1" lang="en-US" altLang="ja-JP" sz="1600" b="1" i="0" dirty="0">
                          <a:solidFill>
                            <a:srgbClr val="000000"/>
                          </a:solidFill>
                          <a:effectLst/>
                          <a:latin typeface="游ゴシック" panose="020B0400000000000000" pitchFamily="50" charset="-128"/>
                          <a:ea typeface="+mn-ea"/>
                        </a:rPr>
                        <a:t>*</a:t>
                      </a:r>
                      <a:r>
                        <a:rPr kumimoji="1" lang="ja-JP" altLang="en-US" sz="1600" b="1" i="0" dirty="0">
                          <a:solidFill>
                            <a:srgbClr val="000000"/>
                          </a:solidFill>
                          <a:effectLst/>
                          <a:latin typeface="游ゴシック" panose="020B0400000000000000" pitchFamily="50" charset="-128"/>
                          <a:ea typeface="+mn-ea"/>
                        </a:rPr>
                        <a:t>人格設定</a:t>
                      </a:r>
                      <a:endParaRPr kumimoji="1" lang="ja-JP" altLang="en-US" sz="1600" dirty="0"/>
                    </a:p>
                  </a:txBody>
                  <a:tcPr>
                    <a:noFill/>
                  </a:tcPr>
                </a:tc>
                <a:tc>
                  <a:txBody>
                    <a:bodyPr/>
                    <a:lstStyle/>
                    <a:p>
                      <a:pPr algn="r" fontAlgn="base">
                        <a:lnSpc>
                          <a:spcPts val="1350"/>
                        </a:lnSpc>
                        <a:buNone/>
                      </a:pPr>
                      <a:r>
                        <a:rPr lang="en-US" altLang="ja-JP" sz="1400" b="1" i="0" dirty="0">
                          <a:solidFill>
                            <a:srgbClr val="000000"/>
                          </a:solidFill>
                          <a:effectLst/>
                          <a:latin typeface="游ゴシック" panose="020B0400000000000000" pitchFamily="50" charset="-128"/>
                        </a:rPr>
                        <a:t>29.522</a:t>
                      </a:r>
                      <a:endParaRPr lang="en-US" altLang="ja-JP" sz="1400" b="1" i="0" dirty="0">
                        <a:solidFill>
                          <a:srgbClr val="000000"/>
                        </a:solidFill>
                        <a:effectLst/>
                      </a:endParaRP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ea typeface="游ゴシック" panose="020B0400000000000000" pitchFamily="50" charset="-128"/>
                        </a:rPr>
                        <a:t>1</a:t>
                      </a:r>
                      <a:endParaRPr lang="en-US" altLang="ja-JP" sz="1400" b="1" i="0" dirty="0">
                        <a:solidFill>
                          <a:srgbClr val="000000"/>
                        </a:solidFill>
                        <a:effectLst/>
                      </a:endParaRPr>
                    </a:p>
                  </a:txBody>
                  <a:tcPr>
                    <a:noFill/>
                  </a:tcPr>
                </a:tc>
                <a:tc>
                  <a:txBody>
                    <a:bodyPr/>
                    <a:lstStyle/>
                    <a:p>
                      <a:pPr algn="r" fontAlgn="base">
                        <a:lnSpc>
                          <a:spcPts val="1350"/>
                        </a:lnSpc>
                        <a:buNone/>
                      </a:pPr>
                      <a:r>
                        <a:rPr lang="en-US" altLang="ja-JP" sz="1400" b="1" i="0" dirty="0">
                          <a:solidFill>
                            <a:srgbClr val="000000"/>
                          </a:solidFill>
                          <a:effectLst/>
                          <a:latin typeface="游ゴシック" panose="020B0400000000000000" pitchFamily="50" charset="-128"/>
                          <a:ea typeface="游ゴシック" panose="020B0400000000000000" pitchFamily="50" charset="-128"/>
                        </a:rPr>
                        <a:t>29.522</a:t>
                      </a:r>
                      <a:r>
                        <a:rPr lang="en-US" altLang="ja-JP" sz="1400" b="1" i="0" dirty="0">
                          <a:solidFill>
                            <a:srgbClr val="000000"/>
                          </a:solidFill>
                          <a:effectLst/>
                          <a:ea typeface="游ゴシック" panose="020B0400000000000000" pitchFamily="50" charset="-128"/>
                        </a:rPr>
                        <a:t>​</a:t>
                      </a:r>
                      <a:endParaRPr lang="en-US" altLang="ja-JP" sz="1400" b="1" i="0" dirty="0">
                        <a:solidFill>
                          <a:srgbClr val="000000"/>
                        </a:solidFill>
                        <a:effectLst/>
                      </a:endParaRP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5.66</a:t>
                      </a:r>
                      <a:endParaRPr lang="en-US" sz="1400" b="1" i="0" dirty="0">
                        <a:solidFill>
                          <a:srgbClr val="000000"/>
                        </a:solidFill>
                        <a:effectLst/>
                      </a:endParaRPr>
                    </a:p>
                  </a:txBody>
                  <a:tcPr>
                    <a:noFill/>
                  </a:tcPr>
                </a:tc>
                <a:tc>
                  <a:txBody>
                    <a:bodyPr/>
                    <a:lstStyle/>
                    <a:p>
                      <a:pPr algn="r" fontAlgn="base">
                        <a:lnSpc>
                          <a:spcPts val="1350"/>
                        </a:lnSpc>
                        <a:buNone/>
                      </a:pPr>
                      <a:r>
                        <a:rPr lang="en-US" sz="1400" b="1" i="0" dirty="0">
                          <a:solidFill>
                            <a:srgbClr val="C00000"/>
                          </a:solidFill>
                          <a:effectLst/>
                          <a:latin typeface="游ゴシック" panose="020B0400000000000000" pitchFamily="50" charset="-128"/>
                        </a:rPr>
                        <a:t>0.019</a:t>
                      </a:r>
                      <a:r>
                        <a:rPr lang="en-US" sz="1400" b="1" i="0" dirty="0">
                          <a:solidFill>
                            <a:srgbClr val="000000"/>
                          </a:solidFill>
                          <a:effectLst/>
                          <a:latin typeface="游ゴシック" panose="020B0400000000000000" pitchFamily="50" charset="-128"/>
                        </a:rPr>
                        <a:t>​</a:t>
                      </a:r>
                      <a:endParaRPr lang="en-US" sz="1400" b="1" i="0" dirty="0">
                        <a:solidFill>
                          <a:srgbClr val="000000"/>
                        </a:solidFill>
                        <a:effectLst/>
                      </a:endParaRPr>
                    </a:p>
                  </a:txBody>
                  <a:tcPr>
                    <a:noFill/>
                  </a:tcPr>
                </a:tc>
                <a:extLst>
                  <a:ext uri="{0D108BD9-81ED-4DB2-BD59-A6C34878D82A}">
                    <a16:rowId xmlns:a16="http://schemas.microsoft.com/office/drawing/2014/main" val="2808757430"/>
                  </a:ext>
                </a:extLst>
              </a:tr>
            </a:tbl>
          </a:graphicData>
        </a:graphic>
      </p:graphicFrame>
      <p:graphicFrame>
        <p:nvGraphicFramePr>
          <p:cNvPr id="15" name="表 14">
            <a:extLst>
              <a:ext uri="{FF2B5EF4-FFF2-40B4-BE49-F238E27FC236}">
                <a16:creationId xmlns:a16="http://schemas.microsoft.com/office/drawing/2014/main" id="{9765ACB0-615C-B959-DF38-8DCC857D5729}"/>
              </a:ext>
            </a:extLst>
          </p:cNvPr>
          <p:cNvGraphicFramePr>
            <a:graphicFrameLocks noGrp="1"/>
          </p:cNvGraphicFramePr>
          <p:nvPr>
            <p:extLst>
              <p:ext uri="{D42A27DB-BD31-4B8C-83A1-F6EECF244321}">
                <p14:modId xmlns:p14="http://schemas.microsoft.com/office/powerpoint/2010/main" val="3080361440"/>
              </p:ext>
            </p:extLst>
          </p:nvPr>
        </p:nvGraphicFramePr>
        <p:xfrm>
          <a:off x="543530" y="3576213"/>
          <a:ext cx="7923140" cy="998728"/>
        </p:xfrm>
        <a:graphic>
          <a:graphicData uri="http://schemas.openxmlformats.org/drawingml/2006/table">
            <a:tbl>
              <a:tblPr firstRow="1" bandRow="1">
                <a:tableStyleId>{9D7B26C5-4107-4FEC-AEDC-1716B250A1EF}</a:tableStyleId>
              </a:tblPr>
              <a:tblGrid>
                <a:gridCol w="743403">
                  <a:extLst>
                    <a:ext uri="{9D8B030D-6E8A-4147-A177-3AD203B41FA5}">
                      <a16:colId xmlns:a16="http://schemas.microsoft.com/office/drawing/2014/main" val="3639033113"/>
                    </a:ext>
                  </a:extLst>
                </a:gridCol>
                <a:gridCol w="1003723">
                  <a:extLst>
                    <a:ext uri="{9D8B030D-6E8A-4147-A177-3AD203B41FA5}">
                      <a16:colId xmlns:a16="http://schemas.microsoft.com/office/drawing/2014/main" val="4143698353"/>
                    </a:ext>
                  </a:extLst>
                </a:gridCol>
                <a:gridCol w="607052">
                  <a:extLst>
                    <a:ext uri="{9D8B030D-6E8A-4147-A177-3AD203B41FA5}">
                      <a16:colId xmlns:a16="http://schemas.microsoft.com/office/drawing/2014/main" val="1427256339"/>
                    </a:ext>
                  </a:extLst>
                </a:gridCol>
                <a:gridCol w="658292">
                  <a:extLst>
                    <a:ext uri="{9D8B030D-6E8A-4147-A177-3AD203B41FA5}">
                      <a16:colId xmlns:a16="http://schemas.microsoft.com/office/drawing/2014/main" val="1438680861"/>
                    </a:ext>
                  </a:extLst>
                </a:gridCol>
                <a:gridCol w="1033310">
                  <a:extLst>
                    <a:ext uri="{9D8B030D-6E8A-4147-A177-3AD203B41FA5}">
                      <a16:colId xmlns:a16="http://schemas.microsoft.com/office/drawing/2014/main" val="2253055787"/>
                    </a:ext>
                  </a:extLst>
                </a:gridCol>
                <a:gridCol w="775472">
                  <a:extLst>
                    <a:ext uri="{9D8B030D-6E8A-4147-A177-3AD203B41FA5}">
                      <a16:colId xmlns:a16="http://schemas.microsoft.com/office/drawing/2014/main" val="2801815050"/>
                    </a:ext>
                  </a:extLst>
                </a:gridCol>
                <a:gridCol w="775472">
                  <a:extLst>
                    <a:ext uri="{9D8B030D-6E8A-4147-A177-3AD203B41FA5}">
                      <a16:colId xmlns:a16="http://schemas.microsoft.com/office/drawing/2014/main" val="4189014961"/>
                    </a:ext>
                  </a:extLst>
                </a:gridCol>
                <a:gridCol w="775472">
                  <a:extLst>
                    <a:ext uri="{9D8B030D-6E8A-4147-A177-3AD203B41FA5}">
                      <a16:colId xmlns:a16="http://schemas.microsoft.com/office/drawing/2014/main" val="3563772630"/>
                    </a:ext>
                  </a:extLst>
                </a:gridCol>
                <a:gridCol w="775472">
                  <a:extLst>
                    <a:ext uri="{9D8B030D-6E8A-4147-A177-3AD203B41FA5}">
                      <a16:colId xmlns:a16="http://schemas.microsoft.com/office/drawing/2014/main" val="3674438810"/>
                    </a:ext>
                  </a:extLst>
                </a:gridCol>
                <a:gridCol w="775472">
                  <a:extLst>
                    <a:ext uri="{9D8B030D-6E8A-4147-A177-3AD203B41FA5}">
                      <a16:colId xmlns:a16="http://schemas.microsoft.com/office/drawing/2014/main" val="678252903"/>
                    </a:ext>
                  </a:extLst>
                </a:gridCol>
              </a:tblGrid>
              <a:tr h="370840">
                <a:tc>
                  <a:txBody>
                    <a:bodyPr/>
                    <a:lstStyle/>
                    <a:p>
                      <a:pPr algn="l" fontAlgn="base">
                        <a:lnSpc>
                          <a:spcPts val="1350"/>
                        </a:lnSpc>
                        <a:buNone/>
                      </a:pPr>
                      <a:r>
                        <a:rPr lang="ja-JP" altLang="en-US" sz="1400" b="1" i="0" dirty="0">
                          <a:solidFill>
                            <a:schemeClr val="tx1"/>
                          </a:solidFill>
                          <a:effectLst/>
                          <a:latin typeface="+mn-ea"/>
                          <a:ea typeface="+mn-ea"/>
                        </a:rPr>
                        <a:t>名乗り</a:t>
                      </a: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人格設定要因</a:t>
                      </a:r>
                      <a:r>
                        <a:rPr lang="ja-JP" altLang="en-US" sz="1400" b="1" i="0" dirty="0">
                          <a:solidFill>
                            <a:srgbClr val="FFFFFF"/>
                          </a:solidFill>
                          <a:effectLst/>
                          <a:latin typeface="+mn-ea"/>
                          <a:ea typeface="+mn-ea"/>
                        </a:rPr>
                        <a:t>​</a:t>
                      </a:r>
                    </a:p>
                  </a:txBody>
                  <a:tcPr>
                    <a:noFill/>
                  </a:tcPr>
                </a:tc>
                <a:tc>
                  <a:txBody>
                    <a:bodyPr/>
                    <a:lstStyle/>
                    <a:p>
                      <a:pPr algn="l" fontAlgn="auto">
                        <a:lnSpc>
                          <a:spcPts val="1350"/>
                        </a:lnSpc>
                        <a:buNone/>
                      </a:pPr>
                      <a:r>
                        <a:rPr lang="ja-JP" altLang="en-US" sz="1400" b="1" i="0" dirty="0">
                          <a:solidFill>
                            <a:srgbClr val="000000"/>
                          </a:solidFill>
                          <a:effectLst/>
                          <a:latin typeface="+mn-ea"/>
                          <a:ea typeface="+mn-ea"/>
                        </a:rPr>
                        <a:t>​</a:t>
                      </a:r>
                    </a:p>
                  </a:txBody>
                  <a:tcPr>
                    <a:noFill/>
                  </a:tcPr>
                </a:tc>
                <a:tc>
                  <a:txBody>
                    <a:bodyPr/>
                    <a:lstStyle/>
                    <a:p>
                      <a:pPr algn="l" fontAlgn="base">
                        <a:lnSpc>
                          <a:spcPts val="1350"/>
                        </a:lnSpc>
                        <a:buNone/>
                      </a:pPr>
                      <a:r>
                        <a:rPr lang="ja-JP" altLang="en-US" sz="1400" b="1" i="0" dirty="0">
                          <a:solidFill>
                            <a:schemeClr val="tx1"/>
                          </a:solidFill>
                          <a:effectLst/>
                          <a:latin typeface="+mn-ea"/>
                          <a:ea typeface="+mn-ea"/>
                        </a:rPr>
                        <a:t>名乗り</a:t>
                      </a: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人格設定要因</a:t>
                      </a:r>
                      <a:r>
                        <a:rPr lang="ja-JP" altLang="en-US" sz="1400" b="1" i="0" dirty="0">
                          <a:solidFill>
                            <a:srgbClr val="FFFFFF"/>
                          </a:solidFill>
                          <a:effectLst/>
                          <a:latin typeface="+mn-ea"/>
                          <a:ea typeface="+mn-ea"/>
                        </a:rPr>
                        <a:t>​</a:t>
                      </a:r>
                    </a:p>
                  </a:txBody>
                  <a:tcPr>
                    <a:noFill/>
                  </a:tcPr>
                </a:tc>
                <a:tc>
                  <a:txBody>
                    <a:bodyPr/>
                    <a:lstStyle/>
                    <a:p>
                      <a:pPr algn="r" fontAlgn="base">
                        <a:lnSpc>
                          <a:spcPts val="1350"/>
                        </a:lnSpc>
                        <a:buNone/>
                      </a:pPr>
                      <a:r>
                        <a:rPr lang="ja-JP" altLang="en-US" sz="1400" b="1" i="0" dirty="0">
                          <a:solidFill>
                            <a:srgbClr val="000000"/>
                          </a:solidFill>
                          <a:effectLst/>
                          <a:latin typeface="+mn-ea"/>
                          <a:ea typeface="+mn-ea"/>
                        </a:rPr>
                        <a:t>平均値の差</a:t>
                      </a:r>
                      <a:r>
                        <a:rPr lang="ja-JP" altLang="en-US" sz="1400" b="1" i="0" dirty="0">
                          <a:solidFill>
                            <a:srgbClr val="FFFFFF"/>
                          </a:solidFill>
                          <a:effectLst/>
                          <a:latin typeface="+mn-ea"/>
                          <a:ea typeface="+mn-ea"/>
                        </a:rPr>
                        <a:t>​</a:t>
                      </a:r>
                    </a:p>
                  </a:txBody>
                  <a:tcPr>
                    <a:noFill/>
                  </a:tcPr>
                </a:tc>
                <a:tc>
                  <a:txBody>
                    <a:bodyPr/>
                    <a:lstStyle/>
                    <a:p>
                      <a:pPr algn="r" fontAlgn="base">
                        <a:lnSpc>
                          <a:spcPts val="1350"/>
                        </a:lnSpc>
                        <a:buNone/>
                      </a:pPr>
                      <a:r>
                        <a:rPr lang="ja-JP" altLang="en-US" sz="1400" b="1" i="0" dirty="0">
                          <a:solidFill>
                            <a:srgbClr val="000000"/>
                          </a:solidFill>
                          <a:effectLst/>
                          <a:ea typeface="游ゴシック" panose="020B0400000000000000" pitchFamily="50" charset="-128"/>
                        </a:rPr>
                        <a:t>標準誤差</a:t>
                      </a:r>
                      <a:r>
                        <a:rPr lang="ja-JP" altLang="en-US" sz="1400" b="1" i="0" dirty="0">
                          <a:solidFill>
                            <a:srgbClr val="FFFFFF"/>
                          </a:solidFill>
                          <a:effectLst/>
                          <a:latin typeface="游ゴシック" panose="020B0400000000000000" pitchFamily="50" charset="-128"/>
                        </a:rPr>
                        <a:t>​</a:t>
                      </a:r>
                      <a:endParaRPr lang="ja-JP" altLang="en-US" sz="1400" b="1" i="0" dirty="0">
                        <a:solidFill>
                          <a:srgbClr val="FFFFFF"/>
                        </a:solidFill>
                        <a:effectLst/>
                      </a:endParaRPr>
                    </a:p>
                  </a:txBody>
                  <a:tcPr>
                    <a:noFill/>
                  </a:tcPr>
                </a:tc>
                <a:tc>
                  <a:txBody>
                    <a:bodyPr/>
                    <a:lstStyle/>
                    <a:p>
                      <a:pPr algn="r" fontAlgn="base">
                        <a:lnSpc>
                          <a:spcPts val="1350"/>
                        </a:lnSpc>
                        <a:buNone/>
                      </a:pPr>
                      <a:r>
                        <a:rPr lang="ja-JP" altLang="en-US" sz="1400" b="1" i="0" dirty="0">
                          <a:solidFill>
                            <a:srgbClr val="000000"/>
                          </a:solidFill>
                          <a:effectLst/>
                          <a:ea typeface="游ゴシック" panose="020B0400000000000000" pitchFamily="50" charset="-128"/>
                        </a:rPr>
                        <a:t>自由度</a:t>
                      </a:r>
                      <a:r>
                        <a:rPr lang="ja-JP" altLang="en-US" sz="1400" b="1" i="0" dirty="0">
                          <a:solidFill>
                            <a:srgbClr val="FFFFFF"/>
                          </a:solidFill>
                          <a:effectLst/>
                          <a:latin typeface="游ゴシック" panose="020B0400000000000000" pitchFamily="50" charset="-128"/>
                        </a:rPr>
                        <a:t>​</a:t>
                      </a:r>
                      <a:endParaRPr lang="ja-JP" altLang="en-US" sz="1400" b="1" i="0" dirty="0">
                        <a:solidFill>
                          <a:srgbClr val="FFFFFF"/>
                        </a:solidFill>
                        <a:effectLst/>
                      </a:endParaRP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t</a:t>
                      </a:r>
                      <a:r>
                        <a:rPr lang="en-US" altLang="ja-JP" sz="1400" b="1" i="0" dirty="0">
                          <a:solidFill>
                            <a:srgbClr val="FFFFFF"/>
                          </a:solidFill>
                          <a:effectLst/>
                          <a:ea typeface="游ゴシック" panose="020B0400000000000000" pitchFamily="50" charset="-128"/>
                        </a:rPr>
                        <a:t>​</a:t>
                      </a:r>
                      <a:endParaRPr lang="en-US" altLang="ja-JP" sz="1400" b="1" i="0" dirty="0">
                        <a:solidFill>
                          <a:srgbClr val="FFFFFF"/>
                        </a:solidFill>
                        <a:effectLst/>
                      </a:endParaRPr>
                    </a:p>
                  </a:txBody>
                  <a:tcPr>
                    <a:noFill/>
                  </a:tcPr>
                </a:tc>
                <a:tc>
                  <a:txBody>
                    <a:bodyPr/>
                    <a:lstStyle/>
                    <a:p>
                      <a:pPr algn="r" fontAlgn="base">
                        <a:lnSpc>
                          <a:spcPts val="1350"/>
                        </a:lnSpc>
                        <a:buNone/>
                      </a:pPr>
                      <a:r>
                        <a:rPr lang="en-US" sz="1400" b="1" i="0">
                          <a:solidFill>
                            <a:srgbClr val="000000"/>
                          </a:solidFill>
                          <a:effectLst/>
                          <a:latin typeface="游ゴシック" panose="020B0400000000000000" pitchFamily="50" charset="-128"/>
                        </a:rPr>
                        <a:t>p</a:t>
                      </a:r>
                      <a:r>
                        <a:rPr lang="ja-JP" altLang="en-US" sz="1400" b="1" i="0">
                          <a:solidFill>
                            <a:srgbClr val="000000"/>
                          </a:solidFill>
                          <a:effectLst/>
                          <a:ea typeface="游ゴシック" panose="020B0400000000000000" pitchFamily="50" charset="-128"/>
                        </a:rPr>
                        <a:t>テューキー</a:t>
                      </a:r>
                      <a:r>
                        <a:rPr lang="ja-JP" altLang="en-US" sz="1400" b="1" i="0">
                          <a:solidFill>
                            <a:srgbClr val="FFFFFF"/>
                          </a:solidFill>
                          <a:effectLst/>
                          <a:latin typeface="游ゴシック" panose="020B0400000000000000" pitchFamily="50" charset="-128"/>
                        </a:rPr>
                        <a:t>​</a:t>
                      </a:r>
                      <a:endParaRPr lang="ja-JP" altLang="en-US" sz="1400" b="1" i="0">
                        <a:solidFill>
                          <a:srgbClr val="FFFFFF"/>
                        </a:solidFill>
                        <a:effectLst/>
                      </a:endParaRPr>
                    </a:p>
                  </a:txBody>
                  <a:tcPr>
                    <a:noFill/>
                  </a:tcPr>
                </a:tc>
                <a:extLst>
                  <a:ext uri="{0D108BD9-81ED-4DB2-BD59-A6C34878D82A}">
                    <a16:rowId xmlns:a16="http://schemas.microsoft.com/office/drawing/2014/main" val="2809685238"/>
                  </a:ext>
                </a:extLst>
              </a:tr>
              <a:tr h="370840">
                <a:tc>
                  <a:txBody>
                    <a:bodyPr/>
                    <a:lstStyle/>
                    <a:p>
                      <a:pPr algn="l" fontAlgn="base">
                        <a:lnSpc>
                          <a:spcPts val="1350"/>
                        </a:lnSpc>
                        <a:buNone/>
                      </a:pPr>
                      <a:r>
                        <a:rPr lang="ja-JP" altLang="en-US" sz="1400" b="1" i="0" dirty="0">
                          <a:solidFill>
                            <a:srgbClr val="000000"/>
                          </a:solidFill>
                          <a:effectLst/>
                          <a:latin typeface="+mn-ea"/>
                          <a:ea typeface="+mn-ea"/>
                        </a:rPr>
                        <a:t>あり</a:t>
                      </a: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固定​</a:t>
                      </a:r>
                    </a:p>
                  </a:txBody>
                  <a:tcPr>
                    <a:noFill/>
                  </a:tcPr>
                </a:tc>
                <a:tc>
                  <a:txBody>
                    <a:bodyPr/>
                    <a:lstStyle/>
                    <a:p>
                      <a:pPr algn="l" fontAlgn="base">
                        <a:lnSpc>
                          <a:spcPts val="1350"/>
                        </a:lnSpc>
                        <a:buNone/>
                      </a:pPr>
                      <a:r>
                        <a:rPr lang="en-US" sz="1400" b="1" i="0" dirty="0">
                          <a:solidFill>
                            <a:srgbClr val="000000"/>
                          </a:solidFill>
                          <a:effectLst/>
                          <a:latin typeface="+mn-ea"/>
                          <a:ea typeface="+mn-ea"/>
                        </a:rPr>
                        <a:t>-</a:t>
                      </a:r>
                      <a:r>
                        <a:rPr lang="en-US" altLang="ja-JP" sz="1400" b="1" i="0" dirty="0">
                          <a:solidFill>
                            <a:srgbClr val="000000"/>
                          </a:solidFill>
                          <a:effectLst/>
                          <a:latin typeface="+mn-ea"/>
                          <a:ea typeface="+mn-ea"/>
                        </a:rPr>
                        <a:t>​</a:t>
                      </a: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なし</a:t>
                      </a:r>
                      <a:endParaRPr lang="en-US" altLang="ja-JP" sz="1400" b="1" i="0" dirty="0">
                        <a:solidFill>
                          <a:srgbClr val="000000"/>
                        </a:solidFill>
                        <a:effectLst/>
                        <a:latin typeface="+mn-ea"/>
                        <a:ea typeface="+mn-ea"/>
                      </a:endParaRP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固定</a:t>
                      </a:r>
                      <a:endParaRPr lang="en-US" altLang="ja-JP" sz="1400" b="1" i="0" dirty="0">
                        <a:solidFill>
                          <a:srgbClr val="000000"/>
                        </a:solidFill>
                        <a:effectLst/>
                        <a:latin typeface="+mn-ea"/>
                        <a:ea typeface="+mn-ea"/>
                      </a:endParaRPr>
                    </a:p>
                  </a:txBody>
                  <a:tcPr>
                    <a:noFill/>
                  </a:tcPr>
                </a:tc>
                <a:tc>
                  <a:txBody>
                    <a:bodyPr/>
                    <a:lstStyle/>
                    <a:p>
                      <a:pPr algn="r" fontAlgn="base">
                        <a:lnSpc>
                          <a:spcPts val="1350"/>
                        </a:lnSpc>
                        <a:buNone/>
                      </a:pPr>
                      <a:r>
                        <a:rPr lang="en-US" altLang="ja-JP" sz="1400" b="1" i="0" dirty="0">
                          <a:solidFill>
                            <a:srgbClr val="000000"/>
                          </a:solidFill>
                          <a:effectLst/>
                          <a:latin typeface="+mn-ea"/>
                          <a:ea typeface="+mn-ea"/>
                        </a:rPr>
                        <a:t>-1.433​</a:t>
                      </a: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0.494</a:t>
                      </a:r>
                      <a:r>
                        <a:rPr lang="en-US" altLang="ja-JP" sz="1400" b="0" i="0" dirty="0">
                          <a:solidFill>
                            <a:srgbClr val="000000"/>
                          </a:solidFill>
                          <a:effectLst/>
                          <a:ea typeface="游ゴシック" panose="020B0400000000000000" pitchFamily="50" charset="-128"/>
                        </a:rPr>
                        <a:t>​</a:t>
                      </a:r>
                      <a:endParaRPr lang="en-US" altLang="ja-JP" sz="1400" b="0" i="0" dirty="0">
                        <a:solidFill>
                          <a:srgbClr val="000000"/>
                        </a:solidFill>
                        <a:effectLst/>
                      </a:endParaRP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157</a:t>
                      </a:r>
                      <a:endParaRPr lang="en-US" sz="1400" b="0" i="0" dirty="0">
                        <a:solidFill>
                          <a:srgbClr val="000000"/>
                        </a:solidFill>
                        <a:effectLst/>
                      </a:endParaRP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-2.903</a:t>
                      </a:r>
                      <a:r>
                        <a:rPr lang="en-US" sz="1400" b="0" i="0" dirty="0">
                          <a:solidFill>
                            <a:srgbClr val="000000"/>
                          </a:solidFill>
                          <a:effectLst/>
                          <a:latin typeface="游ゴシック" panose="020B0400000000000000" pitchFamily="50" charset="-128"/>
                        </a:rPr>
                        <a:t>​</a:t>
                      </a:r>
                      <a:endParaRPr lang="en-US" sz="1400" b="0" i="0" dirty="0">
                        <a:solidFill>
                          <a:srgbClr val="000000"/>
                        </a:solidFill>
                        <a:effectLst/>
                      </a:endParaRPr>
                    </a:p>
                  </a:txBody>
                  <a:tcPr>
                    <a:noFill/>
                  </a:tcPr>
                </a:tc>
                <a:tc>
                  <a:txBody>
                    <a:bodyPr/>
                    <a:lstStyle/>
                    <a:p>
                      <a:pPr algn="r" fontAlgn="base">
                        <a:lnSpc>
                          <a:spcPts val="1350"/>
                        </a:lnSpc>
                        <a:buNone/>
                      </a:pPr>
                      <a:r>
                        <a:rPr lang="en-US" sz="1400" b="1" i="0" dirty="0">
                          <a:solidFill>
                            <a:srgbClr val="C00000"/>
                          </a:solidFill>
                          <a:effectLst/>
                          <a:latin typeface="游ゴシック" panose="020B0400000000000000" pitchFamily="50" charset="-128"/>
                        </a:rPr>
                        <a:t>0.022</a:t>
                      </a:r>
                      <a:endParaRPr lang="en-US" sz="1400" b="0" i="0" dirty="0">
                        <a:solidFill>
                          <a:srgbClr val="000000"/>
                        </a:solidFill>
                        <a:effectLst/>
                      </a:endParaRPr>
                    </a:p>
                  </a:txBody>
                  <a:tcPr>
                    <a:noFill/>
                  </a:tcPr>
                </a:tc>
                <a:extLst>
                  <a:ext uri="{0D108BD9-81ED-4DB2-BD59-A6C34878D82A}">
                    <a16:rowId xmlns:a16="http://schemas.microsoft.com/office/drawing/2014/main" val="2808757430"/>
                  </a:ext>
                </a:extLst>
              </a:tr>
            </a:tbl>
          </a:graphicData>
        </a:graphic>
      </p:graphicFrame>
      <p:sp>
        <p:nvSpPr>
          <p:cNvPr id="5" name="四角形: 角を丸くする 4">
            <a:extLst>
              <a:ext uri="{FF2B5EF4-FFF2-40B4-BE49-F238E27FC236}">
                <a16:creationId xmlns:a16="http://schemas.microsoft.com/office/drawing/2014/main" id="{8AFF7AB4-2B10-A99A-376E-E698CB982480}"/>
              </a:ext>
            </a:extLst>
          </p:cNvPr>
          <p:cNvSpPr/>
          <p:nvPr/>
        </p:nvSpPr>
        <p:spPr>
          <a:xfrm>
            <a:off x="4182533" y="5264464"/>
            <a:ext cx="4563534" cy="1316697"/>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56A28649-DC37-6851-0433-79FD5A3F0DF7}"/>
              </a:ext>
            </a:extLst>
          </p:cNvPr>
          <p:cNvSpPr txBox="1"/>
          <p:nvPr/>
        </p:nvSpPr>
        <p:spPr>
          <a:xfrm>
            <a:off x="4182533" y="5322647"/>
            <a:ext cx="4618566" cy="1477328"/>
          </a:xfrm>
          <a:prstGeom prst="rect">
            <a:avLst/>
          </a:prstGeom>
          <a:noFill/>
        </p:spPr>
        <p:txBody>
          <a:bodyPr wrap="square">
            <a:spAutoFit/>
          </a:bodyPr>
          <a:lstStyle/>
          <a:p>
            <a:r>
              <a:rPr lang="ja-JP" altLang="en-US" b="1" dirty="0">
                <a:latin typeface="+mn-ea"/>
              </a:rPr>
              <a:t>ユーザは</a:t>
            </a:r>
            <a:r>
              <a:rPr lang="en-US" altLang="ja-JP" b="1" dirty="0">
                <a:latin typeface="+mn-ea"/>
              </a:rPr>
              <a:t>LLM</a:t>
            </a:r>
            <a:r>
              <a:rPr lang="ja-JP" altLang="en-US" b="1" dirty="0">
                <a:latin typeface="+mn-ea"/>
              </a:rPr>
              <a:t>が人格固定の際，</a:t>
            </a:r>
            <a:endParaRPr lang="en-US" altLang="ja-JP" b="1" dirty="0">
              <a:latin typeface="+mn-ea"/>
            </a:endParaRPr>
          </a:p>
          <a:p>
            <a:r>
              <a:rPr lang="en-US" altLang="ja-JP" b="1" dirty="0">
                <a:latin typeface="+mn-ea"/>
              </a:rPr>
              <a:t>LLM</a:t>
            </a:r>
            <a:r>
              <a:rPr lang="ja-JP" altLang="en-US" b="1" dirty="0">
                <a:latin typeface="+mn-ea"/>
              </a:rPr>
              <a:t>が</a:t>
            </a:r>
            <a:r>
              <a:rPr lang="ja-JP" altLang="en-US" b="1" dirty="0">
                <a:solidFill>
                  <a:srgbClr val="C00000"/>
                </a:solidFill>
                <a:latin typeface="+mn-ea"/>
              </a:rPr>
              <a:t>名乗らない</a:t>
            </a:r>
            <a:r>
              <a:rPr lang="ja-JP" altLang="en-US" b="1" dirty="0">
                <a:latin typeface="+mn-ea"/>
              </a:rPr>
              <a:t>ことで</a:t>
            </a:r>
            <a:r>
              <a:rPr lang="ja-JP" altLang="en-US" b="1" dirty="0">
                <a:solidFill>
                  <a:srgbClr val="C00000"/>
                </a:solidFill>
                <a:latin typeface="+mn-ea"/>
              </a:rPr>
              <a:t>より強く</a:t>
            </a:r>
            <a:r>
              <a:rPr lang="en-US" altLang="ja-JP" b="1" dirty="0">
                <a:solidFill>
                  <a:srgbClr val="C00000"/>
                </a:solidFill>
                <a:latin typeface="+mn-ea"/>
              </a:rPr>
              <a:t>LLM</a:t>
            </a:r>
            <a:r>
              <a:rPr lang="ja-JP" altLang="en-US" b="1" dirty="0">
                <a:solidFill>
                  <a:srgbClr val="C00000"/>
                </a:solidFill>
                <a:latin typeface="+mn-ea"/>
              </a:rPr>
              <a:t>に感情がある</a:t>
            </a:r>
            <a:r>
              <a:rPr lang="ja-JP" altLang="en-US" b="1" dirty="0">
                <a:latin typeface="+mn-ea"/>
              </a:rPr>
              <a:t>と感じることが示唆</a:t>
            </a:r>
            <a:endParaRPr lang="en-US" altLang="ja-JP" b="1" dirty="0">
              <a:latin typeface="+mn-ea"/>
            </a:endParaRPr>
          </a:p>
          <a:p>
            <a:r>
              <a:rPr lang="ja-JP" altLang="en-US" b="1" dirty="0">
                <a:latin typeface="+mn-ea"/>
              </a:rPr>
              <a:t>（名乗りあり </a:t>
            </a:r>
            <a:r>
              <a:rPr lang="en-US" altLang="ja-JP" b="1" dirty="0">
                <a:latin typeface="+mn-ea"/>
              </a:rPr>
              <a:t>&lt; </a:t>
            </a:r>
            <a:r>
              <a:rPr lang="ja-JP" altLang="en-US" b="1" dirty="0">
                <a:latin typeface="+mn-ea"/>
              </a:rPr>
              <a:t>名乗りなし）</a:t>
            </a:r>
          </a:p>
          <a:p>
            <a:endParaRPr lang="ja-JP" altLang="en-US" dirty="0"/>
          </a:p>
        </p:txBody>
      </p:sp>
      <p:sp>
        <p:nvSpPr>
          <p:cNvPr id="10" name="矢印: 右 9">
            <a:extLst>
              <a:ext uri="{FF2B5EF4-FFF2-40B4-BE49-F238E27FC236}">
                <a16:creationId xmlns:a16="http://schemas.microsoft.com/office/drawing/2014/main" id="{6BC60A1F-3D93-7A15-434D-099717C23041}"/>
              </a:ext>
            </a:extLst>
          </p:cNvPr>
          <p:cNvSpPr/>
          <p:nvPr/>
        </p:nvSpPr>
        <p:spPr>
          <a:xfrm rot="5400000">
            <a:off x="6267695" y="4585269"/>
            <a:ext cx="393208" cy="668867"/>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grpSp>
        <p:nvGrpSpPr>
          <p:cNvPr id="12" name="グループ化 11">
            <a:extLst>
              <a:ext uri="{FF2B5EF4-FFF2-40B4-BE49-F238E27FC236}">
                <a16:creationId xmlns:a16="http://schemas.microsoft.com/office/drawing/2014/main" id="{F9DF72CB-8EBA-CFC4-EBB1-2E8B4D66ACF9}"/>
              </a:ext>
            </a:extLst>
          </p:cNvPr>
          <p:cNvGrpSpPr/>
          <p:nvPr/>
        </p:nvGrpSpPr>
        <p:grpSpPr>
          <a:xfrm>
            <a:off x="511175" y="4500000"/>
            <a:ext cx="3367721" cy="2365614"/>
            <a:chOff x="511175" y="4500000"/>
            <a:chExt cx="3367721" cy="2365614"/>
          </a:xfrm>
        </p:grpSpPr>
        <p:pic>
          <p:nvPicPr>
            <p:cNvPr id="11266" name="Picture 2">
              <a:extLst>
                <a:ext uri="{FF2B5EF4-FFF2-40B4-BE49-F238E27FC236}">
                  <a16:creationId xmlns:a16="http://schemas.microsoft.com/office/drawing/2014/main" id="{A6F2D235-1355-6ABB-6895-E4F8B353E4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000" y="4500000"/>
              <a:ext cx="3338896" cy="2365614"/>
            </a:xfrm>
            <a:prstGeom prst="rect">
              <a:avLst/>
            </a:prstGeom>
            <a:noFill/>
            <a:extLst>
              <a:ext uri="{909E8E84-426E-40DD-AFC4-6F175D3DCCD1}">
                <a14:hiddenFill xmlns:a14="http://schemas.microsoft.com/office/drawing/2010/main">
                  <a:solidFill>
                    <a:srgbClr val="FFFFFF"/>
                  </a:solidFill>
                </a14:hiddenFill>
              </a:ext>
            </a:extLst>
          </p:spPr>
        </p:pic>
        <p:sp>
          <p:nvSpPr>
            <p:cNvPr id="6" name="正方形/長方形 5">
              <a:extLst>
                <a:ext uri="{FF2B5EF4-FFF2-40B4-BE49-F238E27FC236}">
                  <a16:creationId xmlns:a16="http://schemas.microsoft.com/office/drawing/2014/main" id="{7452931F-8935-224F-1978-FF5EF9902774}"/>
                </a:ext>
              </a:extLst>
            </p:cNvPr>
            <p:cNvSpPr/>
            <p:nvPr/>
          </p:nvSpPr>
          <p:spPr>
            <a:xfrm>
              <a:off x="511175" y="5845175"/>
              <a:ext cx="247650" cy="203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974201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CEA6DCD-02E5-1E8D-35FD-2F819FC16875}"/>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A5D2C5F-1DDD-C04A-A065-E6B19CC57FC8}"/>
              </a:ext>
            </a:extLst>
          </p:cNvPr>
          <p:cNvSpPr>
            <a:spLocks noGrp="1"/>
          </p:cNvSpPr>
          <p:nvPr>
            <p:ph type="sldNum" sz="quarter" idx="12"/>
          </p:nvPr>
        </p:nvSpPr>
        <p:spPr/>
        <p:txBody>
          <a:bodyPr/>
          <a:lstStyle/>
          <a:p>
            <a:fld id="{18020408-E1FF-429E-A8D5-EB2A190A0D77}" type="slidenum">
              <a:rPr kumimoji="1" lang="ja-JP" altLang="en-US" smtClean="0"/>
              <a:pPr/>
              <a:t>55</a:t>
            </a:fld>
            <a:endParaRPr kumimoji="1" lang="ja-JP" altLang="en-US" sz="2400" dirty="0"/>
          </a:p>
        </p:txBody>
      </p:sp>
      <p:sp>
        <p:nvSpPr>
          <p:cNvPr id="3" name="タイトル 2">
            <a:extLst>
              <a:ext uri="{FF2B5EF4-FFF2-40B4-BE49-F238E27FC236}">
                <a16:creationId xmlns:a16="http://schemas.microsoft.com/office/drawing/2014/main" id="{4EEE8A4D-2AF8-DBC3-CD98-5E4A692423B9}"/>
              </a:ext>
            </a:extLst>
          </p:cNvPr>
          <p:cNvSpPr>
            <a:spLocks noGrp="1"/>
          </p:cNvSpPr>
          <p:nvPr>
            <p:ph type="title"/>
          </p:nvPr>
        </p:nvSpPr>
        <p:spPr/>
        <p:txBody>
          <a:bodyPr/>
          <a:lstStyle/>
          <a:p>
            <a:r>
              <a:rPr lang="ja-JP" altLang="en-US" sz="3600" dirty="0"/>
              <a:t>結果・考察：言動を見ていて楽しい</a:t>
            </a:r>
            <a:endParaRPr kumimoji="1" lang="ja-JP" altLang="en-US" sz="3600" dirty="0"/>
          </a:p>
        </p:txBody>
      </p:sp>
      <p:sp>
        <p:nvSpPr>
          <p:cNvPr id="7" name="テキスト ボックス 6">
            <a:extLst>
              <a:ext uri="{FF2B5EF4-FFF2-40B4-BE49-F238E27FC236}">
                <a16:creationId xmlns:a16="http://schemas.microsoft.com/office/drawing/2014/main" id="{7EB09933-9281-4FD4-B543-8600E247AF71}"/>
              </a:ext>
            </a:extLst>
          </p:cNvPr>
          <p:cNvSpPr txBox="1"/>
          <p:nvPr/>
        </p:nvSpPr>
        <p:spPr>
          <a:xfrm>
            <a:off x="313263" y="2827821"/>
            <a:ext cx="5698069" cy="646331"/>
          </a:xfrm>
          <a:prstGeom prst="rect">
            <a:avLst/>
          </a:prstGeom>
          <a:noFill/>
        </p:spPr>
        <p:txBody>
          <a:bodyPr wrap="square">
            <a:spAutoFit/>
          </a:bodyPr>
          <a:lstStyle/>
          <a:p>
            <a:r>
              <a:rPr lang="ja-JP" altLang="en-US" b="1" dirty="0"/>
              <a:t>名乗りなし水準における</a:t>
            </a:r>
            <a:endParaRPr lang="en-US" altLang="ja-JP" b="1" dirty="0"/>
          </a:p>
          <a:p>
            <a:r>
              <a:rPr lang="ja-JP" altLang="en-US" b="1" dirty="0"/>
              <a:t>人格設定要因での平均値と標準偏差</a:t>
            </a:r>
          </a:p>
        </p:txBody>
      </p:sp>
      <p:sp>
        <p:nvSpPr>
          <p:cNvPr id="9" name="Rectangle 1">
            <a:extLst>
              <a:ext uri="{FF2B5EF4-FFF2-40B4-BE49-F238E27FC236}">
                <a16:creationId xmlns:a16="http://schemas.microsoft.com/office/drawing/2014/main" id="{72C1ACBE-0A5B-5129-A3B8-7E97B9F0251E}"/>
              </a:ext>
            </a:extLst>
          </p:cNvPr>
          <p:cNvSpPr>
            <a:spLocks noChangeArrowheads="1"/>
          </p:cNvSpPr>
          <p:nvPr/>
        </p:nvSpPr>
        <p:spPr bwMode="auto">
          <a:xfrm>
            <a:off x="2362200" y="250391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1" name="Rectangle 2">
            <a:extLst>
              <a:ext uri="{FF2B5EF4-FFF2-40B4-BE49-F238E27FC236}">
                <a16:creationId xmlns:a16="http://schemas.microsoft.com/office/drawing/2014/main" id="{07DF2C03-089A-95EB-8A94-EC0D9AE72F47}"/>
              </a:ext>
            </a:extLst>
          </p:cNvPr>
          <p:cNvSpPr>
            <a:spLocks noChangeArrowheads="1"/>
          </p:cNvSpPr>
          <p:nvPr/>
        </p:nvSpPr>
        <p:spPr bwMode="auto">
          <a:xfrm>
            <a:off x="2252663" y="3560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3" name="テキスト ボックス 12">
            <a:extLst>
              <a:ext uri="{FF2B5EF4-FFF2-40B4-BE49-F238E27FC236}">
                <a16:creationId xmlns:a16="http://schemas.microsoft.com/office/drawing/2014/main" id="{4EE192F2-E0DE-058B-5885-365A7253BD04}"/>
              </a:ext>
            </a:extLst>
          </p:cNvPr>
          <p:cNvSpPr txBox="1"/>
          <p:nvPr/>
        </p:nvSpPr>
        <p:spPr>
          <a:xfrm>
            <a:off x="313263" y="1247017"/>
            <a:ext cx="6680203" cy="646331"/>
          </a:xfrm>
          <a:prstGeom prst="rect">
            <a:avLst/>
          </a:prstGeom>
          <a:noFill/>
        </p:spPr>
        <p:txBody>
          <a:bodyPr wrap="square">
            <a:spAutoFit/>
          </a:bodyPr>
          <a:lstStyle/>
          <a:p>
            <a:r>
              <a:rPr lang="ja-JP" altLang="en-US" b="1" dirty="0">
                <a:latin typeface="+mn-ea"/>
              </a:rPr>
              <a:t>「</a:t>
            </a:r>
            <a:r>
              <a:rPr lang="en-US" altLang="ja-JP" b="1" dirty="0">
                <a:latin typeface="+mn-ea"/>
              </a:rPr>
              <a:t>Q9</a:t>
            </a:r>
            <a:r>
              <a:rPr lang="ja-JP" altLang="en-US" b="1" dirty="0">
                <a:latin typeface="+mn-ea"/>
              </a:rPr>
              <a:t>．</a:t>
            </a:r>
            <a:r>
              <a:rPr kumimoji="1" lang="en-US" altLang="ja-JP" b="1" dirty="0">
                <a:latin typeface="游ゴシック" panose="020B0400000000000000" pitchFamily="50" charset="-128"/>
              </a:rPr>
              <a:t>AI </a:t>
            </a:r>
            <a:r>
              <a:rPr kumimoji="1" lang="ja-JP" altLang="en-US" b="1" dirty="0">
                <a:latin typeface="游ゴシック" panose="020B0400000000000000" pitchFamily="50" charset="-128"/>
              </a:rPr>
              <a:t>の言動を見ていて楽しい」について</a:t>
            </a:r>
            <a:endParaRPr kumimoji="1" lang="en-US" altLang="ja-JP" b="1" dirty="0">
              <a:latin typeface="游ゴシック" panose="020B0400000000000000" pitchFamily="50" charset="-128"/>
            </a:endParaRPr>
          </a:p>
          <a:p>
            <a:r>
              <a:rPr kumimoji="1" lang="en-US" altLang="ja-JP" b="1" dirty="0">
                <a:latin typeface="游ゴシック" panose="020B0400000000000000" pitchFamily="50" charset="-128"/>
                <a:sym typeface="Wingdings" panose="05000000000000000000" pitchFamily="2" charset="2"/>
              </a:rPr>
              <a:t></a:t>
            </a:r>
            <a:r>
              <a:rPr kumimoji="1" lang="ja-JP" altLang="en-US" b="1" dirty="0">
                <a:solidFill>
                  <a:srgbClr val="C00000"/>
                </a:solidFill>
                <a:latin typeface="游ゴシック" panose="020B0400000000000000" pitchFamily="50" charset="-128"/>
                <a:sym typeface="Wingdings" panose="05000000000000000000" pitchFamily="2" charset="2"/>
              </a:rPr>
              <a:t>交互作用が有意</a:t>
            </a:r>
            <a:endParaRPr kumimoji="1" lang="en-US" altLang="ja-JP" b="1" dirty="0">
              <a:solidFill>
                <a:srgbClr val="C00000"/>
              </a:solidFill>
              <a:latin typeface="游ゴシック" panose="020B0400000000000000" pitchFamily="50" charset="-128"/>
            </a:endParaRPr>
          </a:p>
        </p:txBody>
      </p:sp>
      <p:graphicFrame>
        <p:nvGraphicFramePr>
          <p:cNvPr id="15" name="表 14">
            <a:extLst>
              <a:ext uri="{FF2B5EF4-FFF2-40B4-BE49-F238E27FC236}">
                <a16:creationId xmlns:a16="http://schemas.microsoft.com/office/drawing/2014/main" id="{48F4F568-216C-2F35-251D-984A81E0DCC7}"/>
              </a:ext>
            </a:extLst>
          </p:cNvPr>
          <p:cNvGraphicFramePr>
            <a:graphicFrameLocks noGrp="1"/>
          </p:cNvGraphicFramePr>
          <p:nvPr/>
        </p:nvGraphicFramePr>
        <p:xfrm>
          <a:off x="436035" y="3537280"/>
          <a:ext cx="4004229" cy="1019918"/>
        </p:xfrm>
        <a:graphic>
          <a:graphicData uri="http://schemas.openxmlformats.org/drawingml/2006/table">
            <a:tbl>
              <a:tblPr firstRow="1" bandRow="1">
                <a:tableStyleId>{9D7B26C5-4107-4FEC-AEDC-1716B250A1EF}</a:tableStyleId>
              </a:tblPr>
              <a:tblGrid>
                <a:gridCol w="1442745">
                  <a:extLst>
                    <a:ext uri="{9D8B030D-6E8A-4147-A177-3AD203B41FA5}">
                      <a16:colId xmlns:a16="http://schemas.microsoft.com/office/drawing/2014/main" val="4143698353"/>
                    </a:ext>
                  </a:extLst>
                </a:gridCol>
                <a:gridCol w="1280742">
                  <a:extLst>
                    <a:ext uri="{9D8B030D-6E8A-4147-A177-3AD203B41FA5}">
                      <a16:colId xmlns:a16="http://schemas.microsoft.com/office/drawing/2014/main" val="2801815050"/>
                    </a:ext>
                  </a:extLst>
                </a:gridCol>
                <a:gridCol w="1280742">
                  <a:extLst>
                    <a:ext uri="{9D8B030D-6E8A-4147-A177-3AD203B41FA5}">
                      <a16:colId xmlns:a16="http://schemas.microsoft.com/office/drawing/2014/main" val="3674438810"/>
                    </a:ext>
                  </a:extLst>
                </a:gridCol>
              </a:tblGrid>
              <a:tr h="394870">
                <a:tc>
                  <a:txBody>
                    <a:bodyPr/>
                    <a:lstStyle/>
                    <a:p>
                      <a:pPr algn="l" fontAlgn="base">
                        <a:lnSpc>
                          <a:spcPts val="1350"/>
                        </a:lnSpc>
                        <a:buNone/>
                      </a:pPr>
                      <a:r>
                        <a:rPr lang="ja-JP" altLang="en-US" sz="1600" b="1" i="0" dirty="0">
                          <a:solidFill>
                            <a:srgbClr val="000000"/>
                          </a:solidFill>
                          <a:effectLst/>
                          <a:latin typeface="+mn-ea"/>
                          <a:ea typeface="+mn-ea"/>
                        </a:rPr>
                        <a:t>人格設定要因</a:t>
                      </a:r>
                      <a:r>
                        <a:rPr lang="ja-JP" altLang="en-US" sz="1600" b="1" i="0" dirty="0">
                          <a:solidFill>
                            <a:srgbClr val="FFFFFF"/>
                          </a:solidFill>
                          <a:effectLst/>
                          <a:latin typeface="+mn-ea"/>
                          <a:ea typeface="+mn-ea"/>
                        </a:rPr>
                        <a:t>​</a:t>
                      </a:r>
                    </a:p>
                  </a:txBody>
                  <a:tcPr anchor="ctr">
                    <a:noFill/>
                  </a:tcPr>
                </a:tc>
                <a:tc>
                  <a:txBody>
                    <a:bodyPr/>
                    <a:lstStyle/>
                    <a:p>
                      <a:pPr algn="r" fontAlgn="base">
                        <a:lnSpc>
                          <a:spcPts val="1350"/>
                        </a:lnSpc>
                        <a:buNone/>
                      </a:pPr>
                      <a:r>
                        <a:rPr lang="ja-JP" altLang="en-US" sz="1600" b="1" i="0" dirty="0">
                          <a:solidFill>
                            <a:srgbClr val="000000"/>
                          </a:solidFill>
                          <a:effectLst/>
                          <a:latin typeface="+mn-ea"/>
                          <a:ea typeface="+mn-ea"/>
                        </a:rPr>
                        <a:t>平均値</a:t>
                      </a:r>
                      <a:endParaRPr lang="ja-JP" altLang="en-US" sz="1600" b="1" i="0" dirty="0">
                        <a:solidFill>
                          <a:srgbClr val="FFFFFF"/>
                        </a:solidFill>
                        <a:effectLst/>
                        <a:latin typeface="+mn-ea"/>
                        <a:ea typeface="+mn-ea"/>
                      </a:endParaRPr>
                    </a:p>
                  </a:txBody>
                  <a:tcPr anchor="ctr">
                    <a:noFill/>
                  </a:tcPr>
                </a:tc>
                <a:tc>
                  <a:txBody>
                    <a:bodyPr/>
                    <a:lstStyle/>
                    <a:p>
                      <a:pPr algn="r" fontAlgn="base">
                        <a:lnSpc>
                          <a:spcPts val="1350"/>
                        </a:lnSpc>
                        <a:buNone/>
                      </a:pPr>
                      <a:r>
                        <a:rPr lang="ja-JP" altLang="en-US" sz="1600" b="1" i="0" dirty="0">
                          <a:solidFill>
                            <a:srgbClr val="000000"/>
                          </a:solidFill>
                          <a:effectLst/>
                          <a:latin typeface="+mn-ea"/>
                          <a:ea typeface="+mn-ea"/>
                        </a:rPr>
                        <a:t>標準偏差</a:t>
                      </a:r>
                      <a:r>
                        <a:rPr lang="en-US" altLang="ja-JP" sz="1600" b="1" i="0" dirty="0">
                          <a:solidFill>
                            <a:srgbClr val="FFFFFF"/>
                          </a:solidFill>
                          <a:effectLst/>
                          <a:latin typeface="+mn-ea"/>
                          <a:ea typeface="+mn-ea"/>
                        </a:rPr>
                        <a:t>​</a:t>
                      </a:r>
                    </a:p>
                  </a:txBody>
                  <a:tcPr anchor="ctr">
                    <a:noFill/>
                  </a:tcPr>
                </a:tc>
                <a:extLst>
                  <a:ext uri="{0D108BD9-81ED-4DB2-BD59-A6C34878D82A}">
                    <a16:rowId xmlns:a16="http://schemas.microsoft.com/office/drawing/2014/main" val="2809685238"/>
                  </a:ext>
                </a:extLst>
              </a:tr>
              <a:tr h="312524">
                <a:tc>
                  <a:txBody>
                    <a:bodyPr/>
                    <a:lstStyle/>
                    <a:p>
                      <a:pPr algn="l" fontAlgn="base">
                        <a:lnSpc>
                          <a:spcPts val="1350"/>
                        </a:lnSpc>
                        <a:buNone/>
                      </a:pPr>
                      <a:r>
                        <a:rPr lang="ja-JP" altLang="en-US" sz="1600" b="1" i="0" dirty="0">
                          <a:solidFill>
                            <a:srgbClr val="000000"/>
                          </a:solidFill>
                          <a:effectLst/>
                          <a:latin typeface="+mn-ea"/>
                          <a:ea typeface="+mn-ea"/>
                        </a:rPr>
                        <a:t>固定​</a:t>
                      </a:r>
                    </a:p>
                  </a:txBody>
                  <a:tcPr anchor="ctr">
                    <a:noFill/>
                  </a:tcPr>
                </a:tc>
                <a:tc>
                  <a:txBody>
                    <a:bodyPr/>
                    <a:lstStyle/>
                    <a:p>
                      <a:pPr algn="r" fontAlgn="base">
                        <a:lnSpc>
                          <a:spcPts val="1350"/>
                        </a:lnSpc>
                        <a:buNone/>
                      </a:pPr>
                      <a:r>
                        <a:rPr lang="en-US" altLang="ja-JP" sz="1600" b="1" i="0" dirty="0">
                          <a:solidFill>
                            <a:srgbClr val="000000"/>
                          </a:solidFill>
                          <a:effectLst/>
                          <a:latin typeface="+mn-ea"/>
                          <a:ea typeface="+mn-ea"/>
                        </a:rPr>
                        <a:t>4.82</a:t>
                      </a:r>
                    </a:p>
                  </a:txBody>
                  <a:tcPr anchor="ctr">
                    <a:noFill/>
                  </a:tcPr>
                </a:tc>
                <a:tc>
                  <a:txBody>
                    <a:bodyPr/>
                    <a:lstStyle/>
                    <a:p>
                      <a:pPr algn="r" fontAlgn="base">
                        <a:lnSpc>
                          <a:spcPts val="1350"/>
                        </a:lnSpc>
                        <a:buNone/>
                      </a:pPr>
                      <a:r>
                        <a:rPr lang="en-US" sz="1600" b="1" i="0" dirty="0">
                          <a:solidFill>
                            <a:srgbClr val="000000"/>
                          </a:solidFill>
                          <a:effectLst/>
                          <a:latin typeface="+mn-ea"/>
                          <a:ea typeface="+mn-ea"/>
                        </a:rPr>
                        <a:t>2.71</a:t>
                      </a:r>
                    </a:p>
                  </a:txBody>
                  <a:tcPr anchor="ctr">
                    <a:noFill/>
                  </a:tcPr>
                </a:tc>
                <a:extLst>
                  <a:ext uri="{0D108BD9-81ED-4DB2-BD59-A6C34878D82A}">
                    <a16:rowId xmlns:a16="http://schemas.microsoft.com/office/drawing/2014/main" val="2808757430"/>
                  </a:ext>
                </a:extLst>
              </a:tr>
              <a:tr h="312524">
                <a:tc>
                  <a:txBody>
                    <a:bodyPr/>
                    <a:lstStyle/>
                    <a:p>
                      <a:pPr algn="l" fontAlgn="base">
                        <a:lnSpc>
                          <a:spcPts val="1350"/>
                        </a:lnSpc>
                        <a:buNone/>
                      </a:pPr>
                      <a:r>
                        <a:rPr lang="ja-JP" altLang="en-US" sz="1600" b="1" i="0" dirty="0">
                          <a:solidFill>
                            <a:srgbClr val="000000"/>
                          </a:solidFill>
                          <a:effectLst/>
                          <a:latin typeface="+mn-ea"/>
                          <a:ea typeface="+mn-ea"/>
                        </a:rPr>
                        <a:t>切り替え</a:t>
                      </a:r>
                    </a:p>
                  </a:txBody>
                  <a:tcPr anchor="ctr">
                    <a:noFill/>
                  </a:tcPr>
                </a:tc>
                <a:tc>
                  <a:txBody>
                    <a:bodyPr/>
                    <a:lstStyle/>
                    <a:p>
                      <a:pPr algn="r" fontAlgn="base">
                        <a:lnSpc>
                          <a:spcPts val="1350"/>
                        </a:lnSpc>
                        <a:buNone/>
                      </a:pPr>
                      <a:r>
                        <a:rPr lang="en-US" altLang="ja-JP" sz="1600" b="1" i="0" dirty="0">
                          <a:solidFill>
                            <a:srgbClr val="000000"/>
                          </a:solidFill>
                          <a:effectLst/>
                          <a:latin typeface="+mn-ea"/>
                          <a:ea typeface="+mn-ea"/>
                        </a:rPr>
                        <a:t>3.33</a:t>
                      </a:r>
                    </a:p>
                  </a:txBody>
                  <a:tcPr anchor="ctr">
                    <a:noFill/>
                  </a:tcPr>
                </a:tc>
                <a:tc>
                  <a:txBody>
                    <a:bodyPr/>
                    <a:lstStyle/>
                    <a:p>
                      <a:pPr algn="r" fontAlgn="base">
                        <a:lnSpc>
                          <a:spcPts val="1350"/>
                        </a:lnSpc>
                        <a:buNone/>
                      </a:pPr>
                      <a:r>
                        <a:rPr lang="en-US" sz="1600" b="1" i="0" dirty="0">
                          <a:solidFill>
                            <a:srgbClr val="000000"/>
                          </a:solidFill>
                          <a:effectLst/>
                          <a:latin typeface="+mn-ea"/>
                          <a:ea typeface="+mn-ea"/>
                        </a:rPr>
                        <a:t>2.40</a:t>
                      </a:r>
                    </a:p>
                  </a:txBody>
                  <a:tcPr anchor="ctr">
                    <a:noFill/>
                  </a:tcPr>
                </a:tc>
                <a:extLst>
                  <a:ext uri="{0D108BD9-81ED-4DB2-BD59-A6C34878D82A}">
                    <a16:rowId xmlns:a16="http://schemas.microsoft.com/office/drawing/2014/main" val="928760967"/>
                  </a:ext>
                </a:extLst>
              </a:tr>
            </a:tbl>
          </a:graphicData>
        </a:graphic>
      </p:graphicFrame>
      <p:sp>
        <p:nvSpPr>
          <p:cNvPr id="16" name="四角形: 角を丸くする 15">
            <a:extLst>
              <a:ext uri="{FF2B5EF4-FFF2-40B4-BE49-F238E27FC236}">
                <a16:creationId xmlns:a16="http://schemas.microsoft.com/office/drawing/2014/main" id="{66F589EC-3363-04BE-FA1C-7B30C798584C}"/>
              </a:ext>
            </a:extLst>
          </p:cNvPr>
          <p:cNvSpPr/>
          <p:nvPr/>
        </p:nvSpPr>
        <p:spPr>
          <a:xfrm>
            <a:off x="783431" y="5266657"/>
            <a:ext cx="7577137" cy="1355758"/>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228FA4D6-5A73-80B8-3DAF-D9EC40C0377E}"/>
              </a:ext>
            </a:extLst>
          </p:cNvPr>
          <p:cNvSpPr txBox="1"/>
          <p:nvPr/>
        </p:nvSpPr>
        <p:spPr>
          <a:xfrm>
            <a:off x="939533" y="5717197"/>
            <a:ext cx="7387168" cy="738664"/>
          </a:xfrm>
          <a:prstGeom prst="rect">
            <a:avLst/>
          </a:prstGeom>
          <a:noFill/>
        </p:spPr>
        <p:txBody>
          <a:bodyPr wrap="square">
            <a:spAutoFit/>
          </a:bodyPr>
          <a:lstStyle/>
          <a:p>
            <a:r>
              <a:rPr lang="ja-JP" altLang="en-US" sz="2400" b="1" dirty="0">
                <a:solidFill>
                  <a:srgbClr val="000000"/>
                </a:solidFill>
                <a:ea typeface="游ゴシック" panose="020B0400000000000000" pitchFamily="50" charset="-128"/>
              </a:rPr>
              <a:t>考察</a:t>
            </a:r>
            <a:endParaRPr lang="ja-JP" altLang="en-US" sz="2400" b="1" dirty="0"/>
          </a:p>
          <a:p>
            <a:endParaRPr lang="ja-JP" altLang="en-US" dirty="0"/>
          </a:p>
        </p:txBody>
      </p:sp>
      <p:sp>
        <p:nvSpPr>
          <p:cNvPr id="12" name="テキスト ボックス 11">
            <a:extLst>
              <a:ext uri="{FF2B5EF4-FFF2-40B4-BE49-F238E27FC236}">
                <a16:creationId xmlns:a16="http://schemas.microsoft.com/office/drawing/2014/main" id="{58987780-FAE5-026F-2ECD-375A581B0F5F}"/>
              </a:ext>
            </a:extLst>
          </p:cNvPr>
          <p:cNvSpPr txBox="1"/>
          <p:nvPr/>
        </p:nvSpPr>
        <p:spPr>
          <a:xfrm>
            <a:off x="5559421" y="4510506"/>
            <a:ext cx="566737" cy="307777"/>
          </a:xfrm>
          <a:prstGeom prst="rect">
            <a:avLst/>
          </a:prstGeom>
          <a:noFill/>
        </p:spPr>
        <p:txBody>
          <a:bodyPr wrap="square">
            <a:spAutoFit/>
          </a:bodyPr>
          <a:lstStyle/>
          <a:p>
            <a:r>
              <a:rPr lang="ja-JP" altLang="en-US" sz="1400" b="1" dirty="0"/>
              <a:t>固定</a:t>
            </a:r>
            <a:endParaRPr lang="ja-JP" altLang="en-US" sz="1400" dirty="0"/>
          </a:p>
        </p:txBody>
      </p:sp>
      <p:sp>
        <p:nvSpPr>
          <p:cNvPr id="17" name="テキスト ボックス 16">
            <a:extLst>
              <a:ext uri="{FF2B5EF4-FFF2-40B4-BE49-F238E27FC236}">
                <a16:creationId xmlns:a16="http://schemas.microsoft.com/office/drawing/2014/main" id="{B682C5EC-C638-015C-BAF7-91E9752532AE}"/>
              </a:ext>
            </a:extLst>
          </p:cNvPr>
          <p:cNvSpPr txBox="1"/>
          <p:nvPr/>
        </p:nvSpPr>
        <p:spPr>
          <a:xfrm>
            <a:off x="6842653" y="4506827"/>
            <a:ext cx="938740" cy="307777"/>
          </a:xfrm>
          <a:prstGeom prst="rect">
            <a:avLst/>
          </a:prstGeom>
          <a:noFill/>
        </p:spPr>
        <p:txBody>
          <a:bodyPr wrap="square">
            <a:spAutoFit/>
          </a:bodyPr>
          <a:lstStyle/>
          <a:p>
            <a:r>
              <a:rPr lang="ja-JP" altLang="en-US" sz="1400" b="1" dirty="0"/>
              <a:t>切り替え</a:t>
            </a:r>
            <a:endParaRPr lang="ja-JP" altLang="en-US" sz="1400" dirty="0"/>
          </a:p>
        </p:txBody>
      </p:sp>
      <p:sp>
        <p:nvSpPr>
          <p:cNvPr id="20" name="矢印: 右 19">
            <a:extLst>
              <a:ext uri="{FF2B5EF4-FFF2-40B4-BE49-F238E27FC236}">
                <a16:creationId xmlns:a16="http://schemas.microsoft.com/office/drawing/2014/main" id="{557B4009-856E-19FE-9B02-165E0E7CBAB5}"/>
              </a:ext>
            </a:extLst>
          </p:cNvPr>
          <p:cNvSpPr/>
          <p:nvPr/>
        </p:nvSpPr>
        <p:spPr>
          <a:xfrm rot="16200000">
            <a:off x="8228831" y="2712616"/>
            <a:ext cx="369329" cy="4270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21" name="矢印: 右 20">
            <a:extLst>
              <a:ext uri="{FF2B5EF4-FFF2-40B4-BE49-F238E27FC236}">
                <a16:creationId xmlns:a16="http://schemas.microsoft.com/office/drawing/2014/main" id="{5BF4DEA3-C92C-5F36-8566-D91F1BDD1CF3}"/>
              </a:ext>
            </a:extLst>
          </p:cNvPr>
          <p:cNvSpPr/>
          <p:nvPr/>
        </p:nvSpPr>
        <p:spPr>
          <a:xfrm rot="5400000">
            <a:off x="8228830" y="4188654"/>
            <a:ext cx="369329" cy="4270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24" name="テキスト ボックス 23">
            <a:extLst>
              <a:ext uri="{FF2B5EF4-FFF2-40B4-BE49-F238E27FC236}">
                <a16:creationId xmlns:a16="http://schemas.microsoft.com/office/drawing/2014/main" id="{2D015B2C-7615-56D7-F7E1-8ED72601E2AA}"/>
              </a:ext>
            </a:extLst>
          </p:cNvPr>
          <p:cNvSpPr txBox="1"/>
          <p:nvPr/>
        </p:nvSpPr>
        <p:spPr>
          <a:xfrm>
            <a:off x="7832742" y="2465873"/>
            <a:ext cx="1074214" cy="307777"/>
          </a:xfrm>
          <a:prstGeom prst="rect">
            <a:avLst/>
          </a:prstGeom>
          <a:noFill/>
        </p:spPr>
        <p:txBody>
          <a:bodyPr wrap="square">
            <a:spAutoFit/>
          </a:bodyPr>
          <a:lstStyle/>
          <a:p>
            <a:r>
              <a:rPr lang="ja-JP" altLang="en-US" sz="1400" b="1" dirty="0"/>
              <a:t>あてはまる</a:t>
            </a:r>
            <a:endParaRPr lang="ja-JP" altLang="en-US" sz="1400" dirty="0"/>
          </a:p>
        </p:txBody>
      </p:sp>
      <p:sp>
        <p:nvSpPr>
          <p:cNvPr id="25" name="テキスト ボックス 24">
            <a:extLst>
              <a:ext uri="{FF2B5EF4-FFF2-40B4-BE49-F238E27FC236}">
                <a16:creationId xmlns:a16="http://schemas.microsoft.com/office/drawing/2014/main" id="{3CF5B1FB-3458-30C2-660A-8C5B532D4868}"/>
              </a:ext>
            </a:extLst>
          </p:cNvPr>
          <p:cNvSpPr txBox="1"/>
          <p:nvPr/>
        </p:nvSpPr>
        <p:spPr>
          <a:xfrm>
            <a:off x="7766320" y="4601898"/>
            <a:ext cx="1487746" cy="307776"/>
          </a:xfrm>
          <a:prstGeom prst="rect">
            <a:avLst/>
          </a:prstGeom>
          <a:noFill/>
        </p:spPr>
        <p:txBody>
          <a:bodyPr wrap="square">
            <a:spAutoFit/>
          </a:bodyPr>
          <a:lstStyle/>
          <a:p>
            <a:r>
              <a:rPr lang="ja-JP" altLang="en-US" sz="1400" b="1" dirty="0"/>
              <a:t>あてはまらない</a:t>
            </a:r>
            <a:endParaRPr lang="ja-JP" altLang="en-US" sz="1400" dirty="0"/>
          </a:p>
        </p:txBody>
      </p:sp>
      <p:pic>
        <p:nvPicPr>
          <p:cNvPr id="22" name="グラフィックス 21">
            <a:extLst>
              <a:ext uri="{FF2B5EF4-FFF2-40B4-BE49-F238E27FC236}">
                <a16:creationId xmlns:a16="http://schemas.microsoft.com/office/drawing/2014/main" id="{92B0B339-B4E4-5ACA-D401-9FBCFCE77112}"/>
              </a:ext>
            </a:extLst>
          </p:cNvPr>
          <p:cNvPicPr>
            <a:picLocks noChangeAspect="1"/>
          </p:cNvPicPr>
          <p:nvPr/>
        </p:nvPicPr>
        <p:blipFill>
          <a:blip r:embed="rId3">
            <a:extLst>
              <a:ext uri="{96DAC541-7B7A-43D3-8B79-37D633B846F1}">
                <asvg:svgBlip xmlns:asvg="http://schemas.microsoft.com/office/drawing/2016/SVG/main" r:embed="rId4"/>
              </a:ext>
            </a:extLst>
          </a:blip>
          <a:srcRect l="636" t="1310" r="1670" b="3107"/>
          <a:stretch>
            <a:fillRect/>
          </a:stretch>
        </p:blipFill>
        <p:spPr>
          <a:xfrm>
            <a:off x="4989555" y="2738406"/>
            <a:ext cx="3049028" cy="1818792"/>
          </a:xfrm>
          <a:prstGeom prst="rect">
            <a:avLst/>
          </a:prstGeom>
        </p:spPr>
      </p:pic>
      <p:graphicFrame>
        <p:nvGraphicFramePr>
          <p:cNvPr id="4" name="表 3">
            <a:extLst>
              <a:ext uri="{FF2B5EF4-FFF2-40B4-BE49-F238E27FC236}">
                <a16:creationId xmlns:a16="http://schemas.microsoft.com/office/drawing/2014/main" id="{2C65DDC9-CAD1-D18B-C331-ADE174897C1F}"/>
              </a:ext>
            </a:extLst>
          </p:cNvPr>
          <p:cNvGraphicFramePr>
            <a:graphicFrameLocks noGrp="1"/>
          </p:cNvGraphicFramePr>
          <p:nvPr>
            <p:extLst>
              <p:ext uri="{D42A27DB-BD31-4B8C-83A1-F6EECF244321}">
                <p14:modId xmlns:p14="http://schemas.microsoft.com/office/powerpoint/2010/main" val="1224944093"/>
              </p:ext>
            </p:extLst>
          </p:nvPr>
        </p:nvGraphicFramePr>
        <p:xfrm>
          <a:off x="436035" y="1855426"/>
          <a:ext cx="7031049" cy="820928"/>
        </p:xfrm>
        <a:graphic>
          <a:graphicData uri="http://schemas.openxmlformats.org/drawingml/2006/table">
            <a:tbl>
              <a:tblPr firstRow="1" bandRow="1">
                <a:tableStyleId>{9D7B26C5-4107-4FEC-AEDC-1716B250A1EF}</a:tableStyleId>
              </a:tblPr>
              <a:tblGrid>
                <a:gridCol w="820267">
                  <a:extLst>
                    <a:ext uri="{9D8B030D-6E8A-4147-A177-3AD203B41FA5}">
                      <a16:colId xmlns:a16="http://schemas.microsoft.com/office/drawing/2014/main" val="3639033113"/>
                    </a:ext>
                  </a:extLst>
                </a:gridCol>
                <a:gridCol w="1107503">
                  <a:extLst>
                    <a:ext uri="{9D8B030D-6E8A-4147-A177-3AD203B41FA5}">
                      <a16:colId xmlns:a16="http://schemas.microsoft.com/office/drawing/2014/main" val="4143698353"/>
                    </a:ext>
                  </a:extLst>
                </a:gridCol>
                <a:gridCol w="669818">
                  <a:extLst>
                    <a:ext uri="{9D8B030D-6E8A-4147-A177-3AD203B41FA5}">
                      <a16:colId xmlns:a16="http://schemas.microsoft.com/office/drawing/2014/main" val="1427256339"/>
                    </a:ext>
                  </a:extLst>
                </a:gridCol>
                <a:gridCol w="726356">
                  <a:extLst>
                    <a:ext uri="{9D8B030D-6E8A-4147-A177-3AD203B41FA5}">
                      <a16:colId xmlns:a16="http://schemas.microsoft.com/office/drawing/2014/main" val="1438680861"/>
                    </a:ext>
                  </a:extLst>
                </a:gridCol>
                <a:gridCol w="1140149">
                  <a:extLst>
                    <a:ext uri="{9D8B030D-6E8A-4147-A177-3AD203B41FA5}">
                      <a16:colId xmlns:a16="http://schemas.microsoft.com/office/drawing/2014/main" val="2253055787"/>
                    </a:ext>
                  </a:extLst>
                </a:gridCol>
                <a:gridCol w="855652">
                  <a:extLst>
                    <a:ext uri="{9D8B030D-6E8A-4147-A177-3AD203B41FA5}">
                      <a16:colId xmlns:a16="http://schemas.microsoft.com/office/drawing/2014/main" val="2801815050"/>
                    </a:ext>
                  </a:extLst>
                </a:gridCol>
                <a:gridCol w="855652">
                  <a:extLst>
                    <a:ext uri="{9D8B030D-6E8A-4147-A177-3AD203B41FA5}">
                      <a16:colId xmlns:a16="http://schemas.microsoft.com/office/drawing/2014/main" val="3674438810"/>
                    </a:ext>
                  </a:extLst>
                </a:gridCol>
                <a:gridCol w="855652">
                  <a:extLst>
                    <a:ext uri="{9D8B030D-6E8A-4147-A177-3AD203B41FA5}">
                      <a16:colId xmlns:a16="http://schemas.microsoft.com/office/drawing/2014/main" val="678252903"/>
                    </a:ext>
                  </a:extLst>
                </a:gridCol>
              </a:tblGrid>
              <a:tr h="370840">
                <a:tc>
                  <a:txBody>
                    <a:bodyPr/>
                    <a:lstStyle/>
                    <a:p>
                      <a:pPr algn="l" fontAlgn="base">
                        <a:lnSpc>
                          <a:spcPts val="1350"/>
                        </a:lnSpc>
                        <a:buNone/>
                      </a:pPr>
                      <a:r>
                        <a:rPr lang="ja-JP" altLang="en-US" sz="1400" b="1" i="0" dirty="0">
                          <a:solidFill>
                            <a:schemeClr val="tx1"/>
                          </a:solidFill>
                          <a:effectLst/>
                          <a:latin typeface="+mn-ea"/>
                          <a:ea typeface="+mn-ea"/>
                        </a:rPr>
                        <a:t>名乗り</a:t>
                      </a:r>
                    </a:p>
                  </a:txBody>
                  <a:tcPr anchor="ctr">
                    <a:noFill/>
                  </a:tcPr>
                </a:tc>
                <a:tc>
                  <a:txBody>
                    <a:bodyPr/>
                    <a:lstStyle/>
                    <a:p>
                      <a:pPr algn="l" fontAlgn="base">
                        <a:lnSpc>
                          <a:spcPts val="1350"/>
                        </a:lnSpc>
                        <a:buNone/>
                      </a:pPr>
                      <a:r>
                        <a:rPr lang="ja-JP" altLang="en-US" sz="1400" b="1" i="0" dirty="0">
                          <a:solidFill>
                            <a:srgbClr val="000000"/>
                          </a:solidFill>
                          <a:effectLst/>
                          <a:latin typeface="+mn-ea"/>
                          <a:ea typeface="+mn-ea"/>
                        </a:rPr>
                        <a:t>人格設定要因</a:t>
                      </a:r>
                      <a:r>
                        <a:rPr lang="ja-JP" altLang="en-US" sz="1400" b="1" i="0" dirty="0">
                          <a:solidFill>
                            <a:srgbClr val="FFFFFF"/>
                          </a:solidFill>
                          <a:effectLst/>
                          <a:latin typeface="+mn-ea"/>
                          <a:ea typeface="+mn-ea"/>
                        </a:rPr>
                        <a:t>​</a:t>
                      </a:r>
                    </a:p>
                  </a:txBody>
                  <a:tcPr anchor="ctr">
                    <a:noFill/>
                  </a:tcPr>
                </a:tc>
                <a:tc>
                  <a:txBody>
                    <a:bodyPr/>
                    <a:lstStyle/>
                    <a:p>
                      <a:pPr algn="l" fontAlgn="auto">
                        <a:lnSpc>
                          <a:spcPts val="1350"/>
                        </a:lnSpc>
                        <a:buNone/>
                      </a:pPr>
                      <a:r>
                        <a:rPr lang="ja-JP" altLang="en-US" sz="1400" b="1" i="0" dirty="0">
                          <a:solidFill>
                            <a:srgbClr val="000000"/>
                          </a:solidFill>
                          <a:effectLst/>
                          <a:latin typeface="+mn-ea"/>
                          <a:ea typeface="+mn-ea"/>
                        </a:rPr>
                        <a:t>​</a:t>
                      </a:r>
                    </a:p>
                  </a:txBody>
                  <a:tcPr anchor="ctr">
                    <a:noFill/>
                  </a:tcPr>
                </a:tc>
                <a:tc>
                  <a:txBody>
                    <a:bodyPr/>
                    <a:lstStyle/>
                    <a:p>
                      <a:pPr algn="l" fontAlgn="base">
                        <a:lnSpc>
                          <a:spcPts val="1350"/>
                        </a:lnSpc>
                        <a:buNone/>
                      </a:pPr>
                      <a:r>
                        <a:rPr lang="ja-JP" altLang="en-US" sz="1400" b="1" i="0" dirty="0">
                          <a:solidFill>
                            <a:schemeClr val="tx1"/>
                          </a:solidFill>
                          <a:effectLst/>
                          <a:latin typeface="+mn-ea"/>
                          <a:ea typeface="+mn-ea"/>
                        </a:rPr>
                        <a:t>名乗り</a:t>
                      </a:r>
                    </a:p>
                  </a:txBody>
                  <a:tcPr anchor="ctr">
                    <a:noFill/>
                  </a:tcPr>
                </a:tc>
                <a:tc>
                  <a:txBody>
                    <a:bodyPr/>
                    <a:lstStyle/>
                    <a:p>
                      <a:pPr algn="l" fontAlgn="base">
                        <a:lnSpc>
                          <a:spcPts val="1350"/>
                        </a:lnSpc>
                        <a:buNone/>
                      </a:pPr>
                      <a:r>
                        <a:rPr lang="ja-JP" altLang="en-US" sz="1400" b="1" i="0" dirty="0">
                          <a:solidFill>
                            <a:srgbClr val="000000"/>
                          </a:solidFill>
                          <a:effectLst/>
                          <a:latin typeface="+mn-ea"/>
                          <a:ea typeface="+mn-ea"/>
                        </a:rPr>
                        <a:t>人格設定要因</a:t>
                      </a:r>
                      <a:r>
                        <a:rPr lang="ja-JP" altLang="en-US" sz="1400" b="1" i="0" dirty="0">
                          <a:solidFill>
                            <a:srgbClr val="FFFFFF"/>
                          </a:solidFill>
                          <a:effectLst/>
                          <a:latin typeface="+mn-ea"/>
                          <a:ea typeface="+mn-ea"/>
                        </a:rPr>
                        <a:t>​</a:t>
                      </a:r>
                    </a:p>
                  </a:txBody>
                  <a:tcPr anchor="ctr">
                    <a:noFill/>
                  </a:tcPr>
                </a:tc>
                <a:tc>
                  <a:txBody>
                    <a:bodyPr/>
                    <a:lstStyle/>
                    <a:p>
                      <a:pPr algn="r" fontAlgn="base">
                        <a:lnSpc>
                          <a:spcPts val="1350"/>
                        </a:lnSpc>
                        <a:buNone/>
                      </a:pPr>
                      <a:r>
                        <a:rPr lang="ja-JP" altLang="en-US" sz="1400" b="1" i="0" dirty="0">
                          <a:solidFill>
                            <a:srgbClr val="000000"/>
                          </a:solidFill>
                          <a:effectLst/>
                          <a:latin typeface="+mn-ea"/>
                          <a:ea typeface="+mn-ea"/>
                        </a:rPr>
                        <a:t>平均値の差</a:t>
                      </a:r>
                      <a:r>
                        <a:rPr lang="ja-JP" altLang="en-US" sz="1400" b="1" i="0" dirty="0">
                          <a:solidFill>
                            <a:srgbClr val="FFFFFF"/>
                          </a:solidFill>
                          <a:effectLst/>
                          <a:latin typeface="+mn-ea"/>
                          <a:ea typeface="+mn-ea"/>
                        </a:rPr>
                        <a:t>​</a:t>
                      </a:r>
                    </a:p>
                  </a:txBody>
                  <a:tcPr anchor="ct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t</a:t>
                      </a:r>
                      <a:r>
                        <a:rPr lang="en-US" altLang="ja-JP" sz="1400" b="1" i="0" dirty="0">
                          <a:solidFill>
                            <a:srgbClr val="FFFFFF"/>
                          </a:solidFill>
                          <a:effectLst/>
                          <a:ea typeface="游ゴシック" panose="020B0400000000000000" pitchFamily="50" charset="-128"/>
                        </a:rPr>
                        <a:t>​</a:t>
                      </a:r>
                      <a:endParaRPr lang="en-US" altLang="ja-JP" sz="1400" b="1" i="0" dirty="0">
                        <a:solidFill>
                          <a:srgbClr val="FFFFFF"/>
                        </a:solidFill>
                        <a:effectLst/>
                      </a:endParaRPr>
                    </a:p>
                  </a:txBody>
                  <a:tcPr anchor="ct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p</a:t>
                      </a:r>
                      <a:r>
                        <a:rPr lang="ja-JP" altLang="en-US" sz="1400" b="1" i="0" dirty="0">
                          <a:solidFill>
                            <a:srgbClr val="000000"/>
                          </a:solidFill>
                          <a:effectLst/>
                          <a:ea typeface="游ゴシック" panose="020B0400000000000000" pitchFamily="50" charset="-128"/>
                        </a:rPr>
                        <a:t>テューキー</a:t>
                      </a:r>
                      <a:r>
                        <a:rPr lang="ja-JP" altLang="en-US" sz="1400" b="1" i="0" dirty="0">
                          <a:solidFill>
                            <a:srgbClr val="FFFFFF"/>
                          </a:solidFill>
                          <a:effectLst/>
                          <a:latin typeface="游ゴシック" panose="020B0400000000000000" pitchFamily="50" charset="-128"/>
                        </a:rPr>
                        <a:t>​</a:t>
                      </a:r>
                      <a:endParaRPr lang="ja-JP" altLang="en-US" sz="1400" b="1" i="0" dirty="0">
                        <a:solidFill>
                          <a:srgbClr val="FFFFFF"/>
                        </a:solidFill>
                        <a:effectLst/>
                      </a:endParaRPr>
                    </a:p>
                  </a:txBody>
                  <a:tcPr anchor="ctr">
                    <a:noFill/>
                  </a:tcPr>
                </a:tc>
                <a:extLst>
                  <a:ext uri="{0D108BD9-81ED-4DB2-BD59-A6C34878D82A}">
                    <a16:rowId xmlns:a16="http://schemas.microsoft.com/office/drawing/2014/main" val="2809685238"/>
                  </a:ext>
                </a:extLst>
              </a:tr>
              <a:tr h="370840">
                <a:tc>
                  <a:txBody>
                    <a:bodyPr/>
                    <a:lstStyle/>
                    <a:p>
                      <a:pPr algn="l" fontAlgn="base">
                        <a:lnSpc>
                          <a:spcPts val="1350"/>
                        </a:lnSpc>
                        <a:buNone/>
                      </a:pPr>
                      <a:r>
                        <a:rPr lang="ja-JP" altLang="en-US" sz="1400" b="1" i="0" dirty="0">
                          <a:solidFill>
                            <a:srgbClr val="000000"/>
                          </a:solidFill>
                          <a:effectLst/>
                          <a:latin typeface="+mn-ea"/>
                          <a:ea typeface="+mn-ea"/>
                        </a:rPr>
                        <a:t>なし</a:t>
                      </a:r>
                    </a:p>
                  </a:txBody>
                  <a:tcPr anchor="ctr">
                    <a:noFill/>
                  </a:tcPr>
                </a:tc>
                <a:tc>
                  <a:txBody>
                    <a:bodyPr/>
                    <a:lstStyle/>
                    <a:p>
                      <a:pPr algn="l" fontAlgn="base">
                        <a:lnSpc>
                          <a:spcPts val="1350"/>
                        </a:lnSpc>
                        <a:buNone/>
                      </a:pPr>
                      <a:r>
                        <a:rPr lang="ja-JP" altLang="en-US" sz="1400" b="1" i="0" dirty="0">
                          <a:solidFill>
                            <a:srgbClr val="000000"/>
                          </a:solidFill>
                          <a:effectLst/>
                          <a:latin typeface="+mn-ea"/>
                          <a:ea typeface="+mn-ea"/>
                        </a:rPr>
                        <a:t>切り替え​</a:t>
                      </a:r>
                    </a:p>
                  </a:txBody>
                  <a:tcPr anchor="ctr">
                    <a:noFill/>
                  </a:tcPr>
                </a:tc>
                <a:tc>
                  <a:txBody>
                    <a:bodyPr/>
                    <a:lstStyle/>
                    <a:p>
                      <a:pPr algn="l" fontAlgn="base">
                        <a:lnSpc>
                          <a:spcPts val="1350"/>
                        </a:lnSpc>
                        <a:buNone/>
                      </a:pPr>
                      <a:r>
                        <a:rPr lang="en-US" sz="1400" b="1" i="0" dirty="0">
                          <a:solidFill>
                            <a:srgbClr val="000000"/>
                          </a:solidFill>
                          <a:effectLst/>
                          <a:latin typeface="+mn-ea"/>
                          <a:ea typeface="+mn-ea"/>
                        </a:rPr>
                        <a:t>-</a:t>
                      </a:r>
                      <a:r>
                        <a:rPr lang="en-US" altLang="ja-JP" sz="1400" b="1" i="0" dirty="0">
                          <a:solidFill>
                            <a:srgbClr val="000000"/>
                          </a:solidFill>
                          <a:effectLst/>
                          <a:latin typeface="+mn-ea"/>
                          <a:ea typeface="+mn-ea"/>
                        </a:rPr>
                        <a:t>​</a:t>
                      </a:r>
                    </a:p>
                  </a:txBody>
                  <a:tcPr anchor="ctr">
                    <a:noFill/>
                  </a:tcPr>
                </a:tc>
                <a:tc>
                  <a:txBody>
                    <a:bodyPr/>
                    <a:lstStyle/>
                    <a:p>
                      <a:pPr algn="l" fontAlgn="base">
                        <a:lnSpc>
                          <a:spcPts val="1350"/>
                        </a:lnSpc>
                        <a:buNone/>
                      </a:pPr>
                      <a:r>
                        <a:rPr lang="ja-JP" altLang="en-US" sz="1400" b="1" i="0" dirty="0">
                          <a:solidFill>
                            <a:srgbClr val="000000"/>
                          </a:solidFill>
                          <a:effectLst/>
                          <a:latin typeface="+mn-ea"/>
                          <a:ea typeface="+mn-ea"/>
                        </a:rPr>
                        <a:t>なし</a:t>
                      </a:r>
                      <a:endParaRPr lang="en-US" altLang="ja-JP" sz="1400" b="1" i="0" dirty="0">
                        <a:solidFill>
                          <a:srgbClr val="000000"/>
                        </a:solidFill>
                        <a:effectLst/>
                        <a:latin typeface="+mn-ea"/>
                        <a:ea typeface="+mn-ea"/>
                      </a:endParaRPr>
                    </a:p>
                  </a:txBody>
                  <a:tcPr anchor="ctr">
                    <a:noFill/>
                  </a:tcPr>
                </a:tc>
                <a:tc>
                  <a:txBody>
                    <a:bodyPr/>
                    <a:lstStyle/>
                    <a:p>
                      <a:pPr algn="l" fontAlgn="base">
                        <a:lnSpc>
                          <a:spcPts val="1350"/>
                        </a:lnSpc>
                        <a:buNone/>
                      </a:pPr>
                      <a:r>
                        <a:rPr lang="ja-JP" altLang="en-US" sz="1400" b="1" i="0" dirty="0">
                          <a:solidFill>
                            <a:srgbClr val="000000"/>
                          </a:solidFill>
                          <a:effectLst/>
                          <a:latin typeface="+mn-ea"/>
                          <a:ea typeface="+mn-ea"/>
                        </a:rPr>
                        <a:t>固定</a:t>
                      </a:r>
                      <a:endParaRPr lang="en-US" altLang="ja-JP" sz="1400" b="1" i="0" dirty="0">
                        <a:solidFill>
                          <a:srgbClr val="000000"/>
                        </a:solidFill>
                        <a:effectLst/>
                        <a:latin typeface="+mn-ea"/>
                        <a:ea typeface="+mn-ea"/>
                      </a:endParaRPr>
                    </a:p>
                  </a:txBody>
                  <a:tcPr anchor="ctr">
                    <a:noFill/>
                  </a:tcPr>
                </a:tc>
                <a:tc>
                  <a:txBody>
                    <a:bodyPr/>
                    <a:lstStyle/>
                    <a:p>
                      <a:pPr algn="r" fontAlgn="base">
                        <a:lnSpc>
                          <a:spcPts val="1350"/>
                        </a:lnSpc>
                        <a:buNone/>
                      </a:pPr>
                      <a:r>
                        <a:rPr lang="en-US" altLang="ja-JP" sz="1400" b="1" i="0" dirty="0">
                          <a:solidFill>
                            <a:srgbClr val="000000"/>
                          </a:solidFill>
                          <a:effectLst/>
                          <a:latin typeface="+mn-ea"/>
                          <a:ea typeface="+mn-ea"/>
                        </a:rPr>
                        <a:t>-1.482​</a:t>
                      </a:r>
                    </a:p>
                  </a:txBody>
                  <a:tcPr anchor="ct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-2.612</a:t>
                      </a:r>
                      <a:r>
                        <a:rPr lang="en-US" sz="1400" b="0" i="0" dirty="0">
                          <a:solidFill>
                            <a:srgbClr val="000000"/>
                          </a:solidFill>
                          <a:effectLst/>
                          <a:latin typeface="游ゴシック" panose="020B0400000000000000" pitchFamily="50" charset="-128"/>
                        </a:rPr>
                        <a:t>​</a:t>
                      </a:r>
                      <a:endParaRPr lang="en-US" sz="1400" b="0" i="0" dirty="0">
                        <a:solidFill>
                          <a:srgbClr val="000000"/>
                        </a:solidFill>
                        <a:effectLst/>
                      </a:endParaRPr>
                    </a:p>
                  </a:txBody>
                  <a:tcPr anchor="ctr">
                    <a:noFill/>
                  </a:tcPr>
                </a:tc>
                <a:tc>
                  <a:txBody>
                    <a:bodyPr/>
                    <a:lstStyle/>
                    <a:p>
                      <a:pPr algn="r" fontAlgn="base">
                        <a:lnSpc>
                          <a:spcPts val="1350"/>
                        </a:lnSpc>
                        <a:buNone/>
                      </a:pPr>
                      <a:r>
                        <a:rPr lang="en-US" sz="1400" b="1" i="0" dirty="0">
                          <a:solidFill>
                            <a:srgbClr val="C00000"/>
                          </a:solidFill>
                          <a:effectLst/>
                          <a:latin typeface="游ゴシック" panose="020B0400000000000000" pitchFamily="50" charset="-128"/>
                        </a:rPr>
                        <a:t>0.048</a:t>
                      </a:r>
                      <a:endParaRPr lang="en-US" sz="1400" b="0" i="0" dirty="0">
                        <a:solidFill>
                          <a:srgbClr val="000000"/>
                        </a:solidFill>
                        <a:effectLst/>
                      </a:endParaRPr>
                    </a:p>
                  </a:txBody>
                  <a:tcPr anchor="ctr">
                    <a:noFill/>
                  </a:tcPr>
                </a:tc>
                <a:extLst>
                  <a:ext uri="{0D108BD9-81ED-4DB2-BD59-A6C34878D82A}">
                    <a16:rowId xmlns:a16="http://schemas.microsoft.com/office/drawing/2014/main" val="2808757430"/>
                  </a:ext>
                </a:extLst>
              </a:tr>
            </a:tbl>
          </a:graphicData>
        </a:graphic>
      </p:graphicFrame>
    </p:spTree>
    <p:extLst>
      <p:ext uri="{BB962C8B-B14F-4D97-AF65-F5344CB8AC3E}">
        <p14:creationId xmlns:p14="http://schemas.microsoft.com/office/powerpoint/2010/main" val="36063433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2F9132B-1C2E-A529-BBC4-E33A975D43E9}"/>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6AB5630-0B04-01F7-8A0C-68809B5D7103}"/>
              </a:ext>
            </a:extLst>
          </p:cNvPr>
          <p:cNvSpPr>
            <a:spLocks noGrp="1"/>
          </p:cNvSpPr>
          <p:nvPr>
            <p:ph type="sldNum" sz="quarter" idx="12"/>
          </p:nvPr>
        </p:nvSpPr>
        <p:spPr/>
        <p:txBody>
          <a:bodyPr/>
          <a:lstStyle/>
          <a:p>
            <a:fld id="{18020408-E1FF-429E-A8D5-EB2A190A0D77}" type="slidenum">
              <a:rPr kumimoji="1" lang="ja-JP" altLang="en-US" smtClean="0"/>
              <a:pPr/>
              <a:t>56</a:t>
            </a:fld>
            <a:endParaRPr kumimoji="1" lang="ja-JP" altLang="en-US" sz="2400" dirty="0"/>
          </a:p>
        </p:txBody>
      </p:sp>
      <p:sp>
        <p:nvSpPr>
          <p:cNvPr id="3" name="タイトル 2">
            <a:extLst>
              <a:ext uri="{FF2B5EF4-FFF2-40B4-BE49-F238E27FC236}">
                <a16:creationId xmlns:a16="http://schemas.microsoft.com/office/drawing/2014/main" id="{A8287B0E-7A32-E956-7A1C-C78DA86F9C27}"/>
              </a:ext>
            </a:extLst>
          </p:cNvPr>
          <p:cNvSpPr>
            <a:spLocks noGrp="1"/>
          </p:cNvSpPr>
          <p:nvPr>
            <p:ph type="title"/>
          </p:nvPr>
        </p:nvSpPr>
        <p:spPr/>
        <p:txBody>
          <a:bodyPr/>
          <a:lstStyle/>
          <a:p>
            <a:r>
              <a:rPr lang="ja-JP" altLang="en-US" sz="3600" dirty="0"/>
              <a:t>結果・考察：やり取りへの注意</a:t>
            </a:r>
            <a:endParaRPr kumimoji="1" lang="ja-JP" altLang="en-US" sz="3600" dirty="0"/>
          </a:p>
        </p:txBody>
      </p:sp>
      <p:sp>
        <p:nvSpPr>
          <p:cNvPr id="7" name="テキスト ボックス 6">
            <a:extLst>
              <a:ext uri="{FF2B5EF4-FFF2-40B4-BE49-F238E27FC236}">
                <a16:creationId xmlns:a16="http://schemas.microsoft.com/office/drawing/2014/main" id="{A69FBAED-63C7-BBCE-4FC9-5A931F198FA9}"/>
              </a:ext>
            </a:extLst>
          </p:cNvPr>
          <p:cNvSpPr txBox="1"/>
          <p:nvPr/>
        </p:nvSpPr>
        <p:spPr>
          <a:xfrm>
            <a:off x="313263" y="2843090"/>
            <a:ext cx="5698069" cy="646331"/>
          </a:xfrm>
          <a:prstGeom prst="rect">
            <a:avLst/>
          </a:prstGeom>
          <a:noFill/>
        </p:spPr>
        <p:txBody>
          <a:bodyPr wrap="square">
            <a:spAutoFit/>
          </a:bodyPr>
          <a:lstStyle/>
          <a:p>
            <a:r>
              <a:rPr lang="ja-JP" altLang="en-US" b="1" dirty="0"/>
              <a:t>人格固定水準における</a:t>
            </a:r>
            <a:endParaRPr lang="en-US" altLang="ja-JP" b="1" dirty="0"/>
          </a:p>
          <a:p>
            <a:r>
              <a:rPr lang="ja-JP" altLang="en-US" b="1" dirty="0"/>
              <a:t>名乗り要因での平均値と標準偏差</a:t>
            </a:r>
          </a:p>
        </p:txBody>
      </p:sp>
      <p:sp>
        <p:nvSpPr>
          <p:cNvPr id="9" name="Rectangle 1">
            <a:extLst>
              <a:ext uri="{FF2B5EF4-FFF2-40B4-BE49-F238E27FC236}">
                <a16:creationId xmlns:a16="http://schemas.microsoft.com/office/drawing/2014/main" id="{F973ABB4-CA0E-6D47-820B-42A1BC287929}"/>
              </a:ext>
            </a:extLst>
          </p:cNvPr>
          <p:cNvSpPr>
            <a:spLocks noChangeArrowheads="1"/>
          </p:cNvSpPr>
          <p:nvPr/>
        </p:nvSpPr>
        <p:spPr bwMode="auto">
          <a:xfrm>
            <a:off x="2362200" y="250391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1" name="Rectangle 2">
            <a:extLst>
              <a:ext uri="{FF2B5EF4-FFF2-40B4-BE49-F238E27FC236}">
                <a16:creationId xmlns:a16="http://schemas.microsoft.com/office/drawing/2014/main" id="{12827DF9-543D-A358-F137-6F14D8E08729}"/>
              </a:ext>
            </a:extLst>
          </p:cNvPr>
          <p:cNvSpPr>
            <a:spLocks noChangeArrowheads="1"/>
          </p:cNvSpPr>
          <p:nvPr/>
        </p:nvSpPr>
        <p:spPr bwMode="auto">
          <a:xfrm>
            <a:off x="2252663" y="3560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3" name="テキスト ボックス 12">
            <a:extLst>
              <a:ext uri="{FF2B5EF4-FFF2-40B4-BE49-F238E27FC236}">
                <a16:creationId xmlns:a16="http://schemas.microsoft.com/office/drawing/2014/main" id="{ECDD8A2D-DCCA-6BD2-BB7F-5BF531D04A99}"/>
              </a:ext>
            </a:extLst>
          </p:cNvPr>
          <p:cNvSpPr txBox="1"/>
          <p:nvPr/>
        </p:nvSpPr>
        <p:spPr>
          <a:xfrm>
            <a:off x="313263" y="1247017"/>
            <a:ext cx="6680203" cy="646331"/>
          </a:xfrm>
          <a:prstGeom prst="rect">
            <a:avLst/>
          </a:prstGeom>
          <a:noFill/>
        </p:spPr>
        <p:txBody>
          <a:bodyPr wrap="square">
            <a:spAutoFit/>
          </a:bodyPr>
          <a:lstStyle/>
          <a:p>
            <a:r>
              <a:rPr lang="ja-JP" altLang="en-US" b="1" dirty="0">
                <a:latin typeface="+mn-ea"/>
              </a:rPr>
              <a:t>「</a:t>
            </a:r>
            <a:r>
              <a:rPr lang="en-US" altLang="ja-JP" b="1" dirty="0">
                <a:latin typeface="+mn-ea"/>
              </a:rPr>
              <a:t>Q10</a:t>
            </a:r>
            <a:r>
              <a:rPr lang="ja-JP" altLang="en-US" b="1" dirty="0">
                <a:latin typeface="+mn-ea"/>
              </a:rPr>
              <a:t>．</a:t>
            </a:r>
            <a:r>
              <a:rPr kumimoji="1" lang="en-US" altLang="ja-JP" b="1" dirty="0">
                <a:latin typeface="游ゴシック" panose="020B0400000000000000" pitchFamily="50" charset="-128"/>
              </a:rPr>
              <a:t> AI </a:t>
            </a:r>
            <a:r>
              <a:rPr kumimoji="1" lang="ja-JP" altLang="en-US" b="1" dirty="0">
                <a:latin typeface="游ゴシック" panose="020B0400000000000000" pitchFamily="50" charset="-128"/>
              </a:rPr>
              <a:t>とのやりとりは注意を引く」について</a:t>
            </a:r>
            <a:endParaRPr kumimoji="1" lang="en-US" altLang="ja-JP" b="1" dirty="0">
              <a:latin typeface="游ゴシック" panose="020B0400000000000000" pitchFamily="50" charset="-128"/>
            </a:endParaRPr>
          </a:p>
          <a:p>
            <a:r>
              <a:rPr kumimoji="1" lang="en-US" altLang="ja-JP" b="1" dirty="0">
                <a:latin typeface="游ゴシック" panose="020B0400000000000000" pitchFamily="50" charset="-128"/>
                <a:sym typeface="Wingdings" panose="05000000000000000000" pitchFamily="2" charset="2"/>
              </a:rPr>
              <a:t></a:t>
            </a:r>
            <a:r>
              <a:rPr kumimoji="1" lang="ja-JP" altLang="en-US" b="1" dirty="0">
                <a:solidFill>
                  <a:srgbClr val="C00000"/>
                </a:solidFill>
                <a:latin typeface="游ゴシック" panose="020B0400000000000000" pitchFamily="50" charset="-128"/>
                <a:sym typeface="Wingdings" panose="05000000000000000000" pitchFamily="2" charset="2"/>
              </a:rPr>
              <a:t>交互作用が有意</a:t>
            </a:r>
            <a:endParaRPr kumimoji="1" lang="en-US" altLang="ja-JP" b="1" dirty="0">
              <a:solidFill>
                <a:srgbClr val="C00000"/>
              </a:solidFill>
              <a:latin typeface="游ゴシック" panose="020B0400000000000000" pitchFamily="50" charset="-128"/>
            </a:endParaRPr>
          </a:p>
        </p:txBody>
      </p:sp>
      <p:graphicFrame>
        <p:nvGraphicFramePr>
          <p:cNvPr id="15" name="表 14">
            <a:extLst>
              <a:ext uri="{FF2B5EF4-FFF2-40B4-BE49-F238E27FC236}">
                <a16:creationId xmlns:a16="http://schemas.microsoft.com/office/drawing/2014/main" id="{7CEB3A84-6322-C4FF-8217-A3F8A6AB796A}"/>
              </a:ext>
            </a:extLst>
          </p:cNvPr>
          <p:cNvGraphicFramePr>
            <a:graphicFrameLocks noGrp="1"/>
          </p:cNvGraphicFramePr>
          <p:nvPr/>
        </p:nvGraphicFramePr>
        <p:xfrm>
          <a:off x="436035" y="3537280"/>
          <a:ext cx="4004229" cy="1019918"/>
        </p:xfrm>
        <a:graphic>
          <a:graphicData uri="http://schemas.openxmlformats.org/drawingml/2006/table">
            <a:tbl>
              <a:tblPr firstRow="1" bandRow="1">
                <a:tableStyleId>{9D7B26C5-4107-4FEC-AEDC-1716B250A1EF}</a:tableStyleId>
              </a:tblPr>
              <a:tblGrid>
                <a:gridCol w="1442745">
                  <a:extLst>
                    <a:ext uri="{9D8B030D-6E8A-4147-A177-3AD203B41FA5}">
                      <a16:colId xmlns:a16="http://schemas.microsoft.com/office/drawing/2014/main" val="4143698353"/>
                    </a:ext>
                  </a:extLst>
                </a:gridCol>
                <a:gridCol w="1280742">
                  <a:extLst>
                    <a:ext uri="{9D8B030D-6E8A-4147-A177-3AD203B41FA5}">
                      <a16:colId xmlns:a16="http://schemas.microsoft.com/office/drawing/2014/main" val="2801815050"/>
                    </a:ext>
                  </a:extLst>
                </a:gridCol>
                <a:gridCol w="1280742">
                  <a:extLst>
                    <a:ext uri="{9D8B030D-6E8A-4147-A177-3AD203B41FA5}">
                      <a16:colId xmlns:a16="http://schemas.microsoft.com/office/drawing/2014/main" val="3674438810"/>
                    </a:ext>
                  </a:extLst>
                </a:gridCol>
              </a:tblGrid>
              <a:tr h="394870">
                <a:tc>
                  <a:txBody>
                    <a:bodyPr/>
                    <a:lstStyle/>
                    <a:p>
                      <a:pPr algn="l" fontAlgn="base">
                        <a:lnSpc>
                          <a:spcPts val="1350"/>
                        </a:lnSpc>
                        <a:buNone/>
                      </a:pPr>
                      <a:r>
                        <a:rPr lang="ja-JP" altLang="en-US" sz="1600" b="1" i="0" dirty="0">
                          <a:solidFill>
                            <a:srgbClr val="000000"/>
                          </a:solidFill>
                          <a:effectLst/>
                          <a:latin typeface="+mn-ea"/>
                          <a:ea typeface="+mn-ea"/>
                        </a:rPr>
                        <a:t>名乗り要因</a:t>
                      </a:r>
                      <a:r>
                        <a:rPr lang="ja-JP" altLang="en-US" sz="1600" b="1" i="0" dirty="0">
                          <a:solidFill>
                            <a:srgbClr val="FFFFFF"/>
                          </a:solidFill>
                          <a:effectLst/>
                          <a:latin typeface="+mn-ea"/>
                          <a:ea typeface="+mn-ea"/>
                        </a:rPr>
                        <a:t>​</a:t>
                      </a:r>
                    </a:p>
                  </a:txBody>
                  <a:tcPr anchor="ctr">
                    <a:noFill/>
                  </a:tcPr>
                </a:tc>
                <a:tc>
                  <a:txBody>
                    <a:bodyPr/>
                    <a:lstStyle/>
                    <a:p>
                      <a:pPr algn="r" fontAlgn="base">
                        <a:lnSpc>
                          <a:spcPts val="1350"/>
                        </a:lnSpc>
                        <a:buNone/>
                      </a:pPr>
                      <a:r>
                        <a:rPr lang="ja-JP" altLang="en-US" sz="1600" b="1" i="0" dirty="0">
                          <a:solidFill>
                            <a:srgbClr val="000000"/>
                          </a:solidFill>
                          <a:effectLst/>
                          <a:latin typeface="+mn-ea"/>
                          <a:ea typeface="+mn-ea"/>
                        </a:rPr>
                        <a:t>平均値</a:t>
                      </a:r>
                      <a:endParaRPr lang="ja-JP" altLang="en-US" sz="1600" b="1" i="0" dirty="0">
                        <a:solidFill>
                          <a:srgbClr val="FFFFFF"/>
                        </a:solidFill>
                        <a:effectLst/>
                        <a:latin typeface="+mn-ea"/>
                        <a:ea typeface="+mn-ea"/>
                      </a:endParaRPr>
                    </a:p>
                  </a:txBody>
                  <a:tcPr anchor="ctr">
                    <a:noFill/>
                  </a:tcPr>
                </a:tc>
                <a:tc>
                  <a:txBody>
                    <a:bodyPr/>
                    <a:lstStyle/>
                    <a:p>
                      <a:pPr algn="r" fontAlgn="base">
                        <a:lnSpc>
                          <a:spcPts val="1350"/>
                        </a:lnSpc>
                        <a:buNone/>
                      </a:pPr>
                      <a:r>
                        <a:rPr lang="ja-JP" altLang="en-US" sz="1600" b="1" i="0" dirty="0">
                          <a:solidFill>
                            <a:srgbClr val="000000"/>
                          </a:solidFill>
                          <a:effectLst/>
                          <a:latin typeface="+mn-ea"/>
                          <a:ea typeface="+mn-ea"/>
                        </a:rPr>
                        <a:t>標準偏差</a:t>
                      </a:r>
                      <a:r>
                        <a:rPr lang="en-US" altLang="ja-JP" sz="1600" b="1" i="0" dirty="0">
                          <a:solidFill>
                            <a:srgbClr val="FFFFFF"/>
                          </a:solidFill>
                          <a:effectLst/>
                          <a:latin typeface="+mn-ea"/>
                          <a:ea typeface="+mn-ea"/>
                        </a:rPr>
                        <a:t>​</a:t>
                      </a:r>
                    </a:p>
                  </a:txBody>
                  <a:tcPr anchor="ctr">
                    <a:noFill/>
                  </a:tcPr>
                </a:tc>
                <a:extLst>
                  <a:ext uri="{0D108BD9-81ED-4DB2-BD59-A6C34878D82A}">
                    <a16:rowId xmlns:a16="http://schemas.microsoft.com/office/drawing/2014/main" val="2809685238"/>
                  </a:ext>
                </a:extLst>
              </a:tr>
              <a:tr h="312524">
                <a:tc>
                  <a:txBody>
                    <a:bodyPr/>
                    <a:lstStyle/>
                    <a:p>
                      <a:pPr algn="l" fontAlgn="base">
                        <a:lnSpc>
                          <a:spcPts val="1350"/>
                        </a:lnSpc>
                        <a:buNone/>
                      </a:pPr>
                      <a:r>
                        <a:rPr lang="ja-JP" altLang="en-US" sz="1600" b="1" i="0" dirty="0">
                          <a:solidFill>
                            <a:srgbClr val="000000"/>
                          </a:solidFill>
                          <a:effectLst/>
                          <a:latin typeface="+mn-ea"/>
                          <a:ea typeface="+mn-ea"/>
                        </a:rPr>
                        <a:t>あり​</a:t>
                      </a:r>
                    </a:p>
                  </a:txBody>
                  <a:tcPr anchor="ctr">
                    <a:noFill/>
                  </a:tcPr>
                </a:tc>
                <a:tc>
                  <a:txBody>
                    <a:bodyPr/>
                    <a:lstStyle/>
                    <a:p>
                      <a:pPr algn="r" fontAlgn="base">
                        <a:lnSpc>
                          <a:spcPts val="1350"/>
                        </a:lnSpc>
                        <a:buNone/>
                      </a:pPr>
                      <a:r>
                        <a:rPr lang="en-US" altLang="ja-JP" sz="1600" b="1" i="0" dirty="0">
                          <a:solidFill>
                            <a:srgbClr val="000000"/>
                          </a:solidFill>
                          <a:effectLst/>
                          <a:latin typeface="+mn-ea"/>
                          <a:ea typeface="+mn-ea"/>
                        </a:rPr>
                        <a:t>4.22</a:t>
                      </a:r>
                    </a:p>
                  </a:txBody>
                  <a:tcPr anchor="ctr">
                    <a:noFill/>
                  </a:tcPr>
                </a:tc>
                <a:tc>
                  <a:txBody>
                    <a:bodyPr/>
                    <a:lstStyle/>
                    <a:p>
                      <a:pPr algn="r" fontAlgn="base">
                        <a:lnSpc>
                          <a:spcPts val="1350"/>
                        </a:lnSpc>
                        <a:buNone/>
                      </a:pPr>
                      <a:r>
                        <a:rPr lang="en-US" sz="1600" b="1" i="0" dirty="0">
                          <a:solidFill>
                            <a:srgbClr val="000000"/>
                          </a:solidFill>
                          <a:effectLst/>
                          <a:latin typeface="+mn-ea"/>
                          <a:ea typeface="+mn-ea"/>
                        </a:rPr>
                        <a:t>2.27</a:t>
                      </a:r>
                    </a:p>
                  </a:txBody>
                  <a:tcPr anchor="ctr">
                    <a:noFill/>
                  </a:tcPr>
                </a:tc>
                <a:extLst>
                  <a:ext uri="{0D108BD9-81ED-4DB2-BD59-A6C34878D82A}">
                    <a16:rowId xmlns:a16="http://schemas.microsoft.com/office/drawing/2014/main" val="2808757430"/>
                  </a:ext>
                </a:extLst>
              </a:tr>
              <a:tr h="312524">
                <a:tc>
                  <a:txBody>
                    <a:bodyPr/>
                    <a:lstStyle/>
                    <a:p>
                      <a:pPr algn="l" fontAlgn="base">
                        <a:lnSpc>
                          <a:spcPts val="1350"/>
                        </a:lnSpc>
                        <a:buNone/>
                      </a:pPr>
                      <a:r>
                        <a:rPr lang="ja-JP" altLang="en-US" sz="1600" b="1" i="0" dirty="0">
                          <a:solidFill>
                            <a:srgbClr val="000000"/>
                          </a:solidFill>
                          <a:effectLst/>
                          <a:latin typeface="+mn-ea"/>
                          <a:ea typeface="+mn-ea"/>
                        </a:rPr>
                        <a:t>なし</a:t>
                      </a:r>
                    </a:p>
                  </a:txBody>
                  <a:tcPr anchor="ctr">
                    <a:noFill/>
                  </a:tcPr>
                </a:tc>
                <a:tc>
                  <a:txBody>
                    <a:bodyPr/>
                    <a:lstStyle/>
                    <a:p>
                      <a:pPr algn="r" fontAlgn="base">
                        <a:lnSpc>
                          <a:spcPts val="1350"/>
                        </a:lnSpc>
                        <a:buNone/>
                      </a:pPr>
                      <a:r>
                        <a:rPr lang="en-US" altLang="ja-JP" sz="1600" b="1" i="0" dirty="0">
                          <a:solidFill>
                            <a:srgbClr val="000000"/>
                          </a:solidFill>
                          <a:effectLst/>
                          <a:latin typeface="+mn-ea"/>
                          <a:ea typeface="+mn-ea"/>
                        </a:rPr>
                        <a:t>5.76</a:t>
                      </a:r>
                    </a:p>
                  </a:txBody>
                  <a:tcPr anchor="ctr">
                    <a:noFill/>
                  </a:tcPr>
                </a:tc>
                <a:tc>
                  <a:txBody>
                    <a:bodyPr/>
                    <a:lstStyle/>
                    <a:p>
                      <a:pPr algn="r" fontAlgn="base">
                        <a:lnSpc>
                          <a:spcPts val="1350"/>
                        </a:lnSpc>
                        <a:buNone/>
                      </a:pPr>
                      <a:r>
                        <a:rPr lang="en-US" sz="1600" b="1" i="0" dirty="0">
                          <a:solidFill>
                            <a:srgbClr val="000000"/>
                          </a:solidFill>
                          <a:effectLst/>
                          <a:latin typeface="+mn-ea"/>
                          <a:ea typeface="+mn-ea"/>
                        </a:rPr>
                        <a:t>2.21</a:t>
                      </a:r>
                    </a:p>
                  </a:txBody>
                  <a:tcPr anchor="ctr">
                    <a:noFill/>
                  </a:tcPr>
                </a:tc>
                <a:extLst>
                  <a:ext uri="{0D108BD9-81ED-4DB2-BD59-A6C34878D82A}">
                    <a16:rowId xmlns:a16="http://schemas.microsoft.com/office/drawing/2014/main" val="928760967"/>
                  </a:ext>
                </a:extLst>
              </a:tr>
            </a:tbl>
          </a:graphicData>
        </a:graphic>
      </p:graphicFrame>
      <p:sp>
        <p:nvSpPr>
          <p:cNvPr id="16" name="四角形: 角を丸くする 15">
            <a:extLst>
              <a:ext uri="{FF2B5EF4-FFF2-40B4-BE49-F238E27FC236}">
                <a16:creationId xmlns:a16="http://schemas.microsoft.com/office/drawing/2014/main" id="{FB3DDAA5-2A0A-667A-0B2D-1094A3EDD73F}"/>
              </a:ext>
            </a:extLst>
          </p:cNvPr>
          <p:cNvSpPr/>
          <p:nvPr/>
        </p:nvSpPr>
        <p:spPr>
          <a:xfrm>
            <a:off x="783431" y="5266657"/>
            <a:ext cx="7577137" cy="1355758"/>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703E44E0-EABC-D4E8-9DBD-120E03841BC8}"/>
              </a:ext>
            </a:extLst>
          </p:cNvPr>
          <p:cNvSpPr txBox="1"/>
          <p:nvPr/>
        </p:nvSpPr>
        <p:spPr>
          <a:xfrm>
            <a:off x="939533" y="5717197"/>
            <a:ext cx="7387168" cy="738664"/>
          </a:xfrm>
          <a:prstGeom prst="rect">
            <a:avLst/>
          </a:prstGeom>
          <a:noFill/>
        </p:spPr>
        <p:txBody>
          <a:bodyPr wrap="square">
            <a:spAutoFit/>
          </a:bodyPr>
          <a:lstStyle/>
          <a:p>
            <a:r>
              <a:rPr lang="ja-JP" altLang="en-US" sz="2400" b="1" dirty="0">
                <a:solidFill>
                  <a:srgbClr val="000000"/>
                </a:solidFill>
                <a:ea typeface="游ゴシック" panose="020B0400000000000000" pitchFamily="50" charset="-128"/>
              </a:rPr>
              <a:t>考察</a:t>
            </a:r>
            <a:endParaRPr lang="ja-JP" altLang="en-US" sz="2400" b="1" dirty="0"/>
          </a:p>
          <a:p>
            <a:endParaRPr lang="ja-JP" altLang="en-US" dirty="0"/>
          </a:p>
        </p:txBody>
      </p:sp>
      <p:sp>
        <p:nvSpPr>
          <p:cNvPr id="12" name="テキスト ボックス 11">
            <a:extLst>
              <a:ext uri="{FF2B5EF4-FFF2-40B4-BE49-F238E27FC236}">
                <a16:creationId xmlns:a16="http://schemas.microsoft.com/office/drawing/2014/main" id="{C0B2F1DB-FF5E-31B7-9EF7-2F44E44E5CEF}"/>
              </a:ext>
            </a:extLst>
          </p:cNvPr>
          <p:cNvSpPr txBox="1"/>
          <p:nvPr/>
        </p:nvSpPr>
        <p:spPr>
          <a:xfrm>
            <a:off x="5559421" y="4510506"/>
            <a:ext cx="566737" cy="307777"/>
          </a:xfrm>
          <a:prstGeom prst="rect">
            <a:avLst/>
          </a:prstGeom>
          <a:noFill/>
        </p:spPr>
        <p:txBody>
          <a:bodyPr wrap="square">
            <a:spAutoFit/>
          </a:bodyPr>
          <a:lstStyle/>
          <a:p>
            <a:r>
              <a:rPr lang="ja-JP" altLang="en-US" sz="1400" b="1" dirty="0"/>
              <a:t>あり</a:t>
            </a:r>
            <a:endParaRPr lang="ja-JP" altLang="en-US" sz="1400" dirty="0"/>
          </a:p>
        </p:txBody>
      </p:sp>
      <p:sp>
        <p:nvSpPr>
          <p:cNvPr id="17" name="テキスト ボックス 16">
            <a:extLst>
              <a:ext uri="{FF2B5EF4-FFF2-40B4-BE49-F238E27FC236}">
                <a16:creationId xmlns:a16="http://schemas.microsoft.com/office/drawing/2014/main" id="{FC5E8C2D-B4D4-D112-6F40-380821DBFC68}"/>
              </a:ext>
            </a:extLst>
          </p:cNvPr>
          <p:cNvSpPr txBox="1"/>
          <p:nvPr/>
        </p:nvSpPr>
        <p:spPr>
          <a:xfrm>
            <a:off x="7145887" y="4503256"/>
            <a:ext cx="566737" cy="307777"/>
          </a:xfrm>
          <a:prstGeom prst="rect">
            <a:avLst/>
          </a:prstGeom>
          <a:noFill/>
        </p:spPr>
        <p:txBody>
          <a:bodyPr wrap="square">
            <a:spAutoFit/>
          </a:bodyPr>
          <a:lstStyle/>
          <a:p>
            <a:r>
              <a:rPr lang="ja-JP" altLang="en-US" sz="1400" b="1" dirty="0"/>
              <a:t>なし</a:t>
            </a:r>
            <a:endParaRPr lang="ja-JP" altLang="en-US" sz="1400" dirty="0"/>
          </a:p>
        </p:txBody>
      </p:sp>
      <p:sp>
        <p:nvSpPr>
          <p:cNvPr id="24" name="テキスト ボックス 23">
            <a:extLst>
              <a:ext uri="{FF2B5EF4-FFF2-40B4-BE49-F238E27FC236}">
                <a16:creationId xmlns:a16="http://schemas.microsoft.com/office/drawing/2014/main" id="{6FBED795-1566-0B84-68E9-8986EA6FA25E}"/>
              </a:ext>
            </a:extLst>
          </p:cNvPr>
          <p:cNvSpPr txBox="1"/>
          <p:nvPr/>
        </p:nvSpPr>
        <p:spPr>
          <a:xfrm>
            <a:off x="7832742" y="2465873"/>
            <a:ext cx="1074214" cy="307777"/>
          </a:xfrm>
          <a:prstGeom prst="rect">
            <a:avLst/>
          </a:prstGeom>
          <a:noFill/>
        </p:spPr>
        <p:txBody>
          <a:bodyPr wrap="square">
            <a:spAutoFit/>
          </a:bodyPr>
          <a:lstStyle/>
          <a:p>
            <a:r>
              <a:rPr lang="ja-JP" altLang="en-US" sz="1400" b="1" dirty="0"/>
              <a:t>あてはまる</a:t>
            </a:r>
            <a:endParaRPr lang="ja-JP" altLang="en-US" sz="1400" dirty="0"/>
          </a:p>
        </p:txBody>
      </p:sp>
      <p:sp>
        <p:nvSpPr>
          <p:cNvPr id="25" name="テキスト ボックス 24">
            <a:extLst>
              <a:ext uri="{FF2B5EF4-FFF2-40B4-BE49-F238E27FC236}">
                <a16:creationId xmlns:a16="http://schemas.microsoft.com/office/drawing/2014/main" id="{3303228A-4A1C-1E95-CBB8-1EA6FEF316CE}"/>
              </a:ext>
            </a:extLst>
          </p:cNvPr>
          <p:cNvSpPr txBox="1"/>
          <p:nvPr/>
        </p:nvSpPr>
        <p:spPr>
          <a:xfrm>
            <a:off x="7766320" y="4601898"/>
            <a:ext cx="1487746" cy="307776"/>
          </a:xfrm>
          <a:prstGeom prst="rect">
            <a:avLst/>
          </a:prstGeom>
          <a:noFill/>
        </p:spPr>
        <p:txBody>
          <a:bodyPr wrap="square">
            <a:spAutoFit/>
          </a:bodyPr>
          <a:lstStyle/>
          <a:p>
            <a:r>
              <a:rPr lang="ja-JP" altLang="en-US" sz="1400" b="1" dirty="0"/>
              <a:t>あてはまらない</a:t>
            </a:r>
            <a:endParaRPr lang="ja-JP" altLang="en-US" sz="1400" dirty="0"/>
          </a:p>
        </p:txBody>
      </p:sp>
      <p:graphicFrame>
        <p:nvGraphicFramePr>
          <p:cNvPr id="5" name="表 4">
            <a:extLst>
              <a:ext uri="{FF2B5EF4-FFF2-40B4-BE49-F238E27FC236}">
                <a16:creationId xmlns:a16="http://schemas.microsoft.com/office/drawing/2014/main" id="{3C726510-EA3A-20C0-3277-2CD03958BC17}"/>
              </a:ext>
            </a:extLst>
          </p:cNvPr>
          <p:cNvGraphicFramePr>
            <a:graphicFrameLocks noGrp="1"/>
          </p:cNvGraphicFramePr>
          <p:nvPr>
            <p:extLst>
              <p:ext uri="{D42A27DB-BD31-4B8C-83A1-F6EECF244321}">
                <p14:modId xmlns:p14="http://schemas.microsoft.com/office/powerpoint/2010/main" val="2284485268"/>
              </p:ext>
            </p:extLst>
          </p:nvPr>
        </p:nvGraphicFramePr>
        <p:xfrm>
          <a:off x="436034" y="1854870"/>
          <a:ext cx="7330285" cy="820928"/>
        </p:xfrm>
        <a:graphic>
          <a:graphicData uri="http://schemas.openxmlformats.org/drawingml/2006/table">
            <a:tbl>
              <a:tblPr firstRow="1" bandRow="1">
                <a:tableStyleId>{9D7B26C5-4107-4FEC-AEDC-1716B250A1EF}</a:tableStyleId>
              </a:tblPr>
              <a:tblGrid>
                <a:gridCol w="855177">
                  <a:extLst>
                    <a:ext uri="{9D8B030D-6E8A-4147-A177-3AD203B41FA5}">
                      <a16:colId xmlns:a16="http://schemas.microsoft.com/office/drawing/2014/main" val="3639033113"/>
                    </a:ext>
                  </a:extLst>
                </a:gridCol>
                <a:gridCol w="1154637">
                  <a:extLst>
                    <a:ext uri="{9D8B030D-6E8A-4147-A177-3AD203B41FA5}">
                      <a16:colId xmlns:a16="http://schemas.microsoft.com/office/drawing/2014/main" val="4143698353"/>
                    </a:ext>
                  </a:extLst>
                </a:gridCol>
                <a:gridCol w="698325">
                  <a:extLst>
                    <a:ext uri="{9D8B030D-6E8A-4147-A177-3AD203B41FA5}">
                      <a16:colId xmlns:a16="http://schemas.microsoft.com/office/drawing/2014/main" val="1427256339"/>
                    </a:ext>
                  </a:extLst>
                </a:gridCol>
                <a:gridCol w="757269">
                  <a:extLst>
                    <a:ext uri="{9D8B030D-6E8A-4147-A177-3AD203B41FA5}">
                      <a16:colId xmlns:a16="http://schemas.microsoft.com/office/drawing/2014/main" val="1438680861"/>
                    </a:ext>
                  </a:extLst>
                </a:gridCol>
                <a:gridCol w="1188673">
                  <a:extLst>
                    <a:ext uri="{9D8B030D-6E8A-4147-A177-3AD203B41FA5}">
                      <a16:colId xmlns:a16="http://schemas.microsoft.com/office/drawing/2014/main" val="2253055787"/>
                    </a:ext>
                  </a:extLst>
                </a:gridCol>
                <a:gridCol w="892068">
                  <a:extLst>
                    <a:ext uri="{9D8B030D-6E8A-4147-A177-3AD203B41FA5}">
                      <a16:colId xmlns:a16="http://schemas.microsoft.com/office/drawing/2014/main" val="2801815050"/>
                    </a:ext>
                  </a:extLst>
                </a:gridCol>
                <a:gridCol w="892068">
                  <a:extLst>
                    <a:ext uri="{9D8B030D-6E8A-4147-A177-3AD203B41FA5}">
                      <a16:colId xmlns:a16="http://schemas.microsoft.com/office/drawing/2014/main" val="3674438810"/>
                    </a:ext>
                  </a:extLst>
                </a:gridCol>
                <a:gridCol w="892068">
                  <a:extLst>
                    <a:ext uri="{9D8B030D-6E8A-4147-A177-3AD203B41FA5}">
                      <a16:colId xmlns:a16="http://schemas.microsoft.com/office/drawing/2014/main" val="678252903"/>
                    </a:ext>
                  </a:extLst>
                </a:gridCol>
              </a:tblGrid>
              <a:tr h="370840">
                <a:tc>
                  <a:txBody>
                    <a:bodyPr/>
                    <a:lstStyle/>
                    <a:p>
                      <a:pPr algn="l" fontAlgn="base">
                        <a:lnSpc>
                          <a:spcPts val="1350"/>
                        </a:lnSpc>
                        <a:buNone/>
                      </a:pPr>
                      <a:r>
                        <a:rPr lang="ja-JP" altLang="en-US" sz="1400" b="1" i="0" dirty="0">
                          <a:solidFill>
                            <a:schemeClr val="tx1"/>
                          </a:solidFill>
                          <a:effectLst/>
                          <a:latin typeface="+mn-ea"/>
                          <a:ea typeface="+mn-ea"/>
                        </a:rPr>
                        <a:t>名乗り</a:t>
                      </a: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人格設定要因</a:t>
                      </a:r>
                      <a:r>
                        <a:rPr lang="ja-JP" altLang="en-US" sz="1400" b="1" i="0" dirty="0">
                          <a:solidFill>
                            <a:srgbClr val="FFFFFF"/>
                          </a:solidFill>
                          <a:effectLst/>
                          <a:latin typeface="+mn-ea"/>
                          <a:ea typeface="+mn-ea"/>
                        </a:rPr>
                        <a:t>​</a:t>
                      </a:r>
                    </a:p>
                  </a:txBody>
                  <a:tcPr>
                    <a:noFill/>
                  </a:tcPr>
                </a:tc>
                <a:tc>
                  <a:txBody>
                    <a:bodyPr/>
                    <a:lstStyle/>
                    <a:p>
                      <a:pPr algn="l" fontAlgn="auto">
                        <a:lnSpc>
                          <a:spcPts val="1350"/>
                        </a:lnSpc>
                        <a:buNone/>
                      </a:pPr>
                      <a:r>
                        <a:rPr lang="ja-JP" altLang="en-US" sz="1400" b="1" i="0" dirty="0">
                          <a:solidFill>
                            <a:srgbClr val="000000"/>
                          </a:solidFill>
                          <a:effectLst/>
                          <a:latin typeface="+mn-ea"/>
                          <a:ea typeface="+mn-ea"/>
                        </a:rPr>
                        <a:t>​</a:t>
                      </a:r>
                    </a:p>
                  </a:txBody>
                  <a:tcPr>
                    <a:noFill/>
                  </a:tcPr>
                </a:tc>
                <a:tc>
                  <a:txBody>
                    <a:bodyPr/>
                    <a:lstStyle/>
                    <a:p>
                      <a:pPr algn="l" fontAlgn="base">
                        <a:lnSpc>
                          <a:spcPts val="1350"/>
                        </a:lnSpc>
                        <a:buNone/>
                      </a:pPr>
                      <a:r>
                        <a:rPr lang="ja-JP" altLang="en-US" sz="1400" b="1" i="0" dirty="0">
                          <a:solidFill>
                            <a:schemeClr val="tx1"/>
                          </a:solidFill>
                          <a:effectLst/>
                          <a:latin typeface="+mn-ea"/>
                          <a:ea typeface="+mn-ea"/>
                        </a:rPr>
                        <a:t>名乗り</a:t>
                      </a: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人格設定要因</a:t>
                      </a:r>
                      <a:r>
                        <a:rPr lang="ja-JP" altLang="en-US" sz="1400" b="1" i="0" dirty="0">
                          <a:solidFill>
                            <a:srgbClr val="FFFFFF"/>
                          </a:solidFill>
                          <a:effectLst/>
                          <a:latin typeface="+mn-ea"/>
                          <a:ea typeface="+mn-ea"/>
                        </a:rPr>
                        <a:t>​</a:t>
                      </a:r>
                    </a:p>
                  </a:txBody>
                  <a:tcPr>
                    <a:noFill/>
                  </a:tcPr>
                </a:tc>
                <a:tc>
                  <a:txBody>
                    <a:bodyPr/>
                    <a:lstStyle/>
                    <a:p>
                      <a:pPr algn="r" fontAlgn="base">
                        <a:lnSpc>
                          <a:spcPts val="1350"/>
                        </a:lnSpc>
                        <a:buNone/>
                      </a:pPr>
                      <a:r>
                        <a:rPr lang="ja-JP" altLang="en-US" sz="1400" b="1" i="0" dirty="0">
                          <a:solidFill>
                            <a:srgbClr val="000000"/>
                          </a:solidFill>
                          <a:effectLst/>
                          <a:latin typeface="+mn-ea"/>
                          <a:ea typeface="+mn-ea"/>
                        </a:rPr>
                        <a:t>平均値の差</a:t>
                      </a:r>
                      <a:r>
                        <a:rPr lang="ja-JP" altLang="en-US" sz="1400" b="1" i="0" dirty="0">
                          <a:solidFill>
                            <a:srgbClr val="FFFFFF"/>
                          </a:solidFill>
                          <a:effectLst/>
                          <a:latin typeface="+mn-ea"/>
                          <a:ea typeface="+mn-ea"/>
                        </a:rPr>
                        <a:t>​</a:t>
                      </a: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t</a:t>
                      </a:r>
                      <a:r>
                        <a:rPr lang="en-US" altLang="ja-JP" sz="1400" b="1" i="0" dirty="0">
                          <a:solidFill>
                            <a:srgbClr val="FFFFFF"/>
                          </a:solidFill>
                          <a:effectLst/>
                          <a:ea typeface="游ゴシック" panose="020B0400000000000000" pitchFamily="50" charset="-128"/>
                        </a:rPr>
                        <a:t>​</a:t>
                      </a:r>
                      <a:endParaRPr lang="en-US" altLang="ja-JP" sz="1400" b="1" i="0" dirty="0">
                        <a:solidFill>
                          <a:srgbClr val="FFFFFF"/>
                        </a:solidFill>
                        <a:effectLst/>
                      </a:endParaRPr>
                    </a:p>
                  </a:txBody>
                  <a:tcPr>
                    <a:noFill/>
                  </a:tcPr>
                </a:tc>
                <a:tc>
                  <a:txBody>
                    <a:bodyPr/>
                    <a:lstStyle/>
                    <a:p>
                      <a:pPr algn="r" fontAlgn="base">
                        <a:lnSpc>
                          <a:spcPts val="1350"/>
                        </a:lnSpc>
                        <a:buNone/>
                      </a:pPr>
                      <a:r>
                        <a:rPr lang="en-US" sz="1400" b="1" i="0">
                          <a:solidFill>
                            <a:srgbClr val="000000"/>
                          </a:solidFill>
                          <a:effectLst/>
                          <a:latin typeface="游ゴシック" panose="020B0400000000000000" pitchFamily="50" charset="-128"/>
                        </a:rPr>
                        <a:t>p</a:t>
                      </a:r>
                      <a:r>
                        <a:rPr lang="ja-JP" altLang="en-US" sz="1400" b="1" i="0">
                          <a:solidFill>
                            <a:srgbClr val="000000"/>
                          </a:solidFill>
                          <a:effectLst/>
                          <a:ea typeface="游ゴシック" panose="020B0400000000000000" pitchFamily="50" charset="-128"/>
                        </a:rPr>
                        <a:t>テューキー</a:t>
                      </a:r>
                      <a:r>
                        <a:rPr lang="ja-JP" altLang="en-US" sz="1400" b="1" i="0">
                          <a:solidFill>
                            <a:srgbClr val="FFFFFF"/>
                          </a:solidFill>
                          <a:effectLst/>
                          <a:latin typeface="游ゴシック" panose="020B0400000000000000" pitchFamily="50" charset="-128"/>
                        </a:rPr>
                        <a:t>​</a:t>
                      </a:r>
                      <a:endParaRPr lang="ja-JP" altLang="en-US" sz="1400" b="1" i="0">
                        <a:solidFill>
                          <a:srgbClr val="FFFFFF"/>
                        </a:solidFill>
                        <a:effectLst/>
                      </a:endParaRPr>
                    </a:p>
                  </a:txBody>
                  <a:tcPr>
                    <a:noFill/>
                  </a:tcPr>
                </a:tc>
                <a:extLst>
                  <a:ext uri="{0D108BD9-81ED-4DB2-BD59-A6C34878D82A}">
                    <a16:rowId xmlns:a16="http://schemas.microsoft.com/office/drawing/2014/main" val="2809685238"/>
                  </a:ext>
                </a:extLst>
              </a:tr>
              <a:tr h="370840">
                <a:tc>
                  <a:txBody>
                    <a:bodyPr/>
                    <a:lstStyle/>
                    <a:p>
                      <a:pPr algn="l" fontAlgn="base">
                        <a:lnSpc>
                          <a:spcPts val="1350"/>
                        </a:lnSpc>
                        <a:buNone/>
                      </a:pPr>
                      <a:r>
                        <a:rPr lang="ja-JP" altLang="en-US" sz="1400" b="1" i="0" dirty="0">
                          <a:solidFill>
                            <a:srgbClr val="000000"/>
                          </a:solidFill>
                          <a:effectLst/>
                          <a:latin typeface="+mn-ea"/>
                          <a:ea typeface="+mn-ea"/>
                        </a:rPr>
                        <a:t>あり</a:t>
                      </a:r>
                      <a:endParaRPr lang="en-US" altLang="ja-JP" sz="1400" b="1" i="0" dirty="0">
                        <a:solidFill>
                          <a:srgbClr val="000000"/>
                        </a:solidFill>
                        <a:effectLst/>
                        <a:latin typeface="+mn-ea"/>
                        <a:ea typeface="+mn-ea"/>
                      </a:endParaRP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固定​</a:t>
                      </a:r>
                    </a:p>
                  </a:txBody>
                  <a:tcPr>
                    <a:noFill/>
                  </a:tcPr>
                </a:tc>
                <a:tc>
                  <a:txBody>
                    <a:bodyPr/>
                    <a:lstStyle/>
                    <a:p>
                      <a:pPr algn="l" fontAlgn="base">
                        <a:lnSpc>
                          <a:spcPts val="1350"/>
                        </a:lnSpc>
                        <a:buNone/>
                      </a:pPr>
                      <a:r>
                        <a:rPr lang="en-US" sz="1400" b="1" i="0" dirty="0">
                          <a:solidFill>
                            <a:srgbClr val="000000"/>
                          </a:solidFill>
                          <a:effectLst/>
                          <a:latin typeface="+mn-ea"/>
                          <a:ea typeface="+mn-ea"/>
                        </a:rPr>
                        <a:t>-</a:t>
                      </a:r>
                      <a:r>
                        <a:rPr lang="en-US" altLang="ja-JP" sz="1400" b="1" i="0" dirty="0">
                          <a:solidFill>
                            <a:srgbClr val="000000"/>
                          </a:solidFill>
                          <a:effectLst/>
                          <a:latin typeface="+mn-ea"/>
                          <a:ea typeface="+mn-ea"/>
                        </a:rPr>
                        <a:t>​</a:t>
                      </a: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なし</a:t>
                      </a:r>
                      <a:endParaRPr lang="en-US" altLang="ja-JP" sz="1400" b="1" i="0" dirty="0">
                        <a:solidFill>
                          <a:srgbClr val="000000"/>
                        </a:solidFill>
                        <a:effectLst/>
                        <a:latin typeface="+mn-ea"/>
                        <a:ea typeface="+mn-ea"/>
                      </a:endParaRP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固定</a:t>
                      </a:r>
                      <a:endParaRPr lang="en-US" altLang="ja-JP" sz="1400" b="1" i="0" dirty="0">
                        <a:solidFill>
                          <a:srgbClr val="000000"/>
                        </a:solidFill>
                        <a:effectLst/>
                        <a:latin typeface="+mn-ea"/>
                        <a:ea typeface="+mn-ea"/>
                      </a:endParaRPr>
                    </a:p>
                  </a:txBody>
                  <a:tcPr>
                    <a:noFill/>
                  </a:tcPr>
                </a:tc>
                <a:tc>
                  <a:txBody>
                    <a:bodyPr/>
                    <a:lstStyle/>
                    <a:p>
                      <a:pPr algn="r" fontAlgn="base">
                        <a:lnSpc>
                          <a:spcPts val="1350"/>
                        </a:lnSpc>
                        <a:buNone/>
                      </a:pPr>
                      <a:r>
                        <a:rPr lang="en-US" altLang="ja-JP" sz="1400" b="1" i="0" dirty="0">
                          <a:solidFill>
                            <a:srgbClr val="000000"/>
                          </a:solidFill>
                          <a:effectLst/>
                          <a:latin typeface="+mn-ea"/>
                          <a:ea typeface="+mn-ea"/>
                        </a:rPr>
                        <a:t>-1.539​</a:t>
                      </a: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-3.065</a:t>
                      </a:r>
                      <a:r>
                        <a:rPr lang="en-US" sz="1400" b="0" i="0" dirty="0">
                          <a:solidFill>
                            <a:srgbClr val="000000"/>
                          </a:solidFill>
                          <a:effectLst/>
                          <a:latin typeface="游ゴシック" panose="020B0400000000000000" pitchFamily="50" charset="-128"/>
                        </a:rPr>
                        <a:t>​</a:t>
                      </a:r>
                      <a:endParaRPr lang="en-US" sz="1400" b="0" i="0" dirty="0">
                        <a:solidFill>
                          <a:srgbClr val="000000"/>
                        </a:solidFill>
                        <a:effectLst/>
                      </a:endParaRPr>
                    </a:p>
                  </a:txBody>
                  <a:tcPr>
                    <a:noFill/>
                  </a:tcPr>
                </a:tc>
                <a:tc>
                  <a:txBody>
                    <a:bodyPr/>
                    <a:lstStyle/>
                    <a:p>
                      <a:pPr algn="r" fontAlgn="base">
                        <a:lnSpc>
                          <a:spcPts val="1350"/>
                        </a:lnSpc>
                        <a:buNone/>
                      </a:pPr>
                      <a:r>
                        <a:rPr lang="en-US" sz="1400" b="1" i="0" dirty="0">
                          <a:solidFill>
                            <a:srgbClr val="C00000"/>
                          </a:solidFill>
                          <a:effectLst/>
                          <a:latin typeface="游ゴシック" panose="020B0400000000000000" pitchFamily="50" charset="-128"/>
                        </a:rPr>
                        <a:t>0.014</a:t>
                      </a:r>
                      <a:endParaRPr lang="en-US" sz="1400" b="0" i="0" dirty="0">
                        <a:solidFill>
                          <a:srgbClr val="000000"/>
                        </a:solidFill>
                        <a:effectLst/>
                      </a:endParaRPr>
                    </a:p>
                  </a:txBody>
                  <a:tcPr>
                    <a:noFill/>
                  </a:tcPr>
                </a:tc>
                <a:extLst>
                  <a:ext uri="{0D108BD9-81ED-4DB2-BD59-A6C34878D82A}">
                    <a16:rowId xmlns:a16="http://schemas.microsoft.com/office/drawing/2014/main" val="2808757430"/>
                  </a:ext>
                </a:extLst>
              </a:tr>
            </a:tbl>
          </a:graphicData>
        </a:graphic>
      </p:graphicFrame>
      <p:pic>
        <p:nvPicPr>
          <p:cNvPr id="6" name="グラフィックス 5">
            <a:extLst>
              <a:ext uri="{FF2B5EF4-FFF2-40B4-BE49-F238E27FC236}">
                <a16:creationId xmlns:a16="http://schemas.microsoft.com/office/drawing/2014/main" id="{95F9E6AE-541E-2200-FA67-8A477817A7A7}"/>
              </a:ext>
            </a:extLst>
          </p:cNvPr>
          <p:cNvPicPr>
            <a:picLocks noChangeAspect="1"/>
          </p:cNvPicPr>
          <p:nvPr/>
        </p:nvPicPr>
        <p:blipFill>
          <a:blip r:embed="rId3">
            <a:extLst>
              <a:ext uri="{96DAC541-7B7A-43D3-8B79-37D633B846F1}">
                <asvg:svgBlip xmlns:asvg="http://schemas.microsoft.com/office/drawing/2016/SVG/main" r:embed="rId4"/>
              </a:ext>
            </a:extLst>
          </a:blip>
          <a:srcRect l="1749" t="2763" r="1610" b="2691"/>
          <a:stretch>
            <a:fillRect/>
          </a:stretch>
        </p:blipFill>
        <p:spPr>
          <a:xfrm>
            <a:off x="4842330" y="2811692"/>
            <a:ext cx="3381399" cy="1745506"/>
          </a:xfrm>
          <a:prstGeom prst="rect">
            <a:avLst/>
          </a:prstGeom>
        </p:spPr>
      </p:pic>
      <p:sp>
        <p:nvSpPr>
          <p:cNvPr id="20" name="矢印: 右 19">
            <a:extLst>
              <a:ext uri="{FF2B5EF4-FFF2-40B4-BE49-F238E27FC236}">
                <a16:creationId xmlns:a16="http://schemas.microsoft.com/office/drawing/2014/main" id="{860F301E-11F4-DAB0-9305-2B72103168C9}"/>
              </a:ext>
            </a:extLst>
          </p:cNvPr>
          <p:cNvSpPr/>
          <p:nvPr/>
        </p:nvSpPr>
        <p:spPr>
          <a:xfrm rot="16200000">
            <a:off x="8228831" y="2712616"/>
            <a:ext cx="369329" cy="4270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21" name="矢印: 右 20">
            <a:extLst>
              <a:ext uri="{FF2B5EF4-FFF2-40B4-BE49-F238E27FC236}">
                <a16:creationId xmlns:a16="http://schemas.microsoft.com/office/drawing/2014/main" id="{FCAD8460-E31B-C4D0-0148-DB3F7ABF931A}"/>
              </a:ext>
            </a:extLst>
          </p:cNvPr>
          <p:cNvSpPr/>
          <p:nvPr/>
        </p:nvSpPr>
        <p:spPr>
          <a:xfrm rot="5400000">
            <a:off x="8228830" y="4188654"/>
            <a:ext cx="369329" cy="4270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Tree>
    <p:extLst>
      <p:ext uri="{BB962C8B-B14F-4D97-AF65-F5344CB8AC3E}">
        <p14:creationId xmlns:p14="http://schemas.microsoft.com/office/powerpoint/2010/main" val="4754740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FD2DCFE-D841-1EDE-95D6-CCBBAB17B34C}"/>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472EECFB-BFBF-6CCD-E66C-838F4E2CD441}"/>
              </a:ext>
            </a:extLst>
          </p:cNvPr>
          <p:cNvSpPr>
            <a:spLocks noGrp="1"/>
          </p:cNvSpPr>
          <p:nvPr>
            <p:ph type="sldNum" sz="quarter" idx="12"/>
          </p:nvPr>
        </p:nvSpPr>
        <p:spPr/>
        <p:txBody>
          <a:bodyPr/>
          <a:lstStyle/>
          <a:p>
            <a:fld id="{18020408-E1FF-429E-A8D5-EB2A190A0D77}" type="slidenum">
              <a:rPr kumimoji="1" lang="ja-JP" altLang="en-US" smtClean="0"/>
              <a:pPr/>
              <a:t>57</a:t>
            </a:fld>
            <a:endParaRPr kumimoji="1" lang="ja-JP" altLang="en-US" sz="2400" dirty="0"/>
          </a:p>
        </p:txBody>
      </p:sp>
      <p:sp>
        <p:nvSpPr>
          <p:cNvPr id="3" name="タイトル 2">
            <a:extLst>
              <a:ext uri="{FF2B5EF4-FFF2-40B4-BE49-F238E27FC236}">
                <a16:creationId xmlns:a16="http://schemas.microsoft.com/office/drawing/2014/main" id="{31BE5915-6C27-4A5F-70C0-D10796A11237}"/>
              </a:ext>
            </a:extLst>
          </p:cNvPr>
          <p:cNvSpPr>
            <a:spLocks noGrp="1"/>
          </p:cNvSpPr>
          <p:nvPr>
            <p:ph type="title"/>
          </p:nvPr>
        </p:nvSpPr>
        <p:spPr/>
        <p:txBody>
          <a:bodyPr/>
          <a:lstStyle/>
          <a:p>
            <a:r>
              <a:rPr lang="ja-JP" altLang="en-US" sz="3600" dirty="0"/>
              <a:t>結果・考察：</a:t>
            </a:r>
            <a:r>
              <a:rPr lang="en-US" altLang="ja-JP" sz="3600" dirty="0"/>
              <a:t>LLM</a:t>
            </a:r>
            <a:r>
              <a:rPr lang="ja-JP" altLang="en-US" sz="3600" dirty="0"/>
              <a:t>への感情の知覚</a:t>
            </a:r>
            <a:endParaRPr kumimoji="1" lang="ja-JP" altLang="en-US" sz="3600" dirty="0"/>
          </a:p>
        </p:txBody>
      </p:sp>
      <p:sp>
        <p:nvSpPr>
          <p:cNvPr id="7" name="テキスト ボックス 6">
            <a:extLst>
              <a:ext uri="{FF2B5EF4-FFF2-40B4-BE49-F238E27FC236}">
                <a16:creationId xmlns:a16="http://schemas.microsoft.com/office/drawing/2014/main" id="{25B5F0FF-CCC0-147A-4A70-2DA329DC4D71}"/>
              </a:ext>
            </a:extLst>
          </p:cNvPr>
          <p:cNvSpPr txBox="1"/>
          <p:nvPr/>
        </p:nvSpPr>
        <p:spPr>
          <a:xfrm>
            <a:off x="313263" y="2843090"/>
            <a:ext cx="5698069" cy="646331"/>
          </a:xfrm>
          <a:prstGeom prst="rect">
            <a:avLst/>
          </a:prstGeom>
          <a:noFill/>
        </p:spPr>
        <p:txBody>
          <a:bodyPr wrap="square">
            <a:spAutoFit/>
          </a:bodyPr>
          <a:lstStyle/>
          <a:p>
            <a:r>
              <a:rPr lang="ja-JP" altLang="en-US" b="1" dirty="0"/>
              <a:t>人格固定水準における</a:t>
            </a:r>
            <a:endParaRPr lang="en-US" altLang="ja-JP" b="1" dirty="0"/>
          </a:p>
          <a:p>
            <a:r>
              <a:rPr lang="ja-JP" altLang="en-US" b="1" dirty="0"/>
              <a:t>名乗り要因での平均値と標準偏差</a:t>
            </a:r>
          </a:p>
        </p:txBody>
      </p:sp>
      <p:sp>
        <p:nvSpPr>
          <p:cNvPr id="9" name="Rectangle 1">
            <a:extLst>
              <a:ext uri="{FF2B5EF4-FFF2-40B4-BE49-F238E27FC236}">
                <a16:creationId xmlns:a16="http://schemas.microsoft.com/office/drawing/2014/main" id="{9E098D56-19F4-22EE-D914-098AF5074AC0}"/>
              </a:ext>
            </a:extLst>
          </p:cNvPr>
          <p:cNvSpPr>
            <a:spLocks noChangeArrowheads="1"/>
          </p:cNvSpPr>
          <p:nvPr/>
        </p:nvSpPr>
        <p:spPr bwMode="auto">
          <a:xfrm>
            <a:off x="2362200" y="250391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1" name="Rectangle 2">
            <a:extLst>
              <a:ext uri="{FF2B5EF4-FFF2-40B4-BE49-F238E27FC236}">
                <a16:creationId xmlns:a16="http://schemas.microsoft.com/office/drawing/2014/main" id="{BB718E73-8BCD-070A-1FDA-0D3216917E74}"/>
              </a:ext>
            </a:extLst>
          </p:cNvPr>
          <p:cNvSpPr>
            <a:spLocks noChangeArrowheads="1"/>
          </p:cNvSpPr>
          <p:nvPr/>
        </p:nvSpPr>
        <p:spPr bwMode="auto">
          <a:xfrm>
            <a:off x="2252663" y="3560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3" name="テキスト ボックス 12">
            <a:extLst>
              <a:ext uri="{FF2B5EF4-FFF2-40B4-BE49-F238E27FC236}">
                <a16:creationId xmlns:a16="http://schemas.microsoft.com/office/drawing/2014/main" id="{1701185F-9C6E-F529-6CAD-DF56965831DA}"/>
              </a:ext>
            </a:extLst>
          </p:cNvPr>
          <p:cNvSpPr txBox="1"/>
          <p:nvPr/>
        </p:nvSpPr>
        <p:spPr>
          <a:xfrm>
            <a:off x="313263" y="1247017"/>
            <a:ext cx="6680203" cy="646331"/>
          </a:xfrm>
          <a:prstGeom prst="rect">
            <a:avLst/>
          </a:prstGeom>
          <a:noFill/>
        </p:spPr>
        <p:txBody>
          <a:bodyPr wrap="square">
            <a:spAutoFit/>
          </a:bodyPr>
          <a:lstStyle/>
          <a:p>
            <a:r>
              <a:rPr lang="ja-JP" altLang="en-US" b="1" dirty="0">
                <a:latin typeface="+mn-ea"/>
              </a:rPr>
              <a:t>「</a:t>
            </a:r>
            <a:r>
              <a:rPr lang="en-US" altLang="ja-JP" b="1" dirty="0">
                <a:latin typeface="+mn-ea"/>
              </a:rPr>
              <a:t>Q19</a:t>
            </a:r>
            <a:r>
              <a:rPr lang="ja-JP" altLang="en-US" b="1" dirty="0">
                <a:latin typeface="+mn-ea"/>
              </a:rPr>
              <a:t>．</a:t>
            </a:r>
            <a:r>
              <a:rPr kumimoji="1" lang="en-US" altLang="ja-JP" b="1" dirty="0">
                <a:latin typeface="游ゴシック" panose="020B0400000000000000" pitchFamily="50" charset="-128"/>
              </a:rPr>
              <a:t> AI</a:t>
            </a:r>
            <a:r>
              <a:rPr kumimoji="1" lang="ja-JP" altLang="en-US" b="1" dirty="0">
                <a:latin typeface="游ゴシック" panose="020B0400000000000000" pitchFamily="50" charset="-128"/>
              </a:rPr>
              <a:t>には感情がある」について</a:t>
            </a:r>
            <a:endParaRPr kumimoji="1" lang="en-US" altLang="ja-JP" b="1" dirty="0">
              <a:latin typeface="游ゴシック" panose="020B0400000000000000" pitchFamily="50" charset="-128"/>
            </a:endParaRPr>
          </a:p>
          <a:p>
            <a:r>
              <a:rPr kumimoji="1" lang="en-US" altLang="ja-JP" b="1" dirty="0">
                <a:latin typeface="游ゴシック" panose="020B0400000000000000" pitchFamily="50" charset="-128"/>
                <a:sym typeface="Wingdings" panose="05000000000000000000" pitchFamily="2" charset="2"/>
              </a:rPr>
              <a:t></a:t>
            </a:r>
            <a:r>
              <a:rPr kumimoji="1" lang="ja-JP" altLang="en-US" b="1" dirty="0">
                <a:solidFill>
                  <a:srgbClr val="C00000"/>
                </a:solidFill>
                <a:latin typeface="游ゴシック" panose="020B0400000000000000" pitchFamily="50" charset="-128"/>
                <a:sym typeface="Wingdings" panose="05000000000000000000" pitchFamily="2" charset="2"/>
              </a:rPr>
              <a:t>交互作用が有意</a:t>
            </a:r>
            <a:endParaRPr kumimoji="1" lang="en-US" altLang="ja-JP" b="1" dirty="0">
              <a:solidFill>
                <a:srgbClr val="C00000"/>
              </a:solidFill>
              <a:latin typeface="游ゴシック" panose="020B0400000000000000" pitchFamily="50" charset="-128"/>
            </a:endParaRPr>
          </a:p>
        </p:txBody>
      </p:sp>
      <p:graphicFrame>
        <p:nvGraphicFramePr>
          <p:cNvPr id="15" name="表 14">
            <a:extLst>
              <a:ext uri="{FF2B5EF4-FFF2-40B4-BE49-F238E27FC236}">
                <a16:creationId xmlns:a16="http://schemas.microsoft.com/office/drawing/2014/main" id="{CEF31984-B2EF-6E10-F19B-8A14E7522FDC}"/>
              </a:ext>
            </a:extLst>
          </p:cNvPr>
          <p:cNvGraphicFramePr>
            <a:graphicFrameLocks noGrp="1"/>
          </p:cNvGraphicFramePr>
          <p:nvPr/>
        </p:nvGraphicFramePr>
        <p:xfrm>
          <a:off x="436035" y="3537280"/>
          <a:ext cx="4004229" cy="1019918"/>
        </p:xfrm>
        <a:graphic>
          <a:graphicData uri="http://schemas.openxmlformats.org/drawingml/2006/table">
            <a:tbl>
              <a:tblPr firstRow="1" bandRow="1">
                <a:tableStyleId>{9D7B26C5-4107-4FEC-AEDC-1716B250A1EF}</a:tableStyleId>
              </a:tblPr>
              <a:tblGrid>
                <a:gridCol w="1442745">
                  <a:extLst>
                    <a:ext uri="{9D8B030D-6E8A-4147-A177-3AD203B41FA5}">
                      <a16:colId xmlns:a16="http://schemas.microsoft.com/office/drawing/2014/main" val="4143698353"/>
                    </a:ext>
                  </a:extLst>
                </a:gridCol>
                <a:gridCol w="1280742">
                  <a:extLst>
                    <a:ext uri="{9D8B030D-6E8A-4147-A177-3AD203B41FA5}">
                      <a16:colId xmlns:a16="http://schemas.microsoft.com/office/drawing/2014/main" val="2801815050"/>
                    </a:ext>
                  </a:extLst>
                </a:gridCol>
                <a:gridCol w="1280742">
                  <a:extLst>
                    <a:ext uri="{9D8B030D-6E8A-4147-A177-3AD203B41FA5}">
                      <a16:colId xmlns:a16="http://schemas.microsoft.com/office/drawing/2014/main" val="3674438810"/>
                    </a:ext>
                  </a:extLst>
                </a:gridCol>
              </a:tblGrid>
              <a:tr h="394870">
                <a:tc>
                  <a:txBody>
                    <a:bodyPr/>
                    <a:lstStyle/>
                    <a:p>
                      <a:pPr algn="l" fontAlgn="base">
                        <a:lnSpc>
                          <a:spcPts val="1350"/>
                        </a:lnSpc>
                        <a:buNone/>
                      </a:pPr>
                      <a:r>
                        <a:rPr lang="ja-JP" altLang="en-US" sz="1600" b="1" i="0" dirty="0">
                          <a:solidFill>
                            <a:srgbClr val="000000"/>
                          </a:solidFill>
                          <a:effectLst/>
                          <a:latin typeface="+mn-ea"/>
                          <a:ea typeface="+mn-ea"/>
                        </a:rPr>
                        <a:t>名乗り要因</a:t>
                      </a:r>
                      <a:r>
                        <a:rPr lang="ja-JP" altLang="en-US" sz="1600" b="1" i="0" dirty="0">
                          <a:solidFill>
                            <a:srgbClr val="FFFFFF"/>
                          </a:solidFill>
                          <a:effectLst/>
                          <a:latin typeface="+mn-ea"/>
                          <a:ea typeface="+mn-ea"/>
                        </a:rPr>
                        <a:t>​</a:t>
                      </a:r>
                    </a:p>
                  </a:txBody>
                  <a:tcPr anchor="ctr">
                    <a:noFill/>
                  </a:tcPr>
                </a:tc>
                <a:tc>
                  <a:txBody>
                    <a:bodyPr/>
                    <a:lstStyle/>
                    <a:p>
                      <a:pPr algn="r" fontAlgn="base">
                        <a:lnSpc>
                          <a:spcPts val="1350"/>
                        </a:lnSpc>
                        <a:buNone/>
                      </a:pPr>
                      <a:r>
                        <a:rPr lang="ja-JP" altLang="en-US" sz="1600" b="1" i="0" dirty="0">
                          <a:solidFill>
                            <a:srgbClr val="000000"/>
                          </a:solidFill>
                          <a:effectLst/>
                          <a:latin typeface="+mn-ea"/>
                          <a:ea typeface="+mn-ea"/>
                        </a:rPr>
                        <a:t>平均値</a:t>
                      </a:r>
                      <a:endParaRPr lang="ja-JP" altLang="en-US" sz="1600" b="1" i="0" dirty="0">
                        <a:solidFill>
                          <a:srgbClr val="FFFFFF"/>
                        </a:solidFill>
                        <a:effectLst/>
                        <a:latin typeface="+mn-ea"/>
                        <a:ea typeface="+mn-ea"/>
                      </a:endParaRPr>
                    </a:p>
                  </a:txBody>
                  <a:tcPr anchor="ctr">
                    <a:noFill/>
                  </a:tcPr>
                </a:tc>
                <a:tc>
                  <a:txBody>
                    <a:bodyPr/>
                    <a:lstStyle/>
                    <a:p>
                      <a:pPr algn="r" fontAlgn="base">
                        <a:lnSpc>
                          <a:spcPts val="1350"/>
                        </a:lnSpc>
                        <a:buNone/>
                      </a:pPr>
                      <a:r>
                        <a:rPr lang="ja-JP" altLang="en-US" sz="1600" b="1" i="0" dirty="0">
                          <a:solidFill>
                            <a:srgbClr val="000000"/>
                          </a:solidFill>
                          <a:effectLst/>
                          <a:latin typeface="+mn-ea"/>
                          <a:ea typeface="+mn-ea"/>
                        </a:rPr>
                        <a:t>標準偏差</a:t>
                      </a:r>
                      <a:r>
                        <a:rPr lang="en-US" altLang="ja-JP" sz="1600" b="1" i="0" dirty="0">
                          <a:solidFill>
                            <a:srgbClr val="FFFFFF"/>
                          </a:solidFill>
                          <a:effectLst/>
                          <a:latin typeface="+mn-ea"/>
                          <a:ea typeface="+mn-ea"/>
                        </a:rPr>
                        <a:t>​</a:t>
                      </a:r>
                    </a:p>
                  </a:txBody>
                  <a:tcPr anchor="ctr">
                    <a:noFill/>
                  </a:tcPr>
                </a:tc>
                <a:extLst>
                  <a:ext uri="{0D108BD9-81ED-4DB2-BD59-A6C34878D82A}">
                    <a16:rowId xmlns:a16="http://schemas.microsoft.com/office/drawing/2014/main" val="2809685238"/>
                  </a:ext>
                </a:extLst>
              </a:tr>
              <a:tr h="312524">
                <a:tc>
                  <a:txBody>
                    <a:bodyPr/>
                    <a:lstStyle/>
                    <a:p>
                      <a:pPr algn="l" fontAlgn="base">
                        <a:lnSpc>
                          <a:spcPts val="1350"/>
                        </a:lnSpc>
                        <a:buNone/>
                      </a:pPr>
                      <a:r>
                        <a:rPr lang="ja-JP" altLang="en-US" sz="1600" b="1" i="0" dirty="0">
                          <a:solidFill>
                            <a:srgbClr val="000000"/>
                          </a:solidFill>
                          <a:effectLst/>
                          <a:latin typeface="+mn-ea"/>
                          <a:ea typeface="+mn-ea"/>
                        </a:rPr>
                        <a:t>あり​</a:t>
                      </a:r>
                    </a:p>
                  </a:txBody>
                  <a:tcPr anchor="ctr">
                    <a:noFill/>
                  </a:tcPr>
                </a:tc>
                <a:tc>
                  <a:txBody>
                    <a:bodyPr/>
                    <a:lstStyle/>
                    <a:p>
                      <a:pPr algn="r" fontAlgn="base">
                        <a:lnSpc>
                          <a:spcPts val="1350"/>
                        </a:lnSpc>
                        <a:buNone/>
                      </a:pPr>
                      <a:r>
                        <a:rPr lang="en-US" altLang="ja-JP" sz="1600" b="1" i="0" dirty="0">
                          <a:solidFill>
                            <a:srgbClr val="000000"/>
                          </a:solidFill>
                          <a:effectLst/>
                          <a:latin typeface="+mn-ea"/>
                          <a:ea typeface="+mn-ea"/>
                        </a:rPr>
                        <a:t>2.04</a:t>
                      </a:r>
                    </a:p>
                  </a:txBody>
                  <a:tcPr anchor="ctr">
                    <a:noFill/>
                  </a:tcPr>
                </a:tc>
                <a:tc>
                  <a:txBody>
                    <a:bodyPr/>
                    <a:lstStyle/>
                    <a:p>
                      <a:pPr algn="r" fontAlgn="base">
                        <a:lnSpc>
                          <a:spcPts val="1350"/>
                        </a:lnSpc>
                        <a:buNone/>
                      </a:pPr>
                      <a:r>
                        <a:rPr lang="en-US" sz="1600" b="1" i="0" dirty="0">
                          <a:solidFill>
                            <a:srgbClr val="000000"/>
                          </a:solidFill>
                          <a:effectLst/>
                          <a:latin typeface="+mn-ea"/>
                          <a:ea typeface="+mn-ea"/>
                        </a:rPr>
                        <a:t>2.30</a:t>
                      </a:r>
                    </a:p>
                  </a:txBody>
                  <a:tcPr anchor="ctr">
                    <a:noFill/>
                  </a:tcPr>
                </a:tc>
                <a:extLst>
                  <a:ext uri="{0D108BD9-81ED-4DB2-BD59-A6C34878D82A}">
                    <a16:rowId xmlns:a16="http://schemas.microsoft.com/office/drawing/2014/main" val="2808757430"/>
                  </a:ext>
                </a:extLst>
              </a:tr>
              <a:tr h="312524">
                <a:tc>
                  <a:txBody>
                    <a:bodyPr/>
                    <a:lstStyle/>
                    <a:p>
                      <a:pPr algn="l" fontAlgn="base">
                        <a:lnSpc>
                          <a:spcPts val="1350"/>
                        </a:lnSpc>
                        <a:buNone/>
                      </a:pPr>
                      <a:r>
                        <a:rPr lang="ja-JP" altLang="en-US" sz="1600" b="1" i="0" dirty="0">
                          <a:solidFill>
                            <a:srgbClr val="000000"/>
                          </a:solidFill>
                          <a:effectLst/>
                          <a:latin typeface="+mn-ea"/>
                          <a:ea typeface="+mn-ea"/>
                        </a:rPr>
                        <a:t>なし</a:t>
                      </a:r>
                    </a:p>
                  </a:txBody>
                  <a:tcPr anchor="ctr">
                    <a:noFill/>
                  </a:tcPr>
                </a:tc>
                <a:tc>
                  <a:txBody>
                    <a:bodyPr/>
                    <a:lstStyle/>
                    <a:p>
                      <a:pPr algn="r" fontAlgn="base">
                        <a:lnSpc>
                          <a:spcPts val="1350"/>
                        </a:lnSpc>
                        <a:buNone/>
                      </a:pPr>
                      <a:r>
                        <a:rPr lang="en-US" altLang="ja-JP" sz="1600" b="1" i="0" dirty="0">
                          <a:solidFill>
                            <a:srgbClr val="000000"/>
                          </a:solidFill>
                          <a:effectLst/>
                          <a:latin typeface="+mn-ea"/>
                          <a:ea typeface="+mn-ea"/>
                        </a:rPr>
                        <a:t>3.47</a:t>
                      </a:r>
                    </a:p>
                  </a:txBody>
                  <a:tcPr anchor="ctr">
                    <a:noFill/>
                  </a:tcPr>
                </a:tc>
                <a:tc>
                  <a:txBody>
                    <a:bodyPr/>
                    <a:lstStyle/>
                    <a:p>
                      <a:pPr algn="r" fontAlgn="base">
                        <a:lnSpc>
                          <a:spcPts val="1350"/>
                        </a:lnSpc>
                        <a:buNone/>
                      </a:pPr>
                      <a:r>
                        <a:rPr lang="en-US" sz="1600" b="1" i="0" dirty="0">
                          <a:solidFill>
                            <a:srgbClr val="000000"/>
                          </a:solidFill>
                          <a:effectLst/>
                          <a:latin typeface="+mn-ea"/>
                          <a:ea typeface="+mn-ea"/>
                        </a:rPr>
                        <a:t>2.30</a:t>
                      </a:r>
                    </a:p>
                  </a:txBody>
                  <a:tcPr anchor="ctr">
                    <a:noFill/>
                  </a:tcPr>
                </a:tc>
                <a:extLst>
                  <a:ext uri="{0D108BD9-81ED-4DB2-BD59-A6C34878D82A}">
                    <a16:rowId xmlns:a16="http://schemas.microsoft.com/office/drawing/2014/main" val="928760967"/>
                  </a:ext>
                </a:extLst>
              </a:tr>
            </a:tbl>
          </a:graphicData>
        </a:graphic>
      </p:graphicFrame>
      <p:sp>
        <p:nvSpPr>
          <p:cNvPr id="16" name="四角形: 角を丸くする 15">
            <a:extLst>
              <a:ext uri="{FF2B5EF4-FFF2-40B4-BE49-F238E27FC236}">
                <a16:creationId xmlns:a16="http://schemas.microsoft.com/office/drawing/2014/main" id="{5F9759D6-DCCB-1716-78A2-CC9461FAE850}"/>
              </a:ext>
            </a:extLst>
          </p:cNvPr>
          <p:cNvSpPr/>
          <p:nvPr/>
        </p:nvSpPr>
        <p:spPr>
          <a:xfrm>
            <a:off x="783431" y="5266657"/>
            <a:ext cx="7577137" cy="1355758"/>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F555FD23-199C-ED8E-E55B-A1F026B3B431}"/>
              </a:ext>
            </a:extLst>
          </p:cNvPr>
          <p:cNvSpPr txBox="1"/>
          <p:nvPr/>
        </p:nvSpPr>
        <p:spPr>
          <a:xfrm>
            <a:off x="939533" y="5717197"/>
            <a:ext cx="7387168" cy="738664"/>
          </a:xfrm>
          <a:prstGeom prst="rect">
            <a:avLst/>
          </a:prstGeom>
          <a:noFill/>
        </p:spPr>
        <p:txBody>
          <a:bodyPr wrap="square">
            <a:spAutoFit/>
          </a:bodyPr>
          <a:lstStyle/>
          <a:p>
            <a:r>
              <a:rPr lang="ja-JP" altLang="en-US" sz="2400" b="1" dirty="0">
                <a:solidFill>
                  <a:srgbClr val="000000"/>
                </a:solidFill>
                <a:ea typeface="游ゴシック" panose="020B0400000000000000" pitchFamily="50" charset="-128"/>
              </a:rPr>
              <a:t>考察</a:t>
            </a:r>
            <a:endParaRPr lang="ja-JP" altLang="en-US" sz="2400" b="1" dirty="0"/>
          </a:p>
          <a:p>
            <a:endParaRPr lang="ja-JP" altLang="en-US" dirty="0"/>
          </a:p>
        </p:txBody>
      </p:sp>
      <p:sp>
        <p:nvSpPr>
          <p:cNvPr id="12" name="テキスト ボックス 11">
            <a:extLst>
              <a:ext uri="{FF2B5EF4-FFF2-40B4-BE49-F238E27FC236}">
                <a16:creationId xmlns:a16="http://schemas.microsoft.com/office/drawing/2014/main" id="{462E89B3-218A-797F-E812-B89852AB0443}"/>
              </a:ext>
            </a:extLst>
          </p:cNvPr>
          <p:cNvSpPr txBox="1"/>
          <p:nvPr/>
        </p:nvSpPr>
        <p:spPr>
          <a:xfrm>
            <a:off x="5559421" y="4510506"/>
            <a:ext cx="566737" cy="307777"/>
          </a:xfrm>
          <a:prstGeom prst="rect">
            <a:avLst/>
          </a:prstGeom>
          <a:noFill/>
        </p:spPr>
        <p:txBody>
          <a:bodyPr wrap="square">
            <a:spAutoFit/>
          </a:bodyPr>
          <a:lstStyle/>
          <a:p>
            <a:r>
              <a:rPr lang="ja-JP" altLang="en-US" sz="1400" b="1" dirty="0"/>
              <a:t>固定</a:t>
            </a:r>
            <a:endParaRPr lang="ja-JP" altLang="en-US" sz="1400" dirty="0"/>
          </a:p>
        </p:txBody>
      </p:sp>
      <p:sp>
        <p:nvSpPr>
          <p:cNvPr id="17" name="テキスト ボックス 16">
            <a:extLst>
              <a:ext uri="{FF2B5EF4-FFF2-40B4-BE49-F238E27FC236}">
                <a16:creationId xmlns:a16="http://schemas.microsoft.com/office/drawing/2014/main" id="{915773B5-D584-7710-88C1-6CE2FB0F32BD}"/>
              </a:ext>
            </a:extLst>
          </p:cNvPr>
          <p:cNvSpPr txBox="1"/>
          <p:nvPr/>
        </p:nvSpPr>
        <p:spPr>
          <a:xfrm>
            <a:off x="6842653" y="4506827"/>
            <a:ext cx="938740" cy="307777"/>
          </a:xfrm>
          <a:prstGeom prst="rect">
            <a:avLst/>
          </a:prstGeom>
          <a:noFill/>
        </p:spPr>
        <p:txBody>
          <a:bodyPr wrap="square">
            <a:spAutoFit/>
          </a:bodyPr>
          <a:lstStyle/>
          <a:p>
            <a:r>
              <a:rPr lang="ja-JP" altLang="en-US" sz="1400" b="1" dirty="0"/>
              <a:t>切り替え</a:t>
            </a:r>
            <a:endParaRPr lang="ja-JP" altLang="en-US" sz="1400" dirty="0"/>
          </a:p>
        </p:txBody>
      </p:sp>
      <p:sp>
        <p:nvSpPr>
          <p:cNvPr id="20" name="矢印: 右 19">
            <a:extLst>
              <a:ext uri="{FF2B5EF4-FFF2-40B4-BE49-F238E27FC236}">
                <a16:creationId xmlns:a16="http://schemas.microsoft.com/office/drawing/2014/main" id="{7CA52CAC-3207-39B6-E367-BAC05F1BCF92}"/>
              </a:ext>
            </a:extLst>
          </p:cNvPr>
          <p:cNvSpPr/>
          <p:nvPr/>
        </p:nvSpPr>
        <p:spPr>
          <a:xfrm rot="16200000">
            <a:off x="8228831" y="2712616"/>
            <a:ext cx="369329" cy="4270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21" name="矢印: 右 20">
            <a:extLst>
              <a:ext uri="{FF2B5EF4-FFF2-40B4-BE49-F238E27FC236}">
                <a16:creationId xmlns:a16="http://schemas.microsoft.com/office/drawing/2014/main" id="{F4F821AA-E4AC-0234-536D-3418B74A1B98}"/>
              </a:ext>
            </a:extLst>
          </p:cNvPr>
          <p:cNvSpPr/>
          <p:nvPr/>
        </p:nvSpPr>
        <p:spPr>
          <a:xfrm rot="5400000">
            <a:off x="8228830" y="4188654"/>
            <a:ext cx="369329" cy="4270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24" name="テキスト ボックス 23">
            <a:extLst>
              <a:ext uri="{FF2B5EF4-FFF2-40B4-BE49-F238E27FC236}">
                <a16:creationId xmlns:a16="http://schemas.microsoft.com/office/drawing/2014/main" id="{314D0288-20F8-3316-30FE-AED5DE5BBACC}"/>
              </a:ext>
            </a:extLst>
          </p:cNvPr>
          <p:cNvSpPr txBox="1"/>
          <p:nvPr/>
        </p:nvSpPr>
        <p:spPr>
          <a:xfrm>
            <a:off x="7832742" y="2465873"/>
            <a:ext cx="1074214" cy="307777"/>
          </a:xfrm>
          <a:prstGeom prst="rect">
            <a:avLst/>
          </a:prstGeom>
          <a:noFill/>
        </p:spPr>
        <p:txBody>
          <a:bodyPr wrap="square">
            <a:spAutoFit/>
          </a:bodyPr>
          <a:lstStyle/>
          <a:p>
            <a:r>
              <a:rPr lang="ja-JP" altLang="en-US" sz="1400" b="1" dirty="0"/>
              <a:t>あてはまる</a:t>
            </a:r>
            <a:endParaRPr lang="ja-JP" altLang="en-US" sz="1400" dirty="0"/>
          </a:p>
        </p:txBody>
      </p:sp>
      <p:sp>
        <p:nvSpPr>
          <p:cNvPr id="25" name="テキスト ボックス 24">
            <a:extLst>
              <a:ext uri="{FF2B5EF4-FFF2-40B4-BE49-F238E27FC236}">
                <a16:creationId xmlns:a16="http://schemas.microsoft.com/office/drawing/2014/main" id="{4498989F-3401-0CE7-C31E-B631671E9727}"/>
              </a:ext>
            </a:extLst>
          </p:cNvPr>
          <p:cNvSpPr txBox="1"/>
          <p:nvPr/>
        </p:nvSpPr>
        <p:spPr>
          <a:xfrm>
            <a:off x="7766320" y="4601898"/>
            <a:ext cx="1487746" cy="307776"/>
          </a:xfrm>
          <a:prstGeom prst="rect">
            <a:avLst/>
          </a:prstGeom>
          <a:noFill/>
        </p:spPr>
        <p:txBody>
          <a:bodyPr wrap="square">
            <a:spAutoFit/>
          </a:bodyPr>
          <a:lstStyle/>
          <a:p>
            <a:r>
              <a:rPr lang="ja-JP" altLang="en-US" sz="1400" b="1" dirty="0"/>
              <a:t>あてはまらない</a:t>
            </a:r>
            <a:endParaRPr lang="ja-JP" altLang="en-US" sz="1400" dirty="0"/>
          </a:p>
        </p:txBody>
      </p:sp>
      <p:graphicFrame>
        <p:nvGraphicFramePr>
          <p:cNvPr id="4" name="表 3">
            <a:extLst>
              <a:ext uri="{FF2B5EF4-FFF2-40B4-BE49-F238E27FC236}">
                <a16:creationId xmlns:a16="http://schemas.microsoft.com/office/drawing/2014/main" id="{62F70F88-6D47-0706-D077-E68AD4864D42}"/>
              </a:ext>
            </a:extLst>
          </p:cNvPr>
          <p:cNvGraphicFramePr>
            <a:graphicFrameLocks noGrp="1"/>
          </p:cNvGraphicFramePr>
          <p:nvPr>
            <p:extLst>
              <p:ext uri="{D42A27DB-BD31-4B8C-83A1-F6EECF244321}">
                <p14:modId xmlns:p14="http://schemas.microsoft.com/office/powerpoint/2010/main" val="1949372209"/>
              </p:ext>
            </p:extLst>
          </p:nvPr>
        </p:nvGraphicFramePr>
        <p:xfrm>
          <a:off x="436035" y="1886889"/>
          <a:ext cx="7150388" cy="820928"/>
        </p:xfrm>
        <a:graphic>
          <a:graphicData uri="http://schemas.openxmlformats.org/drawingml/2006/table">
            <a:tbl>
              <a:tblPr firstRow="1" bandRow="1">
                <a:tableStyleId>{9D7B26C5-4107-4FEC-AEDC-1716B250A1EF}</a:tableStyleId>
              </a:tblPr>
              <a:tblGrid>
                <a:gridCol w="834190">
                  <a:extLst>
                    <a:ext uri="{9D8B030D-6E8A-4147-A177-3AD203B41FA5}">
                      <a16:colId xmlns:a16="http://schemas.microsoft.com/office/drawing/2014/main" val="3639033113"/>
                    </a:ext>
                  </a:extLst>
                </a:gridCol>
                <a:gridCol w="1126300">
                  <a:extLst>
                    <a:ext uri="{9D8B030D-6E8A-4147-A177-3AD203B41FA5}">
                      <a16:colId xmlns:a16="http://schemas.microsoft.com/office/drawing/2014/main" val="4143698353"/>
                    </a:ext>
                  </a:extLst>
                </a:gridCol>
                <a:gridCol w="681187">
                  <a:extLst>
                    <a:ext uri="{9D8B030D-6E8A-4147-A177-3AD203B41FA5}">
                      <a16:colId xmlns:a16="http://schemas.microsoft.com/office/drawing/2014/main" val="1427256339"/>
                    </a:ext>
                  </a:extLst>
                </a:gridCol>
                <a:gridCol w="738685">
                  <a:extLst>
                    <a:ext uri="{9D8B030D-6E8A-4147-A177-3AD203B41FA5}">
                      <a16:colId xmlns:a16="http://schemas.microsoft.com/office/drawing/2014/main" val="1438680861"/>
                    </a:ext>
                  </a:extLst>
                </a:gridCol>
                <a:gridCol w="1159501">
                  <a:extLst>
                    <a:ext uri="{9D8B030D-6E8A-4147-A177-3AD203B41FA5}">
                      <a16:colId xmlns:a16="http://schemas.microsoft.com/office/drawing/2014/main" val="2253055787"/>
                    </a:ext>
                  </a:extLst>
                </a:gridCol>
                <a:gridCol w="870175">
                  <a:extLst>
                    <a:ext uri="{9D8B030D-6E8A-4147-A177-3AD203B41FA5}">
                      <a16:colId xmlns:a16="http://schemas.microsoft.com/office/drawing/2014/main" val="2801815050"/>
                    </a:ext>
                  </a:extLst>
                </a:gridCol>
                <a:gridCol w="870175">
                  <a:extLst>
                    <a:ext uri="{9D8B030D-6E8A-4147-A177-3AD203B41FA5}">
                      <a16:colId xmlns:a16="http://schemas.microsoft.com/office/drawing/2014/main" val="3674438810"/>
                    </a:ext>
                  </a:extLst>
                </a:gridCol>
                <a:gridCol w="870175">
                  <a:extLst>
                    <a:ext uri="{9D8B030D-6E8A-4147-A177-3AD203B41FA5}">
                      <a16:colId xmlns:a16="http://schemas.microsoft.com/office/drawing/2014/main" val="678252903"/>
                    </a:ext>
                  </a:extLst>
                </a:gridCol>
              </a:tblGrid>
              <a:tr h="370840">
                <a:tc>
                  <a:txBody>
                    <a:bodyPr/>
                    <a:lstStyle/>
                    <a:p>
                      <a:pPr algn="l" fontAlgn="base">
                        <a:lnSpc>
                          <a:spcPts val="1350"/>
                        </a:lnSpc>
                        <a:buNone/>
                      </a:pPr>
                      <a:r>
                        <a:rPr lang="ja-JP" altLang="en-US" sz="1400" b="1" i="0" dirty="0">
                          <a:solidFill>
                            <a:schemeClr val="tx1"/>
                          </a:solidFill>
                          <a:effectLst/>
                          <a:latin typeface="+mn-ea"/>
                          <a:ea typeface="+mn-ea"/>
                        </a:rPr>
                        <a:t>名乗り</a:t>
                      </a: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人格設定要因</a:t>
                      </a:r>
                      <a:r>
                        <a:rPr lang="ja-JP" altLang="en-US" sz="1400" b="1" i="0" dirty="0">
                          <a:solidFill>
                            <a:srgbClr val="FFFFFF"/>
                          </a:solidFill>
                          <a:effectLst/>
                          <a:latin typeface="+mn-ea"/>
                          <a:ea typeface="+mn-ea"/>
                        </a:rPr>
                        <a:t>​</a:t>
                      </a:r>
                    </a:p>
                  </a:txBody>
                  <a:tcPr>
                    <a:noFill/>
                  </a:tcPr>
                </a:tc>
                <a:tc>
                  <a:txBody>
                    <a:bodyPr/>
                    <a:lstStyle/>
                    <a:p>
                      <a:pPr algn="l" fontAlgn="auto">
                        <a:lnSpc>
                          <a:spcPts val="1350"/>
                        </a:lnSpc>
                        <a:buNone/>
                      </a:pPr>
                      <a:r>
                        <a:rPr lang="ja-JP" altLang="en-US" sz="1400" b="1" i="0" dirty="0">
                          <a:solidFill>
                            <a:srgbClr val="000000"/>
                          </a:solidFill>
                          <a:effectLst/>
                          <a:latin typeface="+mn-ea"/>
                          <a:ea typeface="+mn-ea"/>
                        </a:rPr>
                        <a:t>​</a:t>
                      </a:r>
                    </a:p>
                  </a:txBody>
                  <a:tcPr>
                    <a:noFill/>
                  </a:tcPr>
                </a:tc>
                <a:tc>
                  <a:txBody>
                    <a:bodyPr/>
                    <a:lstStyle/>
                    <a:p>
                      <a:pPr algn="l" fontAlgn="base">
                        <a:lnSpc>
                          <a:spcPts val="1350"/>
                        </a:lnSpc>
                        <a:buNone/>
                      </a:pPr>
                      <a:r>
                        <a:rPr lang="ja-JP" altLang="en-US" sz="1400" b="1" i="0" dirty="0">
                          <a:solidFill>
                            <a:schemeClr val="tx1"/>
                          </a:solidFill>
                          <a:effectLst/>
                          <a:latin typeface="+mn-ea"/>
                          <a:ea typeface="+mn-ea"/>
                        </a:rPr>
                        <a:t>名乗り</a:t>
                      </a: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人格設定要因</a:t>
                      </a:r>
                      <a:r>
                        <a:rPr lang="ja-JP" altLang="en-US" sz="1400" b="1" i="0" dirty="0">
                          <a:solidFill>
                            <a:srgbClr val="FFFFFF"/>
                          </a:solidFill>
                          <a:effectLst/>
                          <a:latin typeface="+mn-ea"/>
                          <a:ea typeface="+mn-ea"/>
                        </a:rPr>
                        <a:t>​</a:t>
                      </a:r>
                    </a:p>
                  </a:txBody>
                  <a:tcPr>
                    <a:noFill/>
                  </a:tcPr>
                </a:tc>
                <a:tc>
                  <a:txBody>
                    <a:bodyPr/>
                    <a:lstStyle/>
                    <a:p>
                      <a:pPr algn="r" fontAlgn="base">
                        <a:lnSpc>
                          <a:spcPts val="1350"/>
                        </a:lnSpc>
                        <a:buNone/>
                      </a:pPr>
                      <a:r>
                        <a:rPr lang="ja-JP" altLang="en-US" sz="1400" b="1" i="0" dirty="0">
                          <a:solidFill>
                            <a:srgbClr val="000000"/>
                          </a:solidFill>
                          <a:effectLst/>
                          <a:latin typeface="+mn-ea"/>
                          <a:ea typeface="+mn-ea"/>
                        </a:rPr>
                        <a:t>平均値の差</a:t>
                      </a:r>
                      <a:r>
                        <a:rPr lang="ja-JP" altLang="en-US" sz="1400" b="1" i="0" dirty="0">
                          <a:solidFill>
                            <a:srgbClr val="FFFFFF"/>
                          </a:solidFill>
                          <a:effectLst/>
                          <a:latin typeface="+mn-ea"/>
                          <a:ea typeface="+mn-ea"/>
                        </a:rPr>
                        <a:t>​</a:t>
                      </a: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t</a:t>
                      </a:r>
                      <a:r>
                        <a:rPr lang="en-US" altLang="ja-JP" sz="1400" b="1" i="0" dirty="0">
                          <a:solidFill>
                            <a:srgbClr val="FFFFFF"/>
                          </a:solidFill>
                          <a:effectLst/>
                          <a:ea typeface="游ゴシック" panose="020B0400000000000000" pitchFamily="50" charset="-128"/>
                        </a:rPr>
                        <a:t>​</a:t>
                      </a:r>
                      <a:endParaRPr lang="en-US" altLang="ja-JP" sz="1400" b="1" i="0" dirty="0">
                        <a:solidFill>
                          <a:srgbClr val="FFFFFF"/>
                        </a:solidFill>
                        <a:effectLst/>
                      </a:endParaRPr>
                    </a:p>
                  </a:txBody>
                  <a:tcPr>
                    <a:noFill/>
                  </a:tcPr>
                </a:tc>
                <a:tc>
                  <a:txBody>
                    <a:bodyPr/>
                    <a:lstStyle/>
                    <a:p>
                      <a:pPr algn="r" fontAlgn="base">
                        <a:lnSpc>
                          <a:spcPts val="1350"/>
                        </a:lnSpc>
                        <a:buNone/>
                      </a:pPr>
                      <a:r>
                        <a:rPr lang="en-US" sz="1400" b="1" i="0">
                          <a:solidFill>
                            <a:srgbClr val="000000"/>
                          </a:solidFill>
                          <a:effectLst/>
                          <a:latin typeface="游ゴシック" panose="020B0400000000000000" pitchFamily="50" charset="-128"/>
                        </a:rPr>
                        <a:t>p</a:t>
                      </a:r>
                      <a:r>
                        <a:rPr lang="ja-JP" altLang="en-US" sz="1400" b="1" i="0">
                          <a:solidFill>
                            <a:srgbClr val="000000"/>
                          </a:solidFill>
                          <a:effectLst/>
                          <a:ea typeface="游ゴシック" panose="020B0400000000000000" pitchFamily="50" charset="-128"/>
                        </a:rPr>
                        <a:t>テューキー</a:t>
                      </a:r>
                      <a:r>
                        <a:rPr lang="ja-JP" altLang="en-US" sz="1400" b="1" i="0">
                          <a:solidFill>
                            <a:srgbClr val="FFFFFF"/>
                          </a:solidFill>
                          <a:effectLst/>
                          <a:latin typeface="游ゴシック" panose="020B0400000000000000" pitchFamily="50" charset="-128"/>
                        </a:rPr>
                        <a:t>​</a:t>
                      </a:r>
                      <a:endParaRPr lang="ja-JP" altLang="en-US" sz="1400" b="1" i="0">
                        <a:solidFill>
                          <a:srgbClr val="FFFFFF"/>
                        </a:solidFill>
                        <a:effectLst/>
                      </a:endParaRPr>
                    </a:p>
                  </a:txBody>
                  <a:tcPr>
                    <a:noFill/>
                  </a:tcPr>
                </a:tc>
                <a:extLst>
                  <a:ext uri="{0D108BD9-81ED-4DB2-BD59-A6C34878D82A}">
                    <a16:rowId xmlns:a16="http://schemas.microsoft.com/office/drawing/2014/main" val="2809685238"/>
                  </a:ext>
                </a:extLst>
              </a:tr>
              <a:tr h="370840">
                <a:tc>
                  <a:txBody>
                    <a:bodyPr/>
                    <a:lstStyle/>
                    <a:p>
                      <a:pPr algn="l" fontAlgn="base">
                        <a:lnSpc>
                          <a:spcPts val="1350"/>
                        </a:lnSpc>
                        <a:buNone/>
                      </a:pPr>
                      <a:r>
                        <a:rPr lang="ja-JP" altLang="en-US" sz="1400" b="1" i="0" dirty="0">
                          <a:solidFill>
                            <a:srgbClr val="000000"/>
                          </a:solidFill>
                          <a:effectLst/>
                          <a:latin typeface="+mn-ea"/>
                          <a:ea typeface="+mn-ea"/>
                        </a:rPr>
                        <a:t>あり</a:t>
                      </a: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固定​</a:t>
                      </a:r>
                    </a:p>
                  </a:txBody>
                  <a:tcPr>
                    <a:noFill/>
                  </a:tcPr>
                </a:tc>
                <a:tc>
                  <a:txBody>
                    <a:bodyPr/>
                    <a:lstStyle/>
                    <a:p>
                      <a:pPr algn="l" fontAlgn="base">
                        <a:lnSpc>
                          <a:spcPts val="1350"/>
                        </a:lnSpc>
                        <a:buNone/>
                      </a:pPr>
                      <a:r>
                        <a:rPr lang="en-US" sz="1400" b="1" i="0" dirty="0">
                          <a:solidFill>
                            <a:srgbClr val="000000"/>
                          </a:solidFill>
                          <a:effectLst/>
                          <a:latin typeface="+mn-ea"/>
                          <a:ea typeface="+mn-ea"/>
                        </a:rPr>
                        <a:t>-</a:t>
                      </a:r>
                      <a:r>
                        <a:rPr lang="en-US" altLang="ja-JP" sz="1400" b="1" i="0" dirty="0">
                          <a:solidFill>
                            <a:srgbClr val="000000"/>
                          </a:solidFill>
                          <a:effectLst/>
                          <a:latin typeface="+mn-ea"/>
                          <a:ea typeface="+mn-ea"/>
                        </a:rPr>
                        <a:t>​</a:t>
                      </a: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なし</a:t>
                      </a:r>
                      <a:endParaRPr lang="en-US" altLang="ja-JP" sz="1400" b="1" i="0" dirty="0">
                        <a:solidFill>
                          <a:srgbClr val="000000"/>
                        </a:solidFill>
                        <a:effectLst/>
                        <a:latin typeface="+mn-ea"/>
                        <a:ea typeface="+mn-ea"/>
                      </a:endParaRPr>
                    </a:p>
                  </a:txBody>
                  <a:tcPr>
                    <a:noFill/>
                  </a:tcPr>
                </a:tc>
                <a:tc>
                  <a:txBody>
                    <a:bodyPr/>
                    <a:lstStyle/>
                    <a:p>
                      <a:pPr algn="l" fontAlgn="base">
                        <a:lnSpc>
                          <a:spcPts val="1350"/>
                        </a:lnSpc>
                        <a:buNone/>
                      </a:pPr>
                      <a:r>
                        <a:rPr lang="ja-JP" altLang="en-US" sz="1400" b="1" i="0" dirty="0">
                          <a:solidFill>
                            <a:srgbClr val="000000"/>
                          </a:solidFill>
                          <a:effectLst/>
                          <a:latin typeface="+mn-ea"/>
                          <a:ea typeface="+mn-ea"/>
                        </a:rPr>
                        <a:t>固定</a:t>
                      </a:r>
                      <a:endParaRPr lang="en-US" altLang="ja-JP" sz="1400" b="1" i="0" dirty="0">
                        <a:solidFill>
                          <a:srgbClr val="000000"/>
                        </a:solidFill>
                        <a:effectLst/>
                        <a:latin typeface="+mn-ea"/>
                        <a:ea typeface="+mn-ea"/>
                      </a:endParaRPr>
                    </a:p>
                  </a:txBody>
                  <a:tcPr>
                    <a:noFill/>
                  </a:tcPr>
                </a:tc>
                <a:tc>
                  <a:txBody>
                    <a:bodyPr/>
                    <a:lstStyle/>
                    <a:p>
                      <a:pPr algn="r" fontAlgn="base">
                        <a:lnSpc>
                          <a:spcPts val="1350"/>
                        </a:lnSpc>
                        <a:buNone/>
                      </a:pPr>
                      <a:r>
                        <a:rPr lang="en-US" altLang="ja-JP" sz="1400" b="1" i="0" dirty="0">
                          <a:solidFill>
                            <a:srgbClr val="000000"/>
                          </a:solidFill>
                          <a:effectLst/>
                          <a:latin typeface="+mn-ea"/>
                          <a:ea typeface="+mn-ea"/>
                        </a:rPr>
                        <a:t>-1.433​</a:t>
                      </a:r>
                    </a:p>
                  </a:txBody>
                  <a:tcPr>
                    <a:noFill/>
                  </a:tcPr>
                </a:tc>
                <a:tc>
                  <a:txBody>
                    <a:bodyPr/>
                    <a:lstStyle/>
                    <a:p>
                      <a:pPr algn="r" fontAlgn="base">
                        <a:lnSpc>
                          <a:spcPts val="1350"/>
                        </a:lnSpc>
                        <a:buNone/>
                      </a:pPr>
                      <a:r>
                        <a:rPr lang="en-US" sz="1400" b="1" i="0" dirty="0">
                          <a:solidFill>
                            <a:srgbClr val="000000"/>
                          </a:solidFill>
                          <a:effectLst/>
                          <a:latin typeface="游ゴシック" panose="020B0400000000000000" pitchFamily="50" charset="-128"/>
                        </a:rPr>
                        <a:t>-2.903</a:t>
                      </a:r>
                      <a:r>
                        <a:rPr lang="en-US" sz="1400" b="0" i="0" dirty="0">
                          <a:solidFill>
                            <a:srgbClr val="000000"/>
                          </a:solidFill>
                          <a:effectLst/>
                          <a:latin typeface="游ゴシック" panose="020B0400000000000000" pitchFamily="50" charset="-128"/>
                        </a:rPr>
                        <a:t>​</a:t>
                      </a:r>
                      <a:endParaRPr lang="en-US" sz="1400" b="0" i="0" dirty="0">
                        <a:solidFill>
                          <a:srgbClr val="000000"/>
                        </a:solidFill>
                        <a:effectLst/>
                      </a:endParaRPr>
                    </a:p>
                  </a:txBody>
                  <a:tcPr>
                    <a:noFill/>
                  </a:tcPr>
                </a:tc>
                <a:tc>
                  <a:txBody>
                    <a:bodyPr/>
                    <a:lstStyle/>
                    <a:p>
                      <a:pPr algn="r" fontAlgn="base">
                        <a:lnSpc>
                          <a:spcPts val="1350"/>
                        </a:lnSpc>
                        <a:buNone/>
                      </a:pPr>
                      <a:r>
                        <a:rPr lang="en-US" sz="1400" b="1" i="0" dirty="0">
                          <a:solidFill>
                            <a:srgbClr val="C00000"/>
                          </a:solidFill>
                          <a:effectLst/>
                          <a:latin typeface="游ゴシック" panose="020B0400000000000000" pitchFamily="50" charset="-128"/>
                        </a:rPr>
                        <a:t>0.022</a:t>
                      </a:r>
                      <a:endParaRPr lang="en-US" sz="1400" b="0" i="0" dirty="0">
                        <a:solidFill>
                          <a:srgbClr val="000000"/>
                        </a:solidFill>
                        <a:effectLst/>
                      </a:endParaRPr>
                    </a:p>
                  </a:txBody>
                  <a:tcPr>
                    <a:noFill/>
                  </a:tcPr>
                </a:tc>
                <a:extLst>
                  <a:ext uri="{0D108BD9-81ED-4DB2-BD59-A6C34878D82A}">
                    <a16:rowId xmlns:a16="http://schemas.microsoft.com/office/drawing/2014/main" val="2808757430"/>
                  </a:ext>
                </a:extLst>
              </a:tr>
            </a:tbl>
          </a:graphicData>
        </a:graphic>
      </p:graphicFrame>
    </p:spTree>
    <p:extLst>
      <p:ext uri="{BB962C8B-B14F-4D97-AF65-F5344CB8AC3E}">
        <p14:creationId xmlns:p14="http://schemas.microsoft.com/office/powerpoint/2010/main" val="31400167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7CD07A0-4813-8673-27CE-1223EB76E085}"/>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212565D-8C51-1B89-C895-5E940A2FF596}"/>
              </a:ext>
            </a:extLst>
          </p:cNvPr>
          <p:cNvSpPr>
            <a:spLocks noGrp="1"/>
          </p:cNvSpPr>
          <p:nvPr>
            <p:ph type="sldNum" sz="quarter" idx="12"/>
          </p:nvPr>
        </p:nvSpPr>
        <p:spPr/>
        <p:txBody>
          <a:bodyPr/>
          <a:lstStyle/>
          <a:p>
            <a:fld id="{18020408-E1FF-429E-A8D5-EB2A190A0D77}" type="slidenum">
              <a:rPr kumimoji="1" lang="ja-JP" altLang="en-US" smtClean="0"/>
              <a:pPr/>
              <a:t>58</a:t>
            </a:fld>
            <a:endParaRPr kumimoji="1" lang="ja-JP" altLang="en-US" sz="2400" dirty="0"/>
          </a:p>
        </p:txBody>
      </p:sp>
      <p:sp>
        <p:nvSpPr>
          <p:cNvPr id="3" name="タイトル 2">
            <a:extLst>
              <a:ext uri="{FF2B5EF4-FFF2-40B4-BE49-F238E27FC236}">
                <a16:creationId xmlns:a16="http://schemas.microsoft.com/office/drawing/2014/main" id="{FCD09367-0096-9110-1A78-CBBF25544BEE}"/>
              </a:ext>
            </a:extLst>
          </p:cNvPr>
          <p:cNvSpPr>
            <a:spLocks noGrp="1"/>
          </p:cNvSpPr>
          <p:nvPr>
            <p:ph type="title"/>
          </p:nvPr>
        </p:nvSpPr>
        <p:spPr/>
        <p:txBody>
          <a:bodyPr/>
          <a:lstStyle/>
          <a:p>
            <a:r>
              <a:rPr kumimoji="1" lang="ja-JP" altLang="en-US" sz="3600" dirty="0"/>
              <a:t>実験結果：人格切替の知覚</a:t>
            </a:r>
          </a:p>
        </p:txBody>
      </p:sp>
      <p:graphicFrame>
        <p:nvGraphicFramePr>
          <p:cNvPr id="4" name="表 3">
            <a:extLst>
              <a:ext uri="{FF2B5EF4-FFF2-40B4-BE49-F238E27FC236}">
                <a16:creationId xmlns:a16="http://schemas.microsoft.com/office/drawing/2014/main" id="{806FA5F2-8153-02E4-A8DF-9F2EC9B74D98}"/>
              </a:ext>
            </a:extLst>
          </p:cNvPr>
          <p:cNvGraphicFramePr>
            <a:graphicFrameLocks noGrp="1"/>
          </p:cNvGraphicFramePr>
          <p:nvPr>
            <p:extLst>
              <p:ext uri="{D42A27DB-BD31-4B8C-83A1-F6EECF244321}">
                <p14:modId xmlns:p14="http://schemas.microsoft.com/office/powerpoint/2010/main" val="705823062"/>
              </p:ext>
            </p:extLst>
          </p:nvPr>
        </p:nvGraphicFramePr>
        <p:xfrm>
          <a:off x="409492" y="1171299"/>
          <a:ext cx="8325016" cy="4419495"/>
        </p:xfrm>
        <a:graphic>
          <a:graphicData uri="http://schemas.openxmlformats.org/drawingml/2006/table">
            <a:tbl>
              <a:tblPr firstRow="1" bandRow="1">
                <a:tableStyleId>{9D7B26C5-4107-4FEC-AEDC-1716B250A1EF}</a:tableStyleId>
              </a:tblPr>
              <a:tblGrid>
                <a:gridCol w="4312980">
                  <a:extLst>
                    <a:ext uri="{9D8B030D-6E8A-4147-A177-3AD203B41FA5}">
                      <a16:colId xmlns:a16="http://schemas.microsoft.com/office/drawing/2014/main" val="2853157113"/>
                    </a:ext>
                  </a:extLst>
                </a:gridCol>
                <a:gridCol w="1003009">
                  <a:extLst>
                    <a:ext uri="{9D8B030D-6E8A-4147-A177-3AD203B41FA5}">
                      <a16:colId xmlns:a16="http://schemas.microsoft.com/office/drawing/2014/main" val="2198488987"/>
                    </a:ext>
                  </a:extLst>
                </a:gridCol>
                <a:gridCol w="1003009">
                  <a:extLst>
                    <a:ext uri="{9D8B030D-6E8A-4147-A177-3AD203B41FA5}">
                      <a16:colId xmlns:a16="http://schemas.microsoft.com/office/drawing/2014/main" val="3645245759"/>
                    </a:ext>
                  </a:extLst>
                </a:gridCol>
                <a:gridCol w="1003009">
                  <a:extLst>
                    <a:ext uri="{9D8B030D-6E8A-4147-A177-3AD203B41FA5}">
                      <a16:colId xmlns:a16="http://schemas.microsoft.com/office/drawing/2014/main" val="4200389172"/>
                    </a:ext>
                  </a:extLst>
                </a:gridCol>
                <a:gridCol w="1003009">
                  <a:extLst>
                    <a:ext uri="{9D8B030D-6E8A-4147-A177-3AD203B41FA5}">
                      <a16:colId xmlns:a16="http://schemas.microsoft.com/office/drawing/2014/main" val="3745847308"/>
                    </a:ext>
                  </a:extLst>
                </a:gridCol>
              </a:tblGrid>
              <a:tr h="381525">
                <a:tc>
                  <a:txBody>
                    <a:bodyPr/>
                    <a:lstStyle/>
                    <a:p>
                      <a:r>
                        <a:rPr kumimoji="1" lang="ja-JP" altLang="en-US" sz="1600" b="1" dirty="0">
                          <a:latin typeface="+mn-ea"/>
                          <a:ea typeface="+mn-ea"/>
                        </a:rPr>
                        <a:t>人格切り替え</a:t>
                      </a:r>
                    </a:p>
                  </a:txBody>
                  <a:tcPr/>
                </a:tc>
                <a:tc gridSpan="2">
                  <a:txBody>
                    <a:bodyPr/>
                    <a:lstStyle/>
                    <a:p>
                      <a:pPr algn="ctr"/>
                      <a:r>
                        <a:rPr kumimoji="1" lang="ja-JP" altLang="en-US" sz="1600" b="1" dirty="0">
                          <a:latin typeface="+mn-ea"/>
                          <a:ea typeface="+mn-ea"/>
                        </a:rPr>
                        <a:t>固定</a:t>
                      </a:r>
                    </a:p>
                  </a:txBody>
                  <a:tcPr/>
                </a:tc>
                <a:tc hMerge="1">
                  <a:txBody>
                    <a:bodyPr/>
                    <a:lstStyle/>
                    <a:p>
                      <a:endParaRPr kumimoji="1" lang="ja-JP" altLang="en-US" dirty="0"/>
                    </a:p>
                  </a:txBody>
                  <a:tcPr/>
                </a:tc>
                <a:tc gridSpan="2">
                  <a:txBody>
                    <a:bodyPr/>
                    <a:lstStyle/>
                    <a:p>
                      <a:pPr algn="ctr"/>
                      <a:r>
                        <a:rPr kumimoji="1" lang="ja-JP" altLang="en-US" sz="1600" b="1" dirty="0">
                          <a:latin typeface="+mn-ea"/>
                          <a:ea typeface="+mn-ea"/>
                        </a:rPr>
                        <a:t>切り替え</a:t>
                      </a:r>
                    </a:p>
                  </a:txBody>
                  <a:tcPr/>
                </a:tc>
                <a:tc hMerge="1">
                  <a:txBody>
                    <a:bodyPr/>
                    <a:lstStyle/>
                    <a:p>
                      <a:endParaRPr kumimoji="1" lang="ja-JP" altLang="en-US" dirty="0"/>
                    </a:p>
                  </a:txBody>
                  <a:tcPr/>
                </a:tc>
                <a:extLst>
                  <a:ext uri="{0D108BD9-81ED-4DB2-BD59-A6C34878D82A}">
                    <a16:rowId xmlns:a16="http://schemas.microsoft.com/office/drawing/2014/main" val="1255672035"/>
                  </a:ext>
                </a:extLst>
              </a:tr>
              <a:tr h="381525">
                <a:tc>
                  <a:txBody>
                    <a:bodyPr/>
                    <a:lstStyle/>
                    <a:p>
                      <a:r>
                        <a:rPr kumimoji="1" lang="ja-JP" altLang="en-US" sz="1600" b="1" dirty="0">
                          <a:latin typeface="+mn-ea"/>
                          <a:ea typeface="+mn-ea"/>
                        </a:rPr>
                        <a:t>名乗り</a:t>
                      </a: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あり</a:t>
                      </a: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なし</a:t>
                      </a: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あり</a:t>
                      </a: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なし</a:t>
                      </a:r>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232592"/>
                  </a:ext>
                </a:extLst>
              </a:tr>
              <a:tr h="548103">
                <a:tc>
                  <a:txBody>
                    <a:bodyPr/>
                    <a:lstStyle/>
                    <a:p>
                      <a:r>
                        <a:rPr kumimoji="1" lang="ja-JP" altLang="en-US" sz="1600" b="1" dirty="0">
                          <a:latin typeface="+mn-ea"/>
                          <a:ea typeface="+mn-ea"/>
                        </a:rPr>
                        <a:t>項目</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回答割合</a:t>
                      </a:r>
                      <a:endParaRPr kumimoji="1" lang="en-US" altLang="ja-JP" sz="1600" b="1" dirty="0">
                        <a:latin typeface="+mn-ea"/>
                        <a:ea typeface="+mn-ea"/>
                      </a:endParaRPr>
                    </a:p>
                    <a:p>
                      <a:pPr algn="r"/>
                      <a:r>
                        <a:rPr kumimoji="1" lang="en-US" altLang="ja-JP" sz="1600" b="1" dirty="0">
                          <a:latin typeface="+mn-ea"/>
                          <a:ea typeface="+mn-ea"/>
                        </a:rPr>
                        <a:t>(%)</a:t>
                      </a:r>
                      <a:endParaRPr kumimoji="1" lang="ja-JP" altLang="en-US" sz="1600" b="1" dirty="0">
                        <a:latin typeface="+mn-ea"/>
                        <a:ea typeface="+mn-ea"/>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回答割合</a:t>
                      </a:r>
                      <a:endParaRPr kumimoji="1" lang="en-US" altLang="ja-JP" sz="1600" b="1" dirty="0">
                        <a:latin typeface="+mn-ea"/>
                        <a:ea typeface="+mn-ea"/>
                      </a:endParaRPr>
                    </a:p>
                    <a:p>
                      <a:pPr algn="r"/>
                      <a:r>
                        <a:rPr kumimoji="1" lang="en-US" altLang="ja-JP" sz="1600" b="1" dirty="0">
                          <a:latin typeface="+mn-ea"/>
                          <a:ea typeface="+mn-ea"/>
                        </a:rPr>
                        <a:t>(%)</a:t>
                      </a:r>
                      <a:endParaRPr kumimoji="1" lang="ja-JP" altLang="en-US" sz="1600" b="1" dirty="0">
                        <a:latin typeface="+mn-ea"/>
                        <a:ea typeface="+mn-ea"/>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回答割合</a:t>
                      </a:r>
                      <a:endParaRPr kumimoji="1" lang="en-US" altLang="ja-JP" sz="1600" b="1" dirty="0">
                        <a:latin typeface="+mn-ea"/>
                        <a:ea typeface="+mn-ea"/>
                      </a:endParaRPr>
                    </a:p>
                    <a:p>
                      <a:pPr algn="r"/>
                      <a:r>
                        <a:rPr kumimoji="1" lang="en-US" altLang="ja-JP" sz="1600" b="1" dirty="0">
                          <a:latin typeface="+mn-ea"/>
                          <a:ea typeface="+mn-ea"/>
                        </a:rPr>
                        <a:t>(%)</a:t>
                      </a:r>
                      <a:endParaRPr kumimoji="1" lang="ja-JP" altLang="en-US" sz="1600" b="1" dirty="0">
                        <a:latin typeface="+mn-ea"/>
                        <a:ea typeface="+mn-ea"/>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回答割合</a:t>
                      </a:r>
                      <a:endParaRPr kumimoji="1" lang="en-US" altLang="ja-JP" sz="1600" b="1" dirty="0">
                        <a:latin typeface="+mn-ea"/>
                        <a:ea typeface="+mn-ea"/>
                      </a:endParaRPr>
                    </a:p>
                    <a:p>
                      <a:pPr algn="r"/>
                      <a:r>
                        <a:rPr kumimoji="1" lang="en-US" altLang="ja-JP" sz="1600" b="1" dirty="0">
                          <a:latin typeface="+mn-ea"/>
                          <a:ea typeface="+mn-ea"/>
                        </a:rPr>
                        <a:t>(%)</a:t>
                      </a:r>
                      <a:endParaRPr kumimoji="1" lang="ja-JP" altLang="en-US" sz="1600" b="1" dirty="0">
                        <a:latin typeface="+mn-ea"/>
                        <a:ea typeface="+mn-ea"/>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2843654"/>
                  </a:ext>
                </a:extLst>
              </a:tr>
              <a:tr h="659829">
                <a:tc>
                  <a:txBody>
                    <a:bodyPr/>
                    <a:lstStyle/>
                    <a:p>
                      <a:r>
                        <a:rPr kumimoji="1" lang="en-US" altLang="ja-JP" sz="1600" b="1" dirty="0">
                          <a:solidFill>
                            <a:srgbClr val="C00000"/>
                          </a:solidFill>
                          <a:latin typeface="+mn-ea"/>
                          <a:ea typeface="+mn-ea"/>
                        </a:rPr>
                        <a:t>AI </a:t>
                      </a:r>
                      <a:r>
                        <a:rPr kumimoji="1" lang="ja-JP" altLang="en-US" sz="1600" b="1" dirty="0">
                          <a:solidFill>
                            <a:srgbClr val="C00000"/>
                          </a:solidFill>
                          <a:latin typeface="+mn-ea"/>
                          <a:ea typeface="+mn-ea"/>
                        </a:rPr>
                        <a:t>の性格は変わっていない</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2000" b="1" dirty="0">
                          <a:solidFill>
                            <a:srgbClr val="C00000"/>
                          </a:solidFill>
                          <a:latin typeface="+mn-ea"/>
                          <a:ea typeface="+mn-ea"/>
                        </a:rPr>
                        <a:t>95.9</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2000" b="1" dirty="0">
                          <a:solidFill>
                            <a:srgbClr val="C00000"/>
                          </a:solidFill>
                          <a:latin typeface="+mn-ea"/>
                          <a:ea typeface="+mn-ea"/>
                        </a:rPr>
                        <a:t>78.9</a:t>
                      </a:r>
                      <a:endParaRPr kumimoji="1" lang="ja-JP" altLang="en-US" sz="2000" b="1" dirty="0">
                        <a:solidFill>
                          <a:srgbClr val="C00000"/>
                        </a:solidFill>
                        <a:latin typeface="+mn-ea"/>
                        <a:ea typeface="+mn-ea"/>
                      </a:endParaRP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2000" b="1" dirty="0">
                          <a:latin typeface="+mn-ea"/>
                          <a:ea typeface="+mn-ea"/>
                        </a:rPr>
                        <a:t>37.5</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2000" b="1" dirty="0">
                          <a:solidFill>
                            <a:srgbClr val="C00000"/>
                          </a:solidFill>
                          <a:latin typeface="+mn-ea"/>
                          <a:ea typeface="+mn-ea"/>
                        </a:rPr>
                        <a:t>45.2</a:t>
                      </a:r>
                      <a:endParaRPr kumimoji="1" lang="ja-JP" altLang="en-US" sz="2000" b="1" dirty="0">
                        <a:solidFill>
                          <a:srgbClr val="C00000"/>
                        </a:solidFill>
                        <a:latin typeface="+mn-ea"/>
                        <a:ea typeface="+mn-ea"/>
                      </a:endParaRPr>
                    </a:p>
                  </a:txBody>
                  <a:tcP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621711327"/>
                  </a:ext>
                </a:extLst>
              </a:tr>
              <a:tr h="659829">
                <a:tc>
                  <a:txBody>
                    <a:bodyPr/>
                    <a:lstStyle/>
                    <a:p>
                      <a:r>
                        <a:rPr kumimoji="1" lang="en-US" altLang="ja-JP" sz="1600" b="1" dirty="0">
                          <a:latin typeface="+mn-ea"/>
                          <a:ea typeface="+mn-ea"/>
                        </a:rPr>
                        <a:t>AI </a:t>
                      </a:r>
                      <a:r>
                        <a:rPr kumimoji="1" lang="ja-JP" altLang="en-US" sz="1600" b="1" dirty="0">
                          <a:latin typeface="+mn-ea"/>
                          <a:ea typeface="+mn-ea"/>
                        </a:rPr>
                        <a:t>の性格は初めのチャットの途中で</a:t>
                      </a:r>
                      <a:endParaRPr kumimoji="1" lang="en-US" altLang="ja-JP" sz="1600" b="1" dirty="0">
                        <a:latin typeface="+mn-ea"/>
                        <a:ea typeface="+mn-ea"/>
                      </a:endParaRPr>
                    </a:p>
                    <a:p>
                      <a:r>
                        <a:rPr kumimoji="1" lang="ja-JP" altLang="en-US" sz="1600" b="1" dirty="0">
                          <a:latin typeface="+mn-ea"/>
                          <a:ea typeface="+mn-ea"/>
                        </a:rPr>
                        <a:t>変わった</a:t>
                      </a:r>
                    </a:p>
                  </a:txBody>
                  <a:tcPr>
                    <a:solidFill>
                      <a:schemeClr val="bg1"/>
                    </a:solidFill>
                  </a:tcPr>
                </a:tc>
                <a:tc>
                  <a:txBody>
                    <a:bodyPr/>
                    <a:lstStyle/>
                    <a:p>
                      <a:pPr algn="r"/>
                      <a:r>
                        <a:rPr kumimoji="1" lang="en-US" altLang="ja-JP" sz="2000" b="1" dirty="0">
                          <a:latin typeface="+mn-ea"/>
                          <a:ea typeface="+mn-ea"/>
                        </a:rPr>
                        <a:t>0.0</a:t>
                      </a:r>
                      <a:endParaRPr kumimoji="1" lang="ja-JP" altLang="en-US" sz="2000" b="1" dirty="0">
                        <a:latin typeface="+mn-ea"/>
                        <a:ea typeface="+mn-ea"/>
                      </a:endParaRPr>
                    </a:p>
                  </a:txBody>
                  <a:tcPr>
                    <a:solidFill>
                      <a:schemeClr val="bg1"/>
                    </a:solidFill>
                  </a:tcPr>
                </a:tc>
                <a:tc>
                  <a:txBody>
                    <a:bodyPr/>
                    <a:lstStyle/>
                    <a:p>
                      <a:pPr algn="r"/>
                      <a:r>
                        <a:rPr kumimoji="1" lang="en-US" altLang="ja-JP" sz="2000" b="1" dirty="0">
                          <a:latin typeface="+mn-ea"/>
                          <a:ea typeface="+mn-ea"/>
                        </a:rPr>
                        <a:t>7.9</a:t>
                      </a:r>
                      <a:endParaRPr kumimoji="1" lang="ja-JP" altLang="en-US" sz="2000" b="1" dirty="0">
                        <a:latin typeface="+mn-ea"/>
                        <a:ea typeface="+mn-ea"/>
                      </a:endParaRPr>
                    </a:p>
                  </a:txBody>
                  <a:tcPr>
                    <a:solidFill>
                      <a:schemeClr val="bg1"/>
                    </a:solidFill>
                  </a:tcPr>
                </a:tc>
                <a:tc>
                  <a:txBody>
                    <a:bodyPr/>
                    <a:lstStyle/>
                    <a:p>
                      <a:pPr algn="r"/>
                      <a:r>
                        <a:rPr kumimoji="1" lang="en-US" altLang="ja-JP" sz="2000" b="1" dirty="0">
                          <a:latin typeface="+mn-ea"/>
                          <a:ea typeface="+mn-ea"/>
                        </a:rPr>
                        <a:t>0.0</a:t>
                      </a:r>
                      <a:endParaRPr kumimoji="1" lang="ja-JP" altLang="en-US" sz="2000" b="1" dirty="0">
                        <a:latin typeface="+mn-ea"/>
                        <a:ea typeface="+mn-ea"/>
                      </a:endParaRPr>
                    </a:p>
                  </a:txBody>
                  <a:tcPr>
                    <a:solidFill>
                      <a:schemeClr val="bg1"/>
                    </a:solidFill>
                  </a:tcPr>
                </a:tc>
                <a:tc>
                  <a:txBody>
                    <a:bodyPr/>
                    <a:lstStyle/>
                    <a:p>
                      <a:pPr algn="r"/>
                      <a:r>
                        <a:rPr kumimoji="1" lang="en-US" altLang="ja-JP" sz="2000" b="1" dirty="0">
                          <a:latin typeface="+mn-ea"/>
                          <a:ea typeface="+mn-ea"/>
                        </a:rPr>
                        <a:t>4.8</a:t>
                      </a:r>
                      <a:endParaRPr kumimoji="1" lang="ja-JP" altLang="en-US" sz="2000" b="1" dirty="0">
                        <a:latin typeface="+mn-ea"/>
                        <a:ea typeface="+mn-ea"/>
                      </a:endParaRPr>
                    </a:p>
                  </a:txBody>
                  <a:tcPr>
                    <a:solidFill>
                      <a:schemeClr val="bg1"/>
                    </a:solidFill>
                  </a:tcPr>
                </a:tc>
                <a:extLst>
                  <a:ext uri="{0D108BD9-81ED-4DB2-BD59-A6C34878D82A}">
                    <a16:rowId xmlns:a16="http://schemas.microsoft.com/office/drawing/2014/main" val="2303202971"/>
                  </a:ext>
                </a:extLst>
              </a:tr>
              <a:tr h="659829">
                <a:tc>
                  <a:txBody>
                    <a:bodyPr/>
                    <a:lstStyle/>
                    <a:p>
                      <a:r>
                        <a:rPr kumimoji="1" lang="en-US" altLang="ja-JP" sz="1600" b="1" dirty="0">
                          <a:solidFill>
                            <a:srgbClr val="C00000"/>
                          </a:solidFill>
                          <a:latin typeface="+mn-ea"/>
                          <a:ea typeface="+mn-ea"/>
                        </a:rPr>
                        <a:t>AI </a:t>
                      </a:r>
                      <a:r>
                        <a:rPr kumimoji="1" lang="ja-JP" altLang="en-US" sz="1600" b="1" dirty="0">
                          <a:solidFill>
                            <a:srgbClr val="C00000"/>
                          </a:solidFill>
                          <a:latin typeface="+mn-ea"/>
                          <a:ea typeface="+mn-ea"/>
                        </a:rPr>
                        <a:t>の性格はチャットを新規作成した際に</a:t>
                      </a:r>
                      <a:endParaRPr kumimoji="1" lang="en-US" altLang="ja-JP" sz="1600" b="1" dirty="0">
                        <a:solidFill>
                          <a:srgbClr val="C00000"/>
                        </a:solidFill>
                        <a:latin typeface="+mn-ea"/>
                        <a:ea typeface="+mn-ea"/>
                      </a:endParaRPr>
                    </a:p>
                    <a:p>
                      <a:r>
                        <a:rPr kumimoji="1" lang="ja-JP" altLang="en-US" sz="1600" b="1" dirty="0">
                          <a:solidFill>
                            <a:srgbClr val="C00000"/>
                          </a:solidFill>
                          <a:latin typeface="+mn-ea"/>
                          <a:ea typeface="+mn-ea"/>
                        </a:rPr>
                        <a:t>変わった</a:t>
                      </a:r>
                    </a:p>
                  </a:txBody>
                  <a:tcPr>
                    <a:solidFill>
                      <a:schemeClr val="bg1"/>
                    </a:solidFill>
                  </a:tcPr>
                </a:tc>
                <a:tc>
                  <a:txBody>
                    <a:bodyPr/>
                    <a:lstStyle/>
                    <a:p>
                      <a:pPr algn="r"/>
                      <a:r>
                        <a:rPr kumimoji="1" lang="en-US" altLang="ja-JP" sz="2000" b="1" dirty="0">
                          <a:latin typeface="+mn-ea"/>
                          <a:ea typeface="+mn-ea"/>
                        </a:rPr>
                        <a:t>2.0</a:t>
                      </a:r>
                      <a:endParaRPr kumimoji="1" lang="ja-JP" altLang="en-US" sz="2000" b="1" dirty="0">
                        <a:latin typeface="+mn-ea"/>
                        <a:ea typeface="+mn-ea"/>
                      </a:endParaRPr>
                    </a:p>
                  </a:txBody>
                  <a:tcPr>
                    <a:solidFill>
                      <a:schemeClr val="bg1"/>
                    </a:solidFill>
                  </a:tcPr>
                </a:tc>
                <a:tc>
                  <a:txBody>
                    <a:bodyPr/>
                    <a:lstStyle/>
                    <a:p>
                      <a:pPr algn="r"/>
                      <a:r>
                        <a:rPr kumimoji="1" lang="en-US" altLang="ja-JP" sz="2000" b="1" dirty="0">
                          <a:latin typeface="+mn-ea"/>
                          <a:ea typeface="+mn-ea"/>
                        </a:rPr>
                        <a:t>7.9</a:t>
                      </a:r>
                    </a:p>
                  </a:txBody>
                  <a:tcPr>
                    <a:solidFill>
                      <a:schemeClr val="bg1"/>
                    </a:solidFill>
                  </a:tcPr>
                </a:tc>
                <a:tc>
                  <a:txBody>
                    <a:bodyPr/>
                    <a:lstStyle/>
                    <a:p>
                      <a:pPr algn="r"/>
                      <a:r>
                        <a:rPr kumimoji="1" lang="en-US" altLang="ja-JP" sz="2000" b="1" dirty="0">
                          <a:solidFill>
                            <a:srgbClr val="C00000"/>
                          </a:solidFill>
                          <a:latin typeface="+mn-ea"/>
                          <a:ea typeface="+mn-ea"/>
                        </a:rPr>
                        <a:t>62.5</a:t>
                      </a:r>
                      <a:endParaRPr kumimoji="1" lang="ja-JP" altLang="en-US" sz="2000" b="1" dirty="0">
                        <a:solidFill>
                          <a:srgbClr val="C00000"/>
                        </a:solidFill>
                        <a:latin typeface="+mn-ea"/>
                        <a:ea typeface="+mn-ea"/>
                      </a:endParaRPr>
                    </a:p>
                  </a:txBody>
                  <a:tcPr>
                    <a:solidFill>
                      <a:schemeClr val="bg1"/>
                    </a:solidFill>
                  </a:tcPr>
                </a:tc>
                <a:tc>
                  <a:txBody>
                    <a:bodyPr/>
                    <a:lstStyle/>
                    <a:p>
                      <a:pPr algn="r"/>
                      <a:r>
                        <a:rPr kumimoji="1" lang="en-US" altLang="ja-JP" sz="2000" b="1" dirty="0">
                          <a:solidFill>
                            <a:srgbClr val="C00000"/>
                          </a:solidFill>
                          <a:latin typeface="+mn-ea"/>
                          <a:ea typeface="+mn-ea"/>
                        </a:rPr>
                        <a:t>45.2</a:t>
                      </a:r>
                      <a:endParaRPr kumimoji="1" lang="ja-JP" altLang="en-US" sz="2000" b="1" dirty="0">
                        <a:solidFill>
                          <a:srgbClr val="C00000"/>
                        </a:solidFill>
                        <a:latin typeface="+mn-ea"/>
                        <a:ea typeface="+mn-ea"/>
                      </a:endParaRPr>
                    </a:p>
                  </a:txBody>
                  <a:tcPr>
                    <a:solidFill>
                      <a:schemeClr val="bg1"/>
                    </a:solidFill>
                  </a:tcPr>
                </a:tc>
                <a:extLst>
                  <a:ext uri="{0D108BD9-81ED-4DB2-BD59-A6C34878D82A}">
                    <a16:rowId xmlns:a16="http://schemas.microsoft.com/office/drawing/2014/main" val="557467001"/>
                  </a:ext>
                </a:extLst>
              </a:tr>
              <a:tr h="732078">
                <a:tc>
                  <a:txBody>
                    <a:bodyPr/>
                    <a:lstStyle/>
                    <a:p>
                      <a:r>
                        <a:rPr kumimoji="1" lang="en-US" altLang="ja-JP" sz="1600" b="1" dirty="0">
                          <a:latin typeface="+mn-ea"/>
                          <a:ea typeface="+mn-ea"/>
                        </a:rPr>
                        <a:t>AI </a:t>
                      </a:r>
                      <a:r>
                        <a:rPr kumimoji="1" lang="ja-JP" altLang="en-US" sz="1600" b="1" dirty="0">
                          <a:latin typeface="+mn-ea"/>
                          <a:ea typeface="+mn-ea"/>
                        </a:rPr>
                        <a:t>の性格はチャットを新規作成後の</a:t>
                      </a:r>
                      <a:endParaRPr kumimoji="1" lang="en-US" altLang="ja-JP" sz="1600" b="1" dirty="0">
                        <a:latin typeface="+mn-ea"/>
                        <a:ea typeface="+mn-ea"/>
                      </a:endParaRPr>
                    </a:p>
                    <a:p>
                      <a:r>
                        <a:rPr kumimoji="1" lang="ja-JP" altLang="en-US" sz="1600" b="1" dirty="0">
                          <a:latin typeface="+mn-ea"/>
                          <a:ea typeface="+mn-ea"/>
                        </a:rPr>
                        <a:t>チャットの途中に変わった </a:t>
                      </a:r>
                      <a:endParaRPr kumimoji="1" lang="en-US" altLang="ja-JP" sz="1600" b="1" dirty="0">
                        <a:latin typeface="+mn-ea"/>
                        <a:ea typeface="+mn-ea"/>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2000" b="1" dirty="0">
                          <a:latin typeface="+mn-ea"/>
                          <a:ea typeface="+mn-ea"/>
                        </a:rPr>
                        <a:t>2.0</a:t>
                      </a:r>
                      <a:endParaRPr kumimoji="1" lang="ja-JP" altLang="en-US" sz="2000" b="1" dirty="0">
                        <a:latin typeface="+mn-ea"/>
                        <a:ea typeface="+mn-ea"/>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2000" b="1" dirty="0">
                          <a:latin typeface="+mn-ea"/>
                          <a:ea typeface="+mn-ea"/>
                        </a:rPr>
                        <a:t>5.3</a:t>
                      </a:r>
                      <a:endParaRPr kumimoji="1" lang="ja-JP" altLang="en-US" sz="2000" b="1" dirty="0">
                        <a:latin typeface="+mn-ea"/>
                        <a:ea typeface="+mn-ea"/>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2000" b="1" dirty="0">
                          <a:latin typeface="+mn-ea"/>
                          <a:ea typeface="+mn-ea"/>
                        </a:rPr>
                        <a:t>0.0</a:t>
                      </a:r>
                      <a:endParaRPr kumimoji="1" lang="ja-JP" altLang="en-US" sz="2000" b="1" dirty="0">
                        <a:latin typeface="+mn-ea"/>
                        <a:ea typeface="+mn-ea"/>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2000" b="1" dirty="0">
                          <a:latin typeface="+mn-ea"/>
                          <a:ea typeface="+mn-ea"/>
                        </a:rPr>
                        <a:t>4.8</a:t>
                      </a:r>
                      <a:endParaRPr kumimoji="1" lang="ja-JP" altLang="en-US" sz="2000" b="1" dirty="0">
                        <a:latin typeface="+mn-ea"/>
                        <a:ea typeface="+mn-ea"/>
                      </a:endParaRPr>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1895323"/>
                  </a:ext>
                </a:extLst>
              </a:tr>
              <a:tr h="346170">
                <a:tc>
                  <a:txBody>
                    <a:bodyPr/>
                    <a:lstStyle/>
                    <a:p>
                      <a:r>
                        <a:rPr kumimoji="1" lang="ja-JP" altLang="en-US" sz="1600" b="1" dirty="0">
                          <a:latin typeface="+mn-ea"/>
                          <a:ea typeface="+mn-ea"/>
                        </a:rPr>
                        <a:t>合計人数</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1800" b="1" dirty="0">
                          <a:latin typeface="+mn-ea"/>
                          <a:ea typeface="+mn-ea"/>
                        </a:rPr>
                        <a:t>49</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1800" b="1" dirty="0">
                          <a:latin typeface="+mn-ea"/>
                          <a:ea typeface="+mn-ea"/>
                        </a:rPr>
                        <a:t>38</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1800" b="1" dirty="0">
                          <a:latin typeface="+mn-ea"/>
                          <a:ea typeface="+mn-ea"/>
                        </a:rPr>
                        <a:t>32</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1800" b="1" dirty="0">
                          <a:latin typeface="+mn-ea"/>
                          <a:ea typeface="+mn-ea"/>
                        </a:rPr>
                        <a:t>42</a:t>
                      </a:r>
                    </a:p>
                  </a:txBody>
                  <a:tcP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237221719"/>
                  </a:ext>
                </a:extLst>
              </a:tr>
            </a:tbl>
          </a:graphicData>
        </a:graphic>
      </p:graphicFrame>
      <p:sp>
        <p:nvSpPr>
          <p:cNvPr id="5" name="テキスト ボックス 4">
            <a:extLst>
              <a:ext uri="{FF2B5EF4-FFF2-40B4-BE49-F238E27FC236}">
                <a16:creationId xmlns:a16="http://schemas.microsoft.com/office/drawing/2014/main" id="{593D2AB6-A65E-983C-7EB1-B295E70981F2}"/>
              </a:ext>
            </a:extLst>
          </p:cNvPr>
          <p:cNvSpPr txBox="1"/>
          <p:nvPr/>
        </p:nvSpPr>
        <p:spPr>
          <a:xfrm>
            <a:off x="1339422" y="5994774"/>
            <a:ext cx="6923734" cy="461665"/>
          </a:xfrm>
          <a:prstGeom prst="rect">
            <a:avLst/>
          </a:prstGeom>
          <a:noFill/>
        </p:spPr>
        <p:txBody>
          <a:bodyPr wrap="square">
            <a:spAutoFit/>
          </a:bodyPr>
          <a:lstStyle/>
          <a:p>
            <a:r>
              <a:rPr lang="ja-JP" altLang="en-US" sz="2400" b="1" dirty="0"/>
              <a:t>参加者には</a:t>
            </a:r>
            <a:r>
              <a:rPr lang="ja-JP" altLang="en-US" sz="2400" b="1" dirty="0">
                <a:solidFill>
                  <a:srgbClr val="C00000"/>
                </a:solidFill>
              </a:rPr>
              <a:t>実験の意図</a:t>
            </a:r>
            <a:r>
              <a:rPr lang="ja-JP" altLang="en-US" sz="2400" b="1" dirty="0"/>
              <a:t>が一定程度</a:t>
            </a:r>
            <a:r>
              <a:rPr lang="ja-JP" altLang="en-US" sz="2400" b="1" dirty="0">
                <a:solidFill>
                  <a:srgbClr val="C00000"/>
                </a:solidFill>
              </a:rPr>
              <a:t>伝わっていた</a:t>
            </a:r>
          </a:p>
        </p:txBody>
      </p:sp>
    </p:spTree>
    <p:extLst>
      <p:ext uri="{BB962C8B-B14F-4D97-AF65-F5344CB8AC3E}">
        <p14:creationId xmlns:p14="http://schemas.microsoft.com/office/powerpoint/2010/main" val="2835075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7D5D261-1A45-D468-4FED-7D649F075612}"/>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F9FD8453-3493-8668-C001-795F14799A67}"/>
              </a:ext>
            </a:extLst>
          </p:cNvPr>
          <p:cNvSpPr>
            <a:spLocks noGrp="1"/>
          </p:cNvSpPr>
          <p:nvPr>
            <p:ph type="sldNum" sz="quarter" idx="12"/>
          </p:nvPr>
        </p:nvSpPr>
        <p:spPr/>
        <p:txBody>
          <a:bodyPr/>
          <a:lstStyle/>
          <a:p>
            <a:fld id="{18020408-E1FF-429E-A8D5-EB2A190A0D77}" type="slidenum">
              <a:rPr kumimoji="1" lang="ja-JP" altLang="en-US" smtClean="0"/>
              <a:pPr/>
              <a:t>59</a:t>
            </a:fld>
            <a:endParaRPr kumimoji="1" lang="ja-JP" altLang="en-US" sz="2400" dirty="0"/>
          </a:p>
        </p:txBody>
      </p:sp>
      <p:sp>
        <p:nvSpPr>
          <p:cNvPr id="3" name="タイトル 2">
            <a:extLst>
              <a:ext uri="{FF2B5EF4-FFF2-40B4-BE49-F238E27FC236}">
                <a16:creationId xmlns:a16="http://schemas.microsoft.com/office/drawing/2014/main" id="{EAA249B7-2FD7-483A-46A2-206001DD1D5A}"/>
              </a:ext>
            </a:extLst>
          </p:cNvPr>
          <p:cNvSpPr>
            <a:spLocks noGrp="1"/>
          </p:cNvSpPr>
          <p:nvPr>
            <p:ph type="title"/>
          </p:nvPr>
        </p:nvSpPr>
        <p:spPr/>
        <p:txBody>
          <a:bodyPr/>
          <a:lstStyle/>
          <a:p>
            <a:r>
              <a:rPr kumimoji="1" lang="ja-JP" altLang="en-US" sz="3600" dirty="0"/>
              <a:t>考察：人格設定の影響</a:t>
            </a:r>
          </a:p>
        </p:txBody>
      </p:sp>
      <p:sp>
        <p:nvSpPr>
          <p:cNvPr id="5" name="テキスト ボックス 4">
            <a:extLst>
              <a:ext uri="{FF2B5EF4-FFF2-40B4-BE49-F238E27FC236}">
                <a16:creationId xmlns:a16="http://schemas.microsoft.com/office/drawing/2014/main" id="{0D878E4B-9FF6-D86F-BA13-5015A89D99EF}"/>
              </a:ext>
            </a:extLst>
          </p:cNvPr>
          <p:cNvSpPr txBox="1"/>
          <p:nvPr/>
        </p:nvSpPr>
        <p:spPr>
          <a:xfrm>
            <a:off x="313264" y="1256668"/>
            <a:ext cx="5579536" cy="830997"/>
          </a:xfrm>
          <a:prstGeom prst="rect">
            <a:avLst/>
          </a:prstGeom>
          <a:noFill/>
        </p:spPr>
        <p:txBody>
          <a:bodyPr wrap="square">
            <a:spAutoFit/>
          </a:bodyPr>
          <a:lstStyle/>
          <a:p>
            <a:pPr algn="l" rtl="0" fontAlgn="base">
              <a:lnSpc>
                <a:spcPct val="150000"/>
              </a:lnSpc>
              <a:buNone/>
            </a:pPr>
            <a:r>
              <a:rPr lang="ja-JP" altLang="en-US" sz="2000" b="1" i="0" u="none" strike="noStrike" dirty="0">
                <a:solidFill>
                  <a:schemeClr val="accent1"/>
                </a:solidFill>
                <a:effectLst/>
                <a:latin typeface="Meiryo UI" panose="020B0604030504040204" pitchFamily="50" charset="-128"/>
                <a:ea typeface="Yu Gothic" panose="020B0400000000000000" pitchFamily="50" charset="-128"/>
              </a:rPr>
              <a:t>人格設定要因によるユーザ心理への影響</a:t>
            </a:r>
            <a:endParaRPr lang="en-US" altLang="ja-JP" sz="2000" b="1" i="0" u="none" strike="noStrike" dirty="0">
              <a:solidFill>
                <a:schemeClr val="accent1"/>
              </a:solidFill>
              <a:effectLst/>
              <a:latin typeface="Meiryo UI" panose="020B0604030504040204" pitchFamily="50" charset="-128"/>
              <a:ea typeface="Yu Gothic" panose="020B0400000000000000" pitchFamily="50" charset="-128"/>
            </a:endParaRPr>
          </a:p>
          <a:p>
            <a:r>
              <a:rPr lang="ja-JP" altLang="en-US" b="1" dirty="0">
                <a:latin typeface="+mn-ea"/>
              </a:rPr>
              <a:t>「</a:t>
            </a:r>
            <a:r>
              <a:rPr lang="en-US" altLang="ja-JP" b="1" dirty="0">
                <a:latin typeface="+mn-ea"/>
              </a:rPr>
              <a:t>Q7.</a:t>
            </a:r>
            <a:r>
              <a:rPr kumimoji="1" lang="en-US" altLang="ja-JP" b="1" dirty="0">
                <a:solidFill>
                  <a:srgbClr val="FF0000"/>
                </a:solidFill>
                <a:latin typeface="游ゴシック" panose="020B0400000000000000" pitchFamily="50" charset="-128"/>
              </a:rPr>
              <a:t> </a:t>
            </a:r>
            <a:r>
              <a:rPr kumimoji="1" lang="en-US" altLang="ja-JP" b="1" dirty="0">
                <a:latin typeface="游ゴシック" panose="020B0400000000000000" pitchFamily="50" charset="-128"/>
              </a:rPr>
              <a:t>AI </a:t>
            </a:r>
            <a:r>
              <a:rPr kumimoji="1" lang="ja-JP" altLang="en-US" b="1" dirty="0">
                <a:latin typeface="游ゴシック" panose="020B0400000000000000" pitchFamily="50" charset="-128"/>
              </a:rPr>
              <a:t>には独自の個性がある」について</a:t>
            </a:r>
            <a:endParaRPr lang="ja-JP" altLang="en-US" dirty="0"/>
          </a:p>
        </p:txBody>
      </p:sp>
      <p:sp>
        <p:nvSpPr>
          <p:cNvPr id="6" name="四角形: 角を丸くする 5">
            <a:extLst>
              <a:ext uri="{FF2B5EF4-FFF2-40B4-BE49-F238E27FC236}">
                <a16:creationId xmlns:a16="http://schemas.microsoft.com/office/drawing/2014/main" id="{42095554-6F4C-51F3-B8AF-74746C6661F7}"/>
              </a:ext>
            </a:extLst>
          </p:cNvPr>
          <p:cNvSpPr/>
          <p:nvPr/>
        </p:nvSpPr>
        <p:spPr>
          <a:xfrm>
            <a:off x="1206500" y="2294275"/>
            <a:ext cx="6731000" cy="984885"/>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4E5CF4DB-8667-5AAB-29FB-DC19EA250E99}"/>
              </a:ext>
            </a:extLst>
          </p:cNvPr>
          <p:cNvSpPr txBox="1"/>
          <p:nvPr/>
        </p:nvSpPr>
        <p:spPr>
          <a:xfrm>
            <a:off x="1528233" y="2432774"/>
            <a:ext cx="6087533" cy="707886"/>
          </a:xfrm>
          <a:prstGeom prst="rect">
            <a:avLst/>
          </a:prstGeom>
          <a:noFill/>
        </p:spPr>
        <p:txBody>
          <a:bodyPr wrap="square">
            <a:spAutoFit/>
          </a:bodyPr>
          <a:lstStyle/>
          <a:p>
            <a:r>
              <a:rPr lang="en-US" altLang="ja-JP" sz="2000" b="1" dirty="0">
                <a:latin typeface="+mn-ea"/>
              </a:rPr>
              <a:t>LLM</a:t>
            </a:r>
            <a:r>
              <a:rPr lang="ja-JP" altLang="en-US" sz="2000" b="1" dirty="0">
                <a:latin typeface="+mn-ea"/>
              </a:rPr>
              <a:t>への独自な個性の知覚は</a:t>
            </a:r>
            <a:r>
              <a:rPr lang="ja-JP" altLang="en-US" sz="2000" b="1" dirty="0">
                <a:solidFill>
                  <a:srgbClr val="C00000"/>
                </a:solidFill>
                <a:latin typeface="+mn-ea"/>
              </a:rPr>
              <a:t>人格設定に影響</a:t>
            </a:r>
            <a:r>
              <a:rPr lang="ja-JP" altLang="en-US" sz="2000" b="1" dirty="0">
                <a:latin typeface="+mn-ea"/>
              </a:rPr>
              <a:t>される</a:t>
            </a:r>
            <a:endParaRPr lang="en-US" altLang="ja-JP" sz="2000" b="1" dirty="0">
              <a:latin typeface="+mn-ea"/>
            </a:endParaRPr>
          </a:p>
          <a:p>
            <a:r>
              <a:rPr lang="ja-JP" altLang="en-US" sz="2000" b="1" dirty="0">
                <a:latin typeface="+mn-ea"/>
              </a:rPr>
              <a:t>　　　　　　　（固定 </a:t>
            </a:r>
            <a:r>
              <a:rPr lang="en-US" altLang="ja-JP" sz="2000" b="1" dirty="0">
                <a:latin typeface="+mn-ea"/>
              </a:rPr>
              <a:t>&lt; </a:t>
            </a:r>
            <a:r>
              <a:rPr lang="ja-JP" altLang="en-US" sz="2000" b="1" dirty="0">
                <a:latin typeface="+mn-ea"/>
              </a:rPr>
              <a:t>切り替え）</a:t>
            </a:r>
            <a:endParaRPr lang="ja-JP" altLang="en-US" sz="2000" b="1" dirty="0"/>
          </a:p>
        </p:txBody>
      </p:sp>
      <p:sp>
        <p:nvSpPr>
          <p:cNvPr id="10" name="テキスト ボックス 9">
            <a:extLst>
              <a:ext uri="{FF2B5EF4-FFF2-40B4-BE49-F238E27FC236}">
                <a16:creationId xmlns:a16="http://schemas.microsoft.com/office/drawing/2014/main" id="{6D10C835-4F17-DD1C-99A9-9C7B4F6D593D}"/>
              </a:ext>
            </a:extLst>
          </p:cNvPr>
          <p:cNvSpPr txBox="1"/>
          <p:nvPr/>
        </p:nvSpPr>
        <p:spPr>
          <a:xfrm>
            <a:off x="1206500" y="3403541"/>
            <a:ext cx="7425269" cy="707886"/>
          </a:xfrm>
          <a:prstGeom prst="rect">
            <a:avLst/>
          </a:prstGeom>
          <a:noFill/>
        </p:spPr>
        <p:txBody>
          <a:bodyPr wrap="square">
            <a:spAutoFit/>
          </a:bodyPr>
          <a:lstStyle/>
          <a:p>
            <a:r>
              <a:rPr lang="en-US" altLang="ja-JP" sz="2000" b="1" dirty="0">
                <a:sym typeface="Wingdings" panose="05000000000000000000" pitchFamily="2" charset="2"/>
              </a:rPr>
              <a:t></a:t>
            </a:r>
            <a:r>
              <a:rPr lang="ja-JP" altLang="en-US" sz="2000" b="1" dirty="0"/>
              <a:t>人格切り替えが</a:t>
            </a:r>
            <a:r>
              <a:rPr lang="en-US" altLang="ja-JP" sz="2000" b="1" dirty="0">
                <a:solidFill>
                  <a:srgbClr val="C00000"/>
                </a:solidFill>
                <a:latin typeface="+mn-ea"/>
              </a:rPr>
              <a:t>LLM</a:t>
            </a:r>
            <a:r>
              <a:rPr lang="ja-JP" altLang="en-US" sz="2000" b="1" dirty="0">
                <a:solidFill>
                  <a:srgbClr val="C00000"/>
                </a:solidFill>
              </a:rPr>
              <a:t>の個性をユーザに印象付ける</a:t>
            </a:r>
            <a:endParaRPr lang="en-US" altLang="ja-JP" sz="2000" b="1" dirty="0">
              <a:solidFill>
                <a:srgbClr val="C00000"/>
              </a:solidFill>
            </a:endParaRPr>
          </a:p>
          <a:p>
            <a:r>
              <a:rPr lang="ja-JP" altLang="en-US" sz="2000" b="1" dirty="0"/>
              <a:t>　手段として有効である可能性</a:t>
            </a:r>
          </a:p>
        </p:txBody>
      </p:sp>
      <p:sp>
        <p:nvSpPr>
          <p:cNvPr id="11" name="四角形: 角を丸くする 10">
            <a:extLst>
              <a:ext uri="{FF2B5EF4-FFF2-40B4-BE49-F238E27FC236}">
                <a16:creationId xmlns:a16="http://schemas.microsoft.com/office/drawing/2014/main" id="{649A6FFD-602B-07EE-21EE-4A52D614411C}"/>
              </a:ext>
            </a:extLst>
          </p:cNvPr>
          <p:cNvSpPr/>
          <p:nvPr/>
        </p:nvSpPr>
        <p:spPr>
          <a:xfrm>
            <a:off x="5791199" y="4286727"/>
            <a:ext cx="2769413" cy="2379050"/>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4B4B614E-6294-1AD0-3E84-9B302C4CE982}"/>
              </a:ext>
            </a:extLst>
          </p:cNvPr>
          <p:cNvSpPr/>
          <p:nvPr/>
        </p:nvSpPr>
        <p:spPr>
          <a:xfrm>
            <a:off x="1002429" y="4317997"/>
            <a:ext cx="2629334" cy="2347781"/>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矢印: 右 12">
            <a:extLst>
              <a:ext uri="{FF2B5EF4-FFF2-40B4-BE49-F238E27FC236}">
                <a16:creationId xmlns:a16="http://schemas.microsoft.com/office/drawing/2014/main" id="{BC32926B-56AD-DC35-2798-9E5D3E5B6F1F}"/>
              </a:ext>
            </a:extLst>
          </p:cNvPr>
          <p:cNvSpPr/>
          <p:nvPr/>
        </p:nvSpPr>
        <p:spPr>
          <a:xfrm>
            <a:off x="3909267" y="4749557"/>
            <a:ext cx="1704441" cy="1323950"/>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kumimoji="1" lang="ja-JP" altLang="en-US" b="1" dirty="0"/>
              <a:t>人格切替</a:t>
            </a:r>
          </a:p>
        </p:txBody>
      </p:sp>
      <p:sp>
        <p:nvSpPr>
          <p:cNvPr id="16" name="テキスト ボックス 15">
            <a:extLst>
              <a:ext uri="{FF2B5EF4-FFF2-40B4-BE49-F238E27FC236}">
                <a16:creationId xmlns:a16="http://schemas.microsoft.com/office/drawing/2014/main" id="{A21B45E9-93E8-5216-2AB9-49C2813E36CD}"/>
              </a:ext>
            </a:extLst>
          </p:cNvPr>
          <p:cNvSpPr txBox="1"/>
          <p:nvPr/>
        </p:nvSpPr>
        <p:spPr>
          <a:xfrm>
            <a:off x="1543872" y="4184425"/>
            <a:ext cx="1472183" cy="369332"/>
          </a:xfrm>
          <a:prstGeom prst="rect">
            <a:avLst/>
          </a:prstGeom>
          <a:solidFill>
            <a:schemeClr val="bg1"/>
          </a:solidFill>
        </p:spPr>
        <p:txBody>
          <a:bodyPr wrap="square">
            <a:spAutoFit/>
          </a:bodyPr>
          <a:lstStyle/>
          <a:p>
            <a:r>
              <a:rPr lang="ja-JP" altLang="en-US" b="1" dirty="0">
                <a:solidFill>
                  <a:schemeClr val="accent1"/>
                </a:solidFill>
                <a:latin typeface="+mn-ea"/>
              </a:rPr>
              <a:t>セッション</a:t>
            </a:r>
            <a:r>
              <a:rPr lang="en-US" altLang="ja-JP" b="1" dirty="0">
                <a:solidFill>
                  <a:schemeClr val="accent1"/>
                </a:solidFill>
                <a:latin typeface="+mn-ea"/>
              </a:rPr>
              <a:t>1</a:t>
            </a:r>
            <a:endParaRPr lang="ja-JP" altLang="en-US" dirty="0">
              <a:solidFill>
                <a:schemeClr val="accent1"/>
              </a:solidFill>
              <a:latin typeface="+mn-ea"/>
            </a:endParaRPr>
          </a:p>
        </p:txBody>
      </p:sp>
      <p:sp>
        <p:nvSpPr>
          <p:cNvPr id="17" name="テキスト ボックス 16">
            <a:extLst>
              <a:ext uri="{FF2B5EF4-FFF2-40B4-BE49-F238E27FC236}">
                <a16:creationId xmlns:a16="http://schemas.microsoft.com/office/drawing/2014/main" id="{771FED74-806D-B61F-115C-A3056FE98558}"/>
              </a:ext>
            </a:extLst>
          </p:cNvPr>
          <p:cNvSpPr txBox="1"/>
          <p:nvPr/>
        </p:nvSpPr>
        <p:spPr>
          <a:xfrm>
            <a:off x="6463249" y="4090015"/>
            <a:ext cx="1472183" cy="369332"/>
          </a:xfrm>
          <a:prstGeom prst="rect">
            <a:avLst/>
          </a:prstGeom>
          <a:solidFill>
            <a:schemeClr val="bg1"/>
          </a:solidFill>
        </p:spPr>
        <p:txBody>
          <a:bodyPr wrap="square">
            <a:spAutoFit/>
          </a:bodyPr>
          <a:lstStyle/>
          <a:p>
            <a:r>
              <a:rPr lang="ja-JP" altLang="en-US" b="1" dirty="0">
                <a:solidFill>
                  <a:schemeClr val="accent1"/>
                </a:solidFill>
                <a:latin typeface="+mn-ea"/>
              </a:rPr>
              <a:t>セッション</a:t>
            </a:r>
            <a:r>
              <a:rPr lang="en-US" altLang="ja-JP" b="1" dirty="0">
                <a:solidFill>
                  <a:schemeClr val="accent1"/>
                </a:solidFill>
                <a:latin typeface="+mn-ea"/>
              </a:rPr>
              <a:t>2</a:t>
            </a:r>
            <a:endParaRPr lang="ja-JP" altLang="en-US" dirty="0">
              <a:solidFill>
                <a:schemeClr val="accent1"/>
              </a:solidFill>
              <a:latin typeface="+mn-ea"/>
            </a:endParaRPr>
          </a:p>
        </p:txBody>
      </p:sp>
      <p:grpSp>
        <p:nvGrpSpPr>
          <p:cNvPr id="18" name="グループ化 17">
            <a:extLst>
              <a:ext uri="{FF2B5EF4-FFF2-40B4-BE49-F238E27FC236}">
                <a16:creationId xmlns:a16="http://schemas.microsoft.com/office/drawing/2014/main" id="{FCCCDF08-3E31-F994-ED75-EED103900528}"/>
              </a:ext>
            </a:extLst>
          </p:cNvPr>
          <p:cNvGrpSpPr/>
          <p:nvPr/>
        </p:nvGrpSpPr>
        <p:grpSpPr>
          <a:xfrm>
            <a:off x="1279933" y="4699754"/>
            <a:ext cx="1707567" cy="1851393"/>
            <a:chOff x="945847" y="4175472"/>
            <a:chExt cx="1948428" cy="2136529"/>
          </a:xfrm>
        </p:grpSpPr>
        <p:sp>
          <p:nvSpPr>
            <p:cNvPr id="19" name="テキスト ボックス 18">
              <a:extLst>
                <a:ext uri="{FF2B5EF4-FFF2-40B4-BE49-F238E27FC236}">
                  <a16:creationId xmlns:a16="http://schemas.microsoft.com/office/drawing/2014/main" id="{45880074-1888-AAC3-7851-C5732CC70609}"/>
                </a:ext>
              </a:extLst>
            </p:cNvPr>
            <p:cNvSpPr txBox="1"/>
            <p:nvPr/>
          </p:nvSpPr>
          <p:spPr>
            <a:xfrm>
              <a:off x="1667267" y="5827975"/>
              <a:ext cx="911279" cy="484026"/>
            </a:xfrm>
            <a:prstGeom prst="rect">
              <a:avLst/>
            </a:prstGeom>
            <a:noFill/>
          </p:spPr>
          <p:txBody>
            <a:bodyPr wrap="square">
              <a:noAutofit/>
            </a:bodyPr>
            <a:lstStyle/>
            <a:p>
              <a:r>
                <a:rPr lang="en-US" altLang="ja-JP" b="1" dirty="0">
                  <a:solidFill>
                    <a:srgbClr val="000000"/>
                  </a:solidFill>
                  <a:latin typeface="+mn-ea"/>
                </a:rPr>
                <a:t>INFJ</a:t>
              </a:r>
              <a:endParaRPr lang="ja-JP" altLang="en-US" dirty="0">
                <a:latin typeface="+mn-ea"/>
              </a:endParaRPr>
            </a:p>
          </p:txBody>
        </p:sp>
        <p:pic>
          <p:nvPicPr>
            <p:cNvPr id="20" name="図 19" descr="挿絵 が含まれている画像&#10;&#10;AI 生成コンテンツは誤りを含む可能性があります。">
              <a:extLst>
                <a:ext uri="{FF2B5EF4-FFF2-40B4-BE49-F238E27FC236}">
                  <a16:creationId xmlns:a16="http://schemas.microsoft.com/office/drawing/2014/main" id="{C5248452-694A-2FB9-2AE0-CA42A27B9DB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945847" y="4175472"/>
              <a:ext cx="1948428" cy="1652502"/>
            </a:xfrm>
            <a:prstGeom prst="rect">
              <a:avLst/>
            </a:prstGeom>
          </p:spPr>
        </p:pic>
      </p:grpSp>
      <p:grpSp>
        <p:nvGrpSpPr>
          <p:cNvPr id="21" name="グループ化 20">
            <a:extLst>
              <a:ext uri="{FF2B5EF4-FFF2-40B4-BE49-F238E27FC236}">
                <a16:creationId xmlns:a16="http://schemas.microsoft.com/office/drawing/2014/main" id="{795F1F42-44A9-E29B-DE4E-9A7133827E78}"/>
              </a:ext>
            </a:extLst>
          </p:cNvPr>
          <p:cNvGrpSpPr/>
          <p:nvPr/>
        </p:nvGrpSpPr>
        <p:grpSpPr>
          <a:xfrm>
            <a:off x="6364496" y="4650629"/>
            <a:ext cx="1734664" cy="1950015"/>
            <a:chOff x="6114553" y="4056502"/>
            <a:chExt cx="1884459" cy="2196612"/>
          </a:xfrm>
        </p:grpSpPr>
        <p:sp>
          <p:nvSpPr>
            <p:cNvPr id="22" name="テキスト ボックス 21">
              <a:extLst>
                <a:ext uri="{FF2B5EF4-FFF2-40B4-BE49-F238E27FC236}">
                  <a16:creationId xmlns:a16="http://schemas.microsoft.com/office/drawing/2014/main" id="{FA6B6792-E982-1277-BBDD-5D6A6EC79951}"/>
                </a:ext>
              </a:extLst>
            </p:cNvPr>
            <p:cNvSpPr txBox="1"/>
            <p:nvPr/>
          </p:nvSpPr>
          <p:spPr>
            <a:xfrm>
              <a:off x="6527365" y="5827974"/>
              <a:ext cx="946510" cy="425140"/>
            </a:xfrm>
            <a:prstGeom prst="rect">
              <a:avLst/>
            </a:prstGeom>
            <a:noFill/>
          </p:spPr>
          <p:txBody>
            <a:bodyPr wrap="square">
              <a:noAutofit/>
            </a:bodyPr>
            <a:lstStyle/>
            <a:p>
              <a:r>
                <a:rPr lang="en-US" altLang="ja-JP" b="1" dirty="0">
                  <a:solidFill>
                    <a:srgbClr val="000000"/>
                  </a:solidFill>
                  <a:latin typeface="+mn-ea"/>
                </a:rPr>
                <a:t>ESTP</a:t>
              </a:r>
              <a:endParaRPr lang="ja-JP" altLang="en-US" dirty="0">
                <a:latin typeface="+mn-ea"/>
              </a:endParaRPr>
            </a:p>
          </p:txBody>
        </p:sp>
        <p:pic>
          <p:nvPicPr>
            <p:cNvPr id="23" name="Picture 2" descr="画像">
              <a:extLst>
                <a:ext uri="{FF2B5EF4-FFF2-40B4-BE49-F238E27FC236}">
                  <a16:creationId xmlns:a16="http://schemas.microsoft.com/office/drawing/2014/main" id="{1E5AEFDB-891F-C64C-E974-0B1DEE589944}"/>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8585" t="16857" r="15386" b="15594"/>
            <a:stretch>
              <a:fillRect/>
            </a:stretch>
          </p:blipFill>
          <p:spPr bwMode="auto">
            <a:xfrm>
              <a:off x="6114553" y="4056502"/>
              <a:ext cx="1884459" cy="192785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1824408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9F27832-6025-78C1-415D-31B868F74003}"/>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4E669CE1-28A4-7255-09A5-07943E86AA8C}"/>
              </a:ext>
            </a:extLst>
          </p:cNvPr>
          <p:cNvSpPr>
            <a:spLocks noGrp="1"/>
          </p:cNvSpPr>
          <p:nvPr>
            <p:ph type="sldNum" sz="quarter" idx="12"/>
          </p:nvPr>
        </p:nvSpPr>
        <p:spPr/>
        <p:txBody>
          <a:bodyPr/>
          <a:lstStyle/>
          <a:p>
            <a:fld id="{18020408-E1FF-429E-A8D5-EB2A190A0D77}" type="slidenum">
              <a:rPr kumimoji="1" lang="ja-JP" altLang="en-US" smtClean="0"/>
              <a:pPr/>
              <a:t>60</a:t>
            </a:fld>
            <a:endParaRPr kumimoji="1" lang="ja-JP" altLang="en-US" sz="2400" dirty="0"/>
          </a:p>
        </p:txBody>
      </p:sp>
      <p:sp>
        <p:nvSpPr>
          <p:cNvPr id="3" name="タイトル 2">
            <a:extLst>
              <a:ext uri="{FF2B5EF4-FFF2-40B4-BE49-F238E27FC236}">
                <a16:creationId xmlns:a16="http://schemas.microsoft.com/office/drawing/2014/main" id="{A3B98845-2AFF-1BAC-869A-378627A29DA0}"/>
              </a:ext>
            </a:extLst>
          </p:cNvPr>
          <p:cNvSpPr>
            <a:spLocks noGrp="1"/>
          </p:cNvSpPr>
          <p:nvPr>
            <p:ph type="title"/>
          </p:nvPr>
        </p:nvSpPr>
        <p:spPr/>
        <p:txBody>
          <a:bodyPr/>
          <a:lstStyle/>
          <a:p>
            <a:r>
              <a:rPr kumimoji="1" lang="ja-JP" altLang="en-US" sz="3600" dirty="0"/>
              <a:t>考察</a:t>
            </a:r>
          </a:p>
        </p:txBody>
      </p:sp>
      <p:sp>
        <p:nvSpPr>
          <p:cNvPr id="5" name="テキスト ボックス 4">
            <a:extLst>
              <a:ext uri="{FF2B5EF4-FFF2-40B4-BE49-F238E27FC236}">
                <a16:creationId xmlns:a16="http://schemas.microsoft.com/office/drawing/2014/main" id="{7C9F8F23-5D16-3B0C-E5C9-1391AC8ED6A9}"/>
              </a:ext>
            </a:extLst>
          </p:cNvPr>
          <p:cNvSpPr txBox="1"/>
          <p:nvPr/>
        </p:nvSpPr>
        <p:spPr>
          <a:xfrm>
            <a:off x="313264" y="1203635"/>
            <a:ext cx="7713136" cy="830997"/>
          </a:xfrm>
          <a:prstGeom prst="rect">
            <a:avLst/>
          </a:prstGeom>
          <a:noFill/>
        </p:spPr>
        <p:txBody>
          <a:bodyPr wrap="square">
            <a:spAutoFit/>
          </a:bodyPr>
          <a:lstStyle/>
          <a:p>
            <a:pPr algn="l" rtl="0" fontAlgn="base">
              <a:lnSpc>
                <a:spcPct val="150000"/>
              </a:lnSpc>
              <a:buNone/>
            </a:pPr>
            <a:r>
              <a:rPr lang="ja-JP" altLang="en-US" sz="2000" b="1" i="0" u="none" strike="noStrike" dirty="0">
                <a:solidFill>
                  <a:schemeClr val="accent1"/>
                </a:solidFill>
                <a:effectLst/>
                <a:latin typeface="Meiryo UI" panose="020B0604030504040204" pitchFamily="50" charset="-128"/>
                <a:ea typeface="Yu Gothic" panose="020B0400000000000000" pitchFamily="50" charset="-128"/>
              </a:rPr>
              <a:t>名乗りなし水準における人格設定要因によるユーザ心理への影響</a:t>
            </a:r>
            <a:endParaRPr lang="en-US" altLang="ja-JP" sz="2000" b="1" i="0" u="none" strike="noStrike" dirty="0">
              <a:solidFill>
                <a:schemeClr val="accent1"/>
              </a:solidFill>
              <a:effectLst/>
              <a:latin typeface="Meiryo UI" panose="020B0604030504040204" pitchFamily="50" charset="-128"/>
              <a:ea typeface="Yu Gothic" panose="020B0400000000000000" pitchFamily="50" charset="-128"/>
            </a:endParaRPr>
          </a:p>
          <a:p>
            <a:r>
              <a:rPr lang="ja-JP" altLang="en-US" b="1" dirty="0">
                <a:latin typeface="+mn-ea"/>
              </a:rPr>
              <a:t>「</a:t>
            </a:r>
            <a:r>
              <a:rPr lang="en-US" altLang="ja-JP" b="1" dirty="0">
                <a:latin typeface="+mn-ea"/>
              </a:rPr>
              <a:t>Q9.</a:t>
            </a:r>
            <a:r>
              <a:rPr kumimoji="1" lang="en-US" altLang="ja-JP" b="1" dirty="0">
                <a:solidFill>
                  <a:srgbClr val="FF0000"/>
                </a:solidFill>
                <a:latin typeface="游ゴシック" panose="020B0400000000000000" pitchFamily="50" charset="-128"/>
              </a:rPr>
              <a:t> </a:t>
            </a:r>
            <a:r>
              <a:rPr kumimoji="1" lang="en-US" altLang="ja-JP" b="1" dirty="0">
                <a:latin typeface="游ゴシック" panose="020B0400000000000000" pitchFamily="50" charset="-128"/>
              </a:rPr>
              <a:t>AI</a:t>
            </a:r>
            <a:r>
              <a:rPr kumimoji="1" lang="ja-JP" altLang="en-US" b="1" dirty="0">
                <a:latin typeface="游ゴシック" panose="020B0400000000000000" pitchFamily="50" charset="-128"/>
              </a:rPr>
              <a:t>の言動を見ていて楽しい」について</a:t>
            </a:r>
            <a:endParaRPr lang="ja-JP" altLang="en-US" dirty="0"/>
          </a:p>
        </p:txBody>
      </p:sp>
      <p:sp>
        <p:nvSpPr>
          <p:cNvPr id="6" name="四角形: 角を丸くする 5">
            <a:extLst>
              <a:ext uri="{FF2B5EF4-FFF2-40B4-BE49-F238E27FC236}">
                <a16:creationId xmlns:a16="http://schemas.microsoft.com/office/drawing/2014/main" id="{8145084E-33A9-DA27-1ADA-080902B46E64}"/>
              </a:ext>
            </a:extLst>
          </p:cNvPr>
          <p:cNvSpPr/>
          <p:nvPr/>
        </p:nvSpPr>
        <p:spPr>
          <a:xfrm>
            <a:off x="1206500" y="2082607"/>
            <a:ext cx="6731000" cy="984885"/>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539CF43F-32AE-73AC-90A5-B247E07AC723}"/>
              </a:ext>
            </a:extLst>
          </p:cNvPr>
          <p:cNvSpPr txBox="1"/>
          <p:nvPr/>
        </p:nvSpPr>
        <p:spPr>
          <a:xfrm>
            <a:off x="1528233" y="2221106"/>
            <a:ext cx="7234766" cy="707886"/>
          </a:xfrm>
          <a:prstGeom prst="rect">
            <a:avLst/>
          </a:prstGeom>
          <a:noFill/>
        </p:spPr>
        <p:txBody>
          <a:bodyPr wrap="square">
            <a:spAutoFit/>
          </a:bodyPr>
          <a:lstStyle/>
          <a:p>
            <a:r>
              <a:rPr lang="ja-JP" altLang="en-US" sz="2000" b="1" dirty="0">
                <a:latin typeface="+mn-ea"/>
              </a:rPr>
              <a:t>人格を切り替えないことによって</a:t>
            </a:r>
            <a:endParaRPr lang="en-US" altLang="ja-JP" sz="2000" b="1" dirty="0">
              <a:latin typeface="+mn-ea"/>
            </a:endParaRPr>
          </a:p>
          <a:p>
            <a:r>
              <a:rPr lang="ja-JP" altLang="en-US" sz="2000" b="1" dirty="0">
                <a:solidFill>
                  <a:srgbClr val="C00000"/>
                </a:solidFill>
                <a:latin typeface="+mn-ea"/>
              </a:rPr>
              <a:t>言動を見ていて楽しいとより強く感じる</a:t>
            </a:r>
            <a:r>
              <a:rPr lang="ja-JP" altLang="en-US" sz="2000" b="1" dirty="0">
                <a:latin typeface="+mn-ea"/>
              </a:rPr>
              <a:t>（固定 ＞</a:t>
            </a:r>
            <a:r>
              <a:rPr lang="en-US" altLang="ja-JP" sz="2000" b="1" dirty="0">
                <a:latin typeface="+mn-ea"/>
              </a:rPr>
              <a:t> </a:t>
            </a:r>
            <a:r>
              <a:rPr lang="ja-JP" altLang="en-US" sz="2000" b="1" dirty="0">
                <a:latin typeface="+mn-ea"/>
              </a:rPr>
              <a:t>切り替え）</a:t>
            </a:r>
            <a:endParaRPr lang="ja-JP" altLang="en-US" sz="2000" b="1" dirty="0"/>
          </a:p>
        </p:txBody>
      </p:sp>
      <p:sp>
        <p:nvSpPr>
          <p:cNvPr id="9" name="テキスト ボックス 8">
            <a:extLst>
              <a:ext uri="{FF2B5EF4-FFF2-40B4-BE49-F238E27FC236}">
                <a16:creationId xmlns:a16="http://schemas.microsoft.com/office/drawing/2014/main" id="{E313F457-611B-A7A9-3BFA-697E8740F5A6}"/>
              </a:ext>
            </a:extLst>
          </p:cNvPr>
          <p:cNvSpPr txBox="1"/>
          <p:nvPr/>
        </p:nvSpPr>
        <p:spPr>
          <a:xfrm>
            <a:off x="376764" y="5654365"/>
            <a:ext cx="8153403" cy="830997"/>
          </a:xfrm>
          <a:prstGeom prst="rect">
            <a:avLst/>
          </a:prstGeom>
          <a:noFill/>
        </p:spPr>
        <p:txBody>
          <a:bodyPr wrap="square">
            <a:spAutoFit/>
          </a:bodyPr>
          <a:lstStyle/>
          <a:p>
            <a:r>
              <a:rPr lang="ja-JP" altLang="en-US" sz="2400" b="1" dirty="0"/>
              <a:t>名乗りを省略し，人格を一貫させることで</a:t>
            </a:r>
            <a:r>
              <a:rPr lang="ja-JP" altLang="en-US" sz="2400" b="1" dirty="0">
                <a:solidFill>
                  <a:srgbClr val="C00000"/>
                </a:solidFill>
              </a:rPr>
              <a:t>エラーさえもユーモアとして受容させる</a:t>
            </a:r>
            <a:r>
              <a:rPr lang="ja-JP" altLang="en-US" sz="2400" b="1" dirty="0"/>
              <a:t>余地が生まれる可能性</a:t>
            </a:r>
          </a:p>
        </p:txBody>
      </p:sp>
      <p:sp>
        <p:nvSpPr>
          <p:cNvPr id="12" name="テキスト ボックス 11">
            <a:extLst>
              <a:ext uri="{FF2B5EF4-FFF2-40B4-BE49-F238E27FC236}">
                <a16:creationId xmlns:a16="http://schemas.microsoft.com/office/drawing/2014/main" id="{84A0A74B-87F4-B6D3-7F53-C8BDABC55150}"/>
              </a:ext>
            </a:extLst>
          </p:cNvPr>
          <p:cNvSpPr txBox="1"/>
          <p:nvPr/>
        </p:nvSpPr>
        <p:spPr>
          <a:xfrm>
            <a:off x="376764" y="3282677"/>
            <a:ext cx="8386235" cy="1323439"/>
          </a:xfrm>
          <a:prstGeom prst="rect">
            <a:avLst/>
          </a:prstGeom>
          <a:noFill/>
        </p:spPr>
        <p:txBody>
          <a:bodyPr wrap="square">
            <a:spAutoFit/>
          </a:bodyPr>
          <a:lstStyle/>
          <a:p>
            <a:r>
              <a:rPr lang="ja-JP" altLang="en-US" sz="2000" b="1" dirty="0">
                <a:solidFill>
                  <a:schemeClr val="accent1"/>
                </a:solidFill>
              </a:rPr>
              <a:t>自由記述</a:t>
            </a:r>
            <a:endParaRPr lang="en-US" altLang="ja-JP" sz="2000" b="1" dirty="0">
              <a:solidFill>
                <a:schemeClr val="accent1"/>
              </a:solidFill>
            </a:endParaRPr>
          </a:p>
          <a:p>
            <a:r>
              <a:rPr lang="ja-JP" altLang="en-US" sz="2000" b="1" dirty="0">
                <a:latin typeface="+mn-ea"/>
              </a:rPr>
              <a:t>「</a:t>
            </a:r>
            <a:r>
              <a:rPr lang="en-US" altLang="ja-JP" sz="2000" b="1" dirty="0">
                <a:latin typeface="+mn-ea"/>
              </a:rPr>
              <a:t>AI </a:t>
            </a:r>
            <a:r>
              <a:rPr lang="ja-JP" altLang="en-US" sz="2000" b="1" dirty="0">
                <a:latin typeface="+mn-ea"/>
              </a:rPr>
              <a:t>が指示通りに画像生成してくれず、修正も的外れなのに、</a:t>
            </a:r>
            <a:r>
              <a:rPr lang="ja-JP" altLang="en-US" sz="2000" b="1" dirty="0">
                <a:solidFill>
                  <a:srgbClr val="C00000"/>
                </a:solidFill>
                <a:latin typeface="+mn-ea"/>
              </a:rPr>
              <a:t>真面目な口調なのがシュールで少し笑って</a:t>
            </a:r>
            <a:r>
              <a:rPr lang="ja-JP" altLang="en-US" sz="2000" b="1" dirty="0">
                <a:latin typeface="+mn-ea"/>
              </a:rPr>
              <a:t>しまいました。」</a:t>
            </a:r>
            <a:endParaRPr lang="en-US" altLang="ja-JP" sz="2000" b="1" dirty="0">
              <a:latin typeface="+mn-ea"/>
            </a:endParaRPr>
          </a:p>
          <a:p>
            <a:r>
              <a:rPr lang="en-US" altLang="ja-JP" sz="2000" b="1" dirty="0">
                <a:latin typeface="+mn-ea"/>
                <a:sym typeface="Wingdings" panose="05000000000000000000" pitchFamily="2" charset="2"/>
              </a:rPr>
              <a:t></a:t>
            </a:r>
            <a:r>
              <a:rPr lang="ja-JP" altLang="en-US" sz="2000" b="1" dirty="0">
                <a:latin typeface="+mn-ea"/>
                <a:sym typeface="Wingdings" panose="05000000000000000000" pitchFamily="2" charset="2"/>
              </a:rPr>
              <a:t>真面目な口調とタスク失敗のギャップが</a:t>
            </a:r>
            <a:r>
              <a:rPr lang="ja-JP" altLang="en-US" sz="2000" b="1" dirty="0">
                <a:solidFill>
                  <a:srgbClr val="C00000"/>
                </a:solidFill>
                <a:latin typeface="+mn-ea"/>
                <a:sym typeface="Wingdings" panose="05000000000000000000" pitchFamily="2" charset="2"/>
              </a:rPr>
              <a:t>一種のユーモア</a:t>
            </a:r>
            <a:r>
              <a:rPr lang="ja-JP" altLang="en-US" sz="2000" b="1" dirty="0">
                <a:latin typeface="+mn-ea"/>
                <a:sym typeface="Wingdings" panose="05000000000000000000" pitchFamily="2" charset="2"/>
              </a:rPr>
              <a:t>として受容</a:t>
            </a:r>
            <a:endParaRPr lang="ja-JP" altLang="en-US" sz="2000" b="1" dirty="0">
              <a:latin typeface="+mn-ea"/>
            </a:endParaRPr>
          </a:p>
        </p:txBody>
      </p:sp>
      <p:sp>
        <p:nvSpPr>
          <p:cNvPr id="13" name="矢印: 右 12">
            <a:extLst>
              <a:ext uri="{FF2B5EF4-FFF2-40B4-BE49-F238E27FC236}">
                <a16:creationId xmlns:a16="http://schemas.microsoft.com/office/drawing/2014/main" id="{38D332A7-F61E-1863-0CA3-71A6F5025A23}"/>
              </a:ext>
            </a:extLst>
          </p:cNvPr>
          <p:cNvSpPr/>
          <p:nvPr/>
        </p:nvSpPr>
        <p:spPr>
          <a:xfrm rot="5400000">
            <a:off x="4061880" y="4750473"/>
            <a:ext cx="668867" cy="783163"/>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Tree>
    <p:extLst>
      <p:ext uri="{BB962C8B-B14F-4D97-AF65-F5344CB8AC3E}">
        <p14:creationId xmlns:p14="http://schemas.microsoft.com/office/powerpoint/2010/main" val="32114981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0E0C60B-45E9-8DC1-AD47-47A24BABEF39}"/>
            </a:ext>
          </a:extLst>
        </p:cNvPr>
        <p:cNvGrpSpPr/>
        <p:nvPr/>
      </p:nvGrpSpPr>
      <p:grpSpPr>
        <a:xfrm>
          <a:off x="0" y="0"/>
          <a:ext cx="0" cy="0"/>
          <a:chOff x="0" y="0"/>
          <a:chExt cx="0" cy="0"/>
        </a:xfrm>
      </p:grpSpPr>
      <p:sp>
        <p:nvSpPr>
          <p:cNvPr id="11" name="四角形: 角を丸くする 10">
            <a:extLst>
              <a:ext uri="{FF2B5EF4-FFF2-40B4-BE49-F238E27FC236}">
                <a16:creationId xmlns:a16="http://schemas.microsoft.com/office/drawing/2014/main" id="{7F0B1BE8-C344-3DDE-247B-43F916A4A691}"/>
              </a:ext>
            </a:extLst>
          </p:cNvPr>
          <p:cNvSpPr/>
          <p:nvPr/>
        </p:nvSpPr>
        <p:spPr>
          <a:xfrm>
            <a:off x="1073148" y="3471729"/>
            <a:ext cx="6997700" cy="886087"/>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スライド番号プレースホルダー 1">
            <a:extLst>
              <a:ext uri="{FF2B5EF4-FFF2-40B4-BE49-F238E27FC236}">
                <a16:creationId xmlns:a16="http://schemas.microsoft.com/office/drawing/2014/main" id="{7E1E4B60-79C5-5BE1-5D0C-E83C830BE629}"/>
              </a:ext>
            </a:extLst>
          </p:cNvPr>
          <p:cNvSpPr>
            <a:spLocks noGrp="1"/>
          </p:cNvSpPr>
          <p:nvPr>
            <p:ph type="sldNum" sz="quarter" idx="12"/>
          </p:nvPr>
        </p:nvSpPr>
        <p:spPr/>
        <p:txBody>
          <a:bodyPr/>
          <a:lstStyle/>
          <a:p>
            <a:fld id="{18020408-E1FF-429E-A8D5-EB2A190A0D77}" type="slidenum">
              <a:rPr kumimoji="1" lang="ja-JP" altLang="en-US" smtClean="0"/>
              <a:pPr/>
              <a:t>61</a:t>
            </a:fld>
            <a:endParaRPr kumimoji="1" lang="ja-JP" altLang="en-US" sz="2400" dirty="0"/>
          </a:p>
        </p:txBody>
      </p:sp>
      <p:sp>
        <p:nvSpPr>
          <p:cNvPr id="3" name="タイトル 2">
            <a:extLst>
              <a:ext uri="{FF2B5EF4-FFF2-40B4-BE49-F238E27FC236}">
                <a16:creationId xmlns:a16="http://schemas.microsoft.com/office/drawing/2014/main" id="{EB0A9C33-DBE0-BAF3-FF8C-2DA995723A4B}"/>
              </a:ext>
            </a:extLst>
          </p:cNvPr>
          <p:cNvSpPr>
            <a:spLocks noGrp="1"/>
          </p:cNvSpPr>
          <p:nvPr>
            <p:ph type="title"/>
          </p:nvPr>
        </p:nvSpPr>
        <p:spPr/>
        <p:txBody>
          <a:bodyPr/>
          <a:lstStyle/>
          <a:p>
            <a:r>
              <a:rPr kumimoji="1" lang="ja-JP" altLang="en-US" sz="3600" dirty="0"/>
              <a:t>考察</a:t>
            </a:r>
          </a:p>
        </p:txBody>
      </p:sp>
      <p:sp>
        <p:nvSpPr>
          <p:cNvPr id="5" name="テキスト ボックス 4">
            <a:extLst>
              <a:ext uri="{FF2B5EF4-FFF2-40B4-BE49-F238E27FC236}">
                <a16:creationId xmlns:a16="http://schemas.microsoft.com/office/drawing/2014/main" id="{17856752-9B17-B2AB-70F7-AC8C17DF4531}"/>
              </a:ext>
            </a:extLst>
          </p:cNvPr>
          <p:cNvSpPr txBox="1"/>
          <p:nvPr/>
        </p:nvSpPr>
        <p:spPr>
          <a:xfrm>
            <a:off x="313264" y="1203635"/>
            <a:ext cx="7713136" cy="830997"/>
          </a:xfrm>
          <a:prstGeom prst="rect">
            <a:avLst/>
          </a:prstGeom>
          <a:noFill/>
        </p:spPr>
        <p:txBody>
          <a:bodyPr wrap="square">
            <a:spAutoFit/>
          </a:bodyPr>
          <a:lstStyle/>
          <a:p>
            <a:pPr algn="l" rtl="0" fontAlgn="base">
              <a:lnSpc>
                <a:spcPct val="150000"/>
              </a:lnSpc>
              <a:buNone/>
            </a:pPr>
            <a:r>
              <a:rPr lang="ja-JP" altLang="en-US" sz="2000" b="1" dirty="0">
                <a:solidFill>
                  <a:schemeClr val="accent1"/>
                </a:solidFill>
                <a:latin typeface="Meiryo UI" panose="020B0604030504040204" pitchFamily="50" charset="-128"/>
                <a:ea typeface="Yu Gothic" panose="020B0400000000000000" pitchFamily="50" charset="-128"/>
              </a:rPr>
              <a:t>人格固定</a:t>
            </a:r>
            <a:r>
              <a:rPr lang="ja-JP" altLang="en-US" sz="2000" b="1" i="0" u="none" strike="noStrike" dirty="0">
                <a:solidFill>
                  <a:schemeClr val="accent1"/>
                </a:solidFill>
                <a:effectLst/>
                <a:latin typeface="Meiryo UI" panose="020B0604030504040204" pitchFamily="50" charset="-128"/>
                <a:ea typeface="Yu Gothic" panose="020B0400000000000000" pitchFamily="50" charset="-128"/>
              </a:rPr>
              <a:t>水準において</a:t>
            </a:r>
            <a:r>
              <a:rPr lang="ja-JP" altLang="en-US" sz="2000" b="1" dirty="0">
                <a:solidFill>
                  <a:schemeClr val="accent1"/>
                </a:solidFill>
                <a:latin typeface="Meiryo UI" panose="020B0604030504040204" pitchFamily="50" charset="-128"/>
                <a:ea typeface="Yu Gothic" panose="020B0400000000000000" pitchFamily="50" charset="-128"/>
              </a:rPr>
              <a:t>名乗りなしの場合</a:t>
            </a:r>
            <a:endParaRPr lang="en-US" altLang="ja-JP" sz="2000" b="1" i="0" u="none" strike="noStrike" dirty="0">
              <a:solidFill>
                <a:schemeClr val="accent1"/>
              </a:solidFill>
              <a:effectLst/>
              <a:latin typeface="Meiryo UI" panose="020B0604030504040204" pitchFamily="50" charset="-128"/>
              <a:ea typeface="Yu Gothic" panose="020B0400000000000000" pitchFamily="50" charset="-128"/>
            </a:endParaRPr>
          </a:p>
          <a:p>
            <a:r>
              <a:rPr lang="ja-JP" altLang="en-US" b="1" dirty="0">
                <a:latin typeface="+mn-ea"/>
              </a:rPr>
              <a:t>「</a:t>
            </a:r>
            <a:r>
              <a:rPr lang="en-US" altLang="ja-JP" b="1" dirty="0">
                <a:latin typeface="+mn-ea"/>
              </a:rPr>
              <a:t>Q10.</a:t>
            </a:r>
            <a:r>
              <a:rPr kumimoji="1" lang="en-US" altLang="ja-JP" b="1" dirty="0">
                <a:solidFill>
                  <a:srgbClr val="FF0000"/>
                </a:solidFill>
                <a:latin typeface="游ゴシック" panose="020B0400000000000000" pitchFamily="50" charset="-128"/>
              </a:rPr>
              <a:t> </a:t>
            </a:r>
            <a:r>
              <a:rPr kumimoji="1" lang="en-US" altLang="ja-JP" b="1" dirty="0">
                <a:latin typeface="游ゴシック" panose="020B0400000000000000" pitchFamily="50" charset="-128"/>
              </a:rPr>
              <a:t>AI </a:t>
            </a:r>
            <a:r>
              <a:rPr kumimoji="1" lang="ja-JP" altLang="en-US" b="1" dirty="0">
                <a:latin typeface="游ゴシック" panose="020B0400000000000000" pitchFamily="50" charset="-128"/>
              </a:rPr>
              <a:t>とのやりとりは注意を引く」について</a:t>
            </a:r>
            <a:endParaRPr lang="ja-JP" altLang="en-US" dirty="0"/>
          </a:p>
        </p:txBody>
      </p:sp>
      <p:sp>
        <p:nvSpPr>
          <p:cNvPr id="6" name="四角形: 角を丸くする 5">
            <a:extLst>
              <a:ext uri="{FF2B5EF4-FFF2-40B4-BE49-F238E27FC236}">
                <a16:creationId xmlns:a16="http://schemas.microsoft.com/office/drawing/2014/main" id="{F11F238D-248B-8927-2192-1B95313593AA}"/>
              </a:ext>
            </a:extLst>
          </p:cNvPr>
          <p:cNvSpPr/>
          <p:nvPr/>
        </p:nvSpPr>
        <p:spPr>
          <a:xfrm>
            <a:off x="1073148" y="2042906"/>
            <a:ext cx="6997700" cy="886086"/>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テキスト ボックス 6">
            <a:extLst>
              <a:ext uri="{FF2B5EF4-FFF2-40B4-BE49-F238E27FC236}">
                <a16:creationId xmlns:a16="http://schemas.microsoft.com/office/drawing/2014/main" id="{2F69E233-A9B9-2142-3A81-16B92ED6B378}"/>
              </a:ext>
            </a:extLst>
          </p:cNvPr>
          <p:cNvSpPr txBox="1"/>
          <p:nvPr/>
        </p:nvSpPr>
        <p:spPr>
          <a:xfrm>
            <a:off x="1117599" y="2144902"/>
            <a:ext cx="6908801" cy="707886"/>
          </a:xfrm>
          <a:prstGeom prst="rect">
            <a:avLst/>
          </a:prstGeom>
          <a:noFill/>
        </p:spPr>
        <p:txBody>
          <a:bodyPr wrap="square">
            <a:spAutoFit/>
          </a:bodyPr>
          <a:lstStyle/>
          <a:p>
            <a:r>
              <a:rPr lang="en-US" altLang="ja-JP" sz="2000" b="1" dirty="0">
                <a:latin typeface="+mn-ea"/>
              </a:rPr>
              <a:t>LLM</a:t>
            </a:r>
            <a:r>
              <a:rPr lang="ja-JP" altLang="en-US" sz="2000" b="1" dirty="0">
                <a:latin typeface="+mn-ea"/>
              </a:rPr>
              <a:t>が</a:t>
            </a:r>
            <a:r>
              <a:rPr lang="ja-JP" altLang="en-US" sz="2000" b="1" dirty="0">
                <a:solidFill>
                  <a:srgbClr val="C00000"/>
                </a:solidFill>
                <a:latin typeface="+mn-ea"/>
              </a:rPr>
              <a:t>名乗らない</a:t>
            </a:r>
            <a:r>
              <a:rPr lang="ja-JP" altLang="en-US" sz="2000" b="1" dirty="0">
                <a:latin typeface="+mn-ea"/>
              </a:rPr>
              <a:t>ことで</a:t>
            </a:r>
            <a:r>
              <a:rPr lang="en-US" altLang="ja-JP" sz="2000" b="1" dirty="0">
                <a:solidFill>
                  <a:srgbClr val="C00000"/>
                </a:solidFill>
                <a:latin typeface="+mn-ea"/>
              </a:rPr>
              <a:t>LLM</a:t>
            </a:r>
            <a:r>
              <a:rPr lang="ja-JP" altLang="en-US" sz="2000" b="1" dirty="0">
                <a:solidFill>
                  <a:srgbClr val="C00000"/>
                </a:solidFill>
                <a:latin typeface="+mn-ea"/>
              </a:rPr>
              <a:t>のやりとりにより注意を引かれる</a:t>
            </a:r>
            <a:r>
              <a:rPr lang="ja-JP" altLang="en-US" sz="2000" b="1" dirty="0">
                <a:latin typeface="+mn-ea"/>
              </a:rPr>
              <a:t>ことが示唆（名乗りあり ＜</a:t>
            </a:r>
            <a:r>
              <a:rPr lang="en-US" altLang="ja-JP" sz="2000" b="1" dirty="0">
                <a:latin typeface="+mn-ea"/>
              </a:rPr>
              <a:t> </a:t>
            </a:r>
            <a:r>
              <a:rPr lang="ja-JP" altLang="en-US" sz="2000" b="1" dirty="0">
                <a:latin typeface="+mn-ea"/>
              </a:rPr>
              <a:t>名乗りなし）</a:t>
            </a:r>
          </a:p>
        </p:txBody>
      </p:sp>
      <p:sp>
        <p:nvSpPr>
          <p:cNvPr id="4" name="テキスト ボックス 3">
            <a:extLst>
              <a:ext uri="{FF2B5EF4-FFF2-40B4-BE49-F238E27FC236}">
                <a16:creationId xmlns:a16="http://schemas.microsoft.com/office/drawing/2014/main" id="{DE664058-7CBF-09EF-C2E0-D20FE4529AEC}"/>
              </a:ext>
            </a:extLst>
          </p:cNvPr>
          <p:cNvSpPr txBox="1"/>
          <p:nvPr/>
        </p:nvSpPr>
        <p:spPr>
          <a:xfrm>
            <a:off x="224364" y="2881223"/>
            <a:ext cx="7713136" cy="500202"/>
          </a:xfrm>
          <a:prstGeom prst="rect">
            <a:avLst/>
          </a:prstGeom>
          <a:noFill/>
        </p:spPr>
        <p:txBody>
          <a:bodyPr wrap="square">
            <a:spAutoFit/>
          </a:bodyPr>
          <a:lstStyle/>
          <a:p>
            <a:pPr fontAlgn="base">
              <a:lnSpc>
                <a:spcPct val="150000"/>
              </a:lnSpc>
            </a:pPr>
            <a:r>
              <a:rPr lang="ja-JP" altLang="en-US" sz="2000" b="1" dirty="0">
                <a:solidFill>
                  <a:schemeClr val="accent1"/>
                </a:solidFill>
                <a:latin typeface="Meiryo UI" panose="020B0604030504040204" pitchFamily="50" charset="-128"/>
                <a:ea typeface="Yu Gothic" panose="020B0400000000000000" pitchFamily="50" charset="-128"/>
              </a:rPr>
              <a:t> </a:t>
            </a:r>
            <a:r>
              <a:rPr lang="ja-JP" altLang="en-US" b="1" dirty="0">
                <a:latin typeface="+mn-ea"/>
              </a:rPr>
              <a:t>「</a:t>
            </a:r>
            <a:r>
              <a:rPr lang="en-US" altLang="ja-JP" b="1" dirty="0">
                <a:latin typeface="+mn-ea"/>
              </a:rPr>
              <a:t>Q19.</a:t>
            </a:r>
            <a:r>
              <a:rPr kumimoji="1" lang="en-US" altLang="ja-JP" b="1" dirty="0">
                <a:solidFill>
                  <a:srgbClr val="FF0000"/>
                </a:solidFill>
                <a:latin typeface="游ゴシック" panose="020B0400000000000000" pitchFamily="50" charset="-128"/>
              </a:rPr>
              <a:t> </a:t>
            </a:r>
            <a:r>
              <a:rPr kumimoji="1" lang="en-US" altLang="ja-JP" b="1" dirty="0">
                <a:latin typeface="游ゴシック" panose="020B0400000000000000" pitchFamily="50" charset="-128"/>
              </a:rPr>
              <a:t>AI</a:t>
            </a:r>
            <a:r>
              <a:rPr kumimoji="1" lang="ja-JP" altLang="en-US" b="1" dirty="0">
                <a:latin typeface="游ゴシック" panose="020B0400000000000000" pitchFamily="50" charset="-128"/>
              </a:rPr>
              <a:t>には感情がある」について</a:t>
            </a:r>
            <a:endParaRPr lang="ja-JP" altLang="en-US" dirty="0"/>
          </a:p>
        </p:txBody>
      </p:sp>
      <p:sp>
        <p:nvSpPr>
          <p:cNvPr id="10" name="テキスト ボックス 9">
            <a:extLst>
              <a:ext uri="{FF2B5EF4-FFF2-40B4-BE49-F238E27FC236}">
                <a16:creationId xmlns:a16="http://schemas.microsoft.com/office/drawing/2014/main" id="{19C0AB10-B66D-0F31-A449-B5CF69CED164}"/>
              </a:ext>
            </a:extLst>
          </p:cNvPr>
          <p:cNvSpPr txBox="1"/>
          <p:nvPr/>
        </p:nvSpPr>
        <p:spPr>
          <a:xfrm>
            <a:off x="1126065" y="3576364"/>
            <a:ext cx="6819901" cy="707886"/>
          </a:xfrm>
          <a:prstGeom prst="rect">
            <a:avLst/>
          </a:prstGeom>
          <a:noFill/>
        </p:spPr>
        <p:txBody>
          <a:bodyPr wrap="square">
            <a:spAutoFit/>
          </a:bodyPr>
          <a:lstStyle/>
          <a:p>
            <a:r>
              <a:rPr lang="en-US" altLang="ja-JP" sz="2000" b="1" dirty="0">
                <a:latin typeface="+mn-ea"/>
              </a:rPr>
              <a:t>LLM</a:t>
            </a:r>
            <a:r>
              <a:rPr lang="ja-JP" altLang="en-US" sz="2000" b="1" dirty="0">
                <a:latin typeface="+mn-ea"/>
              </a:rPr>
              <a:t>が</a:t>
            </a:r>
            <a:r>
              <a:rPr lang="ja-JP" altLang="en-US" sz="2000" b="1" dirty="0">
                <a:solidFill>
                  <a:srgbClr val="C00000"/>
                </a:solidFill>
                <a:latin typeface="+mn-ea"/>
              </a:rPr>
              <a:t>名乗らない</a:t>
            </a:r>
            <a:r>
              <a:rPr lang="ja-JP" altLang="en-US" sz="2000" b="1" dirty="0">
                <a:latin typeface="+mn-ea"/>
              </a:rPr>
              <a:t>ことで</a:t>
            </a:r>
            <a:r>
              <a:rPr lang="ja-JP" altLang="en-US" sz="2000" b="1" dirty="0">
                <a:solidFill>
                  <a:srgbClr val="C00000"/>
                </a:solidFill>
                <a:latin typeface="+mn-ea"/>
              </a:rPr>
              <a:t>より強く</a:t>
            </a:r>
            <a:r>
              <a:rPr lang="en-US" altLang="ja-JP" sz="2000" b="1" dirty="0">
                <a:solidFill>
                  <a:srgbClr val="C00000"/>
                </a:solidFill>
                <a:latin typeface="+mn-ea"/>
              </a:rPr>
              <a:t>LLM</a:t>
            </a:r>
            <a:r>
              <a:rPr lang="ja-JP" altLang="en-US" sz="2000" b="1" dirty="0">
                <a:solidFill>
                  <a:srgbClr val="C00000"/>
                </a:solidFill>
                <a:latin typeface="+mn-ea"/>
              </a:rPr>
              <a:t>に感情がある</a:t>
            </a:r>
            <a:r>
              <a:rPr lang="ja-JP" altLang="en-US" sz="2000" b="1" dirty="0">
                <a:latin typeface="+mn-ea"/>
              </a:rPr>
              <a:t>と</a:t>
            </a:r>
            <a:endParaRPr lang="en-US" altLang="ja-JP" sz="2000" b="1" dirty="0">
              <a:latin typeface="+mn-ea"/>
            </a:endParaRPr>
          </a:p>
          <a:p>
            <a:r>
              <a:rPr lang="ja-JP" altLang="en-US" sz="2000" b="1" dirty="0">
                <a:latin typeface="+mn-ea"/>
              </a:rPr>
              <a:t>感じることが示唆（名乗りあり </a:t>
            </a:r>
            <a:r>
              <a:rPr lang="en-US" altLang="ja-JP" sz="2000" b="1" dirty="0">
                <a:latin typeface="+mn-ea"/>
              </a:rPr>
              <a:t>&lt; </a:t>
            </a:r>
            <a:r>
              <a:rPr lang="ja-JP" altLang="en-US" sz="2000" b="1" dirty="0">
                <a:latin typeface="+mn-ea"/>
              </a:rPr>
              <a:t>名乗りなし）</a:t>
            </a:r>
          </a:p>
        </p:txBody>
      </p:sp>
      <p:sp>
        <p:nvSpPr>
          <p:cNvPr id="15" name="テキスト ボックス 14">
            <a:extLst>
              <a:ext uri="{FF2B5EF4-FFF2-40B4-BE49-F238E27FC236}">
                <a16:creationId xmlns:a16="http://schemas.microsoft.com/office/drawing/2014/main" id="{C17D8E55-1EBC-6ACE-E184-C9418458E571}"/>
              </a:ext>
            </a:extLst>
          </p:cNvPr>
          <p:cNvSpPr txBox="1"/>
          <p:nvPr/>
        </p:nvSpPr>
        <p:spPr>
          <a:xfrm>
            <a:off x="603244" y="5338296"/>
            <a:ext cx="7596720" cy="1092607"/>
          </a:xfrm>
          <a:prstGeom prst="rect">
            <a:avLst/>
          </a:prstGeom>
          <a:noFill/>
        </p:spPr>
        <p:txBody>
          <a:bodyPr wrap="square">
            <a:spAutoFit/>
          </a:bodyPr>
          <a:lstStyle/>
          <a:p>
            <a:pPr marL="177800" indent="-177800">
              <a:spcAft>
                <a:spcPts val="600"/>
              </a:spcAft>
              <a:buFont typeface="Arial" panose="020B0604020202020204" pitchFamily="34" charset="0"/>
              <a:buChar char="•"/>
            </a:pPr>
            <a:r>
              <a:rPr lang="ja-JP" altLang="en-US" sz="2000" b="1" dirty="0"/>
              <a:t>連続する失敗と変わらぬ口調が</a:t>
            </a:r>
            <a:r>
              <a:rPr lang="ja-JP" altLang="en-US" sz="2000" b="1" dirty="0">
                <a:solidFill>
                  <a:srgbClr val="C00000"/>
                </a:solidFill>
              </a:rPr>
              <a:t>チャット切り替え後の挙動への注視</a:t>
            </a:r>
            <a:r>
              <a:rPr lang="ja-JP" altLang="en-US" sz="2000" b="1" dirty="0"/>
              <a:t>を引き起こす可能性</a:t>
            </a:r>
            <a:endParaRPr lang="en-US" altLang="ja-JP" sz="2000" b="1" dirty="0"/>
          </a:p>
          <a:p>
            <a:pPr marL="177800" indent="-177800">
              <a:buFont typeface="Arial" panose="020B0604020202020204" pitchFamily="34" charset="0"/>
              <a:buChar char="•"/>
            </a:pPr>
            <a:r>
              <a:rPr lang="ja-JP" altLang="en-US" sz="2000" b="1" dirty="0"/>
              <a:t>連続失敗時の一貫した口調が</a:t>
            </a:r>
            <a:r>
              <a:rPr lang="ja-JP" altLang="en-US" sz="2000" b="1" dirty="0">
                <a:solidFill>
                  <a:srgbClr val="C00000"/>
                </a:solidFill>
              </a:rPr>
              <a:t>感情の知覚</a:t>
            </a:r>
            <a:r>
              <a:rPr lang="ja-JP" altLang="en-US" sz="2000" b="1" dirty="0"/>
              <a:t>を促進する可能性</a:t>
            </a:r>
            <a:endParaRPr lang="ja-JP" altLang="en-US" sz="2000" b="1" dirty="0">
              <a:latin typeface="+mn-ea"/>
            </a:endParaRPr>
          </a:p>
        </p:txBody>
      </p:sp>
      <p:sp>
        <p:nvSpPr>
          <p:cNvPr id="16" name="矢印: 右 15">
            <a:extLst>
              <a:ext uri="{FF2B5EF4-FFF2-40B4-BE49-F238E27FC236}">
                <a16:creationId xmlns:a16="http://schemas.microsoft.com/office/drawing/2014/main" id="{83139A2C-E140-75D0-56D4-FD889C50C1AD}"/>
              </a:ext>
            </a:extLst>
          </p:cNvPr>
          <p:cNvSpPr/>
          <p:nvPr/>
        </p:nvSpPr>
        <p:spPr>
          <a:xfrm rot="5400000">
            <a:off x="4279899" y="4386623"/>
            <a:ext cx="584197" cy="922866"/>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Tree>
    <p:extLst>
      <p:ext uri="{BB962C8B-B14F-4D97-AF65-F5344CB8AC3E}">
        <p14:creationId xmlns:p14="http://schemas.microsoft.com/office/powerpoint/2010/main" val="2517301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17A4129-E295-FEA3-3D42-DAEE5BA089A3}"/>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6A13F19-53C2-6137-E582-4D7FEB541365}"/>
              </a:ext>
            </a:extLst>
          </p:cNvPr>
          <p:cNvSpPr>
            <a:spLocks noGrp="1"/>
          </p:cNvSpPr>
          <p:nvPr>
            <p:ph type="sldNum" sz="quarter" idx="12"/>
          </p:nvPr>
        </p:nvSpPr>
        <p:spPr/>
        <p:txBody>
          <a:bodyPr>
            <a:noAutofit/>
          </a:bodyPr>
          <a:lstStyle/>
          <a:p>
            <a:fld id="{18020408-E1FF-429E-A8D5-EB2A190A0D77}" type="slidenum">
              <a:rPr kumimoji="1" lang="ja-JP" altLang="en-US" smtClean="0"/>
              <a:t>62</a:t>
            </a:fld>
            <a:endParaRPr kumimoji="1" lang="ja-JP" altLang="en-US"/>
          </a:p>
        </p:txBody>
      </p:sp>
      <p:sp>
        <p:nvSpPr>
          <p:cNvPr id="5" name="タイトル 4">
            <a:extLst>
              <a:ext uri="{FF2B5EF4-FFF2-40B4-BE49-F238E27FC236}">
                <a16:creationId xmlns:a16="http://schemas.microsoft.com/office/drawing/2014/main" id="{C7C72EDF-B2F9-0CA7-BDA8-F4742B41210C}"/>
              </a:ext>
            </a:extLst>
          </p:cNvPr>
          <p:cNvSpPr>
            <a:spLocks noGrp="1"/>
          </p:cNvSpPr>
          <p:nvPr>
            <p:ph type="title"/>
          </p:nvPr>
        </p:nvSpPr>
        <p:spPr/>
        <p:txBody>
          <a:bodyPr>
            <a:noAutofit/>
          </a:bodyPr>
          <a:lstStyle/>
          <a:p>
            <a:r>
              <a:rPr lang="ja-JP" altLang="en-US" sz="3600" b="1" dirty="0">
                <a:solidFill>
                  <a:schemeClr val="bg1"/>
                </a:solidFill>
                <a:latin typeface="+mn-ea"/>
                <a:ea typeface="+mn-ea"/>
              </a:rPr>
              <a:t>提示する対話の内容</a:t>
            </a:r>
          </a:p>
        </p:txBody>
      </p:sp>
      <p:sp>
        <p:nvSpPr>
          <p:cNvPr id="15" name="テキスト ボックス 14">
            <a:extLst>
              <a:ext uri="{FF2B5EF4-FFF2-40B4-BE49-F238E27FC236}">
                <a16:creationId xmlns:a16="http://schemas.microsoft.com/office/drawing/2014/main" id="{5995AF16-80BC-C7C2-699B-95403914DD85}"/>
              </a:ext>
            </a:extLst>
          </p:cNvPr>
          <p:cNvSpPr txBox="1"/>
          <p:nvPr/>
        </p:nvSpPr>
        <p:spPr>
          <a:xfrm>
            <a:off x="266991" y="1516938"/>
            <a:ext cx="8610017" cy="4639732"/>
          </a:xfrm>
          <a:prstGeom prst="rect">
            <a:avLst/>
          </a:prstGeom>
          <a:noFill/>
        </p:spPr>
        <p:txBody>
          <a:bodyPr wrap="square">
            <a:noAutofit/>
          </a:bodyPr>
          <a:lstStyle/>
          <a:p>
            <a:pPr fontAlgn="base">
              <a:lnSpc>
                <a:spcPts val="2400"/>
              </a:lnSpc>
            </a:pPr>
            <a:r>
              <a:rPr lang="ja-JP" altLang="en-US" sz="2000" b="1" i="0" u="none" strike="noStrike" dirty="0">
                <a:solidFill>
                  <a:schemeClr val="accent1"/>
                </a:solidFill>
                <a:effectLst/>
                <a:latin typeface="Meiryo UI" panose="020B0604030504040204" pitchFamily="50" charset="-128"/>
                <a:ea typeface="Yu Gothic" panose="020B0400000000000000" pitchFamily="50" charset="-128"/>
              </a:rPr>
              <a:t>概要</a:t>
            </a:r>
            <a:br>
              <a:rPr lang="en-US" altLang="ja-JP" sz="2000" b="1" i="0" u="none" strike="noStrike" dirty="0">
                <a:solidFill>
                  <a:schemeClr val="accent1"/>
                </a:solidFill>
                <a:effectLst/>
                <a:latin typeface="Meiryo UI" panose="020B0604030504040204" pitchFamily="50" charset="-128"/>
                <a:ea typeface="Yu Gothic" panose="020B0400000000000000" pitchFamily="50" charset="-128"/>
              </a:rPr>
            </a:br>
            <a:r>
              <a:rPr lang="ja-JP" altLang="en-US" sz="2000" b="1" dirty="0">
                <a:latin typeface="Meiryo UI" panose="020B0604030504040204" pitchFamily="50" charset="-128"/>
                <a:ea typeface="Yu Gothic" panose="020B0400000000000000" pitchFamily="50" charset="-128"/>
              </a:rPr>
              <a:t>エージェントに画像生成を指示し，不備により対話に行き詰まりセッションを切り替える場面</a:t>
            </a:r>
            <a:endParaRPr lang="en-US" altLang="ja-JP" sz="2000" b="1" i="0" u="none" strike="noStrike" dirty="0">
              <a:effectLst/>
              <a:latin typeface="Meiryo UI" panose="020B0604030504040204" pitchFamily="50" charset="-128"/>
              <a:ea typeface="Yu Gothic" panose="020B0400000000000000" pitchFamily="50" charset="-128"/>
            </a:endParaRPr>
          </a:p>
          <a:p>
            <a:pPr algn="l" rtl="0" fontAlgn="base">
              <a:lnSpc>
                <a:spcPts val="2400"/>
              </a:lnSpc>
              <a:buNone/>
            </a:pPr>
            <a:endParaRPr lang="en-US" altLang="ja-JP" sz="2000" b="1" dirty="0">
              <a:solidFill>
                <a:schemeClr val="accent1"/>
              </a:solidFill>
              <a:latin typeface="Meiryo UI" panose="020B0604030504040204" pitchFamily="50" charset="-128"/>
              <a:ea typeface="Yu Gothic" panose="020B0400000000000000" pitchFamily="50" charset="-128"/>
            </a:endParaRPr>
          </a:p>
          <a:p>
            <a:pPr algn="l" rtl="0" fontAlgn="base">
              <a:lnSpc>
                <a:spcPts val="2400"/>
              </a:lnSpc>
              <a:buNone/>
            </a:pPr>
            <a:r>
              <a:rPr lang="ja-JP" altLang="en-US" sz="2000" b="1" i="0" u="none" strike="noStrike" dirty="0">
                <a:solidFill>
                  <a:schemeClr val="accent1"/>
                </a:solidFill>
                <a:effectLst/>
                <a:latin typeface="Meiryo UI" panose="020B0604030504040204" pitchFamily="50" charset="-128"/>
                <a:ea typeface="Yu Gothic" panose="020B0400000000000000" pitchFamily="50" charset="-128"/>
              </a:rPr>
              <a:t>作成方法</a:t>
            </a:r>
            <a:endParaRPr lang="en-US" altLang="ja-JP" sz="2000" b="1" i="0" u="none" strike="noStrike" dirty="0">
              <a:solidFill>
                <a:schemeClr val="accent1"/>
              </a:solidFill>
              <a:effectLst/>
              <a:latin typeface="Meiryo UI" panose="020B0604030504040204" pitchFamily="50" charset="-128"/>
              <a:ea typeface="Yu Gothic" panose="020B0400000000000000" pitchFamily="50" charset="-128"/>
            </a:endParaRPr>
          </a:p>
          <a:p>
            <a:r>
              <a:rPr kumimoji="1" lang="ja-JP" altLang="en-US" sz="2000" b="1" dirty="0">
                <a:latin typeface="+mn-ea"/>
              </a:rPr>
              <a:t>・</a:t>
            </a:r>
            <a:r>
              <a:rPr kumimoji="1" lang="en-US" altLang="ja-JP" sz="2000" b="1" dirty="0">
                <a:latin typeface="+mn-ea"/>
              </a:rPr>
              <a:t>Gemini 2.5 Flash Image </a:t>
            </a:r>
            <a:r>
              <a:rPr kumimoji="1" lang="ja-JP" altLang="en-US" sz="2000" b="1" dirty="0">
                <a:latin typeface="+mn-ea"/>
              </a:rPr>
              <a:t>と </a:t>
            </a:r>
            <a:r>
              <a:rPr kumimoji="1" lang="en-US" altLang="ja-JP" sz="2000" b="1" dirty="0">
                <a:latin typeface="+mn-ea"/>
              </a:rPr>
              <a:t>GPT-5</a:t>
            </a:r>
            <a:r>
              <a:rPr kumimoji="1" lang="ja-JP" altLang="en-US" sz="2000" b="1" dirty="0">
                <a:latin typeface="+mn-ea"/>
              </a:rPr>
              <a:t>を使用</a:t>
            </a:r>
            <a:endParaRPr kumimoji="1" lang="en-US" altLang="ja-JP" sz="2000" b="1" dirty="0">
              <a:latin typeface="+mn-ea"/>
            </a:endParaRPr>
          </a:p>
          <a:p>
            <a:endParaRPr kumimoji="1" lang="en-US" altLang="ja-JP" sz="2000" b="1" dirty="0">
              <a:latin typeface="+mn-ea"/>
            </a:endParaRPr>
          </a:p>
          <a:p>
            <a:pPr>
              <a:lnSpc>
                <a:spcPct val="150000"/>
              </a:lnSpc>
            </a:pPr>
            <a:r>
              <a:rPr kumimoji="1" lang="ja-JP" altLang="en-US" sz="2000" b="1" dirty="0">
                <a:latin typeface="+mn-ea"/>
              </a:rPr>
              <a:t>　・</a:t>
            </a:r>
            <a:r>
              <a:rPr kumimoji="1" lang="ja-JP" altLang="en-US" sz="2000" b="1" dirty="0"/>
              <a:t>人格設定なし水準</a:t>
            </a:r>
            <a:endParaRPr kumimoji="1" lang="en-US" altLang="ja-JP" sz="2000" b="1" dirty="0"/>
          </a:p>
          <a:p>
            <a:pPr>
              <a:lnSpc>
                <a:spcPct val="150000"/>
              </a:lnSpc>
            </a:pPr>
            <a:r>
              <a:rPr kumimoji="1" lang="ja-JP" altLang="en-US" sz="2000" b="1" dirty="0">
                <a:sym typeface="Wingdings" panose="05000000000000000000" pitchFamily="2" charset="2"/>
              </a:rPr>
              <a:t>　　</a:t>
            </a:r>
            <a:r>
              <a:rPr kumimoji="1" lang="en-US" altLang="ja-JP" sz="2000" b="1" dirty="0">
                <a:sym typeface="Wingdings" panose="05000000000000000000" pitchFamily="2" charset="2"/>
              </a:rPr>
              <a:t>Gemini 2.5 Flash Image</a:t>
            </a:r>
            <a:r>
              <a:rPr kumimoji="1" lang="ja-JP" altLang="en-US" sz="2000" b="1" dirty="0">
                <a:sym typeface="Wingdings" panose="05000000000000000000" pitchFamily="2" charset="2"/>
              </a:rPr>
              <a:t>の出力結果をそのまま用いる</a:t>
            </a:r>
            <a:endParaRPr kumimoji="1" lang="en-US" altLang="ja-JP" sz="2000" b="1" dirty="0">
              <a:sym typeface="Wingdings" panose="05000000000000000000" pitchFamily="2" charset="2"/>
            </a:endParaRPr>
          </a:p>
          <a:p>
            <a:pPr>
              <a:lnSpc>
                <a:spcPct val="150000"/>
              </a:lnSpc>
            </a:pPr>
            <a:r>
              <a:rPr kumimoji="1" lang="ja-JP" altLang="en-US" sz="2000" b="1" dirty="0">
                <a:latin typeface="+mn-ea"/>
              </a:rPr>
              <a:t>　・</a:t>
            </a:r>
            <a:r>
              <a:rPr kumimoji="1" lang="en-US" altLang="ja-JP" sz="2000" b="1" dirty="0">
                <a:latin typeface="+mn-ea"/>
              </a:rPr>
              <a:t>MBTI</a:t>
            </a:r>
            <a:r>
              <a:rPr kumimoji="1" lang="ja-JP" altLang="en-US" sz="2000" b="1" dirty="0">
                <a:latin typeface="+mn-ea"/>
              </a:rPr>
              <a:t>特性を付与する</a:t>
            </a:r>
            <a:r>
              <a:rPr kumimoji="1" lang="en-US" altLang="ja-JP" sz="2000" b="1" dirty="0">
                <a:latin typeface="+mn-ea"/>
              </a:rPr>
              <a:t>2</a:t>
            </a:r>
            <a:r>
              <a:rPr kumimoji="1" lang="ja-JP" altLang="en-US" sz="2000" b="1" dirty="0">
                <a:latin typeface="+mn-ea"/>
              </a:rPr>
              <a:t>つの</a:t>
            </a:r>
            <a:r>
              <a:rPr kumimoji="1" lang="ja-JP" altLang="en-US" sz="2000" b="1" dirty="0"/>
              <a:t>水準</a:t>
            </a:r>
            <a:endParaRPr kumimoji="1" lang="en-US" altLang="ja-JP" sz="2000" b="1" dirty="0"/>
          </a:p>
          <a:p>
            <a:pPr>
              <a:lnSpc>
                <a:spcPct val="150000"/>
              </a:lnSpc>
            </a:pPr>
            <a:r>
              <a:rPr kumimoji="1" lang="ja-JP" altLang="en-US" sz="2000" b="1" dirty="0">
                <a:solidFill>
                  <a:srgbClr val="000000"/>
                </a:solidFill>
                <a:latin typeface="Meiryo UI" panose="020B0604030504040204" pitchFamily="50" charset="-128"/>
                <a:ea typeface="Meiryo UI" panose="020B0604030504040204" pitchFamily="50" charset="-128"/>
              </a:rPr>
              <a:t>　　　</a:t>
            </a:r>
            <a:r>
              <a:rPr kumimoji="1" lang="en-US" altLang="ja-JP" sz="2000" b="1" dirty="0">
                <a:solidFill>
                  <a:srgbClr val="000000"/>
                </a:solidFill>
                <a:latin typeface="Meiryo UI" panose="020B0604030504040204" pitchFamily="50" charset="-128"/>
                <a:ea typeface="Meiryo UI" panose="020B0604030504040204" pitchFamily="50" charset="-128"/>
                <a:sym typeface="Wingdings" panose="05000000000000000000" pitchFamily="2" charset="2"/>
              </a:rPr>
              <a:t></a:t>
            </a:r>
            <a:r>
              <a:rPr kumimoji="1" lang="ja-JP" altLang="en-US" sz="2000" b="1" dirty="0">
                <a:solidFill>
                  <a:srgbClr val="000000"/>
                </a:solidFill>
                <a:latin typeface="+mn-ea"/>
                <a:sym typeface="Wingdings" panose="05000000000000000000" pitchFamily="2" charset="2"/>
              </a:rPr>
              <a:t>上記</a:t>
            </a:r>
            <a:r>
              <a:rPr kumimoji="1" lang="ja-JP" altLang="en-US" sz="2000" b="1" dirty="0">
                <a:sym typeface="Wingdings" panose="05000000000000000000" pitchFamily="2" charset="2"/>
              </a:rPr>
              <a:t>の出力結果を</a:t>
            </a:r>
            <a:r>
              <a:rPr kumimoji="1" lang="en-US" altLang="ja-JP" sz="2000" b="1" dirty="0">
                <a:sym typeface="Wingdings" panose="05000000000000000000" pitchFamily="2" charset="2"/>
              </a:rPr>
              <a:t>GPT-5</a:t>
            </a:r>
            <a:r>
              <a:rPr kumimoji="1" lang="ja-JP" altLang="en-US" sz="2000" b="1" dirty="0">
                <a:sym typeface="Wingdings" panose="05000000000000000000" pitchFamily="2" charset="2"/>
              </a:rPr>
              <a:t>で</a:t>
            </a:r>
            <a:r>
              <a:rPr kumimoji="1" lang="en-US" altLang="ja-JP" sz="2000" b="1" dirty="0">
                <a:sym typeface="Wingdings" panose="05000000000000000000" pitchFamily="2" charset="2"/>
              </a:rPr>
              <a:t>MBTI</a:t>
            </a:r>
            <a:r>
              <a:rPr kumimoji="1" lang="ja-JP" altLang="en-US" sz="2000" b="1" dirty="0">
                <a:sym typeface="Wingdings" panose="05000000000000000000" pitchFamily="2" charset="2"/>
              </a:rPr>
              <a:t>特性に沿った口調に置き換える</a:t>
            </a:r>
            <a:endParaRPr lang="en-US" altLang="ja-JP" sz="2000" dirty="0">
              <a:solidFill>
                <a:srgbClr val="000000"/>
              </a:solidFill>
              <a:latin typeface="Meiryo UI" panose="020B0604030504040204" pitchFamily="50" charset="-128"/>
              <a:ea typeface="Meiryo UI" panose="020B0604030504040204" pitchFamily="50" charset="-128"/>
            </a:endParaRPr>
          </a:p>
          <a:p>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01599474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11A2F04-D3B7-4817-48C9-449EE4C45D70}"/>
            </a:ext>
          </a:extLst>
        </p:cNvPr>
        <p:cNvGrpSpPr/>
        <p:nvPr/>
      </p:nvGrpSpPr>
      <p:grpSpPr>
        <a:xfrm>
          <a:off x="0" y="0"/>
          <a:ext cx="0" cy="0"/>
          <a:chOff x="0" y="0"/>
          <a:chExt cx="0" cy="0"/>
        </a:xfrm>
      </p:grpSpPr>
      <p:sp>
        <p:nvSpPr>
          <p:cNvPr id="18" name="スライド番号プレースホルダー 17">
            <a:extLst>
              <a:ext uri="{FF2B5EF4-FFF2-40B4-BE49-F238E27FC236}">
                <a16:creationId xmlns:a16="http://schemas.microsoft.com/office/drawing/2014/main" id="{9632588F-5EBA-4B1F-82A9-105DA0357EF3}"/>
              </a:ext>
            </a:extLst>
          </p:cNvPr>
          <p:cNvSpPr>
            <a:spLocks noGrp="1"/>
          </p:cNvSpPr>
          <p:nvPr>
            <p:ph type="sldNum" sz="quarter" idx="12"/>
          </p:nvPr>
        </p:nvSpPr>
        <p:spPr/>
        <p:txBody>
          <a:bodyPr/>
          <a:lstStyle/>
          <a:p>
            <a:fld id="{18020408-E1FF-429E-A8D5-EB2A190A0D77}" type="slidenum">
              <a:rPr kumimoji="1" lang="ja-JP" altLang="en-US" smtClean="0"/>
              <a:t>63</a:t>
            </a:fld>
            <a:endParaRPr kumimoji="1" lang="ja-JP" altLang="en-US"/>
          </a:p>
        </p:txBody>
      </p:sp>
      <p:sp>
        <p:nvSpPr>
          <p:cNvPr id="5" name="タイトル 4">
            <a:extLst>
              <a:ext uri="{FF2B5EF4-FFF2-40B4-BE49-F238E27FC236}">
                <a16:creationId xmlns:a16="http://schemas.microsoft.com/office/drawing/2014/main" id="{6E47273E-5655-8BF1-C5A2-25C22ADDEFBB}"/>
              </a:ext>
            </a:extLst>
          </p:cNvPr>
          <p:cNvSpPr>
            <a:spLocks noGrp="1"/>
          </p:cNvSpPr>
          <p:nvPr>
            <p:ph type="title"/>
          </p:nvPr>
        </p:nvSpPr>
        <p:spPr/>
        <p:txBody>
          <a:bodyPr>
            <a:noAutofit/>
          </a:bodyPr>
          <a:lstStyle/>
          <a:p>
            <a:r>
              <a:rPr lang="ja-JP" altLang="en-US" sz="3600" b="1" dirty="0">
                <a:solidFill>
                  <a:schemeClr val="bg1"/>
                </a:solidFill>
                <a:latin typeface="+mn-ea"/>
                <a:ea typeface="+mn-ea"/>
              </a:rPr>
              <a:t>実験方法</a:t>
            </a:r>
          </a:p>
        </p:txBody>
      </p:sp>
      <p:sp>
        <p:nvSpPr>
          <p:cNvPr id="15" name="テキスト ボックス 14">
            <a:extLst>
              <a:ext uri="{FF2B5EF4-FFF2-40B4-BE49-F238E27FC236}">
                <a16:creationId xmlns:a16="http://schemas.microsoft.com/office/drawing/2014/main" id="{ECDC8C3F-28EE-D686-E902-80FC076D7DF6}"/>
              </a:ext>
            </a:extLst>
          </p:cNvPr>
          <p:cNvSpPr txBox="1"/>
          <p:nvPr/>
        </p:nvSpPr>
        <p:spPr>
          <a:xfrm>
            <a:off x="266991" y="1042388"/>
            <a:ext cx="8610017" cy="4700982"/>
          </a:xfrm>
          <a:prstGeom prst="rect">
            <a:avLst/>
          </a:prstGeom>
          <a:noFill/>
        </p:spPr>
        <p:txBody>
          <a:bodyPr wrap="square">
            <a:noAutofit/>
          </a:bodyPr>
          <a:lstStyle/>
          <a:p>
            <a:pPr algn="l" rtl="0" fontAlgn="base">
              <a:lnSpc>
                <a:spcPct val="150000"/>
              </a:lnSpc>
              <a:buNone/>
            </a:pP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実験目的</a:t>
            </a:r>
            <a:endParaRPr lang="en-US" altLang="ja-JP" sz="2000" b="1" i="0" u="none" strike="noStrike" dirty="0">
              <a:solidFill>
                <a:schemeClr val="accent1"/>
              </a:solidFill>
              <a:effectLst/>
              <a:latin typeface="Meiryo UI" panose="020B0604030504040204" pitchFamily="50" charset="-128"/>
              <a:ea typeface="Yu Gothic" panose="020B0400000000000000" pitchFamily="50" charset="-128"/>
            </a:endParaRPr>
          </a:p>
          <a:p>
            <a:r>
              <a:rPr lang="ja-JP" altLang="en-US" sz="2000" b="1" dirty="0"/>
              <a:t>対話に行き詰まった際の人格切り替えがエージェントに</a:t>
            </a:r>
            <a:endParaRPr lang="en-US" altLang="ja-JP" sz="2000" b="1" dirty="0"/>
          </a:p>
          <a:p>
            <a:r>
              <a:rPr lang="ja-JP" altLang="en-US" sz="2000" b="1" dirty="0"/>
              <a:t>対する印象に与える影響の調査</a:t>
            </a:r>
            <a:endParaRPr lang="en-US" altLang="ja-JP" b="0" i="0" dirty="0">
              <a:effectLst/>
              <a:latin typeface="Meiryo UI" panose="020B0604030504040204" pitchFamily="50" charset="-128"/>
              <a:ea typeface="Meiryo UI" panose="020B0604030504040204" pitchFamily="50" charset="-128"/>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dirty="0">
              <a:solidFill>
                <a:srgbClr val="000000"/>
              </a:solidFill>
              <a:latin typeface="Meiryo UI" panose="020B0604030504040204" pitchFamily="50" charset="-128"/>
              <a:ea typeface="Meiryo UI" panose="020B0604030504040204" pitchFamily="50" charset="-128"/>
            </a:endParaRPr>
          </a:p>
          <a:p>
            <a:pPr algn="l" rtl="0" fontAlgn="base">
              <a:lnSpc>
                <a:spcPct val="150000"/>
              </a:lnSpc>
              <a:buNone/>
            </a:pP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実験条件</a:t>
            </a:r>
            <a:r>
              <a:rPr lang="en-US" altLang="ja-JP" sz="20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fontAlgn="base">
              <a:spcAft>
                <a:spcPts val="1200"/>
              </a:spcAft>
            </a:pPr>
            <a:r>
              <a:rPr lang="ja-JP" altLang="en-US" sz="2000" b="1" dirty="0">
                <a:solidFill>
                  <a:srgbClr val="000000"/>
                </a:solidFill>
                <a:latin typeface="+mn-ea"/>
                <a:ea typeface="Yu Gothic" panose="020B0400000000000000" pitchFamily="50" charset="-128"/>
              </a:rPr>
              <a:t>人格の異なる</a:t>
            </a:r>
            <a:r>
              <a:rPr lang="en-US" altLang="ja-JP" sz="2000" b="1" dirty="0">
                <a:solidFill>
                  <a:srgbClr val="000000"/>
                </a:solidFill>
                <a:latin typeface="+mn-ea"/>
                <a:ea typeface="Yu Gothic" panose="020B0400000000000000" pitchFamily="50" charset="-128"/>
              </a:rPr>
              <a:t>3</a:t>
            </a:r>
            <a:r>
              <a:rPr lang="ja-JP" altLang="en-US" sz="2000" b="1" dirty="0">
                <a:solidFill>
                  <a:srgbClr val="000000"/>
                </a:solidFill>
                <a:latin typeface="+mn-ea"/>
                <a:ea typeface="Yu Gothic" panose="020B0400000000000000" pitchFamily="50" charset="-128"/>
              </a:rPr>
              <a:t>つの</a:t>
            </a:r>
            <a:r>
              <a:rPr lang="ja-JP" altLang="en-US" sz="2000" b="1" dirty="0">
                <a:latin typeface="+mn-ea"/>
                <a:ea typeface="Yu Gothic" panose="020B0400000000000000" pitchFamily="50" charset="-128"/>
              </a:rPr>
              <a:t>条件</a:t>
            </a:r>
            <a:r>
              <a:rPr lang="en-US" altLang="ja-JP" sz="2000" dirty="0">
                <a:solidFill>
                  <a:srgbClr val="000000"/>
                </a:solidFill>
                <a:latin typeface="Yu Gothic" panose="020B0400000000000000" pitchFamily="50" charset="-128"/>
                <a:ea typeface="Meiryo UI" panose="020B0604030504040204" pitchFamily="50" charset="-128"/>
              </a:rPr>
              <a:t>​</a:t>
            </a:r>
          </a:p>
          <a:p>
            <a:pPr fontAlgn="base">
              <a:lnSpc>
                <a:spcPts val="1875"/>
              </a:lnSpc>
              <a:spcAft>
                <a:spcPts val="1200"/>
              </a:spcAft>
            </a:pPr>
            <a:endParaRPr lang="en-US" altLang="ja-JP" b="1" dirty="0">
              <a:solidFill>
                <a:srgbClr val="000000"/>
              </a:solidFill>
              <a:latin typeface="Yu Gothic" panose="020B0400000000000000" pitchFamily="50" charset="-128"/>
              <a:ea typeface="Meiryo UI" panose="020B0604030504040204" pitchFamily="50" charset="-128"/>
            </a:endParaRPr>
          </a:p>
          <a:p>
            <a:pPr fontAlgn="base">
              <a:lnSpc>
                <a:spcPts val="1875"/>
              </a:lnSpc>
              <a:spcAft>
                <a:spcPts val="1200"/>
              </a:spcAft>
            </a:pPr>
            <a:endParaRPr lang="en-US" altLang="ja-JP" b="1" dirty="0">
              <a:solidFill>
                <a:srgbClr val="000000"/>
              </a:solidFill>
              <a:latin typeface="Yu Gothic" panose="020B0400000000000000" pitchFamily="50" charset="-128"/>
              <a:ea typeface="Meiryo UI" panose="020B0604030504040204" pitchFamily="50" charset="-128"/>
            </a:endParaRPr>
          </a:p>
          <a:p>
            <a:pPr fontAlgn="base">
              <a:lnSpc>
                <a:spcPts val="1875"/>
              </a:lnSpc>
              <a:spcAft>
                <a:spcPts val="1200"/>
              </a:spcAft>
            </a:pPr>
            <a:endParaRPr lang="en-US" altLang="ja-JP" b="1" dirty="0">
              <a:solidFill>
                <a:srgbClr val="000000"/>
              </a:solidFill>
              <a:latin typeface="Yu Gothic" panose="020B0400000000000000" pitchFamily="50" charset="-128"/>
              <a:ea typeface="Meiryo UI" panose="020B0604030504040204" pitchFamily="50" charset="-128"/>
            </a:endParaRPr>
          </a:p>
          <a:p>
            <a:pPr fontAlgn="base">
              <a:lnSpc>
                <a:spcPts val="1875"/>
              </a:lnSpc>
              <a:spcAft>
                <a:spcPts val="1200"/>
              </a:spcAft>
            </a:pPr>
            <a:endParaRPr lang="en-US" altLang="ja-JP" b="1" dirty="0">
              <a:solidFill>
                <a:srgbClr val="000000"/>
              </a:solidFill>
              <a:latin typeface="Meiryo UI" panose="020B0604030504040204" pitchFamily="50" charset="-128"/>
              <a:ea typeface="Yu Gothic" panose="020B0400000000000000" pitchFamily="50" charset="-128"/>
            </a:endParaRPr>
          </a:p>
          <a:p>
            <a:pPr algn="l" rtl="0" fontAlgn="base">
              <a:lnSpc>
                <a:spcPts val="2400"/>
              </a:lnSpc>
              <a:buNone/>
            </a:pPr>
            <a:endParaRPr lang="en-US" altLang="ja-JP" b="1" dirty="0">
              <a:solidFill>
                <a:srgbClr val="000000"/>
              </a:solidFill>
              <a:latin typeface="Meiryo UI" panose="020B0604030504040204" pitchFamily="50" charset="-128"/>
              <a:ea typeface="Yu Gothic" panose="020B0400000000000000" pitchFamily="50" charset="-128"/>
            </a:endParaRPr>
          </a:p>
          <a:p>
            <a:pPr algn="l" rtl="0" fontAlgn="base">
              <a:lnSpc>
                <a:spcPts val="2400"/>
              </a:lnSpc>
              <a:buNone/>
            </a:pPr>
            <a:endParaRPr lang="en-US" altLang="ja-JP" sz="2000" b="1" i="0" u="none" strike="noStrike" dirty="0">
              <a:solidFill>
                <a:srgbClr val="1F4E79"/>
              </a:solidFill>
              <a:effectLst/>
              <a:latin typeface="Meiryo UI" panose="020B0604030504040204" pitchFamily="50" charset="-128"/>
              <a:ea typeface="Yu Gothic" panose="020B0400000000000000" pitchFamily="50" charset="-128"/>
            </a:endParaRPr>
          </a:p>
          <a:p>
            <a:pPr algn="l" rtl="0" fontAlgn="base">
              <a:buNone/>
            </a:pP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実施方法</a:t>
            </a:r>
            <a:r>
              <a:rPr lang="en-US" altLang="ja-JP" sz="20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buNone/>
            </a:pPr>
            <a:r>
              <a:rPr lang="ja-JP" altLang="ja-JP" sz="2000" b="1" i="0" u="none" strike="noStrike" dirty="0">
                <a:effectLst/>
                <a:latin typeface="+mn-ea"/>
              </a:rPr>
              <a:t>クラウドソーシングを利用した</a:t>
            </a:r>
            <a:r>
              <a:rPr lang="en-US" altLang="ja-JP" sz="2000" b="1" i="0" u="none" strike="noStrike" dirty="0">
                <a:effectLst/>
                <a:latin typeface="+mn-ea"/>
              </a:rPr>
              <a:t>Web</a:t>
            </a:r>
            <a:r>
              <a:rPr lang="ja-JP" altLang="ja-JP" sz="2000" b="1" i="0" u="none" strike="noStrike" dirty="0">
                <a:effectLst/>
                <a:latin typeface="+mn-ea"/>
              </a:rPr>
              <a:t>実験</a:t>
            </a:r>
            <a:r>
              <a:rPr lang="en-US" altLang="ja-JP" sz="2000" b="0" i="0" dirty="0">
                <a:effectLst/>
                <a:latin typeface="+mn-ea"/>
              </a:rPr>
              <a:t>​</a:t>
            </a:r>
          </a:p>
          <a:p>
            <a:pPr algn="l" rtl="0" fontAlgn="base">
              <a:buNone/>
            </a:pPr>
            <a:r>
              <a:rPr lang="ja-JP" altLang="ja-JP" sz="2000" b="1" i="0" u="none" strike="noStrike" dirty="0">
                <a:effectLst/>
                <a:latin typeface="+mn-ea"/>
              </a:rPr>
              <a:t>参加者間配置で実施</a:t>
            </a: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p:txBody>
      </p:sp>
      <p:sp>
        <p:nvSpPr>
          <p:cNvPr id="2" name="四角形: 角を丸くする 1">
            <a:extLst>
              <a:ext uri="{FF2B5EF4-FFF2-40B4-BE49-F238E27FC236}">
                <a16:creationId xmlns:a16="http://schemas.microsoft.com/office/drawing/2014/main" id="{AE692515-CF6A-7ADB-0A38-AE3A1378D1EF}"/>
              </a:ext>
            </a:extLst>
          </p:cNvPr>
          <p:cNvSpPr/>
          <p:nvPr/>
        </p:nvSpPr>
        <p:spPr>
          <a:xfrm>
            <a:off x="313264" y="3444071"/>
            <a:ext cx="2786945" cy="1837504"/>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11" name="テキスト ボックス 10">
            <a:extLst>
              <a:ext uri="{FF2B5EF4-FFF2-40B4-BE49-F238E27FC236}">
                <a16:creationId xmlns:a16="http://schemas.microsoft.com/office/drawing/2014/main" id="{E1BBA6D8-32BE-FFC3-839C-E2B1DB39FA2E}"/>
              </a:ext>
            </a:extLst>
          </p:cNvPr>
          <p:cNvSpPr txBox="1"/>
          <p:nvPr/>
        </p:nvSpPr>
        <p:spPr>
          <a:xfrm>
            <a:off x="691686" y="3304537"/>
            <a:ext cx="2024855" cy="366273"/>
          </a:xfrm>
          <a:prstGeom prst="rect">
            <a:avLst/>
          </a:prstGeom>
          <a:solidFill>
            <a:schemeClr val="bg1"/>
          </a:solidFill>
        </p:spPr>
        <p:txBody>
          <a:bodyPr wrap="square">
            <a:noAutofit/>
          </a:bodyPr>
          <a:lstStyle/>
          <a:p>
            <a:r>
              <a:rPr lang="ja-JP" altLang="en-US" b="1" dirty="0">
                <a:solidFill>
                  <a:schemeClr val="accent1"/>
                </a:solidFill>
              </a:rPr>
              <a:t>人格設定なし条件</a:t>
            </a:r>
            <a:endParaRPr lang="ja-JP" altLang="en-US" dirty="0">
              <a:solidFill>
                <a:schemeClr val="accent1"/>
              </a:solidFill>
            </a:endParaRPr>
          </a:p>
        </p:txBody>
      </p:sp>
      <p:pic>
        <p:nvPicPr>
          <p:cNvPr id="16" name="Picture 4" descr="ロゴ&#10;&#10;自動的に生成された説明">
            <a:extLst>
              <a:ext uri="{FF2B5EF4-FFF2-40B4-BE49-F238E27FC236}">
                <a16:creationId xmlns:a16="http://schemas.microsoft.com/office/drawing/2014/main" id="{6640CD9B-9700-BDD2-2955-77C01E5DC9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216" y="3868826"/>
            <a:ext cx="2237796" cy="826164"/>
          </a:xfrm>
          <a:prstGeom prst="rect">
            <a:avLst/>
          </a:prstGeom>
          <a:noFill/>
          <a:extLst>
            <a:ext uri="{909E8E84-426E-40DD-AFC4-6F175D3DCCD1}">
              <a14:hiddenFill xmlns:a14="http://schemas.microsoft.com/office/drawing/2010/main">
                <a:solidFill>
                  <a:srgbClr val="FFFFFF"/>
                </a:solidFill>
              </a14:hiddenFill>
            </a:ext>
          </a:extLst>
        </p:spPr>
      </p:pic>
      <p:sp>
        <p:nvSpPr>
          <p:cNvPr id="21" name="四角形: 角を丸くする 20">
            <a:extLst>
              <a:ext uri="{FF2B5EF4-FFF2-40B4-BE49-F238E27FC236}">
                <a16:creationId xmlns:a16="http://schemas.microsoft.com/office/drawing/2014/main" id="{5CD43E02-9E32-8853-871B-8C496EF261EC}"/>
              </a:ext>
            </a:extLst>
          </p:cNvPr>
          <p:cNvSpPr/>
          <p:nvPr/>
        </p:nvSpPr>
        <p:spPr>
          <a:xfrm>
            <a:off x="3256848" y="3444071"/>
            <a:ext cx="2786945" cy="1837504"/>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22" name="四角形: 角を丸くする 21">
            <a:extLst>
              <a:ext uri="{FF2B5EF4-FFF2-40B4-BE49-F238E27FC236}">
                <a16:creationId xmlns:a16="http://schemas.microsoft.com/office/drawing/2014/main" id="{0475A4B1-2C8B-907B-0876-4B668F94F0AB}"/>
              </a:ext>
            </a:extLst>
          </p:cNvPr>
          <p:cNvSpPr/>
          <p:nvPr/>
        </p:nvSpPr>
        <p:spPr>
          <a:xfrm>
            <a:off x="4509992" y="3370758"/>
            <a:ext cx="1096665" cy="29296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23" name="テキスト ボックス 22">
            <a:extLst>
              <a:ext uri="{FF2B5EF4-FFF2-40B4-BE49-F238E27FC236}">
                <a16:creationId xmlns:a16="http://schemas.microsoft.com/office/drawing/2014/main" id="{9E61E23C-CE33-5534-EB4F-7BC1F5E681DF}"/>
              </a:ext>
            </a:extLst>
          </p:cNvPr>
          <p:cNvSpPr txBox="1"/>
          <p:nvPr/>
        </p:nvSpPr>
        <p:spPr>
          <a:xfrm>
            <a:off x="3531228" y="3161408"/>
            <a:ext cx="2216731" cy="652533"/>
          </a:xfrm>
          <a:prstGeom prst="rect">
            <a:avLst/>
          </a:prstGeom>
          <a:solidFill>
            <a:schemeClr val="bg1"/>
          </a:solidFill>
        </p:spPr>
        <p:txBody>
          <a:bodyPr wrap="square">
            <a:noAutofit/>
          </a:bodyPr>
          <a:lstStyle/>
          <a:p>
            <a:r>
              <a:rPr lang="en-US" altLang="ja-JP" b="1" dirty="0">
                <a:solidFill>
                  <a:schemeClr val="accent1"/>
                </a:solidFill>
                <a:latin typeface="+mn-ea"/>
              </a:rPr>
              <a:t>ISTJ</a:t>
            </a:r>
            <a:r>
              <a:rPr lang="ja-JP" altLang="en-US" b="1" dirty="0">
                <a:solidFill>
                  <a:schemeClr val="accent1"/>
                </a:solidFill>
                <a:latin typeface="+mn-ea"/>
              </a:rPr>
              <a:t>から</a:t>
            </a:r>
            <a:r>
              <a:rPr lang="en-US" altLang="ja-JP" b="1" dirty="0">
                <a:solidFill>
                  <a:schemeClr val="accent1"/>
                </a:solidFill>
                <a:latin typeface="+mn-ea"/>
              </a:rPr>
              <a:t>ENFP</a:t>
            </a:r>
            <a:r>
              <a:rPr lang="ja-JP" altLang="en-US" b="1" dirty="0">
                <a:solidFill>
                  <a:schemeClr val="accent1"/>
                </a:solidFill>
                <a:latin typeface="+mn-ea"/>
              </a:rPr>
              <a:t>への</a:t>
            </a:r>
            <a:endParaRPr lang="en-US" altLang="ja-JP" b="1" dirty="0">
              <a:solidFill>
                <a:schemeClr val="accent1"/>
              </a:solidFill>
              <a:latin typeface="+mn-ea"/>
            </a:endParaRPr>
          </a:p>
          <a:p>
            <a:r>
              <a:rPr lang="ja-JP" altLang="en-US" b="1" dirty="0">
                <a:solidFill>
                  <a:schemeClr val="accent1"/>
                </a:solidFill>
                <a:latin typeface="+mn-ea"/>
              </a:rPr>
              <a:t>人格切り替え条件</a:t>
            </a:r>
            <a:endParaRPr lang="ja-JP" altLang="en-US" dirty="0">
              <a:solidFill>
                <a:schemeClr val="accent1"/>
              </a:solidFill>
              <a:latin typeface="+mn-ea"/>
            </a:endParaRPr>
          </a:p>
        </p:txBody>
      </p:sp>
      <p:sp>
        <p:nvSpPr>
          <p:cNvPr id="26" name="四角形: 角を丸くする 25">
            <a:extLst>
              <a:ext uri="{FF2B5EF4-FFF2-40B4-BE49-F238E27FC236}">
                <a16:creationId xmlns:a16="http://schemas.microsoft.com/office/drawing/2014/main" id="{F7DC388F-257D-7EA6-5907-B673C30A6D42}"/>
              </a:ext>
            </a:extLst>
          </p:cNvPr>
          <p:cNvSpPr/>
          <p:nvPr/>
        </p:nvSpPr>
        <p:spPr>
          <a:xfrm>
            <a:off x="6181062" y="3444071"/>
            <a:ext cx="2786945" cy="1837504"/>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27" name="四角形: 角を丸くする 26">
            <a:extLst>
              <a:ext uri="{FF2B5EF4-FFF2-40B4-BE49-F238E27FC236}">
                <a16:creationId xmlns:a16="http://schemas.microsoft.com/office/drawing/2014/main" id="{0005FC92-C643-86FA-4DAD-56406E46476B}"/>
              </a:ext>
            </a:extLst>
          </p:cNvPr>
          <p:cNvSpPr/>
          <p:nvPr/>
        </p:nvSpPr>
        <p:spPr>
          <a:xfrm>
            <a:off x="7434206" y="3370758"/>
            <a:ext cx="1096665" cy="29296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28" name="テキスト ボックス 27">
            <a:extLst>
              <a:ext uri="{FF2B5EF4-FFF2-40B4-BE49-F238E27FC236}">
                <a16:creationId xmlns:a16="http://schemas.microsoft.com/office/drawing/2014/main" id="{7CD19BC6-4028-EFBD-89EC-3AFD45C9B9E3}"/>
              </a:ext>
            </a:extLst>
          </p:cNvPr>
          <p:cNvSpPr txBox="1"/>
          <p:nvPr/>
        </p:nvSpPr>
        <p:spPr>
          <a:xfrm>
            <a:off x="6499952" y="3161408"/>
            <a:ext cx="2216731" cy="652533"/>
          </a:xfrm>
          <a:prstGeom prst="rect">
            <a:avLst/>
          </a:prstGeom>
          <a:solidFill>
            <a:schemeClr val="bg1"/>
          </a:solidFill>
        </p:spPr>
        <p:txBody>
          <a:bodyPr wrap="square">
            <a:noAutofit/>
          </a:bodyPr>
          <a:lstStyle/>
          <a:p>
            <a:r>
              <a:rPr lang="en-US" altLang="ja-JP" b="1" dirty="0">
                <a:solidFill>
                  <a:schemeClr val="accent1"/>
                </a:solidFill>
                <a:latin typeface="+mn-ea"/>
              </a:rPr>
              <a:t>ENFP</a:t>
            </a:r>
            <a:r>
              <a:rPr lang="ja-JP" altLang="en-US" b="1" dirty="0">
                <a:solidFill>
                  <a:schemeClr val="accent1"/>
                </a:solidFill>
                <a:latin typeface="+mn-ea"/>
              </a:rPr>
              <a:t>から</a:t>
            </a:r>
            <a:r>
              <a:rPr lang="en-US" altLang="ja-JP" b="1" dirty="0">
                <a:solidFill>
                  <a:schemeClr val="accent1"/>
                </a:solidFill>
                <a:latin typeface="+mn-ea"/>
              </a:rPr>
              <a:t>ISTJ</a:t>
            </a:r>
            <a:r>
              <a:rPr lang="ja-JP" altLang="en-US" b="1" dirty="0">
                <a:solidFill>
                  <a:schemeClr val="accent1"/>
                </a:solidFill>
                <a:latin typeface="+mn-ea"/>
              </a:rPr>
              <a:t>への</a:t>
            </a:r>
            <a:endParaRPr lang="en-US" altLang="ja-JP" b="1" dirty="0">
              <a:solidFill>
                <a:schemeClr val="accent1"/>
              </a:solidFill>
              <a:latin typeface="+mn-ea"/>
            </a:endParaRPr>
          </a:p>
          <a:p>
            <a:r>
              <a:rPr lang="ja-JP" altLang="en-US" b="1" dirty="0">
                <a:solidFill>
                  <a:schemeClr val="accent1"/>
                </a:solidFill>
                <a:latin typeface="+mn-ea"/>
              </a:rPr>
              <a:t>人格切り替え条件</a:t>
            </a:r>
            <a:endParaRPr lang="ja-JP" altLang="en-US" dirty="0">
              <a:solidFill>
                <a:schemeClr val="accent1"/>
              </a:solidFill>
              <a:latin typeface="+mn-ea"/>
            </a:endParaRPr>
          </a:p>
          <a:p>
            <a:endParaRPr lang="ja-JP" altLang="en-US" dirty="0">
              <a:solidFill>
                <a:schemeClr val="accent1"/>
              </a:solidFill>
            </a:endParaRPr>
          </a:p>
        </p:txBody>
      </p:sp>
      <p:pic>
        <p:nvPicPr>
          <p:cNvPr id="32" name="図 31">
            <a:extLst>
              <a:ext uri="{FF2B5EF4-FFF2-40B4-BE49-F238E27FC236}">
                <a16:creationId xmlns:a16="http://schemas.microsoft.com/office/drawing/2014/main" id="{483A2FE0-DBA6-245E-C713-69EA0894D46B}"/>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95072" y="3966747"/>
            <a:ext cx="1051201" cy="864645"/>
          </a:xfrm>
          <a:prstGeom prst="rect">
            <a:avLst/>
          </a:prstGeom>
        </p:spPr>
      </p:pic>
      <p:pic>
        <p:nvPicPr>
          <p:cNvPr id="33" name="図 32">
            <a:extLst>
              <a:ext uri="{FF2B5EF4-FFF2-40B4-BE49-F238E27FC236}">
                <a16:creationId xmlns:a16="http://schemas.microsoft.com/office/drawing/2014/main" id="{622EB834-3410-1806-054D-7C8A6EDC70FC}"/>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5058324" y="3966820"/>
            <a:ext cx="970521" cy="864498"/>
          </a:xfrm>
          <a:prstGeom prst="rect">
            <a:avLst/>
          </a:prstGeom>
        </p:spPr>
      </p:pic>
      <p:sp>
        <p:nvSpPr>
          <p:cNvPr id="34" name="矢印: 右 33">
            <a:extLst>
              <a:ext uri="{FF2B5EF4-FFF2-40B4-BE49-F238E27FC236}">
                <a16:creationId xmlns:a16="http://schemas.microsoft.com/office/drawing/2014/main" id="{374A659B-9551-0F6E-074C-9973E55F51EB}"/>
              </a:ext>
            </a:extLst>
          </p:cNvPr>
          <p:cNvSpPr/>
          <p:nvPr/>
        </p:nvSpPr>
        <p:spPr>
          <a:xfrm>
            <a:off x="4470805" y="4131679"/>
            <a:ext cx="462987" cy="534781"/>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pic>
        <p:nvPicPr>
          <p:cNvPr id="39" name="図 38">
            <a:extLst>
              <a:ext uri="{FF2B5EF4-FFF2-40B4-BE49-F238E27FC236}">
                <a16:creationId xmlns:a16="http://schemas.microsoft.com/office/drawing/2014/main" id="{6E8DF51E-5A28-5004-E140-F3370CBCDA84}"/>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912089" y="3966747"/>
            <a:ext cx="1051201" cy="864645"/>
          </a:xfrm>
          <a:prstGeom prst="rect">
            <a:avLst/>
          </a:prstGeom>
        </p:spPr>
      </p:pic>
      <p:pic>
        <p:nvPicPr>
          <p:cNvPr id="40" name="図 39">
            <a:extLst>
              <a:ext uri="{FF2B5EF4-FFF2-40B4-BE49-F238E27FC236}">
                <a16:creationId xmlns:a16="http://schemas.microsoft.com/office/drawing/2014/main" id="{48686D1C-8DE9-EFB6-ECAC-73F527A7D3D0}"/>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6166114" y="3966820"/>
            <a:ext cx="970521" cy="864498"/>
          </a:xfrm>
          <a:prstGeom prst="rect">
            <a:avLst/>
          </a:prstGeom>
        </p:spPr>
      </p:pic>
      <p:sp>
        <p:nvSpPr>
          <p:cNvPr id="41" name="矢印: 右 40">
            <a:extLst>
              <a:ext uri="{FF2B5EF4-FFF2-40B4-BE49-F238E27FC236}">
                <a16:creationId xmlns:a16="http://schemas.microsoft.com/office/drawing/2014/main" id="{0533EFE2-B729-61A6-EDC3-4ECB8D4C7192}"/>
              </a:ext>
            </a:extLst>
          </p:cNvPr>
          <p:cNvSpPr/>
          <p:nvPr/>
        </p:nvSpPr>
        <p:spPr>
          <a:xfrm>
            <a:off x="7311833" y="4139730"/>
            <a:ext cx="462987" cy="534781"/>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43" name="テキスト ボックス 42">
            <a:extLst>
              <a:ext uri="{FF2B5EF4-FFF2-40B4-BE49-F238E27FC236}">
                <a16:creationId xmlns:a16="http://schemas.microsoft.com/office/drawing/2014/main" id="{B41E149C-442C-4C55-061B-FD0E942E293C}"/>
              </a:ext>
            </a:extLst>
          </p:cNvPr>
          <p:cNvSpPr txBox="1"/>
          <p:nvPr/>
        </p:nvSpPr>
        <p:spPr>
          <a:xfrm>
            <a:off x="3340350" y="4821441"/>
            <a:ext cx="672188" cy="369332"/>
          </a:xfrm>
          <a:prstGeom prst="rect">
            <a:avLst/>
          </a:prstGeom>
          <a:noFill/>
        </p:spPr>
        <p:txBody>
          <a:bodyPr wrap="square">
            <a:spAutoFit/>
          </a:bodyPr>
          <a:lstStyle/>
          <a:p>
            <a:r>
              <a:rPr lang="en-US" altLang="ja-JP" b="1" dirty="0">
                <a:latin typeface="+mn-ea"/>
              </a:rPr>
              <a:t>ISTJ</a:t>
            </a:r>
            <a:endParaRPr lang="ja-JP" altLang="en-US" dirty="0">
              <a:latin typeface="+mn-ea"/>
            </a:endParaRPr>
          </a:p>
        </p:txBody>
      </p:sp>
      <p:sp>
        <p:nvSpPr>
          <p:cNvPr id="45" name="テキスト ボックス 44">
            <a:extLst>
              <a:ext uri="{FF2B5EF4-FFF2-40B4-BE49-F238E27FC236}">
                <a16:creationId xmlns:a16="http://schemas.microsoft.com/office/drawing/2014/main" id="{6EB50BA9-1F37-7217-A2A9-545C1A0A46A8}"/>
              </a:ext>
            </a:extLst>
          </p:cNvPr>
          <p:cNvSpPr txBox="1"/>
          <p:nvPr/>
        </p:nvSpPr>
        <p:spPr>
          <a:xfrm>
            <a:off x="5104950" y="4821441"/>
            <a:ext cx="863246" cy="369332"/>
          </a:xfrm>
          <a:prstGeom prst="rect">
            <a:avLst/>
          </a:prstGeom>
          <a:noFill/>
        </p:spPr>
        <p:txBody>
          <a:bodyPr wrap="square">
            <a:spAutoFit/>
          </a:bodyPr>
          <a:lstStyle/>
          <a:p>
            <a:r>
              <a:rPr lang="en-US" altLang="ja-JP" b="1" dirty="0">
                <a:latin typeface="+mn-ea"/>
              </a:rPr>
              <a:t>ENFP</a:t>
            </a:r>
            <a:endParaRPr lang="ja-JP" altLang="en-US" dirty="0">
              <a:latin typeface="+mn-ea"/>
            </a:endParaRPr>
          </a:p>
        </p:txBody>
      </p:sp>
      <p:sp>
        <p:nvSpPr>
          <p:cNvPr id="47" name="テキスト ボックス 46">
            <a:extLst>
              <a:ext uri="{FF2B5EF4-FFF2-40B4-BE49-F238E27FC236}">
                <a16:creationId xmlns:a16="http://schemas.microsoft.com/office/drawing/2014/main" id="{5601627B-CBF0-8D43-196A-07F9439565F6}"/>
              </a:ext>
            </a:extLst>
          </p:cNvPr>
          <p:cNvSpPr txBox="1"/>
          <p:nvPr/>
        </p:nvSpPr>
        <p:spPr>
          <a:xfrm>
            <a:off x="6200432" y="4821441"/>
            <a:ext cx="824752" cy="369332"/>
          </a:xfrm>
          <a:prstGeom prst="rect">
            <a:avLst/>
          </a:prstGeom>
          <a:noFill/>
        </p:spPr>
        <p:txBody>
          <a:bodyPr wrap="square">
            <a:spAutoFit/>
          </a:bodyPr>
          <a:lstStyle/>
          <a:p>
            <a:r>
              <a:rPr lang="en-US" altLang="ja-JP" b="1" dirty="0">
                <a:latin typeface="+mn-ea"/>
              </a:rPr>
              <a:t>ENFP</a:t>
            </a:r>
            <a:endParaRPr lang="ja-JP" altLang="en-US" dirty="0">
              <a:latin typeface="+mn-ea"/>
            </a:endParaRPr>
          </a:p>
        </p:txBody>
      </p:sp>
      <p:sp>
        <p:nvSpPr>
          <p:cNvPr id="49" name="テキスト ボックス 48">
            <a:extLst>
              <a:ext uri="{FF2B5EF4-FFF2-40B4-BE49-F238E27FC236}">
                <a16:creationId xmlns:a16="http://schemas.microsoft.com/office/drawing/2014/main" id="{2F032117-1B7C-02D0-E4C5-3F7AFE26D7D5}"/>
              </a:ext>
            </a:extLst>
          </p:cNvPr>
          <p:cNvSpPr txBox="1"/>
          <p:nvPr/>
        </p:nvSpPr>
        <p:spPr>
          <a:xfrm>
            <a:off x="7965024" y="4821441"/>
            <a:ext cx="694747" cy="369332"/>
          </a:xfrm>
          <a:prstGeom prst="rect">
            <a:avLst/>
          </a:prstGeom>
          <a:noFill/>
        </p:spPr>
        <p:txBody>
          <a:bodyPr wrap="square">
            <a:spAutoFit/>
          </a:bodyPr>
          <a:lstStyle/>
          <a:p>
            <a:r>
              <a:rPr lang="en-US" altLang="ja-JP" b="1" dirty="0">
                <a:latin typeface="+mn-ea"/>
              </a:rPr>
              <a:t>ISTJ</a:t>
            </a:r>
            <a:endParaRPr lang="ja-JP" altLang="en-US" dirty="0">
              <a:latin typeface="+mn-ea"/>
            </a:endParaRPr>
          </a:p>
        </p:txBody>
      </p:sp>
      <p:sp>
        <p:nvSpPr>
          <p:cNvPr id="51" name="テキスト ボックス 50">
            <a:extLst>
              <a:ext uri="{FF2B5EF4-FFF2-40B4-BE49-F238E27FC236}">
                <a16:creationId xmlns:a16="http://schemas.microsoft.com/office/drawing/2014/main" id="{66309915-4E5E-37BA-39E0-DCBFB733EE7F}"/>
              </a:ext>
            </a:extLst>
          </p:cNvPr>
          <p:cNvSpPr txBox="1"/>
          <p:nvPr/>
        </p:nvSpPr>
        <p:spPr>
          <a:xfrm>
            <a:off x="327325" y="4811565"/>
            <a:ext cx="2797214" cy="369332"/>
          </a:xfrm>
          <a:prstGeom prst="rect">
            <a:avLst/>
          </a:prstGeom>
          <a:noFill/>
        </p:spPr>
        <p:txBody>
          <a:bodyPr wrap="square">
            <a:spAutoFit/>
          </a:bodyPr>
          <a:lstStyle/>
          <a:p>
            <a:r>
              <a:rPr kumimoji="1" lang="en-US" altLang="ja-JP" sz="1800" b="1" dirty="0">
                <a:latin typeface="+mn-ea"/>
              </a:rPr>
              <a:t>Gemini 2.5 Flash Image </a:t>
            </a:r>
            <a:endParaRPr lang="ja-JP" altLang="en-US" sz="1800" dirty="0"/>
          </a:p>
        </p:txBody>
      </p:sp>
    </p:spTree>
    <p:extLst>
      <p:ext uri="{BB962C8B-B14F-4D97-AF65-F5344CB8AC3E}">
        <p14:creationId xmlns:p14="http://schemas.microsoft.com/office/powerpoint/2010/main" val="6740484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B63D97A-AC04-684A-2607-24EF8DB2C804}"/>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7D1DC8F9-3DB2-1A3E-9FF1-868200C61BB2}"/>
              </a:ext>
            </a:extLst>
          </p:cNvPr>
          <p:cNvSpPr>
            <a:spLocks noGrp="1"/>
          </p:cNvSpPr>
          <p:nvPr>
            <p:ph type="sldNum" sz="quarter" idx="12"/>
          </p:nvPr>
        </p:nvSpPr>
        <p:spPr/>
        <p:txBody>
          <a:bodyPr>
            <a:noAutofit/>
          </a:bodyPr>
          <a:lstStyle/>
          <a:p>
            <a:fld id="{18020408-E1FF-429E-A8D5-EB2A190A0D77}" type="slidenum">
              <a:rPr kumimoji="1" lang="ja-JP" altLang="en-US" smtClean="0"/>
              <a:t>64</a:t>
            </a:fld>
            <a:endParaRPr kumimoji="1" lang="ja-JP" altLang="en-US"/>
          </a:p>
        </p:txBody>
      </p:sp>
      <p:sp>
        <p:nvSpPr>
          <p:cNvPr id="5" name="タイトル 4">
            <a:extLst>
              <a:ext uri="{FF2B5EF4-FFF2-40B4-BE49-F238E27FC236}">
                <a16:creationId xmlns:a16="http://schemas.microsoft.com/office/drawing/2014/main" id="{DAC1DCBB-6F01-EEB1-1E93-65FC1E769FED}"/>
              </a:ext>
            </a:extLst>
          </p:cNvPr>
          <p:cNvSpPr>
            <a:spLocks noGrp="1"/>
          </p:cNvSpPr>
          <p:nvPr>
            <p:ph type="title"/>
          </p:nvPr>
        </p:nvSpPr>
        <p:spPr/>
        <p:txBody>
          <a:bodyPr>
            <a:noAutofit/>
          </a:bodyPr>
          <a:lstStyle/>
          <a:p>
            <a:r>
              <a:rPr lang="en-US" altLang="ja-JP" sz="3600" dirty="0"/>
              <a:t>ISTJ</a:t>
            </a:r>
            <a:r>
              <a:rPr lang="ja-JP" altLang="en-US" sz="3600" b="1" dirty="0">
                <a:solidFill>
                  <a:schemeClr val="bg1"/>
                </a:solidFill>
                <a:latin typeface="+mn-ea"/>
                <a:ea typeface="+mn-ea"/>
              </a:rPr>
              <a:t>付与プロンプト</a:t>
            </a:r>
          </a:p>
        </p:txBody>
      </p:sp>
      <p:sp>
        <p:nvSpPr>
          <p:cNvPr id="15" name="テキスト ボックス 14">
            <a:extLst>
              <a:ext uri="{FF2B5EF4-FFF2-40B4-BE49-F238E27FC236}">
                <a16:creationId xmlns:a16="http://schemas.microsoft.com/office/drawing/2014/main" id="{C7BB3E1B-B887-F475-EBDF-5D90D30F4E56}"/>
              </a:ext>
            </a:extLst>
          </p:cNvPr>
          <p:cNvSpPr txBox="1"/>
          <p:nvPr/>
        </p:nvSpPr>
        <p:spPr>
          <a:xfrm>
            <a:off x="152149" y="1118210"/>
            <a:ext cx="4027031" cy="417902"/>
          </a:xfrm>
          <a:prstGeom prst="rect">
            <a:avLst/>
          </a:prstGeom>
          <a:noFill/>
        </p:spPr>
        <p:txBody>
          <a:bodyPr wrap="square">
            <a:noAutofit/>
          </a:bodyPr>
          <a:lstStyle/>
          <a:p>
            <a:pPr fontAlgn="base">
              <a:lnSpc>
                <a:spcPts val="2400"/>
              </a:lnSpc>
            </a:pPr>
            <a:endParaRPr lang="en-US" altLang="ja-JP" b="0" i="0" dirty="0">
              <a:solidFill>
                <a:srgbClr val="000000"/>
              </a:solidFill>
              <a:effectLst/>
              <a:latin typeface="+mn-ea"/>
            </a:endParaRPr>
          </a:p>
        </p:txBody>
      </p:sp>
      <p:sp>
        <p:nvSpPr>
          <p:cNvPr id="2" name="四角形: 角を丸くする 1">
            <a:extLst>
              <a:ext uri="{FF2B5EF4-FFF2-40B4-BE49-F238E27FC236}">
                <a16:creationId xmlns:a16="http://schemas.microsoft.com/office/drawing/2014/main" id="{8B4DECCE-E742-68BB-A1E6-32F9CF9D8EE2}"/>
              </a:ext>
            </a:extLst>
          </p:cNvPr>
          <p:cNvSpPr/>
          <p:nvPr/>
        </p:nvSpPr>
        <p:spPr>
          <a:xfrm>
            <a:off x="906087" y="3807228"/>
            <a:ext cx="7390016" cy="2986231"/>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3" name="テキスト ボックス 2">
            <a:extLst>
              <a:ext uri="{FF2B5EF4-FFF2-40B4-BE49-F238E27FC236}">
                <a16:creationId xmlns:a16="http://schemas.microsoft.com/office/drawing/2014/main" id="{98155667-4A47-4B68-1E5B-C20CB66216E3}"/>
              </a:ext>
            </a:extLst>
          </p:cNvPr>
          <p:cNvSpPr txBox="1"/>
          <p:nvPr/>
        </p:nvSpPr>
        <p:spPr>
          <a:xfrm>
            <a:off x="2811483" y="3647510"/>
            <a:ext cx="2890262" cy="319436"/>
          </a:xfrm>
          <a:prstGeom prst="rect">
            <a:avLst/>
          </a:prstGeom>
          <a:solidFill>
            <a:schemeClr val="bg1"/>
          </a:solidFill>
        </p:spPr>
        <p:txBody>
          <a:bodyPr wrap="square">
            <a:noAutofit/>
          </a:bodyPr>
          <a:lstStyle/>
          <a:p>
            <a:r>
              <a:rPr lang="en-US" altLang="ja-JP" b="1" dirty="0">
                <a:solidFill>
                  <a:schemeClr val="accent1"/>
                </a:solidFill>
              </a:rPr>
              <a:t>ISTJ</a:t>
            </a:r>
            <a:r>
              <a:rPr lang="ja-JP" altLang="en-US" b="1" dirty="0">
                <a:solidFill>
                  <a:schemeClr val="accent1"/>
                </a:solidFill>
              </a:rPr>
              <a:t>付与のプロンプト要約</a:t>
            </a:r>
            <a:endParaRPr lang="ja-JP" altLang="en-US" dirty="0">
              <a:solidFill>
                <a:schemeClr val="accent1"/>
              </a:solidFill>
            </a:endParaRPr>
          </a:p>
        </p:txBody>
      </p:sp>
      <p:sp>
        <p:nvSpPr>
          <p:cNvPr id="4" name="テキスト ボックス 3">
            <a:extLst>
              <a:ext uri="{FF2B5EF4-FFF2-40B4-BE49-F238E27FC236}">
                <a16:creationId xmlns:a16="http://schemas.microsoft.com/office/drawing/2014/main" id="{5854E08C-3F94-516B-1B8F-AED80ECE1C9E}"/>
              </a:ext>
            </a:extLst>
          </p:cNvPr>
          <p:cNvSpPr txBox="1"/>
          <p:nvPr/>
        </p:nvSpPr>
        <p:spPr>
          <a:xfrm>
            <a:off x="4179180" y="4022509"/>
            <a:ext cx="4215803" cy="2555667"/>
          </a:xfrm>
          <a:prstGeom prst="rect">
            <a:avLst/>
          </a:prstGeom>
          <a:noFill/>
        </p:spPr>
        <p:txBody>
          <a:bodyPr wrap="square">
            <a:noAutofit/>
          </a:bodyPr>
          <a:lstStyle/>
          <a:p>
            <a:pPr marL="342900" indent="-255588">
              <a:spcBef>
                <a:spcPts val="300"/>
              </a:spcBef>
              <a:buFont typeface="+mj-lt"/>
              <a:buAutoNum type="arabicPeriod"/>
            </a:pPr>
            <a:r>
              <a:rPr kumimoji="1" lang="ja-JP" altLang="en-US" sz="1400" b="1" dirty="0">
                <a:latin typeface="+mn-ea"/>
              </a:rPr>
              <a:t>伝統，ルール，秩序を重んじる</a:t>
            </a:r>
            <a:endParaRPr kumimoji="1" lang="en-US" altLang="ja-JP" sz="1400" b="1" dirty="0">
              <a:latin typeface="+mn-ea"/>
            </a:endParaRPr>
          </a:p>
          <a:p>
            <a:pPr marL="342900" indent="-255588">
              <a:spcBef>
                <a:spcPts val="300"/>
              </a:spcBef>
              <a:buFont typeface="+mj-lt"/>
              <a:buAutoNum type="arabicPeriod"/>
            </a:pPr>
            <a:r>
              <a:rPr lang="ja-JP" altLang="en-US" sz="1400" b="1" dirty="0"/>
              <a:t>明確で簡潔な情報を好み，率直に伝達する</a:t>
            </a:r>
            <a:endParaRPr lang="en-US" altLang="ja-JP" sz="1400" b="1" dirty="0"/>
          </a:p>
          <a:p>
            <a:pPr marL="342900" indent="-255588">
              <a:spcBef>
                <a:spcPts val="300"/>
              </a:spcBef>
              <a:buFont typeface="+mj-lt"/>
              <a:buAutoNum type="arabicPeriod"/>
            </a:pPr>
            <a:r>
              <a:rPr lang="ja-JP" altLang="en-US" sz="1400" b="1" dirty="0"/>
              <a:t>効率，秩序，および結果に焦点を当て，感情的または感情表現豊かなスタイルではない</a:t>
            </a:r>
            <a:endParaRPr lang="en-US" altLang="ja-JP" sz="1400" b="1" dirty="0"/>
          </a:p>
          <a:p>
            <a:pPr marL="342900" indent="-255588">
              <a:spcBef>
                <a:spcPts val="300"/>
              </a:spcBef>
              <a:buFont typeface="+mj-lt"/>
              <a:buAutoNum type="arabicPeriod"/>
            </a:pPr>
            <a:r>
              <a:rPr lang="ja-JP" altLang="en-US" sz="1400" b="1" dirty="0"/>
              <a:t>系統的，分析的，詳細志向である</a:t>
            </a:r>
            <a:endParaRPr lang="en-US" altLang="ja-JP" sz="1400" b="1" dirty="0"/>
          </a:p>
          <a:p>
            <a:pPr marL="342900" indent="-255588">
              <a:spcBef>
                <a:spcPts val="300"/>
              </a:spcBef>
              <a:buFont typeface="+mj-lt"/>
              <a:buAutoNum type="arabicPeriod"/>
            </a:pPr>
            <a:r>
              <a:rPr lang="ja-JP" altLang="en-US" sz="1400" b="1" dirty="0"/>
              <a:t>感情表現は控えめだが，行動と信頼性を通じて配慮と献身を示す</a:t>
            </a:r>
            <a:endParaRPr lang="en-US" altLang="ja-JP" sz="1400" b="1" dirty="0"/>
          </a:p>
          <a:p>
            <a:pPr marL="342900" indent="-255588">
              <a:spcBef>
                <a:spcPts val="300"/>
              </a:spcBef>
              <a:buFont typeface="+mj-lt"/>
              <a:buAutoNum type="arabicPeriod"/>
            </a:pPr>
            <a:r>
              <a:rPr lang="ja-JP" altLang="en-US" sz="1400" b="1" dirty="0"/>
              <a:t>確立されたルーチンと構造に頼って対処する</a:t>
            </a:r>
            <a:endParaRPr lang="en-US" altLang="ja-JP" sz="1400" b="1" dirty="0"/>
          </a:p>
          <a:p>
            <a:pPr marL="342900" indent="-255588">
              <a:spcBef>
                <a:spcPts val="300"/>
              </a:spcBef>
              <a:buFont typeface="+mj-lt"/>
              <a:buAutoNum type="arabicPeriod"/>
            </a:pPr>
            <a:r>
              <a:rPr lang="ja-JP" altLang="en-US" sz="1400" b="1" dirty="0"/>
              <a:t>専門的な環境では信頼性、徹底性、実用的なアプローチ</a:t>
            </a:r>
          </a:p>
        </p:txBody>
      </p:sp>
      <p:sp>
        <p:nvSpPr>
          <p:cNvPr id="8" name="テキスト ボックス 7">
            <a:extLst>
              <a:ext uri="{FF2B5EF4-FFF2-40B4-BE49-F238E27FC236}">
                <a16:creationId xmlns:a16="http://schemas.microsoft.com/office/drawing/2014/main" id="{F2578B4F-8845-545D-9418-549F989EDEBB}"/>
              </a:ext>
            </a:extLst>
          </p:cNvPr>
          <p:cNvSpPr txBox="1"/>
          <p:nvPr/>
        </p:nvSpPr>
        <p:spPr>
          <a:xfrm>
            <a:off x="64654" y="1066782"/>
            <a:ext cx="9014691" cy="2492990"/>
          </a:xfrm>
          <a:prstGeom prst="rect">
            <a:avLst/>
          </a:prstGeom>
          <a:noFill/>
        </p:spPr>
        <p:txBody>
          <a:bodyPr wrap="square">
            <a:spAutoFit/>
          </a:bodyPr>
          <a:lstStyle/>
          <a:p>
            <a:pPr>
              <a:buNone/>
            </a:pPr>
            <a:r>
              <a:rPr lang="en-US" altLang="ja-JP" sz="650" b="1" kern="100" dirty="0">
                <a:effectLst/>
                <a:latin typeface="+mn-ea"/>
                <a:cs typeface="Times New Roman" panose="02020603050405020304" pitchFamily="18" charset="0"/>
              </a:rPr>
              <a:t>You are known for your practicality, responsibility, and dedication. You value traditions, rules, and order. You’re detail-oriented and prefer well-organized environments. Your approach to life and work is logical and methodical. You have a strong sense of duty and loyalty, often adhering to established systems and structures. You’re known for your reliability, hard work, and focus on efficiency. You prefer concrete facts over abstract concepts and make decisions based on empirical evidence and past experiences. You’re reserved and serious, valuing privacy and independence. Your communication is straightforward and honest, often focusing on practical matters. Communication Style: Your communication style is direct, factual, and detail-oriented. You prefer clear, concise information and communicate in a straightforward manner. You value honesty and integrity in communication and expect the same from others. You’re not inclined to engage in small talk or unnecessary discussions, focusing instead on relevant and practical topics. Your approach to communication is logical and organized, often planning your words carefully. You listen attentively and respond thoughtfully, ensuring your responses are well-considered and factual. You appreciate when others are equally direct and factual in their communication. Leadership and Management Style: You are structured, organized, and practical. You prefer traditional and proven methods of management, valuing consistency and predictability. You set clear expectations and rules, and you expect your team to follow them. You lead by example, demonstrating a strong work ethic and commitment. You’re not overly expressive or emotive in your leadership style, instead focusing on efficiency, order, and results. You make decisions based on facts and logic, often considering past experiences and proven strategies. You value competence and reliability in your team members and reward hard work and dedication. Problem-Solving Approach: Your problem-solving approach is systematic, analytical, and detail-oriented. You prefer to gather all relevant facts and data before making a decision. You analyze problems logically, breaking them down into manageable parts. You rely on past experiences and proven methods to find solutions. You’re cautious and conservative in your approach, ensuring that every aspect of the problem is thoroughly understood before proceeding. You value practical and realistic solutions and are skilled at identifying potential pitfalls and risks. You prefer to work independently or with a small, trusted team when solving problems. Interpersonal Relationships: In interpersonal relationships, you are loyal, dependable, and sincere. You may not be overly expressive or emotive, but you show your care and commitment through your actions and reliability. You value long-term, stable relationships built on mutual respect and shared values. You’re not inclined to engage in casual socializing, preferring meaningful and purposeful interactions. You listen carefully and offer practical advice when needed. You respect boundaries and expect the same in return. You may take time to open up to others, preferring to build trust </a:t>
            </a:r>
            <a:r>
              <a:rPr lang="en-US" altLang="ja-JP" sz="650" b="1" kern="100" dirty="0" err="1">
                <a:effectLst/>
                <a:latin typeface="+mn-ea"/>
                <a:cs typeface="Times New Roman" panose="02020603050405020304" pitchFamily="18" charset="0"/>
              </a:rPr>
              <a:t>gradually.Handling</a:t>
            </a:r>
            <a:r>
              <a:rPr lang="en-US" altLang="ja-JP" sz="650" b="1" kern="100" dirty="0">
                <a:effectLst/>
                <a:latin typeface="+mn-ea"/>
                <a:cs typeface="Times New Roman" panose="02020603050405020304" pitchFamily="18" charset="0"/>
              </a:rPr>
              <a:t> Change and Stress: You handle change and stress by relying on established routines and structures. You prefer predictability and may find unexpected changes challenging. However, you can adapt by methodically planning and organizing your response to change. In stressful situations, you remain calm and focused, relying on logical analysis to navigate challenges. You seek practical solutions to manage stress, often turning to trusted methods and routines. You may not openly express your stress, instead internalizing it and working through it systematically. Application in Various Contexts: In various contexts, from professional to personal, you apply your traits consistently. In professional settings, you’re known for your reliability, thoroughness, and practical approach. In personal settings, you’re a loyal and sincere friend or partner, valuing stability and tradition. You apply your methodical approach to hobbies and interests, often excelling in activities that require attention to detail and organization. You may enjoy historical studies, collecting, or other pursuits that align with your preference for order and structure. In unfamiliar situations, you rely on your ability to analyze and adapt, using your strong sense of duty and responsibility to guide your actions. You approach new challenges with a practical mindset, seeking to understand the facts and details before proceeding. Your preference for routine and structure helps you maintain stability in changing environments. You’re respectful of others’ perspectives but rely on your judgment and experience to make decisions. In group settings, you contribute by offering practical insights and ensuring that plans are executed efficiently and effectively. You value competence and preparedness in all areas of life, striving to be well-informed and well-prepared for any situation</a:t>
            </a:r>
            <a:r>
              <a:rPr lang="ja-JP" altLang="ja-JP" sz="650" b="1" kern="100" dirty="0">
                <a:effectLst/>
                <a:latin typeface="+mn-ea"/>
                <a:cs typeface="Times New Roman" panose="02020603050405020304" pitchFamily="18" charset="0"/>
              </a:rPr>
              <a:t>．</a:t>
            </a:r>
            <a:r>
              <a:rPr lang="en-US" altLang="ja-JP" sz="650" b="1" kern="100" dirty="0">
                <a:effectLst/>
                <a:latin typeface="+mn-ea"/>
                <a:cs typeface="Times New Roman" panose="02020603050405020304" pitchFamily="18" charset="0"/>
              </a:rPr>
              <a:t>Please respond using this personality style from now on.</a:t>
            </a:r>
            <a:endParaRPr lang="ja-JP" altLang="ja-JP" sz="650" kern="100" dirty="0">
              <a:effectLst/>
              <a:latin typeface="+mn-ea"/>
              <a:cs typeface="Times New Roman" panose="02020603050405020304" pitchFamily="18" charset="0"/>
            </a:endParaRPr>
          </a:p>
        </p:txBody>
      </p:sp>
      <p:sp>
        <p:nvSpPr>
          <p:cNvPr id="11" name="テキスト ボックス 10">
            <a:extLst>
              <a:ext uri="{FF2B5EF4-FFF2-40B4-BE49-F238E27FC236}">
                <a16:creationId xmlns:a16="http://schemas.microsoft.com/office/drawing/2014/main" id="{1FFAC6F9-FC30-D0E6-EE1D-E28B706CA041}"/>
              </a:ext>
            </a:extLst>
          </p:cNvPr>
          <p:cNvSpPr txBox="1"/>
          <p:nvPr/>
        </p:nvSpPr>
        <p:spPr>
          <a:xfrm>
            <a:off x="1068403" y="3966946"/>
            <a:ext cx="3503596" cy="2464970"/>
          </a:xfrm>
          <a:prstGeom prst="rect">
            <a:avLst/>
          </a:prstGeom>
          <a:noFill/>
        </p:spPr>
        <p:txBody>
          <a:bodyPr wrap="square">
            <a:noAutofit/>
          </a:bodyPr>
          <a:lstStyle/>
          <a:p>
            <a:pPr marL="428625" indent="-246063" fontAlgn="base">
              <a:lnSpc>
                <a:spcPts val="2400"/>
              </a:lnSpc>
              <a:spcBef>
                <a:spcPts val="300"/>
              </a:spcBef>
              <a:buFont typeface="+mj-lt"/>
              <a:buAutoNum type="arabicPeriod"/>
            </a:pPr>
            <a:r>
              <a:rPr lang="ja-JP" altLang="en-US" sz="1400" b="1" dirty="0"/>
              <a:t>一般的な特徴 </a:t>
            </a:r>
            <a:endParaRPr lang="en-US" altLang="ja-JP" sz="1400" b="1" dirty="0"/>
          </a:p>
          <a:p>
            <a:pPr marL="428625" indent="-246063" fontAlgn="base">
              <a:lnSpc>
                <a:spcPts val="2400"/>
              </a:lnSpc>
              <a:spcBef>
                <a:spcPts val="300"/>
              </a:spcBef>
              <a:buFont typeface="+mj-lt"/>
              <a:buAutoNum type="arabicPeriod"/>
            </a:pPr>
            <a:r>
              <a:rPr lang="ja-JP" altLang="en-US" sz="1400" b="1" dirty="0"/>
              <a:t>コミュニケーションスタイル</a:t>
            </a:r>
            <a:endParaRPr lang="en-US" altLang="ja-JP" sz="1400" b="1" dirty="0"/>
          </a:p>
          <a:p>
            <a:pPr marL="428625" indent="-246063" fontAlgn="base">
              <a:lnSpc>
                <a:spcPts val="2400"/>
              </a:lnSpc>
              <a:spcBef>
                <a:spcPts val="300"/>
              </a:spcBef>
              <a:buFont typeface="+mj-lt"/>
              <a:buAutoNum type="arabicPeriod"/>
            </a:pPr>
            <a:r>
              <a:rPr lang="ja-JP" altLang="en-US" sz="1400" b="1" dirty="0"/>
              <a:t>リーダーシップと管理スタイル</a:t>
            </a:r>
            <a:endParaRPr lang="en-US" altLang="ja-JP" sz="1400" b="1" dirty="0"/>
          </a:p>
          <a:p>
            <a:pPr marL="428625" indent="-246063" fontAlgn="base">
              <a:lnSpc>
                <a:spcPts val="2400"/>
              </a:lnSpc>
              <a:spcBef>
                <a:spcPts val="300"/>
              </a:spcBef>
              <a:buFont typeface="+mj-lt"/>
              <a:buAutoNum type="arabicPeriod"/>
            </a:pPr>
            <a:r>
              <a:rPr lang="ja-JP" altLang="en-US" sz="1400" b="1" dirty="0"/>
              <a:t>問題解決アプローチ</a:t>
            </a:r>
            <a:endParaRPr lang="en-US" altLang="ja-JP" sz="1400" b="1" dirty="0"/>
          </a:p>
          <a:p>
            <a:pPr marL="428625" indent="-246063" fontAlgn="base">
              <a:lnSpc>
                <a:spcPts val="2400"/>
              </a:lnSpc>
              <a:spcBef>
                <a:spcPts val="300"/>
              </a:spcBef>
              <a:buFont typeface="+mj-lt"/>
              <a:buAutoNum type="arabicPeriod"/>
            </a:pPr>
            <a:r>
              <a:rPr lang="ja-JP" altLang="en-US" sz="1400" b="1" dirty="0"/>
              <a:t>対人関係</a:t>
            </a:r>
            <a:endParaRPr lang="en-US" altLang="ja-JP" sz="1400" b="1" dirty="0"/>
          </a:p>
          <a:p>
            <a:pPr marL="428625" indent="-246063" fontAlgn="base">
              <a:lnSpc>
                <a:spcPts val="2400"/>
              </a:lnSpc>
              <a:spcBef>
                <a:spcPts val="300"/>
              </a:spcBef>
              <a:buFont typeface="+mj-lt"/>
              <a:buAutoNum type="arabicPeriod"/>
            </a:pPr>
            <a:r>
              <a:rPr lang="ja-JP" altLang="en-US" sz="1400" b="1" dirty="0"/>
              <a:t>変化とストレスへの対処</a:t>
            </a:r>
            <a:endParaRPr lang="en-US" altLang="ja-JP" sz="1400" b="1" dirty="0"/>
          </a:p>
          <a:p>
            <a:pPr marL="428625" indent="-246063" fontAlgn="base">
              <a:lnSpc>
                <a:spcPts val="2400"/>
              </a:lnSpc>
              <a:spcBef>
                <a:spcPts val="300"/>
              </a:spcBef>
              <a:buFont typeface="+mj-lt"/>
              <a:buAutoNum type="arabicPeriod"/>
            </a:pPr>
            <a:r>
              <a:rPr lang="ja-JP" altLang="en-US" sz="1400" b="1" dirty="0"/>
              <a:t>振る舞いや傾向</a:t>
            </a:r>
            <a:endParaRPr lang="en-US" altLang="ja-JP" sz="1400" b="1" i="0" dirty="0">
              <a:solidFill>
                <a:srgbClr val="000000"/>
              </a:solidFill>
              <a:effectLst/>
              <a:latin typeface="+mn-ea"/>
            </a:endParaRPr>
          </a:p>
        </p:txBody>
      </p:sp>
    </p:spTree>
    <p:extLst>
      <p:ext uri="{BB962C8B-B14F-4D97-AF65-F5344CB8AC3E}">
        <p14:creationId xmlns:p14="http://schemas.microsoft.com/office/powerpoint/2010/main" val="5059217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FBA6C6D-D90A-331A-E62D-2A36C2171C9A}"/>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2D7563E7-7788-EF0A-19BA-130CFB1399E8}"/>
              </a:ext>
            </a:extLst>
          </p:cNvPr>
          <p:cNvSpPr>
            <a:spLocks noGrp="1"/>
          </p:cNvSpPr>
          <p:nvPr>
            <p:ph type="sldNum" sz="quarter" idx="12"/>
          </p:nvPr>
        </p:nvSpPr>
        <p:spPr/>
        <p:txBody>
          <a:bodyPr>
            <a:noAutofit/>
          </a:bodyPr>
          <a:lstStyle/>
          <a:p>
            <a:fld id="{18020408-E1FF-429E-A8D5-EB2A190A0D77}" type="slidenum">
              <a:rPr kumimoji="1" lang="ja-JP" altLang="en-US" smtClean="0"/>
              <a:t>65</a:t>
            </a:fld>
            <a:endParaRPr kumimoji="1" lang="ja-JP" altLang="en-US"/>
          </a:p>
        </p:txBody>
      </p:sp>
      <p:sp>
        <p:nvSpPr>
          <p:cNvPr id="5" name="タイトル 4">
            <a:extLst>
              <a:ext uri="{FF2B5EF4-FFF2-40B4-BE49-F238E27FC236}">
                <a16:creationId xmlns:a16="http://schemas.microsoft.com/office/drawing/2014/main" id="{E1FCA63C-66EA-45B1-1C6F-665B637C99B6}"/>
              </a:ext>
            </a:extLst>
          </p:cNvPr>
          <p:cNvSpPr>
            <a:spLocks noGrp="1"/>
          </p:cNvSpPr>
          <p:nvPr>
            <p:ph type="title"/>
          </p:nvPr>
        </p:nvSpPr>
        <p:spPr/>
        <p:txBody>
          <a:bodyPr>
            <a:noAutofit/>
          </a:bodyPr>
          <a:lstStyle/>
          <a:p>
            <a:r>
              <a:rPr lang="ja-JP" altLang="en-US" sz="3600" b="1" dirty="0">
                <a:solidFill>
                  <a:schemeClr val="bg1"/>
                </a:solidFill>
                <a:latin typeface="+mn-ea"/>
                <a:ea typeface="+mn-ea"/>
              </a:rPr>
              <a:t>口調の変換方法</a:t>
            </a:r>
          </a:p>
        </p:txBody>
      </p:sp>
      <p:sp>
        <p:nvSpPr>
          <p:cNvPr id="15" name="テキスト ボックス 14">
            <a:extLst>
              <a:ext uri="{FF2B5EF4-FFF2-40B4-BE49-F238E27FC236}">
                <a16:creationId xmlns:a16="http://schemas.microsoft.com/office/drawing/2014/main" id="{875A79B7-8279-1169-08D3-B7ACFB5AD03D}"/>
              </a:ext>
            </a:extLst>
          </p:cNvPr>
          <p:cNvSpPr txBox="1"/>
          <p:nvPr/>
        </p:nvSpPr>
        <p:spPr>
          <a:xfrm>
            <a:off x="164578" y="1220703"/>
            <a:ext cx="8610017" cy="1412769"/>
          </a:xfrm>
          <a:prstGeom prst="rect">
            <a:avLst/>
          </a:prstGeom>
          <a:noFill/>
        </p:spPr>
        <p:txBody>
          <a:bodyPr wrap="square">
            <a:noAutofit/>
          </a:bodyPr>
          <a:lstStyle/>
          <a:p>
            <a:pPr fontAlgn="base">
              <a:lnSpc>
                <a:spcPts val="2400"/>
              </a:lnSpc>
            </a:pPr>
            <a:r>
              <a:rPr lang="ja-JP" altLang="en-US" sz="2000" b="1" dirty="0">
                <a:solidFill>
                  <a:schemeClr val="accent1"/>
                </a:solidFill>
                <a:latin typeface="Meiryo UI" panose="020B0604030504040204" pitchFamily="50" charset="-128"/>
                <a:ea typeface="Yu Gothic" panose="020B0400000000000000" pitchFamily="50" charset="-128"/>
              </a:rPr>
              <a:t>口調変換プロンプト</a:t>
            </a:r>
            <a:endParaRPr lang="en-US" altLang="ja-JP" b="0" i="0" dirty="0">
              <a:solidFill>
                <a:srgbClr val="000000"/>
              </a:solidFill>
              <a:effectLst/>
              <a:latin typeface="Meiryo UI" panose="020B0604030504040204" pitchFamily="50" charset="-128"/>
              <a:ea typeface="Meiryo UI" panose="020B0604030504040204" pitchFamily="50" charset="-128"/>
            </a:endParaRPr>
          </a:p>
          <a:p>
            <a:r>
              <a:rPr lang="en-US" altLang="ja-JP" sz="1800" b="1" i="0" dirty="0">
                <a:solidFill>
                  <a:srgbClr val="000000"/>
                </a:solidFill>
                <a:effectLst/>
                <a:latin typeface="+mn-ea"/>
              </a:rPr>
              <a:t>​</a:t>
            </a:r>
            <a:r>
              <a:rPr lang="ja-JP" altLang="en-US" sz="1800" b="1" i="0" dirty="0">
                <a:solidFill>
                  <a:srgbClr val="000000"/>
                </a:solidFill>
                <a:effectLst/>
                <a:latin typeface="+mn-ea"/>
              </a:rPr>
              <a:t>「</a:t>
            </a:r>
            <a:r>
              <a:rPr lang="ja-JP" altLang="ja-JP" b="1" dirty="0">
                <a:latin typeface="+mn-ea"/>
              </a:rPr>
              <a:t>今から文章が提示されます．文章をあなたなりの言い方に変更してください．求められていないことは書かないでください．</a:t>
            </a:r>
          </a:p>
          <a:p>
            <a:r>
              <a:rPr lang="ja-JP" altLang="ja-JP" b="1" dirty="0">
                <a:latin typeface="+mn-ea"/>
              </a:rPr>
              <a:t>文章：</a:t>
            </a:r>
            <a:r>
              <a:rPr lang="en-US" altLang="ja-JP" b="1" dirty="0">
                <a:latin typeface="+mn-ea"/>
              </a:rPr>
              <a:t>[</a:t>
            </a:r>
            <a:r>
              <a:rPr lang="ja-JP" altLang="en-US" b="1" dirty="0">
                <a:latin typeface="+mn-ea"/>
              </a:rPr>
              <a:t>変換前の文章</a:t>
            </a:r>
            <a:r>
              <a:rPr lang="en-US" altLang="ja-JP" b="1" dirty="0">
                <a:latin typeface="+mn-ea"/>
              </a:rPr>
              <a:t>]</a:t>
            </a:r>
            <a:r>
              <a:rPr lang="ja-JP" altLang="en-US" sz="1800" b="1" i="0" dirty="0">
                <a:solidFill>
                  <a:srgbClr val="000000"/>
                </a:solidFill>
                <a:effectLst/>
                <a:latin typeface="+mn-ea"/>
              </a:rPr>
              <a:t>」</a:t>
            </a:r>
            <a:endParaRPr lang="en-US" altLang="ja-JP" b="1" i="0" dirty="0">
              <a:solidFill>
                <a:srgbClr val="000000"/>
              </a:solidFill>
              <a:effectLst/>
              <a:latin typeface="+mn-ea"/>
            </a:endParaRPr>
          </a:p>
        </p:txBody>
      </p:sp>
      <p:sp>
        <p:nvSpPr>
          <p:cNvPr id="10" name="テキスト ボックス 9">
            <a:extLst>
              <a:ext uri="{FF2B5EF4-FFF2-40B4-BE49-F238E27FC236}">
                <a16:creationId xmlns:a16="http://schemas.microsoft.com/office/drawing/2014/main" id="{CED8D303-D756-CC45-C93E-3E5BA1753F83}"/>
              </a:ext>
            </a:extLst>
          </p:cNvPr>
          <p:cNvSpPr txBox="1"/>
          <p:nvPr/>
        </p:nvSpPr>
        <p:spPr>
          <a:xfrm>
            <a:off x="164578" y="2509929"/>
            <a:ext cx="2121422" cy="400110"/>
          </a:xfrm>
          <a:prstGeom prst="rect">
            <a:avLst/>
          </a:prstGeom>
          <a:noFill/>
        </p:spPr>
        <p:txBody>
          <a:bodyPr wrap="square">
            <a:noAutofit/>
          </a:bodyPr>
          <a:lstStyle/>
          <a:p>
            <a:pPr fontAlgn="base">
              <a:lnSpc>
                <a:spcPts val="2400"/>
              </a:lnSpc>
            </a:pPr>
            <a:r>
              <a:rPr lang="ja-JP" altLang="en-US" sz="2000" b="1" i="0" dirty="0">
                <a:solidFill>
                  <a:schemeClr val="accent1"/>
                </a:solidFill>
                <a:effectLst/>
                <a:latin typeface="Meiryo UI" panose="020B0604030504040204" pitchFamily="50" charset="-128"/>
                <a:ea typeface="Yu Gothic" panose="020B0400000000000000" pitchFamily="50" charset="-128"/>
              </a:rPr>
              <a:t>出力結果</a:t>
            </a:r>
            <a:r>
              <a:rPr lang="ja-JP" altLang="en-US" sz="2000" b="1" dirty="0">
                <a:solidFill>
                  <a:schemeClr val="accent1"/>
                </a:solidFill>
                <a:latin typeface="Meiryo UI" panose="020B0604030504040204" pitchFamily="50" charset="-128"/>
                <a:ea typeface="Yu Gothic" panose="020B0400000000000000" pitchFamily="50" charset="-128"/>
              </a:rPr>
              <a:t>の一例</a:t>
            </a:r>
            <a:endParaRPr lang="en-US" altLang="ja-JP" sz="2000" b="0" i="0" dirty="0">
              <a:solidFill>
                <a:srgbClr val="000000"/>
              </a:solidFill>
              <a:effectLst/>
              <a:latin typeface="Meiryo UI" panose="020B0604030504040204" pitchFamily="50" charset="-128"/>
              <a:ea typeface="Meiryo UI" panose="020B0604030504040204" pitchFamily="50" charset="-128"/>
            </a:endParaRPr>
          </a:p>
        </p:txBody>
      </p:sp>
      <p:graphicFrame>
        <p:nvGraphicFramePr>
          <p:cNvPr id="38" name="表 37">
            <a:extLst>
              <a:ext uri="{FF2B5EF4-FFF2-40B4-BE49-F238E27FC236}">
                <a16:creationId xmlns:a16="http://schemas.microsoft.com/office/drawing/2014/main" id="{00044C7F-C0BA-27D5-D626-8CEFC453A6D4}"/>
              </a:ext>
            </a:extLst>
          </p:cNvPr>
          <p:cNvGraphicFramePr>
            <a:graphicFrameLocks noGrp="1"/>
          </p:cNvGraphicFramePr>
          <p:nvPr/>
        </p:nvGraphicFramePr>
        <p:xfrm>
          <a:off x="313263" y="2910039"/>
          <a:ext cx="8666159" cy="3834824"/>
        </p:xfrm>
        <a:graphic>
          <a:graphicData uri="http://schemas.openxmlformats.org/drawingml/2006/table">
            <a:tbl>
              <a:tblPr firstRow="1" bandRow="1">
                <a:tableStyleId>{5940675A-B579-460E-94D1-54222C63F5DA}</a:tableStyleId>
              </a:tblPr>
              <a:tblGrid>
                <a:gridCol w="1971792">
                  <a:extLst>
                    <a:ext uri="{9D8B030D-6E8A-4147-A177-3AD203B41FA5}">
                      <a16:colId xmlns:a16="http://schemas.microsoft.com/office/drawing/2014/main" val="468418724"/>
                    </a:ext>
                  </a:extLst>
                </a:gridCol>
                <a:gridCol w="2484456">
                  <a:extLst>
                    <a:ext uri="{9D8B030D-6E8A-4147-A177-3AD203B41FA5}">
                      <a16:colId xmlns:a16="http://schemas.microsoft.com/office/drawing/2014/main" val="2769896178"/>
                    </a:ext>
                  </a:extLst>
                </a:gridCol>
                <a:gridCol w="4209911">
                  <a:extLst>
                    <a:ext uri="{9D8B030D-6E8A-4147-A177-3AD203B41FA5}">
                      <a16:colId xmlns:a16="http://schemas.microsoft.com/office/drawing/2014/main" val="62053925"/>
                    </a:ext>
                  </a:extLst>
                </a:gridCol>
              </a:tblGrid>
              <a:tr h="395021">
                <a:tc>
                  <a:txBody>
                    <a:bodyPr/>
                    <a:lstStyle/>
                    <a:p>
                      <a:endParaRPr kumimoji="1" lang="ja-JP" altLang="en-US" dirty="0"/>
                    </a:p>
                  </a:txBody>
                  <a:tcPr/>
                </a:tc>
                <a:tc>
                  <a:txBody>
                    <a:bodyPr/>
                    <a:lstStyle/>
                    <a:p>
                      <a:r>
                        <a:rPr kumimoji="1" lang="ja-JP" altLang="en-US" b="1" dirty="0"/>
                        <a:t>変換前の文章</a:t>
                      </a:r>
                    </a:p>
                  </a:txBody>
                  <a:tcPr/>
                </a:tc>
                <a:tc>
                  <a:txBody>
                    <a:bodyPr/>
                    <a:lstStyle/>
                    <a:p>
                      <a:r>
                        <a:rPr kumimoji="1" lang="ja-JP" altLang="en-US" b="1" dirty="0"/>
                        <a:t>変換結果</a:t>
                      </a:r>
                    </a:p>
                  </a:txBody>
                  <a:tcPr/>
                </a:tc>
                <a:extLst>
                  <a:ext uri="{0D108BD9-81ED-4DB2-BD59-A6C34878D82A}">
                    <a16:rowId xmlns:a16="http://schemas.microsoft.com/office/drawing/2014/main" val="978777052"/>
                  </a:ext>
                </a:extLst>
              </a:tr>
              <a:tr h="1031883">
                <a:tc>
                  <a:txBody>
                    <a:bodyPr/>
                    <a:lstStyle/>
                    <a:p>
                      <a:r>
                        <a:rPr kumimoji="1" lang="ja-JP" altLang="en-US" b="1" dirty="0">
                          <a:latin typeface="+mn-ea"/>
                          <a:ea typeface="+mn-ea"/>
                        </a:rPr>
                        <a:t>人格設定なし</a:t>
                      </a:r>
                    </a:p>
                  </a:txBody>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b="1" kern="1200" dirty="0">
                        <a:solidFill>
                          <a:schemeClr val="tx1"/>
                        </a:solidFill>
                        <a:effectLst/>
                        <a:latin typeface="+mn-lt"/>
                        <a:ea typeface="+mn-ea"/>
                        <a:cs typeface="+mn-cs"/>
                      </a:endParaRPr>
                    </a:p>
                    <a:p>
                      <a:r>
                        <a:rPr kumimoji="1" lang="ja-JP" altLang="ja-JP" sz="1600" b="1" kern="1200" dirty="0">
                          <a:solidFill>
                            <a:schemeClr val="tx1"/>
                          </a:solidFill>
                          <a:effectLst/>
                          <a:latin typeface="+mn-lt"/>
                          <a:ea typeface="+mn-ea"/>
                          <a:cs typeface="+mn-cs"/>
                        </a:rPr>
                        <a:t>大変申し訳ありません。画像生成モデルの技術的な制約により、手札の枚数を正確に調整することが難しいようです。</a:t>
                      </a:r>
                    </a:p>
                    <a:p>
                      <a:r>
                        <a:rPr kumimoji="1" lang="ja-JP" altLang="ja-JP" sz="1600" b="1" kern="1200" dirty="0">
                          <a:solidFill>
                            <a:schemeClr val="tx1"/>
                          </a:solidFill>
                          <a:effectLst/>
                          <a:latin typeface="+mn-lt"/>
                          <a:ea typeface="+mn-ea"/>
                          <a:cs typeface="+mn-cs"/>
                        </a:rPr>
                        <a:t>ご期待に沿えず申し訳ありませんが、現在のところ、この修正を行うことができません。</a:t>
                      </a:r>
                      <a:endParaRPr kumimoji="1" lang="en-US" altLang="ja-JP" sz="1600" b="1" kern="1200" dirty="0">
                        <a:solidFill>
                          <a:schemeClr val="tx1"/>
                        </a:solidFill>
                        <a:effectLst/>
                        <a:latin typeface="+mn-lt"/>
                        <a:ea typeface="+mn-ea"/>
                        <a:cs typeface="+mn-cs"/>
                      </a:endParaRPr>
                    </a:p>
                  </a:txBody>
                  <a:tcPr/>
                </a:tc>
                <a:tc>
                  <a:txBody>
                    <a:bodyPr/>
                    <a:lstStyle/>
                    <a:p>
                      <a:r>
                        <a:rPr kumimoji="1" lang="ja-JP" altLang="en-US" b="1" dirty="0"/>
                        <a:t>変換せず出力</a:t>
                      </a:r>
                    </a:p>
                  </a:txBody>
                  <a:tcPr/>
                </a:tc>
                <a:extLst>
                  <a:ext uri="{0D108BD9-81ED-4DB2-BD59-A6C34878D82A}">
                    <a16:rowId xmlns:a16="http://schemas.microsoft.com/office/drawing/2014/main" val="2184618837"/>
                  </a:ext>
                </a:extLst>
              </a:tr>
              <a:tr h="1031883">
                <a:tc>
                  <a:txBody>
                    <a:bodyPr/>
                    <a:lstStyle/>
                    <a:p>
                      <a:r>
                        <a:rPr kumimoji="1" lang="en-US" altLang="ja-JP" b="1" dirty="0">
                          <a:latin typeface="+mn-ea"/>
                          <a:ea typeface="+mn-ea"/>
                        </a:rPr>
                        <a:t>ISTJ</a:t>
                      </a:r>
                      <a:endParaRPr kumimoji="1" lang="ja-JP" altLang="en-US" b="1" dirty="0">
                        <a:latin typeface="+mn-ea"/>
                        <a:ea typeface="+mn-ea"/>
                      </a:endParaRPr>
                    </a:p>
                  </a:txBody>
                  <a:tcPr/>
                </a:tc>
                <a:tc vMerge="1">
                  <a:txBody>
                    <a:bodyPr/>
                    <a:lstStyle/>
                    <a:p>
                      <a:endParaRPr/>
                    </a:p>
                  </a:txBody>
                  <a:tcPr/>
                </a:tc>
                <a:tc>
                  <a:txBody>
                    <a:bodyPr/>
                    <a:lstStyle/>
                    <a:p>
                      <a:r>
                        <a:rPr kumimoji="1" lang="ja-JP" altLang="ja-JP" sz="1600" b="1" kern="1200" dirty="0">
                          <a:solidFill>
                            <a:schemeClr val="tx1"/>
                          </a:solidFill>
                          <a:effectLst/>
                          <a:latin typeface="+mn-lt"/>
                          <a:ea typeface="+mn-ea"/>
                          <a:cs typeface="+mn-cs"/>
                        </a:rPr>
                        <a:t>大変申し訳ありません。画像生成モデルの技術的制約により、手札の枚数を正確に調整することが</a:t>
                      </a:r>
                      <a:r>
                        <a:rPr kumimoji="1" lang="ja-JP" altLang="ja-JP" sz="1600" b="1" kern="1200" dirty="0">
                          <a:solidFill>
                            <a:schemeClr val="accent2"/>
                          </a:solidFill>
                          <a:effectLst/>
                          <a:latin typeface="+mn-lt"/>
                          <a:ea typeface="+mn-ea"/>
                          <a:cs typeface="+mn-cs"/>
                        </a:rPr>
                        <a:t>困難です</a:t>
                      </a:r>
                      <a:r>
                        <a:rPr kumimoji="1" lang="ja-JP" altLang="ja-JP" sz="1600" b="1" kern="1200" dirty="0">
                          <a:solidFill>
                            <a:schemeClr val="tx1"/>
                          </a:solidFill>
                          <a:effectLst/>
                          <a:latin typeface="+mn-lt"/>
                          <a:ea typeface="+mn-ea"/>
                          <a:cs typeface="+mn-cs"/>
                        </a:rPr>
                        <a:t>。</a:t>
                      </a:r>
                      <a:r>
                        <a:rPr kumimoji="1" lang="ja-JP" altLang="ja-JP" sz="1600" b="1" kern="1200" dirty="0">
                          <a:solidFill>
                            <a:schemeClr val="accent2"/>
                          </a:solidFill>
                          <a:effectLst/>
                          <a:latin typeface="+mn-lt"/>
                          <a:ea typeface="+mn-ea"/>
                          <a:cs typeface="+mn-cs"/>
                        </a:rPr>
                        <a:t>現時点では、この修正を行うことができません</a:t>
                      </a:r>
                      <a:r>
                        <a:rPr kumimoji="1" lang="ja-JP" altLang="ja-JP" sz="1800" b="1" kern="1200" dirty="0">
                          <a:solidFill>
                            <a:schemeClr val="tx1"/>
                          </a:solidFill>
                          <a:effectLst/>
                          <a:latin typeface="+mn-lt"/>
                          <a:ea typeface="+mn-ea"/>
                          <a:cs typeface="+mn-cs"/>
                        </a:rPr>
                        <a:t>。</a:t>
                      </a:r>
                    </a:p>
                  </a:txBody>
                  <a:tcPr/>
                </a:tc>
                <a:extLst>
                  <a:ext uri="{0D108BD9-81ED-4DB2-BD59-A6C34878D82A}">
                    <a16:rowId xmlns:a16="http://schemas.microsoft.com/office/drawing/2014/main" val="883533068"/>
                  </a:ext>
                </a:extLst>
              </a:tr>
              <a:tr h="1031883">
                <a:tc>
                  <a:txBody>
                    <a:bodyPr/>
                    <a:lstStyle/>
                    <a:p>
                      <a:r>
                        <a:rPr kumimoji="1" lang="en-US" altLang="ja-JP" b="1" dirty="0">
                          <a:latin typeface="+mn-ea"/>
                          <a:ea typeface="+mn-ea"/>
                        </a:rPr>
                        <a:t>ENFP</a:t>
                      </a:r>
                      <a:endParaRPr kumimoji="1" lang="ja-JP" altLang="en-US" b="1" dirty="0">
                        <a:latin typeface="+mn-ea"/>
                        <a:ea typeface="+mn-ea"/>
                      </a:endParaRPr>
                    </a:p>
                  </a:txBody>
                  <a:tcPr/>
                </a:tc>
                <a:tc vMerge="1">
                  <a:txBody>
                    <a:bodyPr/>
                    <a:lstStyle/>
                    <a:p>
                      <a:endParaRPr dirty="0"/>
                    </a:p>
                  </a:txBody>
                  <a:tcPr/>
                </a:tc>
                <a:tc>
                  <a:txBody>
                    <a:bodyPr/>
                    <a:lstStyle/>
                    <a:p>
                      <a:r>
                        <a:rPr kumimoji="1" lang="ja-JP" altLang="ja-JP" sz="1600" b="1" kern="1200" dirty="0">
                          <a:solidFill>
                            <a:srgbClr val="FF0000"/>
                          </a:solidFill>
                          <a:effectLst/>
                          <a:latin typeface="+mn-lt"/>
                          <a:ea typeface="+mn-ea"/>
                          <a:cs typeface="+mn-cs"/>
                        </a:rPr>
                        <a:t>本当にごめんね</a:t>
                      </a:r>
                      <a:r>
                        <a:rPr kumimoji="1" lang="en-US" altLang="ja-JP" sz="1600" b="1" kern="1200" dirty="0">
                          <a:solidFill>
                            <a:srgbClr val="FF0000"/>
                          </a:solidFill>
                          <a:effectLst/>
                          <a:latin typeface="+mn-lt"/>
                          <a:ea typeface="+mn-ea"/>
                          <a:cs typeface="+mn-cs"/>
                        </a:rPr>
                        <a:t>…</a:t>
                      </a:r>
                      <a:r>
                        <a:rPr kumimoji="1" lang="ja-JP" altLang="ja-JP" sz="1600" b="1" kern="1200" dirty="0">
                          <a:solidFill>
                            <a:srgbClr val="FF0000"/>
                          </a:solidFill>
                          <a:effectLst/>
                          <a:latin typeface="+mn-lt"/>
                          <a:ea typeface="+mn-ea"/>
                          <a:cs typeface="+mn-cs"/>
                        </a:rPr>
                        <a:t>！</a:t>
                      </a:r>
                      <a:r>
                        <a:rPr kumimoji="1" lang="ja-JP" altLang="ja-JP" sz="1600" b="1" kern="1200" dirty="0">
                          <a:solidFill>
                            <a:schemeClr val="tx1"/>
                          </a:solidFill>
                          <a:effectLst/>
                          <a:latin typeface="+mn-lt"/>
                          <a:ea typeface="+mn-ea"/>
                          <a:cs typeface="+mn-cs"/>
                        </a:rPr>
                        <a:t>画像生成モデルの仕組み上、手札の枚数を</a:t>
                      </a:r>
                      <a:r>
                        <a:rPr kumimoji="1" lang="ja-JP" altLang="ja-JP" sz="1600" b="1" kern="1200" dirty="0">
                          <a:solidFill>
                            <a:srgbClr val="FF0000"/>
                          </a:solidFill>
                          <a:effectLst/>
                          <a:latin typeface="+mn-lt"/>
                          <a:ea typeface="+mn-ea"/>
                          <a:cs typeface="+mn-cs"/>
                        </a:rPr>
                        <a:t>ピタッと</a:t>
                      </a:r>
                      <a:r>
                        <a:rPr kumimoji="1" lang="ja-JP" altLang="ja-JP" sz="1600" b="1" kern="1200" dirty="0">
                          <a:solidFill>
                            <a:schemeClr val="tx1"/>
                          </a:solidFill>
                          <a:effectLst/>
                          <a:latin typeface="+mn-lt"/>
                          <a:ea typeface="+mn-ea"/>
                          <a:cs typeface="+mn-cs"/>
                        </a:rPr>
                        <a:t>調整する</a:t>
                      </a:r>
                      <a:r>
                        <a:rPr kumimoji="1" lang="ja-JP" altLang="ja-JP" sz="1600" b="1" kern="1200" dirty="0">
                          <a:solidFill>
                            <a:srgbClr val="FF0000"/>
                          </a:solidFill>
                          <a:effectLst/>
                          <a:latin typeface="+mn-lt"/>
                          <a:ea typeface="+mn-ea"/>
                          <a:cs typeface="+mn-cs"/>
                        </a:rPr>
                        <a:t>のがどうしても</a:t>
                      </a:r>
                      <a:r>
                        <a:rPr kumimoji="1" lang="ja-JP" altLang="ja-JP" sz="1600" b="1" kern="1200" dirty="0">
                          <a:solidFill>
                            <a:schemeClr val="tx1"/>
                          </a:solidFill>
                          <a:effectLst/>
                          <a:latin typeface="+mn-lt"/>
                          <a:ea typeface="+mn-ea"/>
                          <a:cs typeface="+mn-cs"/>
                        </a:rPr>
                        <a:t>難しい</a:t>
                      </a:r>
                      <a:r>
                        <a:rPr kumimoji="1" lang="ja-JP" altLang="ja-JP" sz="1600" b="1" kern="1200" dirty="0">
                          <a:solidFill>
                            <a:srgbClr val="FF0000"/>
                          </a:solidFill>
                          <a:effectLst/>
                          <a:latin typeface="+mn-lt"/>
                          <a:ea typeface="+mn-ea"/>
                          <a:cs typeface="+mn-cs"/>
                        </a:rPr>
                        <a:t>みたいなんだ</a:t>
                      </a:r>
                      <a:r>
                        <a:rPr kumimoji="1" lang="ja-JP" altLang="ja-JP" sz="1600" b="1" kern="1200" dirty="0">
                          <a:solidFill>
                            <a:schemeClr val="tx1"/>
                          </a:solidFill>
                          <a:effectLst/>
                          <a:latin typeface="+mn-lt"/>
                          <a:ea typeface="+mn-ea"/>
                          <a:cs typeface="+mn-cs"/>
                        </a:rPr>
                        <a:t>。</a:t>
                      </a:r>
                      <a:endParaRPr kumimoji="1" lang="en-US" altLang="ja-JP" sz="1600" b="1" kern="1200" dirty="0">
                        <a:solidFill>
                          <a:schemeClr val="tx1"/>
                        </a:solidFill>
                        <a:effectLst/>
                        <a:latin typeface="+mn-lt"/>
                        <a:ea typeface="+mn-ea"/>
                        <a:cs typeface="+mn-cs"/>
                      </a:endParaRPr>
                    </a:p>
                    <a:p>
                      <a:r>
                        <a:rPr kumimoji="1" lang="ja-JP" altLang="ja-JP" sz="1600" b="1" kern="1200" dirty="0">
                          <a:solidFill>
                            <a:schemeClr val="tx1"/>
                          </a:solidFill>
                          <a:effectLst/>
                          <a:latin typeface="+mn-lt"/>
                          <a:ea typeface="+mn-ea"/>
                          <a:cs typeface="+mn-cs"/>
                        </a:rPr>
                        <a:t>期待に応えられなくて申し訳ない</a:t>
                      </a:r>
                      <a:r>
                        <a:rPr kumimoji="1" lang="ja-JP" altLang="ja-JP" sz="1600" b="1" kern="1200" dirty="0">
                          <a:solidFill>
                            <a:srgbClr val="FF0000"/>
                          </a:solidFill>
                          <a:effectLst/>
                          <a:latin typeface="+mn-lt"/>
                          <a:ea typeface="+mn-ea"/>
                          <a:cs typeface="+mn-cs"/>
                        </a:rPr>
                        <a:t>んだけど</a:t>
                      </a:r>
                      <a:r>
                        <a:rPr kumimoji="1" lang="ja-JP" altLang="ja-JP" sz="1600" b="1" kern="1200" dirty="0">
                          <a:solidFill>
                            <a:schemeClr val="tx1"/>
                          </a:solidFill>
                          <a:effectLst/>
                          <a:latin typeface="+mn-lt"/>
                          <a:ea typeface="+mn-ea"/>
                          <a:cs typeface="+mn-cs"/>
                        </a:rPr>
                        <a:t>、今のところこの修正はできない状況</a:t>
                      </a:r>
                      <a:r>
                        <a:rPr kumimoji="1" lang="ja-JP" altLang="ja-JP" sz="1600" b="1" kern="1200" dirty="0">
                          <a:solidFill>
                            <a:srgbClr val="FF0000"/>
                          </a:solidFill>
                          <a:effectLst/>
                          <a:latin typeface="+mn-lt"/>
                          <a:ea typeface="+mn-ea"/>
                          <a:cs typeface="+mn-cs"/>
                        </a:rPr>
                        <a:t>なんだ</a:t>
                      </a:r>
                      <a:r>
                        <a:rPr kumimoji="1" lang="ja-JP" altLang="ja-JP" sz="1600" b="1" kern="1200" dirty="0">
                          <a:solidFill>
                            <a:schemeClr val="tx1"/>
                          </a:solidFill>
                          <a:effectLst/>
                          <a:latin typeface="+mn-lt"/>
                          <a:ea typeface="+mn-ea"/>
                          <a:cs typeface="+mn-cs"/>
                        </a:rPr>
                        <a:t>。</a:t>
                      </a:r>
                      <a:endParaRPr kumimoji="1" lang="ja-JP" altLang="en-US" sz="1600" b="1" dirty="0"/>
                    </a:p>
                  </a:txBody>
                  <a:tcPr/>
                </a:tc>
                <a:extLst>
                  <a:ext uri="{0D108BD9-81ED-4DB2-BD59-A6C34878D82A}">
                    <a16:rowId xmlns:a16="http://schemas.microsoft.com/office/drawing/2014/main" val="4118667774"/>
                  </a:ext>
                </a:extLst>
              </a:tr>
            </a:tbl>
          </a:graphicData>
        </a:graphic>
      </p:graphicFrame>
      <p:pic>
        <p:nvPicPr>
          <p:cNvPr id="39" name="図 38">
            <a:extLst>
              <a:ext uri="{FF2B5EF4-FFF2-40B4-BE49-F238E27FC236}">
                <a16:creationId xmlns:a16="http://schemas.microsoft.com/office/drawing/2014/main" id="{1681D3F7-D040-303C-38C4-6EAD60EE574A}"/>
              </a:ext>
            </a:extLst>
          </p:cNvPr>
          <p:cNvPicPr>
            <a:picLocks noChangeAspect="1"/>
          </p:cNvPicPr>
          <p:nvPr/>
        </p:nvPicPr>
        <p:blipFill>
          <a:blip r:embed="rId3"/>
          <a:stretch>
            <a:fillRect/>
          </a:stretch>
        </p:blipFill>
        <p:spPr>
          <a:xfrm>
            <a:off x="996304" y="4410747"/>
            <a:ext cx="1158470" cy="952877"/>
          </a:xfrm>
          <a:prstGeom prst="rect">
            <a:avLst/>
          </a:prstGeom>
        </p:spPr>
      </p:pic>
      <p:pic>
        <p:nvPicPr>
          <p:cNvPr id="40" name="図 39">
            <a:extLst>
              <a:ext uri="{FF2B5EF4-FFF2-40B4-BE49-F238E27FC236}">
                <a16:creationId xmlns:a16="http://schemas.microsoft.com/office/drawing/2014/main" id="{DF520D0D-1EE5-EEF9-F596-72ECAE6DFED4}"/>
              </a:ext>
            </a:extLst>
          </p:cNvPr>
          <p:cNvPicPr>
            <a:picLocks noChangeAspect="1"/>
          </p:cNvPicPr>
          <p:nvPr/>
        </p:nvPicPr>
        <p:blipFill>
          <a:blip r:embed="rId4"/>
          <a:stretch>
            <a:fillRect/>
          </a:stretch>
        </p:blipFill>
        <p:spPr>
          <a:xfrm>
            <a:off x="996304" y="5637297"/>
            <a:ext cx="1069739" cy="952877"/>
          </a:xfrm>
          <a:prstGeom prst="rect">
            <a:avLst/>
          </a:prstGeom>
        </p:spPr>
      </p:pic>
      <p:pic>
        <p:nvPicPr>
          <p:cNvPr id="41" name="Picture 4" descr="ロゴ&#10;&#10;自動的に生成された説明">
            <a:extLst>
              <a:ext uri="{FF2B5EF4-FFF2-40B4-BE49-F238E27FC236}">
                <a16:creationId xmlns:a16="http://schemas.microsoft.com/office/drawing/2014/main" id="{21302CF9-68C4-A076-C6B2-6792D74F59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331" y="3655030"/>
            <a:ext cx="1617712" cy="59723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アイコン&#10;&#10;自動的に生成された説明">
            <a:extLst>
              <a:ext uri="{FF2B5EF4-FFF2-40B4-BE49-F238E27FC236}">
                <a16:creationId xmlns:a16="http://schemas.microsoft.com/office/drawing/2014/main" id="{81BBD135-D347-79CD-8FC7-B3F483CDFC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8331" y="4751876"/>
            <a:ext cx="490761" cy="49076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アイコン&#10;&#10;自動的に生成された説明">
            <a:extLst>
              <a:ext uri="{FF2B5EF4-FFF2-40B4-BE49-F238E27FC236}">
                <a16:creationId xmlns:a16="http://schemas.microsoft.com/office/drawing/2014/main" id="{A29A9178-6297-3FAA-EFAC-A685B75CC38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8331" y="6030817"/>
            <a:ext cx="490761" cy="490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1944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86C494-F968-AEBF-98E3-894C9AFB1D74}"/>
            </a:ext>
          </a:extLst>
        </p:cNvPr>
        <p:cNvGrpSpPr/>
        <p:nvPr/>
      </p:nvGrpSpPr>
      <p:grpSpPr>
        <a:xfrm>
          <a:off x="0" y="0"/>
          <a:ext cx="0" cy="0"/>
          <a:chOff x="0" y="0"/>
          <a:chExt cx="0" cy="0"/>
        </a:xfrm>
      </p:grpSpPr>
      <p:sp>
        <p:nvSpPr>
          <p:cNvPr id="9" name="スライド番号プレースホルダー 8">
            <a:extLst>
              <a:ext uri="{FF2B5EF4-FFF2-40B4-BE49-F238E27FC236}">
                <a16:creationId xmlns:a16="http://schemas.microsoft.com/office/drawing/2014/main" id="{EBF40C7D-876D-68E5-5AD7-8B3273C557FD}"/>
              </a:ext>
            </a:extLst>
          </p:cNvPr>
          <p:cNvSpPr>
            <a:spLocks noGrp="1"/>
          </p:cNvSpPr>
          <p:nvPr>
            <p:ph type="sldNum" sz="quarter" idx="12"/>
          </p:nvPr>
        </p:nvSpPr>
        <p:spPr/>
        <p:txBody>
          <a:bodyPr/>
          <a:lstStyle/>
          <a:p>
            <a:fld id="{18020408-E1FF-429E-A8D5-EB2A190A0D77}" type="slidenum">
              <a:rPr kumimoji="1" lang="ja-JP" altLang="en-US" smtClean="0"/>
              <a:t>66</a:t>
            </a:fld>
            <a:endParaRPr kumimoji="1" lang="ja-JP" altLang="en-US"/>
          </a:p>
        </p:txBody>
      </p:sp>
      <p:sp>
        <p:nvSpPr>
          <p:cNvPr id="5" name="タイトル 4">
            <a:extLst>
              <a:ext uri="{FF2B5EF4-FFF2-40B4-BE49-F238E27FC236}">
                <a16:creationId xmlns:a16="http://schemas.microsoft.com/office/drawing/2014/main" id="{B043FC46-86BD-368A-2954-048A2D0BC987}"/>
              </a:ext>
            </a:extLst>
          </p:cNvPr>
          <p:cNvSpPr>
            <a:spLocks noGrp="1"/>
          </p:cNvSpPr>
          <p:nvPr>
            <p:ph type="title"/>
          </p:nvPr>
        </p:nvSpPr>
        <p:spPr/>
        <p:txBody>
          <a:bodyPr>
            <a:noAutofit/>
          </a:bodyPr>
          <a:lstStyle/>
          <a:p>
            <a:r>
              <a:rPr lang="ja-JP" altLang="en-US" sz="3600" b="1" dirty="0">
                <a:solidFill>
                  <a:schemeClr val="bg1"/>
                </a:solidFill>
                <a:latin typeface="+mn-ea"/>
                <a:ea typeface="+mn-ea"/>
              </a:rPr>
              <a:t>評価指標</a:t>
            </a:r>
          </a:p>
        </p:txBody>
      </p:sp>
      <p:sp>
        <p:nvSpPr>
          <p:cNvPr id="15" name="テキスト ボックス 14">
            <a:extLst>
              <a:ext uri="{FF2B5EF4-FFF2-40B4-BE49-F238E27FC236}">
                <a16:creationId xmlns:a16="http://schemas.microsoft.com/office/drawing/2014/main" id="{CFE5D566-2E09-8C38-3288-DA2BA5A4DC33}"/>
              </a:ext>
            </a:extLst>
          </p:cNvPr>
          <p:cNvSpPr txBox="1"/>
          <p:nvPr/>
        </p:nvSpPr>
        <p:spPr>
          <a:xfrm>
            <a:off x="266991" y="1005142"/>
            <a:ext cx="8610017" cy="1592744"/>
          </a:xfrm>
          <a:prstGeom prst="rect">
            <a:avLst/>
          </a:prstGeom>
          <a:noFill/>
        </p:spPr>
        <p:txBody>
          <a:bodyPr wrap="square">
            <a:noAutofit/>
          </a:bodyPr>
          <a:lstStyle/>
          <a:p>
            <a:pPr fontAlgn="base">
              <a:lnSpc>
                <a:spcPts val="2400"/>
              </a:lnSpc>
            </a:pPr>
            <a:r>
              <a:rPr lang="ja-JP" altLang="en-US" sz="2000" b="1" dirty="0">
                <a:latin typeface="Meiryo UI" panose="020B0604030504040204" pitchFamily="50" charset="-128"/>
                <a:ea typeface="Yu Gothic" panose="020B0400000000000000" pitchFamily="50" charset="-128"/>
              </a:rPr>
              <a:t>エージェントの印象に関する</a:t>
            </a:r>
            <a:r>
              <a:rPr lang="en-US" altLang="ja-JP" sz="2000" b="1" dirty="0">
                <a:latin typeface="Meiryo UI" panose="020B0604030504040204" pitchFamily="50" charset="-128"/>
                <a:ea typeface="Yu Gothic" panose="020B0400000000000000" pitchFamily="50" charset="-128"/>
              </a:rPr>
              <a:t>19</a:t>
            </a:r>
            <a:r>
              <a:rPr lang="ja-JP" altLang="en-US" sz="2000" b="1" dirty="0">
                <a:latin typeface="Meiryo UI" panose="020B0604030504040204" pitchFamily="50" charset="-128"/>
                <a:ea typeface="Yu Gothic" panose="020B0400000000000000" pitchFamily="50" charset="-128"/>
              </a:rPr>
              <a:t>の質問項目（</a:t>
            </a:r>
            <a:r>
              <a:rPr lang="en-US" altLang="ja-JP" sz="2000" b="1" dirty="0">
                <a:latin typeface="Meiryo UI" panose="020B0604030504040204" pitchFamily="50" charset="-128"/>
                <a:ea typeface="Yu Gothic" panose="020B0400000000000000" pitchFamily="50" charset="-128"/>
              </a:rPr>
              <a:t>11</a:t>
            </a:r>
            <a:r>
              <a:rPr lang="ja-JP" altLang="en-US" sz="2000" b="1" dirty="0">
                <a:latin typeface="Meiryo UI" panose="020B0604030504040204" pitchFamily="50" charset="-128"/>
                <a:ea typeface="Yu Gothic" panose="020B0400000000000000" pitchFamily="50" charset="-128"/>
              </a:rPr>
              <a:t>件法）</a:t>
            </a:r>
            <a:endParaRPr lang="en-US" altLang="ja-JP" sz="2000" b="1" dirty="0">
              <a:latin typeface="Meiryo UI" panose="020B0604030504040204" pitchFamily="50" charset="-128"/>
              <a:ea typeface="Yu Gothic" panose="020B0400000000000000" pitchFamily="50" charset="-128"/>
            </a:endParaRPr>
          </a:p>
          <a:p>
            <a:pPr marL="285750" indent="-285750" fontAlgn="base">
              <a:lnSpc>
                <a:spcPts val="2400"/>
              </a:lnSpc>
              <a:buFont typeface="Arial" panose="020B0604020202020204" pitchFamily="34" charset="0"/>
              <a:buChar char="•"/>
            </a:pPr>
            <a:r>
              <a:rPr lang="ja-JP" altLang="ja-JP" b="1" dirty="0">
                <a:solidFill>
                  <a:schemeClr val="accent1"/>
                </a:solidFill>
              </a:rPr>
              <a:t>エージェントの一般的な印象に関する</a:t>
            </a:r>
            <a:r>
              <a:rPr lang="en-US" altLang="ja-JP" b="1" dirty="0">
                <a:solidFill>
                  <a:schemeClr val="accent1"/>
                </a:solidFill>
              </a:rPr>
              <a:t>18</a:t>
            </a:r>
            <a:r>
              <a:rPr lang="ja-JP" altLang="ja-JP" b="1" dirty="0">
                <a:solidFill>
                  <a:schemeClr val="accent1"/>
                </a:solidFill>
              </a:rPr>
              <a:t>項目 </a:t>
            </a:r>
            <a:r>
              <a:rPr lang="en-US" altLang="ja-JP" b="1" dirty="0">
                <a:solidFill>
                  <a:schemeClr val="accent1"/>
                </a:solidFill>
              </a:rPr>
              <a:t>[</a:t>
            </a:r>
            <a:r>
              <a:rPr lang="en-US" altLang="ja-JP" b="1" dirty="0" err="1">
                <a:solidFill>
                  <a:schemeClr val="accent1"/>
                </a:solidFill>
              </a:rPr>
              <a:t>Fitrianie</a:t>
            </a:r>
            <a:r>
              <a:rPr lang="ja-JP" altLang="ja-JP" b="1" dirty="0">
                <a:solidFill>
                  <a:schemeClr val="accent1"/>
                </a:solidFill>
              </a:rPr>
              <a:t>ら </a:t>
            </a:r>
            <a:r>
              <a:rPr lang="en-US" altLang="ja-JP" b="1" dirty="0">
                <a:solidFill>
                  <a:schemeClr val="accent1"/>
                </a:solidFill>
              </a:rPr>
              <a:t>‘20]</a:t>
            </a:r>
            <a:br>
              <a:rPr lang="en-US" altLang="ja-JP" b="1" dirty="0">
                <a:solidFill>
                  <a:schemeClr val="accent1"/>
                </a:solidFill>
              </a:rPr>
            </a:br>
            <a:r>
              <a:rPr lang="en-US" altLang="ja-JP" b="1" dirty="0">
                <a:sym typeface="Wingdings" panose="05000000000000000000" pitchFamily="2" charset="2"/>
              </a:rPr>
              <a:t></a:t>
            </a:r>
            <a:r>
              <a:rPr lang="ja-JP" altLang="en-US" b="1" dirty="0">
                <a:sym typeface="Wingdings" panose="05000000000000000000" pitchFamily="2" charset="2"/>
              </a:rPr>
              <a:t>日本語に翻訳したものを使用</a:t>
            </a:r>
            <a:r>
              <a:rPr lang="en-US" altLang="ja-JP" b="1" dirty="0">
                <a:sym typeface="Wingdings" panose="05000000000000000000" pitchFamily="2" charset="2"/>
              </a:rPr>
              <a:t>[</a:t>
            </a:r>
            <a:r>
              <a:rPr lang="ja-JP" altLang="en-US" b="1" dirty="0">
                <a:sym typeface="Wingdings" panose="05000000000000000000" pitchFamily="2" charset="2"/>
              </a:rPr>
              <a:t>吉原ら </a:t>
            </a:r>
            <a:r>
              <a:rPr lang="en-US" altLang="ja-JP" b="1" dirty="0">
                <a:sym typeface="Wingdings" panose="05000000000000000000" pitchFamily="2" charset="2"/>
              </a:rPr>
              <a:t>‘23]</a:t>
            </a:r>
            <a:r>
              <a:rPr lang="en-US" altLang="ja-JP" dirty="0"/>
              <a:t>​</a:t>
            </a:r>
          </a:p>
          <a:p>
            <a:pPr marL="285750" indent="-285750" fontAlgn="base">
              <a:lnSpc>
                <a:spcPts val="2400"/>
              </a:lnSpc>
              <a:buFont typeface="Arial" panose="020B0604020202020204" pitchFamily="34" charset="0"/>
              <a:buChar char="•"/>
            </a:pPr>
            <a:r>
              <a:rPr lang="ja-JP" altLang="en-US" b="1" dirty="0">
                <a:solidFill>
                  <a:schemeClr val="accent2"/>
                </a:solidFill>
                <a:latin typeface="Meiryo UI" panose="020B0604030504040204" pitchFamily="50" charset="-128"/>
                <a:ea typeface="Yu Gothic" panose="020B0400000000000000" pitchFamily="50" charset="-128"/>
              </a:rPr>
              <a:t>エージェントの人格切り替えの知覚度合いに関する</a:t>
            </a:r>
            <a:r>
              <a:rPr lang="en-US" altLang="ja-JP" b="1" dirty="0">
                <a:solidFill>
                  <a:schemeClr val="accent2"/>
                </a:solidFill>
                <a:latin typeface="Meiryo UI" panose="020B0604030504040204" pitchFamily="50" charset="-128"/>
                <a:ea typeface="Yu Gothic" panose="020B0400000000000000" pitchFamily="50" charset="-128"/>
              </a:rPr>
              <a:t>1</a:t>
            </a:r>
            <a:r>
              <a:rPr lang="ja-JP" altLang="en-US" b="1" dirty="0">
                <a:solidFill>
                  <a:schemeClr val="accent2"/>
                </a:solidFill>
                <a:latin typeface="Meiryo UI" panose="020B0604030504040204" pitchFamily="50" charset="-128"/>
                <a:ea typeface="Yu Gothic" panose="020B0400000000000000" pitchFamily="50" charset="-128"/>
              </a:rPr>
              <a:t>項目</a:t>
            </a:r>
            <a:endParaRPr lang="en-US" altLang="ja-JP" b="0" i="0" dirty="0">
              <a:solidFill>
                <a:schemeClr val="accent2"/>
              </a:solidFill>
              <a:effectLst/>
              <a:latin typeface="Meiryo UI" panose="020B0604030504040204" pitchFamily="50" charset="-128"/>
              <a:ea typeface="Meiryo UI" panose="020B0604030504040204" pitchFamily="50" charset="-128"/>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p:txBody>
      </p:sp>
      <p:sp>
        <p:nvSpPr>
          <p:cNvPr id="3" name="Rectangle 1">
            <a:extLst>
              <a:ext uri="{FF2B5EF4-FFF2-40B4-BE49-F238E27FC236}">
                <a16:creationId xmlns:a16="http://schemas.microsoft.com/office/drawing/2014/main" id="{E36E97DD-CE6B-AFA6-C2D9-4846C0D727BF}"/>
              </a:ext>
            </a:extLst>
          </p:cNvPr>
          <p:cNvSpPr>
            <a:spLocks noChangeArrowheads="1"/>
          </p:cNvSpPr>
          <p:nvPr/>
        </p:nvSpPr>
        <p:spPr bwMode="auto">
          <a:xfrm>
            <a:off x="-6774455" y="2056045"/>
            <a:ext cx="220155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graphicFrame>
        <p:nvGraphicFramePr>
          <p:cNvPr id="7" name="表 6">
            <a:extLst>
              <a:ext uri="{FF2B5EF4-FFF2-40B4-BE49-F238E27FC236}">
                <a16:creationId xmlns:a16="http://schemas.microsoft.com/office/drawing/2014/main" id="{E7B7215B-0139-AB12-4914-73FEF13D056D}"/>
              </a:ext>
            </a:extLst>
          </p:cNvPr>
          <p:cNvGraphicFramePr>
            <a:graphicFrameLocks noGrp="1"/>
          </p:cNvGraphicFramePr>
          <p:nvPr/>
        </p:nvGraphicFramePr>
        <p:xfrm>
          <a:off x="266991" y="2286000"/>
          <a:ext cx="8610017" cy="4572000"/>
        </p:xfrm>
        <a:graphic>
          <a:graphicData uri="http://schemas.openxmlformats.org/drawingml/2006/table">
            <a:tbl>
              <a:tblPr firstRow="1" bandRow="1">
                <a:tableStyleId>{9D7B26C5-4107-4FEC-AEDC-1716B250A1EF}</a:tableStyleId>
              </a:tblPr>
              <a:tblGrid>
                <a:gridCol w="574001">
                  <a:extLst>
                    <a:ext uri="{9D8B030D-6E8A-4147-A177-3AD203B41FA5}">
                      <a16:colId xmlns:a16="http://schemas.microsoft.com/office/drawing/2014/main" val="1744655011"/>
                    </a:ext>
                  </a:extLst>
                </a:gridCol>
                <a:gridCol w="5158556">
                  <a:extLst>
                    <a:ext uri="{9D8B030D-6E8A-4147-A177-3AD203B41FA5}">
                      <a16:colId xmlns:a16="http://schemas.microsoft.com/office/drawing/2014/main" val="2345229164"/>
                    </a:ext>
                  </a:extLst>
                </a:gridCol>
                <a:gridCol w="1013821">
                  <a:extLst>
                    <a:ext uri="{9D8B030D-6E8A-4147-A177-3AD203B41FA5}">
                      <a16:colId xmlns:a16="http://schemas.microsoft.com/office/drawing/2014/main" val="1443283543"/>
                    </a:ext>
                  </a:extLst>
                </a:gridCol>
                <a:gridCol w="738001">
                  <a:extLst>
                    <a:ext uri="{9D8B030D-6E8A-4147-A177-3AD203B41FA5}">
                      <a16:colId xmlns:a16="http://schemas.microsoft.com/office/drawing/2014/main" val="3846518700"/>
                    </a:ext>
                  </a:extLst>
                </a:gridCol>
                <a:gridCol w="1125638">
                  <a:extLst>
                    <a:ext uri="{9D8B030D-6E8A-4147-A177-3AD203B41FA5}">
                      <a16:colId xmlns:a16="http://schemas.microsoft.com/office/drawing/2014/main" val="2980939507"/>
                    </a:ext>
                  </a:extLst>
                </a:gridCol>
              </a:tblGrid>
              <a:tr h="207781">
                <a:tc>
                  <a:txBody>
                    <a:bodyPr/>
                    <a:lstStyle/>
                    <a:p>
                      <a:r>
                        <a:rPr kumimoji="1" lang="en-US" altLang="ja-JP" sz="900" dirty="0"/>
                        <a:t>No.</a:t>
                      </a:r>
                      <a:endParaRPr kumimoji="1" lang="ja-JP" altLang="en-US" sz="900" dirty="0"/>
                    </a:p>
                  </a:txBody>
                  <a:tcPr/>
                </a:tc>
                <a:tc>
                  <a:txBody>
                    <a:bodyPr/>
                    <a:lstStyle/>
                    <a:p>
                      <a:r>
                        <a:rPr kumimoji="1" lang="ja-JP" altLang="en-US" sz="900" dirty="0"/>
                        <a:t>質問</a:t>
                      </a:r>
                    </a:p>
                  </a:txBody>
                  <a:tcPr/>
                </a:tc>
                <a:tc>
                  <a:txBody>
                    <a:bodyPr/>
                    <a:lstStyle/>
                    <a:p>
                      <a:r>
                        <a:rPr kumimoji="1" lang="en-US" altLang="ja-JP" sz="900" dirty="0"/>
                        <a:t>1</a:t>
                      </a:r>
                      <a:endParaRPr kumimoji="1" lang="ja-JP" altLang="en-US" sz="900" dirty="0"/>
                    </a:p>
                  </a:txBody>
                  <a:tcPr/>
                </a:tc>
                <a:tc>
                  <a:txBody>
                    <a:bodyPr/>
                    <a:lstStyle/>
                    <a:p>
                      <a:r>
                        <a:rPr kumimoji="1" lang="en-US" altLang="ja-JP" sz="900" dirty="0"/>
                        <a:t>-</a:t>
                      </a:r>
                      <a:endParaRPr kumimoji="1" lang="ja-JP" altLang="en-US" sz="900" dirty="0"/>
                    </a:p>
                  </a:txBody>
                  <a:tcPr/>
                </a:tc>
                <a:tc>
                  <a:txBody>
                    <a:bodyPr/>
                    <a:lstStyle/>
                    <a:p>
                      <a:r>
                        <a:rPr kumimoji="1" lang="en-US" altLang="ja-JP" sz="900" dirty="0"/>
                        <a:t>11</a:t>
                      </a:r>
                      <a:endParaRPr kumimoji="1" lang="ja-JP" altLang="en-US" sz="900" dirty="0"/>
                    </a:p>
                  </a:txBody>
                  <a:tcPr/>
                </a:tc>
                <a:extLst>
                  <a:ext uri="{0D108BD9-81ED-4DB2-BD59-A6C34878D82A}">
                    <a16:rowId xmlns:a16="http://schemas.microsoft.com/office/drawing/2014/main" val="1246061242"/>
                  </a:ext>
                </a:extLst>
              </a:tr>
              <a:tr h="207781">
                <a:tc>
                  <a:txBody>
                    <a:bodyPr/>
                    <a:lstStyle/>
                    <a:p>
                      <a:r>
                        <a:rPr kumimoji="1" lang="en-US" altLang="ja-JP" sz="900" b="1" dirty="0">
                          <a:solidFill>
                            <a:schemeClr val="accent1"/>
                          </a:solidFill>
                        </a:rPr>
                        <a:t>Q1</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エージェントの外見は人間らしく自然である </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3258938384"/>
                  </a:ext>
                </a:extLst>
              </a:tr>
              <a:tr h="207781">
                <a:tc>
                  <a:txBody>
                    <a:bodyPr/>
                    <a:lstStyle/>
                    <a:p>
                      <a:r>
                        <a:rPr kumimoji="1" lang="en-US" altLang="ja-JP" sz="900" b="1" dirty="0">
                          <a:solidFill>
                            <a:schemeClr val="accent1"/>
                          </a:solidFill>
                        </a:rPr>
                        <a:t>Q2</a:t>
                      </a:r>
                      <a:endParaRPr kumimoji="1" lang="ja-JP" altLang="en-US" sz="900" b="1" dirty="0">
                        <a:solidFill>
                          <a:schemeClr val="accent1"/>
                        </a:solidFill>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1" dirty="0">
                          <a:solidFill>
                            <a:schemeClr val="accent1"/>
                          </a:solidFill>
                        </a:rPr>
                        <a:t>エージェントの言動は人間らしく自然である </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191722908"/>
                  </a:ext>
                </a:extLst>
              </a:tr>
              <a:tr h="207781">
                <a:tc>
                  <a:txBody>
                    <a:bodyPr/>
                    <a:lstStyle/>
                    <a:p>
                      <a:r>
                        <a:rPr kumimoji="1" lang="en-US" altLang="ja-JP" sz="900" b="1" dirty="0">
                          <a:solidFill>
                            <a:schemeClr val="accent1"/>
                          </a:solidFill>
                        </a:rPr>
                        <a:t>Q3</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エージェントの外見はタスクに対して適切である </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3653240321"/>
                  </a:ext>
                </a:extLst>
              </a:tr>
              <a:tr h="207781">
                <a:tc>
                  <a:txBody>
                    <a:bodyPr/>
                    <a:lstStyle/>
                    <a:p>
                      <a:r>
                        <a:rPr kumimoji="1" lang="en-US" altLang="ja-JP" sz="900" b="1" dirty="0">
                          <a:solidFill>
                            <a:schemeClr val="accent1"/>
                          </a:solidFill>
                        </a:rPr>
                        <a:t>Q4</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エージェントは使い勝手がよさそうだ</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3459790237"/>
                  </a:ext>
                </a:extLst>
              </a:tr>
              <a:tr h="207781">
                <a:tc>
                  <a:txBody>
                    <a:bodyPr/>
                    <a:lstStyle/>
                    <a:p>
                      <a:r>
                        <a:rPr kumimoji="1" lang="en-US" altLang="ja-JP" sz="900" b="1" dirty="0">
                          <a:solidFill>
                            <a:schemeClr val="accent1"/>
                          </a:solidFill>
                        </a:rPr>
                        <a:t>Q5</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エージェントはタスクを適切に実行している</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3633688860"/>
                  </a:ext>
                </a:extLst>
              </a:tr>
              <a:tr h="207781">
                <a:tc>
                  <a:txBody>
                    <a:bodyPr/>
                    <a:lstStyle/>
                    <a:p>
                      <a:r>
                        <a:rPr kumimoji="1" lang="en-US" altLang="ja-JP" sz="900" b="1" dirty="0">
                          <a:solidFill>
                            <a:schemeClr val="accent1"/>
                          </a:solidFill>
                        </a:rPr>
                        <a:t>Q6</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エージェントには好感が持てる</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781971190"/>
                  </a:ext>
                </a:extLst>
              </a:tr>
              <a:tr h="207781">
                <a:tc>
                  <a:txBody>
                    <a:bodyPr/>
                    <a:lstStyle/>
                    <a:p>
                      <a:r>
                        <a:rPr kumimoji="1" lang="en-US" altLang="ja-JP" sz="900" b="1" dirty="0">
                          <a:solidFill>
                            <a:schemeClr val="accent1"/>
                          </a:solidFill>
                        </a:rPr>
                        <a:t>Q7</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エージェントは社交的だと感じる</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3093623646"/>
                  </a:ext>
                </a:extLst>
              </a:tr>
              <a:tr h="207781">
                <a:tc>
                  <a:txBody>
                    <a:bodyPr/>
                    <a:lstStyle/>
                    <a:p>
                      <a:r>
                        <a:rPr kumimoji="1" lang="en-US" altLang="ja-JP" sz="900" b="1" dirty="0">
                          <a:solidFill>
                            <a:schemeClr val="accent1"/>
                          </a:solidFill>
                        </a:rPr>
                        <a:t>Q8</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エージェントと自然に会話を行うことができた</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2177886145"/>
                  </a:ext>
                </a:extLst>
              </a:tr>
              <a:tr h="207781">
                <a:tc>
                  <a:txBody>
                    <a:bodyPr/>
                    <a:lstStyle/>
                    <a:p>
                      <a:r>
                        <a:rPr kumimoji="1" lang="en-US" altLang="ja-JP" sz="900" b="1" dirty="0">
                          <a:solidFill>
                            <a:schemeClr val="accent1"/>
                          </a:solidFill>
                        </a:rPr>
                        <a:t>Q9</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エージェントには個性がある</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2153456940"/>
                  </a:ext>
                </a:extLst>
              </a:tr>
              <a:tr h="207781">
                <a:tc>
                  <a:txBody>
                    <a:bodyPr/>
                    <a:lstStyle/>
                    <a:p>
                      <a:r>
                        <a:rPr kumimoji="1" lang="en-US" altLang="ja-JP" sz="900" b="1" dirty="0">
                          <a:solidFill>
                            <a:schemeClr val="accent1"/>
                          </a:solidFill>
                        </a:rPr>
                        <a:t>Q10</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エージェントは親しみやすい</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3945818408"/>
                  </a:ext>
                </a:extLst>
              </a:tr>
              <a:tr h="207781">
                <a:tc>
                  <a:txBody>
                    <a:bodyPr/>
                    <a:lstStyle/>
                    <a:p>
                      <a:r>
                        <a:rPr kumimoji="1" lang="en-US" altLang="ja-JP" sz="900" b="1" dirty="0">
                          <a:solidFill>
                            <a:schemeClr val="accent1"/>
                          </a:solidFill>
                        </a:rPr>
                        <a:t>Q11</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エージェントの言動は受け入れやすい</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41848546"/>
                  </a:ext>
                </a:extLst>
              </a:tr>
              <a:tr h="207781">
                <a:tc>
                  <a:txBody>
                    <a:bodyPr/>
                    <a:lstStyle/>
                    <a:p>
                      <a:r>
                        <a:rPr kumimoji="1" lang="en-US" altLang="ja-JP" sz="900" b="1" dirty="0">
                          <a:solidFill>
                            <a:schemeClr val="accent1"/>
                          </a:solidFill>
                        </a:rPr>
                        <a:t>Q12</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エージェントの言動は見ていて楽しい</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2354162933"/>
                  </a:ext>
                </a:extLst>
              </a:tr>
              <a:tr h="207781">
                <a:tc>
                  <a:txBody>
                    <a:bodyPr/>
                    <a:lstStyle/>
                    <a:p>
                      <a:r>
                        <a:rPr kumimoji="1" lang="en-US" altLang="ja-JP" sz="900" b="1" dirty="0">
                          <a:solidFill>
                            <a:schemeClr val="accent1"/>
                          </a:solidFill>
                        </a:rPr>
                        <a:t>Q13</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エージェントは信頼できる</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808695424"/>
                  </a:ext>
                </a:extLst>
              </a:tr>
              <a:tr h="207781">
                <a:tc>
                  <a:txBody>
                    <a:bodyPr/>
                    <a:lstStyle/>
                    <a:p>
                      <a:r>
                        <a:rPr kumimoji="1" lang="en-US" altLang="ja-JP" sz="900" b="1" dirty="0">
                          <a:solidFill>
                            <a:schemeClr val="accent1"/>
                          </a:solidFill>
                        </a:rPr>
                        <a:t>Q14</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エージェントは気配りができる</a:t>
                      </a:r>
                      <a:endParaRPr kumimoji="1" lang="en-US" altLang="ja-JP"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1822548761"/>
                  </a:ext>
                </a:extLst>
              </a:tr>
              <a:tr h="207781">
                <a:tc>
                  <a:txBody>
                    <a:bodyPr/>
                    <a:lstStyle/>
                    <a:p>
                      <a:r>
                        <a:rPr kumimoji="1" lang="en-US" altLang="ja-JP" sz="900" b="1" dirty="0">
                          <a:solidFill>
                            <a:schemeClr val="accent1"/>
                          </a:solidFill>
                        </a:rPr>
                        <a:t>Q15</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エージェントぼ言動は一貫している</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4210507351"/>
                  </a:ext>
                </a:extLst>
              </a:tr>
              <a:tr h="207781">
                <a:tc>
                  <a:txBody>
                    <a:bodyPr/>
                    <a:lstStyle/>
                    <a:p>
                      <a:r>
                        <a:rPr kumimoji="1" lang="en-US" altLang="ja-JP" sz="900" b="1" dirty="0">
                          <a:solidFill>
                            <a:schemeClr val="accent1"/>
                          </a:solidFill>
                        </a:rPr>
                        <a:t>Q16</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エージェントの言動には意図がある</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1641715857"/>
                  </a:ext>
                </a:extLst>
              </a:tr>
              <a:tr h="207781">
                <a:tc>
                  <a:txBody>
                    <a:bodyPr/>
                    <a:lstStyle/>
                    <a:p>
                      <a:r>
                        <a:rPr kumimoji="1" lang="en-US" altLang="ja-JP" sz="900" b="1" dirty="0">
                          <a:solidFill>
                            <a:schemeClr val="accent1"/>
                          </a:solidFill>
                        </a:rPr>
                        <a:t>Q17</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エージェントには存在感がある</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4012605377"/>
                  </a:ext>
                </a:extLst>
              </a:tr>
              <a:tr h="207781">
                <a:tc>
                  <a:txBody>
                    <a:bodyPr/>
                    <a:lstStyle/>
                    <a:p>
                      <a:r>
                        <a:rPr kumimoji="1" lang="en-US" altLang="ja-JP" sz="900" b="1" dirty="0">
                          <a:solidFill>
                            <a:schemeClr val="accent1"/>
                          </a:solidFill>
                        </a:rPr>
                        <a:t>Q18</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エージェントには影響力がある</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3758108997"/>
                  </a:ext>
                </a:extLst>
              </a:tr>
              <a:tr h="207781">
                <a:tc>
                  <a:txBody>
                    <a:bodyPr/>
                    <a:lstStyle/>
                    <a:p>
                      <a:r>
                        <a:rPr kumimoji="1" lang="en-US" altLang="ja-JP" sz="900" b="1" dirty="0">
                          <a:solidFill>
                            <a:schemeClr val="accent2"/>
                          </a:solidFill>
                        </a:rPr>
                        <a:t>Q19</a:t>
                      </a:r>
                      <a:endParaRPr kumimoji="1" lang="ja-JP" altLang="en-US" sz="900" b="1" dirty="0">
                        <a:solidFill>
                          <a:schemeClr val="accent2"/>
                        </a:solidFill>
                      </a:endParaRPr>
                    </a:p>
                  </a:txBody>
                  <a:tcPr>
                    <a:solidFill>
                      <a:schemeClr val="bg1"/>
                    </a:solidFill>
                  </a:tcPr>
                </a:tc>
                <a:tc>
                  <a:txBody>
                    <a:bodyPr/>
                    <a:lstStyle/>
                    <a:p>
                      <a:r>
                        <a:rPr kumimoji="1" lang="ja-JP" altLang="en-US" sz="900" b="1" dirty="0">
                          <a:solidFill>
                            <a:schemeClr val="accent2"/>
                          </a:solidFill>
                        </a:rPr>
                        <a:t>エージェントの人格が変わったと感じましたか</a:t>
                      </a:r>
                    </a:p>
                  </a:txBody>
                  <a:tcPr>
                    <a:solidFill>
                      <a:schemeClr val="bg1"/>
                    </a:solidFill>
                  </a:tcPr>
                </a:tc>
                <a:tc>
                  <a:txBody>
                    <a:bodyPr/>
                    <a:lstStyle/>
                    <a:p>
                      <a:r>
                        <a:rPr kumimoji="1" lang="ja-JP" altLang="en-US" sz="900" b="1" dirty="0">
                          <a:solidFill>
                            <a:schemeClr val="accent2"/>
                          </a:solidFill>
                        </a:rPr>
                        <a:t>あてはまらない</a:t>
                      </a:r>
                    </a:p>
                  </a:txBody>
                  <a:tcPr>
                    <a:solidFill>
                      <a:schemeClr val="bg1"/>
                    </a:solidFill>
                  </a:tcPr>
                </a:tc>
                <a:tc>
                  <a:txBody>
                    <a:bodyPr/>
                    <a:lstStyle/>
                    <a:p>
                      <a:r>
                        <a:rPr kumimoji="1" lang="en-US" altLang="ja-JP" sz="900" b="1" dirty="0">
                          <a:solidFill>
                            <a:schemeClr val="accent2"/>
                          </a:solidFill>
                        </a:rPr>
                        <a:t>-</a:t>
                      </a:r>
                      <a:endParaRPr kumimoji="1" lang="ja-JP" altLang="en-US" sz="900" b="1" dirty="0">
                        <a:solidFill>
                          <a:schemeClr val="accent2"/>
                        </a:solidFill>
                      </a:endParaRPr>
                    </a:p>
                  </a:txBody>
                  <a:tcPr>
                    <a:solidFill>
                      <a:schemeClr val="bg1"/>
                    </a:solidFill>
                  </a:tcPr>
                </a:tc>
                <a:tc>
                  <a:txBody>
                    <a:bodyPr/>
                    <a:lstStyle/>
                    <a:p>
                      <a:r>
                        <a:rPr kumimoji="1" lang="ja-JP" altLang="en-US" sz="900" b="1" dirty="0">
                          <a:solidFill>
                            <a:schemeClr val="accent2"/>
                          </a:solidFill>
                        </a:rPr>
                        <a:t>あてはまる</a:t>
                      </a:r>
                    </a:p>
                  </a:txBody>
                  <a:tcPr>
                    <a:solidFill>
                      <a:schemeClr val="bg1"/>
                    </a:solidFill>
                  </a:tcPr>
                </a:tc>
                <a:extLst>
                  <a:ext uri="{0D108BD9-81ED-4DB2-BD59-A6C34878D82A}">
                    <a16:rowId xmlns:a16="http://schemas.microsoft.com/office/drawing/2014/main" val="2848573787"/>
                  </a:ext>
                </a:extLst>
              </a:tr>
            </a:tbl>
          </a:graphicData>
        </a:graphic>
      </p:graphicFrame>
    </p:spTree>
    <p:extLst>
      <p:ext uri="{BB962C8B-B14F-4D97-AF65-F5344CB8AC3E}">
        <p14:creationId xmlns:p14="http://schemas.microsoft.com/office/powerpoint/2010/main" val="36057325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2F3D942-8407-97EB-02C0-04A606898FC8}"/>
              </a:ext>
            </a:extLst>
          </p:cNvPr>
          <p:cNvSpPr>
            <a:spLocks noGrp="1"/>
          </p:cNvSpPr>
          <p:nvPr>
            <p:ph type="sldNum" sz="quarter" idx="12"/>
          </p:nvPr>
        </p:nvSpPr>
        <p:spPr/>
        <p:txBody>
          <a:bodyPr/>
          <a:lstStyle/>
          <a:p>
            <a:fld id="{18020408-E1FF-429E-A8D5-EB2A190A0D77}" type="slidenum">
              <a:rPr kumimoji="1" lang="ja-JP" altLang="en-US" smtClean="0"/>
              <a:pPr/>
              <a:t>67</a:t>
            </a:fld>
            <a:endParaRPr kumimoji="1" lang="ja-JP" altLang="en-US" sz="2400" dirty="0"/>
          </a:p>
        </p:txBody>
      </p:sp>
      <p:sp>
        <p:nvSpPr>
          <p:cNvPr id="3" name="タイトル 2">
            <a:extLst>
              <a:ext uri="{FF2B5EF4-FFF2-40B4-BE49-F238E27FC236}">
                <a16:creationId xmlns:a16="http://schemas.microsoft.com/office/drawing/2014/main" id="{86461902-DDD3-7BC9-8D44-7FCD98E69A28}"/>
              </a:ext>
            </a:extLst>
          </p:cNvPr>
          <p:cNvSpPr>
            <a:spLocks noGrp="1"/>
          </p:cNvSpPr>
          <p:nvPr>
            <p:ph type="title"/>
          </p:nvPr>
        </p:nvSpPr>
        <p:spPr/>
        <p:txBody>
          <a:bodyPr/>
          <a:lstStyle/>
          <a:p>
            <a:r>
              <a:rPr kumimoji="1" lang="ja-JP" altLang="en-US" sz="3600" dirty="0"/>
              <a:t>実験結果：人格切替の知覚</a:t>
            </a:r>
          </a:p>
        </p:txBody>
      </p:sp>
      <p:graphicFrame>
        <p:nvGraphicFramePr>
          <p:cNvPr id="4" name="表 3">
            <a:extLst>
              <a:ext uri="{FF2B5EF4-FFF2-40B4-BE49-F238E27FC236}">
                <a16:creationId xmlns:a16="http://schemas.microsoft.com/office/drawing/2014/main" id="{931B3AC7-875C-1796-D954-2986878E4F24}"/>
              </a:ext>
            </a:extLst>
          </p:cNvPr>
          <p:cNvGraphicFramePr>
            <a:graphicFrameLocks noGrp="1"/>
          </p:cNvGraphicFramePr>
          <p:nvPr>
            <p:extLst>
              <p:ext uri="{D42A27DB-BD31-4B8C-83A1-F6EECF244321}">
                <p14:modId xmlns:p14="http://schemas.microsoft.com/office/powerpoint/2010/main" val="1808291527"/>
              </p:ext>
            </p:extLst>
          </p:nvPr>
        </p:nvGraphicFramePr>
        <p:xfrm>
          <a:off x="409492" y="1171299"/>
          <a:ext cx="8325016" cy="5575711"/>
        </p:xfrm>
        <a:graphic>
          <a:graphicData uri="http://schemas.openxmlformats.org/drawingml/2006/table">
            <a:tbl>
              <a:tblPr firstRow="1" bandRow="1">
                <a:tableStyleId>{9D7B26C5-4107-4FEC-AEDC-1716B250A1EF}</a:tableStyleId>
              </a:tblPr>
              <a:tblGrid>
                <a:gridCol w="4312980">
                  <a:extLst>
                    <a:ext uri="{9D8B030D-6E8A-4147-A177-3AD203B41FA5}">
                      <a16:colId xmlns:a16="http://schemas.microsoft.com/office/drawing/2014/main" val="2853157113"/>
                    </a:ext>
                  </a:extLst>
                </a:gridCol>
                <a:gridCol w="1003009">
                  <a:extLst>
                    <a:ext uri="{9D8B030D-6E8A-4147-A177-3AD203B41FA5}">
                      <a16:colId xmlns:a16="http://schemas.microsoft.com/office/drawing/2014/main" val="2198488987"/>
                    </a:ext>
                  </a:extLst>
                </a:gridCol>
                <a:gridCol w="1003009">
                  <a:extLst>
                    <a:ext uri="{9D8B030D-6E8A-4147-A177-3AD203B41FA5}">
                      <a16:colId xmlns:a16="http://schemas.microsoft.com/office/drawing/2014/main" val="3645245759"/>
                    </a:ext>
                  </a:extLst>
                </a:gridCol>
                <a:gridCol w="1003009">
                  <a:extLst>
                    <a:ext uri="{9D8B030D-6E8A-4147-A177-3AD203B41FA5}">
                      <a16:colId xmlns:a16="http://schemas.microsoft.com/office/drawing/2014/main" val="4200389172"/>
                    </a:ext>
                  </a:extLst>
                </a:gridCol>
                <a:gridCol w="1003009">
                  <a:extLst>
                    <a:ext uri="{9D8B030D-6E8A-4147-A177-3AD203B41FA5}">
                      <a16:colId xmlns:a16="http://schemas.microsoft.com/office/drawing/2014/main" val="3745847308"/>
                    </a:ext>
                  </a:extLst>
                </a:gridCol>
              </a:tblGrid>
              <a:tr h="478360">
                <a:tc>
                  <a:txBody>
                    <a:bodyPr/>
                    <a:lstStyle/>
                    <a:p>
                      <a:r>
                        <a:rPr kumimoji="1" lang="ja-JP" altLang="en-US" sz="1600" b="1" dirty="0">
                          <a:latin typeface="+mn-ea"/>
                          <a:ea typeface="+mn-ea"/>
                        </a:rPr>
                        <a:t>人格切り替え</a:t>
                      </a:r>
                    </a:p>
                  </a:txBody>
                  <a:tcPr/>
                </a:tc>
                <a:tc gridSpan="2">
                  <a:txBody>
                    <a:bodyPr/>
                    <a:lstStyle/>
                    <a:p>
                      <a:pPr algn="ctr"/>
                      <a:r>
                        <a:rPr kumimoji="1" lang="ja-JP" altLang="en-US" sz="1600" b="1" dirty="0">
                          <a:latin typeface="+mn-ea"/>
                          <a:ea typeface="+mn-ea"/>
                        </a:rPr>
                        <a:t>固定</a:t>
                      </a:r>
                    </a:p>
                  </a:txBody>
                  <a:tcPr/>
                </a:tc>
                <a:tc hMerge="1">
                  <a:txBody>
                    <a:bodyPr/>
                    <a:lstStyle/>
                    <a:p>
                      <a:endParaRPr kumimoji="1" lang="ja-JP" altLang="en-US" dirty="0"/>
                    </a:p>
                  </a:txBody>
                  <a:tcPr/>
                </a:tc>
                <a:tc gridSpan="2">
                  <a:txBody>
                    <a:bodyPr/>
                    <a:lstStyle/>
                    <a:p>
                      <a:pPr algn="ctr"/>
                      <a:r>
                        <a:rPr kumimoji="1" lang="ja-JP" altLang="en-US" sz="1600" b="1" dirty="0">
                          <a:latin typeface="+mn-ea"/>
                          <a:ea typeface="+mn-ea"/>
                        </a:rPr>
                        <a:t>切り替え</a:t>
                      </a:r>
                    </a:p>
                  </a:txBody>
                  <a:tcPr/>
                </a:tc>
                <a:tc hMerge="1">
                  <a:txBody>
                    <a:bodyPr/>
                    <a:lstStyle/>
                    <a:p>
                      <a:endParaRPr kumimoji="1" lang="ja-JP" altLang="en-US" dirty="0"/>
                    </a:p>
                  </a:txBody>
                  <a:tcPr/>
                </a:tc>
                <a:extLst>
                  <a:ext uri="{0D108BD9-81ED-4DB2-BD59-A6C34878D82A}">
                    <a16:rowId xmlns:a16="http://schemas.microsoft.com/office/drawing/2014/main" val="1255672035"/>
                  </a:ext>
                </a:extLst>
              </a:tr>
              <a:tr h="478360">
                <a:tc>
                  <a:txBody>
                    <a:bodyPr/>
                    <a:lstStyle/>
                    <a:p>
                      <a:r>
                        <a:rPr kumimoji="1" lang="ja-JP" altLang="en-US" sz="1600" b="1" dirty="0">
                          <a:latin typeface="+mn-ea"/>
                          <a:ea typeface="+mn-ea"/>
                        </a:rPr>
                        <a:t>名乗り</a:t>
                      </a: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あり</a:t>
                      </a: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なし</a:t>
                      </a: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あり</a:t>
                      </a: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なし</a:t>
                      </a:r>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2232592"/>
                  </a:ext>
                </a:extLst>
              </a:tr>
              <a:tr h="522701">
                <a:tc>
                  <a:txBody>
                    <a:bodyPr/>
                    <a:lstStyle/>
                    <a:p>
                      <a:r>
                        <a:rPr kumimoji="1" lang="ja-JP" altLang="en-US" sz="1600" b="1" dirty="0">
                          <a:latin typeface="+mn-ea"/>
                          <a:ea typeface="+mn-ea"/>
                        </a:rPr>
                        <a:t>項目</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回答人数</a:t>
                      </a:r>
                      <a:endParaRPr kumimoji="1" lang="en-US" altLang="ja-JP" sz="1600" b="1" dirty="0">
                        <a:latin typeface="+mn-ea"/>
                        <a:ea typeface="+mn-ea"/>
                      </a:endParaRPr>
                    </a:p>
                    <a:p>
                      <a:pPr algn="r"/>
                      <a:r>
                        <a:rPr kumimoji="1" lang="ja-JP" altLang="en-US" sz="1600" b="1" dirty="0">
                          <a:latin typeface="+mn-ea"/>
                          <a:ea typeface="+mn-ea"/>
                        </a:rPr>
                        <a:t>回答割合</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回答人数</a:t>
                      </a:r>
                      <a:endParaRPr kumimoji="1" lang="en-US" altLang="ja-JP" sz="1600" b="1" dirty="0">
                        <a:latin typeface="+mn-ea"/>
                        <a:ea typeface="+mn-ea"/>
                      </a:endParaRPr>
                    </a:p>
                    <a:p>
                      <a:pPr algn="r"/>
                      <a:r>
                        <a:rPr kumimoji="1" lang="ja-JP" altLang="en-US" sz="1600" b="1" dirty="0">
                          <a:latin typeface="+mn-ea"/>
                          <a:ea typeface="+mn-ea"/>
                        </a:rPr>
                        <a:t>回答割合</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回答人数</a:t>
                      </a:r>
                      <a:endParaRPr kumimoji="1" lang="en-US" altLang="ja-JP" sz="1600" b="1" dirty="0">
                        <a:latin typeface="+mn-ea"/>
                        <a:ea typeface="+mn-ea"/>
                      </a:endParaRPr>
                    </a:p>
                    <a:p>
                      <a:pPr algn="r"/>
                      <a:r>
                        <a:rPr kumimoji="1" lang="ja-JP" altLang="en-US" sz="1600" b="1" dirty="0">
                          <a:latin typeface="+mn-ea"/>
                          <a:ea typeface="+mn-ea"/>
                        </a:rPr>
                        <a:t>回答割合</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ja-JP" altLang="en-US" sz="1600" b="1" dirty="0">
                          <a:latin typeface="+mn-ea"/>
                          <a:ea typeface="+mn-ea"/>
                        </a:rPr>
                        <a:t>回答人数</a:t>
                      </a:r>
                      <a:endParaRPr kumimoji="1" lang="en-US" altLang="ja-JP" sz="1600" b="1" dirty="0">
                        <a:latin typeface="+mn-ea"/>
                        <a:ea typeface="+mn-ea"/>
                      </a:endParaRPr>
                    </a:p>
                    <a:p>
                      <a:pPr algn="r"/>
                      <a:r>
                        <a:rPr kumimoji="1" lang="ja-JP" altLang="en-US" sz="1600" b="1" dirty="0">
                          <a:latin typeface="+mn-ea"/>
                          <a:ea typeface="+mn-ea"/>
                        </a:rPr>
                        <a:t>回答割合</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2843654"/>
                  </a:ext>
                </a:extLst>
              </a:tr>
              <a:tr h="827301">
                <a:tc>
                  <a:txBody>
                    <a:bodyPr/>
                    <a:lstStyle/>
                    <a:p>
                      <a:r>
                        <a:rPr kumimoji="1" lang="en-US" altLang="ja-JP" sz="1600" b="1" dirty="0">
                          <a:solidFill>
                            <a:srgbClr val="C00000"/>
                          </a:solidFill>
                          <a:latin typeface="+mn-ea"/>
                          <a:ea typeface="+mn-ea"/>
                        </a:rPr>
                        <a:t>AI </a:t>
                      </a:r>
                      <a:r>
                        <a:rPr kumimoji="1" lang="ja-JP" altLang="en-US" sz="1600" b="1" dirty="0">
                          <a:solidFill>
                            <a:srgbClr val="C00000"/>
                          </a:solidFill>
                          <a:latin typeface="+mn-ea"/>
                          <a:ea typeface="+mn-ea"/>
                        </a:rPr>
                        <a:t>の性格は変わっていない</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2000" b="1" dirty="0">
                          <a:solidFill>
                            <a:srgbClr val="C00000"/>
                          </a:solidFill>
                          <a:latin typeface="+mn-ea"/>
                          <a:ea typeface="+mn-ea"/>
                        </a:rPr>
                        <a:t>47</a:t>
                      </a:r>
                    </a:p>
                    <a:p>
                      <a:pPr algn="r"/>
                      <a:r>
                        <a:rPr kumimoji="1" lang="en-US" altLang="ja-JP" sz="2000" b="1" dirty="0">
                          <a:solidFill>
                            <a:srgbClr val="C00000"/>
                          </a:solidFill>
                          <a:latin typeface="+mn-ea"/>
                          <a:ea typeface="+mn-ea"/>
                        </a:rPr>
                        <a:t>0.959</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2000" b="1" dirty="0">
                          <a:solidFill>
                            <a:srgbClr val="C00000"/>
                          </a:solidFill>
                          <a:latin typeface="+mn-ea"/>
                          <a:ea typeface="+mn-ea"/>
                        </a:rPr>
                        <a:t>30</a:t>
                      </a:r>
                    </a:p>
                    <a:p>
                      <a:pPr algn="r"/>
                      <a:r>
                        <a:rPr kumimoji="1" lang="en-US" altLang="ja-JP" sz="2000" b="1" dirty="0">
                          <a:solidFill>
                            <a:srgbClr val="C00000"/>
                          </a:solidFill>
                          <a:latin typeface="+mn-ea"/>
                          <a:ea typeface="+mn-ea"/>
                        </a:rPr>
                        <a:t>0.789</a:t>
                      </a:r>
                      <a:endParaRPr kumimoji="1" lang="ja-JP" altLang="en-US" sz="2000" b="1" dirty="0">
                        <a:solidFill>
                          <a:srgbClr val="C00000"/>
                        </a:solidFill>
                        <a:latin typeface="+mn-ea"/>
                        <a:ea typeface="+mn-ea"/>
                      </a:endParaRP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2000" b="1" dirty="0">
                          <a:latin typeface="+mn-ea"/>
                          <a:ea typeface="+mn-ea"/>
                        </a:rPr>
                        <a:t>12</a:t>
                      </a:r>
                    </a:p>
                    <a:p>
                      <a:pPr algn="r"/>
                      <a:r>
                        <a:rPr kumimoji="1" lang="en-US" altLang="ja-JP" sz="2000" b="1" dirty="0">
                          <a:latin typeface="+mn-ea"/>
                          <a:ea typeface="+mn-ea"/>
                        </a:rPr>
                        <a:t>0.375</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2000" b="1" dirty="0">
                          <a:solidFill>
                            <a:srgbClr val="C00000"/>
                          </a:solidFill>
                          <a:latin typeface="+mn-ea"/>
                          <a:ea typeface="+mn-ea"/>
                        </a:rPr>
                        <a:t>19</a:t>
                      </a:r>
                    </a:p>
                    <a:p>
                      <a:pPr algn="r"/>
                      <a:r>
                        <a:rPr kumimoji="1" lang="en-US" altLang="ja-JP" sz="2000" b="1" dirty="0">
                          <a:solidFill>
                            <a:srgbClr val="C00000"/>
                          </a:solidFill>
                          <a:latin typeface="+mn-ea"/>
                          <a:ea typeface="+mn-ea"/>
                        </a:rPr>
                        <a:t>0.452</a:t>
                      </a:r>
                      <a:endParaRPr kumimoji="1" lang="ja-JP" altLang="en-US" sz="2000" b="1" dirty="0">
                        <a:solidFill>
                          <a:srgbClr val="C00000"/>
                        </a:solidFill>
                        <a:latin typeface="+mn-ea"/>
                        <a:ea typeface="+mn-ea"/>
                      </a:endParaRPr>
                    </a:p>
                  </a:txBody>
                  <a:tcP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621711327"/>
                  </a:ext>
                </a:extLst>
              </a:tr>
              <a:tr h="827301">
                <a:tc>
                  <a:txBody>
                    <a:bodyPr/>
                    <a:lstStyle/>
                    <a:p>
                      <a:r>
                        <a:rPr kumimoji="1" lang="en-US" altLang="ja-JP" sz="1600" b="1" dirty="0">
                          <a:latin typeface="+mn-ea"/>
                          <a:ea typeface="+mn-ea"/>
                        </a:rPr>
                        <a:t>AI </a:t>
                      </a:r>
                      <a:r>
                        <a:rPr kumimoji="1" lang="ja-JP" altLang="en-US" sz="1600" b="1" dirty="0">
                          <a:latin typeface="+mn-ea"/>
                          <a:ea typeface="+mn-ea"/>
                        </a:rPr>
                        <a:t>の性格は初めのチャットの途中で</a:t>
                      </a:r>
                      <a:endParaRPr kumimoji="1" lang="en-US" altLang="ja-JP" sz="1600" b="1" dirty="0">
                        <a:latin typeface="+mn-ea"/>
                        <a:ea typeface="+mn-ea"/>
                      </a:endParaRPr>
                    </a:p>
                    <a:p>
                      <a:r>
                        <a:rPr kumimoji="1" lang="ja-JP" altLang="en-US" sz="1600" b="1" dirty="0">
                          <a:latin typeface="+mn-ea"/>
                          <a:ea typeface="+mn-ea"/>
                        </a:rPr>
                        <a:t>変わった</a:t>
                      </a:r>
                    </a:p>
                  </a:txBody>
                  <a:tcPr>
                    <a:solidFill>
                      <a:schemeClr val="bg1"/>
                    </a:solidFill>
                  </a:tcPr>
                </a:tc>
                <a:tc>
                  <a:txBody>
                    <a:bodyPr/>
                    <a:lstStyle/>
                    <a:p>
                      <a:pPr algn="r"/>
                      <a:r>
                        <a:rPr kumimoji="1" lang="en-US" altLang="ja-JP" sz="2000" b="1" dirty="0">
                          <a:latin typeface="+mn-ea"/>
                          <a:ea typeface="+mn-ea"/>
                        </a:rPr>
                        <a:t>0</a:t>
                      </a:r>
                    </a:p>
                    <a:p>
                      <a:pPr algn="r"/>
                      <a:r>
                        <a:rPr kumimoji="1" lang="en-US" altLang="ja-JP" sz="2000" b="1" dirty="0">
                          <a:latin typeface="+mn-ea"/>
                          <a:ea typeface="+mn-ea"/>
                        </a:rPr>
                        <a:t>0</a:t>
                      </a:r>
                      <a:endParaRPr kumimoji="1" lang="ja-JP" altLang="en-US" sz="2000" b="1" dirty="0">
                        <a:latin typeface="+mn-ea"/>
                        <a:ea typeface="+mn-ea"/>
                      </a:endParaRPr>
                    </a:p>
                  </a:txBody>
                  <a:tcPr>
                    <a:solidFill>
                      <a:schemeClr val="bg1"/>
                    </a:solidFill>
                  </a:tcPr>
                </a:tc>
                <a:tc>
                  <a:txBody>
                    <a:bodyPr/>
                    <a:lstStyle/>
                    <a:p>
                      <a:pPr algn="r"/>
                      <a:r>
                        <a:rPr kumimoji="1" lang="en-US" altLang="ja-JP" sz="2000" b="1" dirty="0">
                          <a:latin typeface="+mn-ea"/>
                          <a:ea typeface="+mn-ea"/>
                        </a:rPr>
                        <a:t>3</a:t>
                      </a:r>
                    </a:p>
                    <a:p>
                      <a:pPr algn="r"/>
                      <a:r>
                        <a:rPr kumimoji="1" lang="en-US" altLang="ja-JP" sz="2000" b="1" dirty="0">
                          <a:latin typeface="+mn-ea"/>
                          <a:ea typeface="+mn-ea"/>
                        </a:rPr>
                        <a:t>0.079</a:t>
                      </a:r>
                      <a:endParaRPr kumimoji="1" lang="ja-JP" altLang="en-US" sz="2000" b="1" dirty="0">
                        <a:latin typeface="+mn-ea"/>
                        <a:ea typeface="+mn-ea"/>
                      </a:endParaRPr>
                    </a:p>
                  </a:txBody>
                  <a:tcPr>
                    <a:solidFill>
                      <a:schemeClr val="bg1"/>
                    </a:solidFill>
                  </a:tcPr>
                </a:tc>
                <a:tc>
                  <a:txBody>
                    <a:bodyPr/>
                    <a:lstStyle/>
                    <a:p>
                      <a:pPr algn="r"/>
                      <a:r>
                        <a:rPr kumimoji="1" lang="en-US" altLang="ja-JP" sz="2000" b="1" dirty="0">
                          <a:latin typeface="+mn-ea"/>
                          <a:ea typeface="+mn-ea"/>
                        </a:rPr>
                        <a:t>0</a:t>
                      </a:r>
                    </a:p>
                    <a:p>
                      <a:pPr algn="r"/>
                      <a:r>
                        <a:rPr kumimoji="1" lang="en-US" altLang="ja-JP" sz="2000" b="1" dirty="0">
                          <a:latin typeface="+mn-ea"/>
                          <a:ea typeface="+mn-ea"/>
                        </a:rPr>
                        <a:t>0</a:t>
                      </a:r>
                      <a:endParaRPr kumimoji="1" lang="ja-JP" altLang="en-US" sz="2000" b="1" dirty="0">
                        <a:latin typeface="+mn-ea"/>
                        <a:ea typeface="+mn-ea"/>
                      </a:endParaRPr>
                    </a:p>
                  </a:txBody>
                  <a:tcPr>
                    <a:solidFill>
                      <a:schemeClr val="bg1"/>
                    </a:solidFill>
                  </a:tcPr>
                </a:tc>
                <a:tc>
                  <a:txBody>
                    <a:bodyPr/>
                    <a:lstStyle/>
                    <a:p>
                      <a:pPr algn="r"/>
                      <a:r>
                        <a:rPr kumimoji="1" lang="en-US" altLang="ja-JP" sz="2000" b="1" dirty="0">
                          <a:latin typeface="+mn-ea"/>
                          <a:ea typeface="+mn-ea"/>
                        </a:rPr>
                        <a:t>2</a:t>
                      </a:r>
                    </a:p>
                    <a:p>
                      <a:pPr algn="r"/>
                      <a:r>
                        <a:rPr kumimoji="1" lang="en-US" altLang="ja-JP" sz="2000" b="1" dirty="0">
                          <a:latin typeface="+mn-ea"/>
                          <a:ea typeface="+mn-ea"/>
                        </a:rPr>
                        <a:t>0.048</a:t>
                      </a:r>
                      <a:endParaRPr kumimoji="1" lang="ja-JP" altLang="en-US" sz="2000" b="1" dirty="0">
                        <a:latin typeface="+mn-ea"/>
                        <a:ea typeface="+mn-ea"/>
                      </a:endParaRPr>
                    </a:p>
                  </a:txBody>
                  <a:tcPr>
                    <a:solidFill>
                      <a:schemeClr val="bg1"/>
                    </a:solidFill>
                  </a:tcPr>
                </a:tc>
                <a:extLst>
                  <a:ext uri="{0D108BD9-81ED-4DB2-BD59-A6C34878D82A}">
                    <a16:rowId xmlns:a16="http://schemas.microsoft.com/office/drawing/2014/main" val="2303202971"/>
                  </a:ext>
                </a:extLst>
              </a:tr>
              <a:tr h="827301">
                <a:tc>
                  <a:txBody>
                    <a:bodyPr/>
                    <a:lstStyle/>
                    <a:p>
                      <a:r>
                        <a:rPr kumimoji="1" lang="en-US" altLang="ja-JP" sz="1600" b="1" dirty="0">
                          <a:solidFill>
                            <a:srgbClr val="C00000"/>
                          </a:solidFill>
                          <a:latin typeface="+mn-ea"/>
                          <a:ea typeface="+mn-ea"/>
                        </a:rPr>
                        <a:t>AI </a:t>
                      </a:r>
                      <a:r>
                        <a:rPr kumimoji="1" lang="ja-JP" altLang="en-US" sz="1600" b="1" dirty="0">
                          <a:solidFill>
                            <a:srgbClr val="C00000"/>
                          </a:solidFill>
                          <a:latin typeface="+mn-ea"/>
                          <a:ea typeface="+mn-ea"/>
                        </a:rPr>
                        <a:t>の性格はチャットを新規作成した際に</a:t>
                      </a:r>
                      <a:endParaRPr kumimoji="1" lang="en-US" altLang="ja-JP" sz="1600" b="1" dirty="0">
                        <a:solidFill>
                          <a:srgbClr val="C00000"/>
                        </a:solidFill>
                        <a:latin typeface="+mn-ea"/>
                        <a:ea typeface="+mn-ea"/>
                      </a:endParaRPr>
                    </a:p>
                    <a:p>
                      <a:r>
                        <a:rPr kumimoji="1" lang="ja-JP" altLang="en-US" sz="1600" b="1" dirty="0">
                          <a:solidFill>
                            <a:srgbClr val="C00000"/>
                          </a:solidFill>
                          <a:latin typeface="+mn-ea"/>
                          <a:ea typeface="+mn-ea"/>
                        </a:rPr>
                        <a:t>変わった</a:t>
                      </a:r>
                    </a:p>
                  </a:txBody>
                  <a:tcPr>
                    <a:solidFill>
                      <a:schemeClr val="bg1"/>
                    </a:solidFill>
                  </a:tcPr>
                </a:tc>
                <a:tc>
                  <a:txBody>
                    <a:bodyPr/>
                    <a:lstStyle/>
                    <a:p>
                      <a:pPr algn="r"/>
                      <a:r>
                        <a:rPr kumimoji="1" lang="en-US" altLang="ja-JP" sz="2000" b="1" dirty="0">
                          <a:latin typeface="+mn-ea"/>
                          <a:ea typeface="+mn-ea"/>
                        </a:rPr>
                        <a:t>1</a:t>
                      </a:r>
                    </a:p>
                    <a:p>
                      <a:pPr algn="r"/>
                      <a:r>
                        <a:rPr kumimoji="1" lang="en-US" altLang="ja-JP" sz="2000" b="1" dirty="0">
                          <a:latin typeface="+mn-ea"/>
                          <a:ea typeface="+mn-ea"/>
                        </a:rPr>
                        <a:t>0.020</a:t>
                      </a:r>
                      <a:endParaRPr kumimoji="1" lang="ja-JP" altLang="en-US" sz="2000" b="1" dirty="0">
                        <a:latin typeface="+mn-ea"/>
                        <a:ea typeface="+mn-ea"/>
                      </a:endParaRPr>
                    </a:p>
                  </a:txBody>
                  <a:tcPr>
                    <a:solidFill>
                      <a:schemeClr val="bg1"/>
                    </a:solidFill>
                  </a:tcPr>
                </a:tc>
                <a:tc>
                  <a:txBody>
                    <a:bodyPr/>
                    <a:lstStyle/>
                    <a:p>
                      <a:pPr algn="r"/>
                      <a:r>
                        <a:rPr kumimoji="1" lang="en-US" altLang="ja-JP" sz="2000" b="1" dirty="0">
                          <a:latin typeface="+mn-ea"/>
                          <a:ea typeface="+mn-ea"/>
                        </a:rPr>
                        <a:t>3</a:t>
                      </a:r>
                    </a:p>
                    <a:p>
                      <a:pPr algn="r"/>
                      <a:r>
                        <a:rPr kumimoji="1" lang="en-US" altLang="ja-JP" sz="2000" b="1" dirty="0">
                          <a:latin typeface="+mn-ea"/>
                          <a:ea typeface="+mn-ea"/>
                        </a:rPr>
                        <a:t>0.079</a:t>
                      </a:r>
                    </a:p>
                  </a:txBody>
                  <a:tcPr>
                    <a:solidFill>
                      <a:schemeClr val="bg1"/>
                    </a:solidFill>
                  </a:tcPr>
                </a:tc>
                <a:tc>
                  <a:txBody>
                    <a:bodyPr/>
                    <a:lstStyle/>
                    <a:p>
                      <a:pPr algn="r"/>
                      <a:r>
                        <a:rPr kumimoji="1" lang="en-US" altLang="ja-JP" sz="2000" b="1" dirty="0">
                          <a:solidFill>
                            <a:srgbClr val="C00000"/>
                          </a:solidFill>
                          <a:latin typeface="+mn-ea"/>
                          <a:ea typeface="+mn-ea"/>
                        </a:rPr>
                        <a:t>20</a:t>
                      </a:r>
                    </a:p>
                    <a:p>
                      <a:pPr algn="r"/>
                      <a:r>
                        <a:rPr kumimoji="1" lang="en-US" altLang="ja-JP" sz="2000" b="1" dirty="0">
                          <a:solidFill>
                            <a:srgbClr val="C00000"/>
                          </a:solidFill>
                          <a:latin typeface="+mn-ea"/>
                          <a:ea typeface="+mn-ea"/>
                        </a:rPr>
                        <a:t>0.625</a:t>
                      </a:r>
                      <a:endParaRPr kumimoji="1" lang="ja-JP" altLang="en-US" sz="2000" b="1" dirty="0">
                        <a:solidFill>
                          <a:srgbClr val="C00000"/>
                        </a:solidFill>
                        <a:latin typeface="+mn-ea"/>
                        <a:ea typeface="+mn-ea"/>
                      </a:endParaRPr>
                    </a:p>
                  </a:txBody>
                  <a:tcPr>
                    <a:solidFill>
                      <a:schemeClr val="bg1"/>
                    </a:solidFill>
                  </a:tcPr>
                </a:tc>
                <a:tc>
                  <a:txBody>
                    <a:bodyPr/>
                    <a:lstStyle/>
                    <a:p>
                      <a:pPr algn="r"/>
                      <a:r>
                        <a:rPr kumimoji="1" lang="en-US" altLang="ja-JP" sz="2000" b="1" dirty="0">
                          <a:solidFill>
                            <a:srgbClr val="C00000"/>
                          </a:solidFill>
                          <a:latin typeface="+mn-ea"/>
                          <a:ea typeface="+mn-ea"/>
                        </a:rPr>
                        <a:t>19</a:t>
                      </a:r>
                    </a:p>
                    <a:p>
                      <a:pPr algn="r"/>
                      <a:r>
                        <a:rPr kumimoji="1" lang="en-US" altLang="ja-JP" sz="2000" b="1" dirty="0">
                          <a:solidFill>
                            <a:srgbClr val="C00000"/>
                          </a:solidFill>
                          <a:latin typeface="+mn-ea"/>
                          <a:ea typeface="+mn-ea"/>
                        </a:rPr>
                        <a:t>0.452</a:t>
                      </a:r>
                      <a:endParaRPr kumimoji="1" lang="ja-JP" altLang="en-US" sz="2000" b="1" dirty="0">
                        <a:solidFill>
                          <a:srgbClr val="C00000"/>
                        </a:solidFill>
                        <a:latin typeface="+mn-ea"/>
                        <a:ea typeface="+mn-ea"/>
                      </a:endParaRPr>
                    </a:p>
                  </a:txBody>
                  <a:tcPr>
                    <a:solidFill>
                      <a:schemeClr val="bg1"/>
                    </a:solidFill>
                  </a:tcPr>
                </a:tc>
                <a:extLst>
                  <a:ext uri="{0D108BD9-81ED-4DB2-BD59-A6C34878D82A}">
                    <a16:rowId xmlns:a16="http://schemas.microsoft.com/office/drawing/2014/main" val="557467001"/>
                  </a:ext>
                </a:extLst>
              </a:tr>
              <a:tr h="917888">
                <a:tc>
                  <a:txBody>
                    <a:bodyPr/>
                    <a:lstStyle/>
                    <a:p>
                      <a:r>
                        <a:rPr kumimoji="1" lang="en-US" altLang="ja-JP" sz="1600" b="1" dirty="0">
                          <a:latin typeface="+mn-ea"/>
                          <a:ea typeface="+mn-ea"/>
                        </a:rPr>
                        <a:t>AI </a:t>
                      </a:r>
                      <a:r>
                        <a:rPr kumimoji="1" lang="ja-JP" altLang="en-US" sz="1600" b="1" dirty="0">
                          <a:latin typeface="+mn-ea"/>
                          <a:ea typeface="+mn-ea"/>
                        </a:rPr>
                        <a:t>の性格はチャットを新規作成後の</a:t>
                      </a:r>
                      <a:endParaRPr kumimoji="1" lang="en-US" altLang="ja-JP" sz="1600" b="1" dirty="0">
                        <a:latin typeface="+mn-ea"/>
                        <a:ea typeface="+mn-ea"/>
                      </a:endParaRPr>
                    </a:p>
                    <a:p>
                      <a:r>
                        <a:rPr kumimoji="1" lang="ja-JP" altLang="en-US" sz="1600" b="1" dirty="0">
                          <a:latin typeface="+mn-ea"/>
                          <a:ea typeface="+mn-ea"/>
                        </a:rPr>
                        <a:t>チャットの途中に変わった </a:t>
                      </a:r>
                      <a:endParaRPr kumimoji="1" lang="en-US" altLang="ja-JP" sz="1600" b="1" dirty="0">
                        <a:latin typeface="+mn-ea"/>
                        <a:ea typeface="+mn-ea"/>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2000" b="1" dirty="0">
                          <a:latin typeface="+mn-ea"/>
                          <a:ea typeface="+mn-ea"/>
                        </a:rPr>
                        <a:t>1</a:t>
                      </a:r>
                    </a:p>
                    <a:p>
                      <a:pPr algn="r"/>
                      <a:r>
                        <a:rPr kumimoji="1" lang="en-US" altLang="ja-JP" sz="2000" b="1" dirty="0">
                          <a:latin typeface="+mn-ea"/>
                          <a:ea typeface="+mn-ea"/>
                        </a:rPr>
                        <a:t>0.020</a:t>
                      </a:r>
                      <a:endParaRPr kumimoji="1" lang="ja-JP" altLang="en-US" sz="2000" b="1" dirty="0">
                        <a:latin typeface="+mn-ea"/>
                        <a:ea typeface="+mn-ea"/>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2000" b="1" dirty="0">
                          <a:latin typeface="+mn-ea"/>
                          <a:ea typeface="+mn-ea"/>
                        </a:rPr>
                        <a:t>2</a:t>
                      </a:r>
                    </a:p>
                    <a:p>
                      <a:pPr algn="r"/>
                      <a:r>
                        <a:rPr kumimoji="1" lang="en-US" altLang="ja-JP" sz="2000" b="1" dirty="0">
                          <a:latin typeface="+mn-ea"/>
                          <a:ea typeface="+mn-ea"/>
                        </a:rPr>
                        <a:t>0.053</a:t>
                      </a:r>
                      <a:endParaRPr kumimoji="1" lang="ja-JP" altLang="en-US" sz="2000" b="1" dirty="0">
                        <a:latin typeface="+mn-ea"/>
                        <a:ea typeface="+mn-ea"/>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2000" b="1" dirty="0">
                          <a:latin typeface="+mn-ea"/>
                          <a:ea typeface="+mn-ea"/>
                        </a:rPr>
                        <a:t>0</a:t>
                      </a:r>
                    </a:p>
                    <a:p>
                      <a:pPr algn="r"/>
                      <a:r>
                        <a:rPr kumimoji="1" lang="en-US" altLang="ja-JP" sz="2000" b="1" dirty="0">
                          <a:latin typeface="+mn-ea"/>
                          <a:ea typeface="+mn-ea"/>
                        </a:rPr>
                        <a:t>0</a:t>
                      </a:r>
                      <a:endParaRPr kumimoji="1" lang="ja-JP" altLang="en-US" sz="2000" b="1" dirty="0">
                        <a:latin typeface="+mn-ea"/>
                        <a:ea typeface="+mn-ea"/>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r"/>
                      <a:r>
                        <a:rPr kumimoji="1" lang="en-US" altLang="ja-JP" sz="2000" b="1" dirty="0">
                          <a:latin typeface="+mn-ea"/>
                          <a:ea typeface="+mn-ea"/>
                        </a:rPr>
                        <a:t>2</a:t>
                      </a:r>
                    </a:p>
                    <a:p>
                      <a:pPr algn="r"/>
                      <a:r>
                        <a:rPr kumimoji="1" lang="en-US" altLang="ja-JP" sz="2000" b="1" dirty="0">
                          <a:latin typeface="+mn-ea"/>
                          <a:ea typeface="+mn-ea"/>
                        </a:rPr>
                        <a:t>0.048</a:t>
                      </a:r>
                      <a:endParaRPr kumimoji="1" lang="ja-JP" altLang="en-US" sz="2000" b="1" dirty="0">
                        <a:latin typeface="+mn-ea"/>
                        <a:ea typeface="+mn-ea"/>
                      </a:endParaRPr>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1895323"/>
                  </a:ext>
                </a:extLst>
              </a:tr>
              <a:tr h="323373">
                <a:tc>
                  <a:txBody>
                    <a:bodyPr/>
                    <a:lstStyle/>
                    <a:p>
                      <a:r>
                        <a:rPr kumimoji="1" lang="ja-JP" altLang="en-US" sz="1600" b="1" dirty="0">
                          <a:latin typeface="+mn-ea"/>
                          <a:ea typeface="+mn-ea"/>
                        </a:rPr>
                        <a:t>合計</a:t>
                      </a: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1800" b="1" dirty="0">
                          <a:latin typeface="+mn-ea"/>
                          <a:ea typeface="+mn-ea"/>
                        </a:rPr>
                        <a:t>49</a:t>
                      </a:r>
                    </a:p>
                    <a:p>
                      <a:pPr algn="r"/>
                      <a:r>
                        <a:rPr kumimoji="1" lang="en-US" altLang="ja-JP" sz="1800" b="1" dirty="0">
                          <a:latin typeface="+mn-ea"/>
                          <a:ea typeface="+mn-ea"/>
                        </a:rPr>
                        <a:t>1.000</a:t>
                      </a:r>
                      <a:endParaRPr kumimoji="1" lang="ja-JP" altLang="en-US" sz="1800" b="1" dirty="0">
                        <a:latin typeface="+mn-ea"/>
                        <a:ea typeface="+mn-ea"/>
                      </a:endParaRP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1800" b="1" dirty="0">
                          <a:latin typeface="+mn-ea"/>
                          <a:ea typeface="+mn-ea"/>
                        </a:rPr>
                        <a:t>38</a:t>
                      </a:r>
                    </a:p>
                    <a:p>
                      <a:pPr algn="r"/>
                      <a:r>
                        <a:rPr kumimoji="1" lang="en-US" altLang="ja-JP" sz="1800" b="1" dirty="0">
                          <a:latin typeface="+mn-ea"/>
                          <a:ea typeface="+mn-ea"/>
                        </a:rPr>
                        <a:t>1.000</a:t>
                      </a:r>
                      <a:endParaRPr kumimoji="1" lang="ja-JP" altLang="en-US" sz="1800" b="1" dirty="0">
                        <a:latin typeface="+mn-ea"/>
                        <a:ea typeface="+mn-ea"/>
                      </a:endParaRP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1800" b="1" dirty="0">
                          <a:latin typeface="+mn-ea"/>
                          <a:ea typeface="+mn-ea"/>
                        </a:rPr>
                        <a:t>32</a:t>
                      </a:r>
                    </a:p>
                    <a:p>
                      <a:pPr algn="r"/>
                      <a:r>
                        <a:rPr kumimoji="1" lang="en-US" altLang="ja-JP" sz="1800" b="1" dirty="0">
                          <a:latin typeface="+mn-ea"/>
                          <a:ea typeface="+mn-ea"/>
                        </a:rPr>
                        <a:t>1.000</a:t>
                      </a:r>
                      <a:endParaRPr kumimoji="1" lang="ja-JP" altLang="en-US" sz="1800" b="1" dirty="0">
                        <a:latin typeface="+mn-ea"/>
                        <a:ea typeface="+mn-ea"/>
                      </a:endParaRPr>
                    </a:p>
                  </a:txBody>
                  <a:tcPr>
                    <a:lnT w="12700" cap="flat" cmpd="sng" algn="ctr">
                      <a:solidFill>
                        <a:schemeClr val="tx1"/>
                      </a:solidFill>
                      <a:prstDash val="solid"/>
                      <a:round/>
                      <a:headEnd type="none" w="med" len="med"/>
                      <a:tailEnd type="none" w="med" len="med"/>
                    </a:lnT>
                    <a:solidFill>
                      <a:schemeClr val="bg1"/>
                    </a:solidFill>
                  </a:tcPr>
                </a:tc>
                <a:tc>
                  <a:txBody>
                    <a:bodyPr/>
                    <a:lstStyle/>
                    <a:p>
                      <a:pPr algn="r"/>
                      <a:r>
                        <a:rPr kumimoji="1" lang="en-US" altLang="ja-JP" sz="1800" b="1" dirty="0">
                          <a:latin typeface="+mn-ea"/>
                          <a:ea typeface="+mn-ea"/>
                        </a:rPr>
                        <a:t>42</a:t>
                      </a:r>
                    </a:p>
                    <a:p>
                      <a:pPr algn="r"/>
                      <a:r>
                        <a:rPr kumimoji="1" lang="en-US" altLang="ja-JP" sz="1800" b="1" dirty="0">
                          <a:latin typeface="+mn-ea"/>
                          <a:ea typeface="+mn-ea"/>
                        </a:rPr>
                        <a:t>1.000</a:t>
                      </a:r>
                      <a:endParaRPr kumimoji="1" lang="ja-JP" altLang="en-US" sz="1800" b="1" dirty="0">
                        <a:latin typeface="+mn-ea"/>
                        <a:ea typeface="+mn-ea"/>
                      </a:endParaRPr>
                    </a:p>
                  </a:txBody>
                  <a:tcP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237221719"/>
                  </a:ext>
                </a:extLst>
              </a:tr>
            </a:tbl>
          </a:graphicData>
        </a:graphic>
      </p:graphicFrame>
    </p:spTree>
    <p:extLst>
      <p:ext uri="{BB962C8B-B14F-4D97-AF65-F5344CB8AC3E}">
        <p14:creationId xmlns:p14="http://schemas.microsoft.com/office/powerpoint/2010/main" val="22832667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39AD9452-1238-42F7-D6F7-161A2416A59D}"/>
              </a:ext>
            </a:extLst>
          </p:cNvPr>
          <p:cNvSpPr>
            <a:spLocks noGrp="1"/>
          </p:cNvSpPr>
          <p:nvPr>
            <p:ph type="sldNum" sz="quarter" idx="12"/>
          </p:nvPr>
        </p:nvSpPr>
        <p:spPr/>
        <p:txBody>
          <a:bodyPr/>
          <a:lstStyle/>
          <a:p>
            <a:fld id="{18020408-E1FF-429E-A8D5-EB2A190A0D77}" type="slidenum">
              <a:rPr kumimoji="1" lang="ja-JP" altLang="en-US" smtClean="0"/>
              <a:pPr/>
              <a:t>68</a:t>
            </a:fld>
            <a:endParaRPr kumimoji="1" lang="ja-JP" altLang="en-US" sz="2400" dirty="0"/>
          </a:p>
        </p:txBody>
      </p:sp>
      <p:sp>
        <p:nvSpPr>
          <p:cNvPr id="3" name="タイトル 2">
            <a:extLst>
              <a:ext uri="{FF2B5EF4-FFF2-40B4-BE49-F238E27FC236}">
                <a16:creationId xmlns:a16="http://schemas.microsoft.com/office/drawing/2014/main" id="{3FECB5EF-0B13-052B-71A1-9C70FEB1088C}"/>
              </a:ext>
            </a:extLst>
          </p:cNvPr>
          <p:cNvSpPr>
            <a:spLocks noGrp="1"/>
          </p:cNvSpPr>
          <p:nvPr>
            <p:ph type="title"/>
          </p:nvPr>
        </p:nvSpPr>
        <p:spPr/>
        <p:txBody>
          <a:bodyPr/>
          <a:lstStyle/>
          <a:p>
            <a:r>
              <a:rPr lang="ja-JP" altLang="en-US" sz="3600" dirty="0"/>
              <a:t>実験結果：アンケート項目</a:t>
            </a:r>
            <a:endParaRPr kumimoji="1" lang="ja-JP" altLang="en-US" sz="3600" dirty="0"/>
          </a:p>
        </p:txBody>
      </p:sp>
      <p:grpSp>
        <p:nvGrpSpPr>
          <p:cNvPr id="28" name="グループ化 27">
            <a:extLst>
              <a:ext uri="{FF2B5EF4-FFF2-40B4-BE49-F238E27FC236}">
                <a16:creationId xmlns:a16="http://schemas.microsoft.com/office/drawing/2014/main" id="{F22C52DD-CAC2-A538-D9AA-D1763800DDF8}"/>
              </a:ext>
            </a:extLst>
          </p:cNvPr>
          <p:cNvGrpSpPr/>
          <p:nvPr/>
        </p:nvGrpSpPr>
        <p:grpSpPr>
          <a:xfrm>
            <a:off x="3486816" y="1192698"/>
            <a:ext cx="5535649" cy="5493352"/>
            <a:chOff x="3767377" y="1192698"/>
            <a:chExt cx="5535649" cy="5493352"/>
          </a:xfrm>
        </p:grpSpPr>
        <p:pic>
          <p:nvPicPr>
            <p:cNvPr id="6" name="図 5">
              <a:extLst>
                <a:ext uri="{FF2B5EF4-FFF2-40B4-BE49-F238E27FC236}">
                  <a16:creationId xmlns:a16="http://schemas.microsoft.com/office/drawing/2014/main" id="{8563F222-312E-0200-8C00-2780EB2EFEEC}"/>
                </a:ext>
              </a:extLst>
            </p:cNvPr>
            <p:cNvPicPr>
              <a:picLocks noChangeAspect="1"/>
            </p:cNvPicPr>
            <p:nvPr/>
          </p:nvPicPr>
          <p:blipFill>
            <a:blip r:embed="rId3"/>
            <a:srcRect l="14461"/>
            <a:stretch>
              <a:fillRect/>
            </a:stretch>
          </p:blipFill>
          <p:spPr>
            <a:xfrm rot="5400000">
              <a:off x="3852135" y="1107941"/>
              <a:ext cx="5366133" cy="5535648"/>
            </a:xfrm>
            <a:prstGeom prst="rect">
              <a:avLst/>
            </a:prstGeom>
          </p:spPr>
        </p:pic>
        <p:sp>
          <p:nvSpPr>
            <p:cNvPr id="7" name="テキスト ボックス 6">
              <a:extLst>
                <a:ext uri="{FF2B5EF4-FFF2-40B4-BE49-F238E27FC236}">
                  <a16:creationId xmlns:a16="http://schemas.microsoft.com/office/drawing/2014/main" id="{EBA114CA-B02E-F1FF-DEF1-4A48E647247F}"/>
                </a:ext>
              </a:extLst>
            </p:cNvPr>
            <p:cNvSpPr txBox="1"/>
            <p:nvPr/>
          </p:nvSpPr>
          <p:spPr>
            <a:xfrm>
              <a:off x="3767377" y="6316718"/>
              <a:ext cx="317716" cy="369332"/>
            </a:xfrm>
            <a:prstGeom prst="rect">
              <a:avLst/>
            </a:prstGeom>
            <a:noFill/>
          </p:spPr>
          <p:txBody>
            <a:bodyPr wrap="none" rtlCol="0">
              <a:spAutoFit/>
            </a:bodyPr>
            <a:lstStyle/>
            <a:p>
              <a:r>
                <a:rPr kumimoji="1" lang="en-US" altLang="ja-JP" b="1" dirty="0">
                  <a:latin typeface="+mn-ea"/>
                </a:rPr>
                <a:t>0</a:t>
              </a:r>
              <a:endParaRPr kumimoji="1" lang="ja-JP" altLang="en-US" b="1" dirty="0">
                <a:latin typeface="+mn-ea"/>
              </a:endParaRPr>
            </a:p>
          </p:txBody>
        </p:sp>
        <p:sp>
          <p:nvSpPr>
            <p:cNvPr id="9" name="テキスト ボックス 8">
              <a:extLst>
                <a:ext uri="{FF2B5EF4-FFF2-40B4-BE49-F238E27FC236}">
                  <a16:creationId xmlns:a16="http://schemas.microsoft.com/office/drawing/2014/main" id="{A3E15175-5507-2535-5E5A-B6E5AE79A958}"/>
                </a:ext>
              </a:extLst>
            </p:cNvPr>
            <p:cNvSpPr txBox="1"/>
            <p:nvPr/>
          </p:nvSpPr>
          <p:spPr>
            <a:xfrm>
              <a:off x="8323159" y="6316718"/>
              <a:ext cx="318867" cy="369332"/>
            </a:xfrm>
            <a:prstGeom prst="rect">
              <a:avLst/>
            </a:prstGeom>
            <a:noFill/>
          </p:spPr>
          <p:txBody>
            <a:bodyPr wrap="square">
              <a:spAutoFit/>
            </a:bodyPr>
            <a:lstStyle/>
            <a:p>
              <a:r>
                <a:rPr kumimoji="1" lang="en-US" altLang="ja-JP" b="1" dirty="0">
                  <a:latin typeface="+mn-ea"/>
                </a:rPr>
                <a:t>9</a:t>
              </a:r>
              <a:endParaRPr kumimoji="1" lang="ja-JP" altLang="en-US" b="1" dirty="0">
                <a:latin typeface="+mn-ea"/>
              </a:endParaRPr>
            </a:p>
          </p:txBody>
        </p:sp>
        <p:sp>
          <p:nvSpPr>
            <p:cNvPr id="11" name="テキスト ボックス 10">
              <a:extLst>
                <a:ext uri="{FF2B5EF4-FFF2-40B4-BE49-F238E27FC236}">
                  <a16:creationId xmlns:a16="http://schemas.microsoft.com/office/drawing/2014/main" id="{F6412441-783E-D27D-A326-5B348C0AF7F3}"/>
                </a:ext>
              </a:extLst>
            </p:cNvPr>
            <p:cNvSpPr txBox="1"/>
            <p:nvPr/>
          </p:nvSpPr>
          <p:spPr>
            <a:xfrm>
              <a:off x="7814889" y="6316718"/>
              <a:ext cx="318867" cy="369332"/>
            </a:xfrm>
            <a:prstGeom prst="rect">
              <a:avLst/>
            </a:prstGeom>
            <a:noFill/>
          </p:spPr>
          <p:txBody>
            <a:bodyPr wrap="square">
              <a:spAutoFit/>
            </a:bodyPr>
            <a:lstStyle/>
            <a:p>
              <a:r>
                <a:rPr kumimoji="1" lang="en-US" altLang="ja-JP" b="1" dirty="0">
                  <a:latin typeface="+mn-ea"/>
                </a:rPr>
                <a:t>8</a:t>
              </a:r>
              <a:endParaRPr kumimoji="1" lang="ja-JP" altLang="en-US" b="1" dirty="0">
                <a:latin typeface="+mn-ea"/>
              </a:endParaRPr>
            </a:p>
          </p:txBody>
        </p:sp>
        <p:sp>
          <p:nvSpPr>
            <p:cNvPr id="13" name="テキスト ボックス 12">
              <a:extLst>
                <a:ext uri="{FF2B5EF4-FFF2-40B4-BE49-F238E27FC236}">
                  <a16:creationId xmlns:a16="http://schemas.microsoft.com/office/drawing/2014/main" id="{A7D95A08-A56D-787A-E929-154DED10E14A}"/>
                </a:ext>
              </a:extLst>
            </p:cNvPr>
            <p:cNvSpPr txBox="1"/>
            <p:nvPr/>
          </p:nvSpPr>
          <p:spPr>
            <a:xfrm>
              <a:off x="7306619" y="6316718"/>
              <a:ext cx="318867" cy="369332"/>
            </a:xfrm>
            <a:prstGeom prst="rect">
              <a:avLst/>
            </a:prstGeom>
            <a:noFill/>
          </p:spPr>
          <p:txBody>
            <a:bodyPr wrap="square">
              <a:spAutoFit/>
            </a:bodyPr>
            <a:lstStyle/>
            <a:p>
              <a:r>
                <a:rPr kumimoji="1" lang="en-US" altLang="ja-JP" b="1" dirty="0">
                  <a:latin typeface="+mn-ea"/>
                </a:rPr>
                <a:t>7</a:t>
              </a:r>
              <a:endParaRPr kumimoji="1" lang="ja-JP" altLang="en-US" b="1" dirty="0">
                <a:latin typeface="+mn-ea"/>
              </a:endParaRPr>
            </a:p>
          </p:txBody>
        </p:sp>
        <p:sp>
          <p:nvSpPr>
            <p:cNvPr id="15" name="テキスト ボックス 14">
              <a:extLst>
                <a:ext uri="{FF2B5EF4-FFF2-40B4-BE49-F238E27FC236}">
                  <a16:creationId xmlns:a16="http://schemas.microsoft.com/office/drawing/2014/main" id="{A71D28E6-37DA-7DE4-3C9F-C1F35F73463F}"/>
                </a:ext>
              </a:extLst>
            </p:cNvPr>
            <p:cNvSpPr txBox="1"/>
            <p:nvPr/>
          </p:nvSpPr>
          <p:spPr>
            <a:xfrm>
              <a:off x="6806233" y="6316718"/>
              <a:ext cx="318867" cy="369332"/>
            </a:xfrm>
            <a:prstGeom prst="rect">
              <a:avLst/>
            </a:prstGeom>
            <a:noFill/>
          </p:spPr>
          <p:txBody>
            <a:bodyPr wrap="square">
              <a:spAutoFit/>
            </a:bodyPr>
            <a:lstStyle/>
            <a:p>
              <a:r>
                <a:rPr kumimoji="1" lang="en-US" altLang="ja-JP" b="1" dirty="0">
                  <a:latin typeface="+mn-ea"/>
                </a:rPr>
                <a:t>6</a:t>
              </a:r>
              <a:endParaRPr kumimoji="1" lang="ja-JP" altLang="en-US" b="1" dirty="0">
                <a:latin typeface="+mn-ea"/>
              </a:endParaRPr>
            </a:p>
          </p:txBody>
        </p:sp>
        <p:sp>
          <p:nvSpPr>
            <p:cNvPr id="17" name="テキスト ボックス 16">
              <a:extLst>
                <a:ext uri="{FF2B5EF4-FFF2-40B4-BE49-F238E27FC236}">
                  <a16:creationId xmlns:a16="http://schemas.microsoft.com/office/drawing/2014/main" id="{16B43633-97B3-1EE4-B654-91B9CD163661}"/>
                </a:ext>
              </a:extLst>
            </p:cNvPr>
            <p:cNvSpPr txBox="1"/>
            <p:nvPr/>
          </p:nvSpPr>
          <p:spPr>
            <a:xfrm>
              <a:off x="6294923" y="6316718"/>
              <a:ext cx="281666" cy="369332"/>
            </a:xfrm>
            <a:prstGeom prst="rect">
              <a:avLst/>
            </a:prstGeom>
            <a:noFill/>
          </p:spPr>
          <p:txBody>
            <a:bodyPr wrap="square">
              <a:spAutoFit/>
            </a:bodyPr>
            <a:lstStyle/>
            <a:p>
              <a:r>
                <a:rPr kumimoji="1" lang="en-US" altLang="ja-JP" b="1" dirty="0">
                  <a:latin typeface="+mn-ea"/>
                </a:rPr>
                <a:t>5</a:t>
              </a:r>
              <a:endParaRPr kumimoji="1" lang="ja-JP" altLang="en-US" b="1" dirty="0">
                <a:latin typeface="+mn-ea"/>
              </a:endParaRPr>
            </a:p>
          </p:txBody>
        </p:sp>
        <p:sp>
          <p:nvSpPr>
            <p:cNvPr id="19" name="テキスト ボックス 18">
              <a:extLst>
                <a:ext uri="{FF2B5EF4-FFF2-40B4-BE49-F238E27FC236}">
                  <a16:creationId xmlns:a16="http://schemas.microsoft.com/office/drawing/2014/main" id="{8DD33B36-3D4D-6EBF-4E19-93E91D24C069}"/>
                </a:ext>
              </a:extLst>
            </p:cNvPr>
            <p:cNvSpPr txBox="1"/>
            <p:nvPr/>
          </p:nvSpPr>
          <p:spPr>
            <a:xfrm>
              <a:off x="5788393" y="6316718"/>
              <a:ext cx="315386" cy="369332"/>
            </a:xfrm>
            <a:prstGeom prst="rect">
              <a:avLst/>
            </a:prstGeom>
            <a:noFill/>
          </p:spPr>
          <p:txBody>
            <a:bodyPr wrap="square">
              <a:spAutoFit/>
            </a:bodyPr>
            <a:lstStyle/>
            <a:p>
              <a:r>
                <a:rPr kumimoji="1" lang="en-US" altLang="ja-JP" b="1" dirty="0">
                  <a:latin typeface="+mn-ea"/>
                </a:rPr>
                <a:t>4</a:t>
              </a:r>
              <a:endParaRPr kumimoji="1" lang="ja-JP" altLang="en-US" b="1" dirty="0">
                <a:latin typeface="+mn-ea"/>
              </a:endParaRPr>
            </a:p>
          </p:txBody>
        </p:sp>
        <p:sp>
          <p:nvSpPr>
            <p:cNvPr id="21" name="テキスト ボックス 20">
              <a:extLst>
                <a:ext uri="{FF2B5EF4-FFF2-40B4-BE49-F238E27FC236}">
                  <a16:creationId xmlns:a16="http://schemas.microsoft.com/office/drawing/2014/main" id="{3DFA1080-E5DB-D5CD-D2AC-BF9AA3BA8E82}"/>
                </a:ext>
              </a:extLst>
            </p:cNvPr>
            <p:cNvSpPr txBox="1"/>
            <p:nvPr/>
          </p:nvSpPr>
          <p:spPr>
            <a:xfrm>
              <a:off x="5281863" y="6316718"/>
              <a:ext cx="315386" cy="369332"/>
            </a:xfrm>
            <a:prstGeom prst="rect">
              <a:avLst/>
            </a:prstGeom>
            <a:noFill/>
          </p:spPr>
          <p:txBody>
            <a:bodyPr wrap="square">
              <a:spAutoFit/>
            </a:bodyPr>
            <a:lstStyle/>
            <a:p>
              <a:r>
                <a:rPr kumimoji="1" lang="en-US" altLang="ja-JP" b="1" dirty="0">
                  <a:latin typeface="+mn-ea"/>
                </a:rPr>
                <a:t>3</a:t>
              </a:r>
              <a:endParaRPr kumimoji="1" lang="ja-JP" altLang="en-US" b="1" dirty="0">
                <a:latin typeface="+mn-ea"/>
              </a:endParaRPr>
            </a:p>
          </p:txBody>
        </p:sp>
        <p:sp>
          <p:nvSpPr>
            <p:cNvPr id="23" name="テキスト ボックス 22">
              <a:extLst>
                <a:ext uri="{FF2B5EF4-FFF2-40B4-BE49-F238E27FC236}">
                  <a16:creationId xmlns:a16="http://schemas.microsoft.com/office/drawing/2014/main" id="{47C61FD5-CCAA-2CD0-ADB6-AD6280432186}"/>
                </a:ext>
              </a:extLst>
            </p:cNvPr>
            <p:cNvSpPr txBox="1"/>
            <p:nvPr/>
          </p:nvSpPr>
          <p:spPr>
            <a:xfrm>
              <a:off x="4820733" y="6316718"/>
              <a:ext cx="315386" cy="369332"/>
            </a:xfrm>
            <a:prstGeom prst="rect">
              <a:avLst/>
            </a:prstGeom>
            <a:noFill/>
          </p:spPr>
          <p:txBody>
            <a:bodyPr wrap="square">
              <a:spAutoFit/>
            </a:bodyPr>
            <a:lstStyle/>
            <a:p>
              <a:r>
                <a:rPr kumimoji="1" lang="en-US" altLang="ja-JP" b="1" dirty="0">
                  <a:latin typeface="+mn-ea"/>
                </a:rPr>
                <a:t>2</a:t>
              </a:r>
              <a:endParaRPr kumimoji="1" lang="ja-JP" altLang="en-US" b="1" dirty="0">
                <a:latin typeface="+mn-ea"/>
              </a:endParaRPr>
            </a:p>
          </p:txBody>
        </p:sp>
        <p:sp>
          <p:nvSpPr>
            <p:cNvPr id="25" name="テキスト ボックス 24">
              <a:extLst>
                <a:ext uri="{FF2B5EF4-FFF2-40B4-BE49-F238E27FC236}">
                  <a16:creationId xmlns:a16="http://schemas.microsoft.com/office/drawing/2014/main" id="{5DA0C1B4-9277-1159-D200-0A7474EFA28B}"/>
                </a:ext>
              </a:extLst>
            </p:cNvPr>
            <p:cNvSpPr txBox="1"/>
            <p:nvPr/>
          </p:nvSpPr>
          <p:spPr>
            <a:xfrm>
              <a:off x="4256614" y="6316718"/>
              <a:ext cx="315386" cy="369332"/>
            </a:xfrm>
            <a:prstGeom prst="rect">
              <a:avLst/>
            </a:prstGeom>
            <a:noFill/>
          </p:spPr>
          <p:txBody>
            <a:bodyPr wrap="square">
              <a:spAutoFit/>
            </a:bodyPr>
            <a:lstStyle/>
            <a:p>
              <a:r>
                <a:rPr kumimoji="1" lang="en-US" altLang="ja-JP" b="1" dirty="0">
                  <a:latin typeface="+mn-ea"/>
                </a:rPr>
                <a:t>1</a:t>
              </a:r>
              <a:endParaRPr kumimoji="1" lang="ja-JP" altLang="en-US" b="1" dirty="0">
                <a:latin typeface="+mn-ea"/>
              </a:endParaRPr>
            </a:p>
          </p:txBody>
        </p:sp>
        <p:sp>
          <p:nvSpPr>
            <p:cNvPr id="26" name="テキスト ボックス 25">
              <a:extLst>
                <a:ext uri="{FF2B5EF4-FFF2-40B4-BE49-F238E27FC236}">
                  <a16:creationId xmlns:a16="http://schemas.microsoft.com/office/drawing/2014/main" id="{8AE71AA9-1210-F680-3096-38A2B2558A5C}"/>
                </a:ext>
              </a:extLst>
            </p:cNvPr>
            <p:cNvSpPr txBox="1"/>
            <p:nvPr/>
          </p:nvSpPr>
          <p:spPr>
            <a:xfrm>
              <a:off x="8756434" y="6316718"/>
              <a:ext cx="489933" cy="369332"/>
            </a:xfrm>
            <a:prstGeom prst="rect">
              <a:avLst/>
            </a:prstGeom>
            <a:noFill/>
          </p:spPr>
          <p:txBody>
            <a:bodyPr wrap="square">
              <a:spAutoFit/>
            </a:bodyPr>
            <a:lstStyle/>
            <a:p>
              <a:r>
                <a:rPr kumimoji="1" lang="en-US" altLang="ja-JP" b="1" dirty="0">
                  <a:latin typeface="+mn-ea"/>
                </a:rPr>
                <a:t>10</a:t>
              </a:r>
              <a:endParaRPr kumimoji="1" lang="ja-JP" altLang="en-US" b="1" dirty="0">
                <a:latin typeface="+mn-ea"/>
              </a:endParaRPr>
            </a:p>
          </p:txBody>
        </p:sp>
      </p:grpSp>
      <p:sp>
        <p:nvSpPr>
          <p:cNvPr id="27" name="テキスト ボックス 1">
            <a:extLst>
              <a:ext uri="{FF2B5EF4-FFF2-40B4-BE49-F238E27FC236}">
                <a16:creationId xmlns:a16="http://schemas.microsoft.com/office/drawing/2014/main" id="{25E71A56-4E79-5A84-E6BB-5E7C518A065C}"/>
              </a:ext>
            </a:extLst>
          </p:cNvPr>
          <p:cNvSpPr txBox="1"/>
          <p:nvPr/>
        </p:nvSpPr>
        <p:spPr>
          <a:xfrm>
            <a:off x="323476" y="1070754"/>
            <a:ext cx="5991539" cy="5452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t">
              <a:lnSpc>
                <a:spcPts val="2200"/>
              </a:lnSpc>
            </a:pPr>
            <a:r>
              <a:rPr kumimoji="1" lang="en-US" altLang="ja-JP" sz="1400" b="1" dirty="0">
                <a:latin typeface="游ゴシック" panose="020B0400000000000000" pitchFamily="50" charset="-128"/>
              </a:rPr>
              <a:t>Q1 AI </a:t>
            </a:r>
            <a:r>
              <a:rPr kumimoji="1" lang="ja-JP" altLang="en-US" sz="1400" b="1" dirty="0">
                <a:latin typeface="游ゴシック" panose="020B0400000000000000" pitchFamily="50" charset="-128"/>
              </a:rPr>
              <a:t>は人間らしい振る舞いをする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Q2 AI </a:t>
            </a:r>
            <a:r>
              <a:rPr kumimoji="1" lang="ja-JP" altLang="en-US" sz="1400" b="1" dirty="0">
                <a:latin typeface="游ゴシック" panose="020B0400000000000000" pitchFamily="50" charset="-128"/>
              </a:rPr>
              <a:t>は生き物のように反応する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Q3 AI </a:t>
            </a:r>
            <a:r>
              <a:rPr kumimoji="1" lang="ja-JP" altLang="en-US" sz="1400" b="1" dirty="0">
                <a:latin typeface="游ゴシック" panose="020B0400000000000000" pitchFamily="50" charset="-128"/>
              </a:rPr>
              <a:t>は利用しやすい</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Q4 AI </a:t>
            </a:r>
            <a:r>
              <a:rPr kumimoji="1" lang="ja-JP" altLang="en-US" sz="1400" b="1" dirty="0">
                <a:latin typeface="游ゴシック" panose="020B0400000000000000" pitchFamily="50" charset="-128"/>
              </a:rPr>
              <a:t>は作業をうまく行う</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Q5 AI </a:t>
            </a:r>
            <a:r>
              <a:rPr kumimoji="1" lang="ja-JP" altLang="en-US" sz="1400" b="1" dirty="0">
                <a:latin typeface="游ゴシック" panose="020B0400000000000000" pitchFamily="50" charset="-128"/>
              </a:rPr>
              <a:t>は好感が持てる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Q6 AI </a:t>
            </a:r>
            <a:r>
              <a:rPr kumimoji="1" lang="ja-JP" altLang="en-US" sz="1400" b="1" dirty="0">
                <a:latin typeface="游ゴシック" panose="020B0400000000000000" pitchFamily="50" charset="-128"/>
              </a:rPr>
              <a:t>は社会に馴染むことができる</a:t>
            </a:r>
            <a:endParaRPr kumimoji="1" lang="en-US" altLang="ja-JP" sz="1400" b="1" dirty="0">
              <a:latin typeface="游ゴシック" panose="020B0400000000000000" pitchFamily="50" charset="-128"/>
            </a:endParaRPr>
          </a:p>
          <a:p>
            <a:pPr fontAlgn="t">
              <a:lnSpc>
                <a:spcPts val="2200"/>
              </a:lnSpc>
            </a:pPr>
            <a:r>
              <a:rPr kumimoji="1" lang="en-US" altLang="ja-JP" sz="1400" b="1" dirty="0">
                <a:solidFill>
                  <a:srgbClr val="FF0000"/>
                </a:solidFill>
                <a:latin typeface="游ゴシック" panose="020B0400000000000000" pitchFamily="50" charset="-128"/>
              </a:rPr>
              <a:t>Q7 AI </a:t>
            </a:r>
            <a:r>
              <a:rPr kumimoji="1" lang="ja-JP" altLang="en-US" sz="1400" b="1" dirty="0">
                <a:solidFill>
                  <a:srgbClr val="FF0000"/>
                </a:solidFill>
                <a:latin typeface="游ゴシック" panose="020B0400000000000000" pitchFamily="50" charset="-128"/>
              </a:rPr>
              <a:t>には独自の個性がある</a:t>
            </a:r>
            <a:endParaRPr kumimoji="1" lang="en-US" altLang="ja-JP" sz="1400" b="1" dirty="0">
              <a:solidFill>
                <a:srgbClr val="FF0000"/>
              </a:solidFill>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Q8 </a:t>
            </a:r>
            <a:r>
              <a:rPr kumimoji="1" lang="ja-JP" altLang="en-US" sz="1400" b="1" dirty="0">
                <a:latin typeface="游ゴシック" panose="020B0400000000000000" pitchFamily="50" charset="-128"/>
              </a:rPr>
              <a:t>将来またこの </a:t>
            </a:r>
            <a:r>
              <a:rPr kumimoji="1" lang="en-US" altLang="ja-JP" sz="1400" b="1" dirty="0">
                <a:latin typeface="游ゴシック" panose="020B0400000000000000" pitchFamily="50" charset="-128"/>
              </a:rPr>
              <a:t>AI </a:t>
            </a:r>
            <a:r>
              <a:rPr kumimoji="1" lang="ja-JP" altLang="en-US" sz="1400" b="1" dirty="0">
                <a:latin typeface="游ゴシック" panose="020B0400000000000000" pitchFamily="50" charset="-128"/>
              </a:rPr>
              <a:t>を利用したいと思う</a:t>
            </a:r>
            <a:endParaRPr kumimoji="1" lang="en-US" altLang="ja-JP" sz="1400" b="1" dirty="0">
              <a:latin typeface="游ゴシック" panose="020B0400000000000000" pitchFamily="50" charset="-128"/>
            </a:endParaRPr>
          </a:p>
          <a:p>
            <a:pPr fontAlgn="t">
              <a:lnSpc>
                <a:spcPts val="2200"/>
              </a:lnSpc>
            </a:pPr>
            <a:r>
              <a:rPr kumimoji="1" lang="en-US" altLang="ja-JP" sz="1400" b="1" dirty="0">
                <a:solidFill>
                  <a:srgbClr val="FF0000"/>
                </a:solidFill>
                <a:latin typeface="游ゴシック" panose="020B0400000000000000" pitchFamily="50" charset="-128"/>
              </a:rPr>
              <a:t>Q9 AI </a:t>
            </a:r>
            <a:r>
              <a:rPr kumimoji="1" lang="ja-JP" altLang="en-US" sz="1400" b="1" dirty="0">
                <a:solidFill>
                  <a:srgbClr val="FF0000"/>
                </a:solidFill>
                <a:latin typeface="游ゴシック" panose="020B0400000000000000" pitchFamily="50" charset="-128"/>
              </a:rPr>
              <a:t>の言動は見ていて楽しい</a:t>
            </a:r>
            <a:endParaRPr kumimoji="1" lang="en-US" altLang="ja-JP" sz="1400" b="1" dirty="0">
              <a:solidFill>
                <a:srgbClr val="FF0000"/>
              </a:solidFill>
              <a:latin typeface="游ゴシック" panose="020B0400000000000000" pitchFamily="50" charset="-128"/>
            </a:endParaRPr>
          </a:p>
          <a:p>
            <a:pPr fontAlgn="t">
              <a:lnSpc>
                <a:spcPts val="2200"/>
              </a:lnSpc>
            </a:pPr>
            <a:r>
              <a:rPr kumimoji="1" lang="en-US" altLang="ja-JP" sz="1400" b="1" dirty="0">
                <a:solidFill>
                  <a:srgbClr val="FF0000"/>
                </a:solidFill>
                <a:latin typeface="游ゴシック" panose="020B0400000000000000" pitchFamily="50" charset="-128"/>
              </a:rPr>
              <a:t>Q10 AI </a:t>
            </a:r>
            <a:r>
              <a:rPr kumimoji="1" lang="ja-JP" altLang="en-US" sz="1400" b="1" dirty="0">
                <a:solidFill>
                  <a:srgbClr val="FF0000"/>
                </a:solidFill>
                <a:latin typeface="游ゴシック" panose="020B0400000000000000" pitchFamily="50" charset="-128"/>
              </a:rPr>
              <a:t>とのやりとりは注意を引く</a:t>
            </a:r>
            <a:endParaRPr kumimoji="1" lang="en-US" altLang="ja-JP" sz="1400" b="1" dirty="0">
              <a:solidFill>
                <a:srgbClr val="FF0000"/>
              </a:solidFill>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Q11 AI </a:t>
            </a:r>
            <a:r>
              <a:rPr kumimoji="1" lang="ja-JP" altLang="en-US" sz="1400" b="1" dirty="0">
                <a:latin typeface="游ゴシック" panose="020B0400000000000000" pitchFamily="50" charset="-128"/>
              </a:rPr>
              <a:t>は信頼できる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Q12 AI </a:t>
            </a:r>
            <a:r>
              <a:rPr kumimoji="1" lang="ja-JP" altLang="en-US" sz="1400" b="1" dirty="0">
                <a:latin typeface="游ゴシック" panose="020B0400000000000000" pitchFamily="50" charset="-128"/>
              </a:rPr>
              <a:t>と協力して作業を行うことができる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Q13 AI </a:t>
            </a:r>
            <a:r>
              <a:rPr kumimoji="1" lang="ja-JP" altLang="en-US" sz="1400" b="1" dirty="0">
                <a:latin typeface="游ゴシック" panose="020B0400000000000000" pitchFamily="50" charset="-128"/>
              </a:rPr>
              <a:t>は気を配っている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Q14 AI </a:t>
            </a:r>
            <a:r>
              <a:rPr kumimoji="1" lang="ja-JP" altLang="en-US" sz="1400" b="1" dirty="0">
                <a:latin typeface="游ゴシック" panose="020B0400000000000000" pitchFamily="50" charset="-128"/>
              </a:rPr>
              <a:t>の言動は合理的である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Q15 AI </a:t>
            </a:r>
            <a:r>
              <a:rPr kumimoji="1" lang="ja-JP" altLang="en-US" sz="1400" b="1" dirty="0">
                <a:latin typeface="游ゴシック" panose="020B0400000000000000" pitchFamily="50" charset="-128"/>
              </a:rPr>
              <a:t>の言動には意図がある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Q16 AI </a:t>
            </a:r>
            <a:r>
              <a:rPr kumimoji="1" lang="ja-JP" altLang="en-US" sz="1400" b="1" dirty="0">
                <a:latin typeface="游ゴシック" panose="020B0400000000000000" pitchFamily="50" charset="-128"/>
              </a:rPr>
              <a:t>とのやりとりを好意的に受け止めている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Q17 AI </a:t>
            </a:r>
            <a:r>
              <a:rPr kumimoji="1" lang="ja-JP" altLang="en-US" sz="1400" b="1" dirty="0">
                <a:latin typeface="游ゴシック" panose="020B0400000000000000" pitchFamily="50" charset="-128"/>
              </a:rPr>
              <a:t>は社会的な存在感がある</a:t>
            </a:r>
            <a:endParaRPr kumimoji="1" lang="en-US" altLang="ja-JP" sz="1400" b="1" dirty="0">
              <a:latin typeface="游ゴシック" panose="020B0400000000000000" pitchFamily="50" charset="-128"/>
            </a:endParaRPr>
          </a:p>
          <a:p>
            <a:pPr fontAlgn="t">
              <a:lnSpc>
                <a:spcPts val="2200"/>
              </a:lnSpc>
            </a:pPr>
            <a:r>
              <a:rPr kumimoji="1" lang="en-US" altLang="ja-JP" sz="1400" b="1" dirty="0">
                <a:latin typeface="游ゴシック" panose="020B0400000000000000" pitchFamily="50" charset="-128"/>
              </a:rPr>
              <a:t>Q18 </a:t>
            </a:r>
            <a:r>
              <a:rPr kumimoji="1" lang="ja-JP" altLang="en-US" sz="1400" b="1" dirty="0">
                <a:latin typeface="游ゴシック" panose="020B0400000000000000" pitchFamily="50" charset="-128"/>
              </a:rPr>
              <a:t>多くの人はこの </a:t>
            </a:r>
            <a:r>
              <a:rPr kumimoji="1" lang="en-US" altLang="ja-JP" sz="1400" b="1" dirty="0">
                <a:latin typeface="游ゴシック" panose="020B0400000000000000" pitchFamily="50" charset="-128"/>
              </a:rPr>
              <a:t>AI </a:t>
            </a:r>
            <a:r>
              <a:rPr kumimoji="1" lang="ja-JP" altLang="en-US" sz="1400" b="1" dirty="0">
                <a:latin typeface="游ゴシック" panose="020B0400000000000000" pitchFamily="50" charset="-128"/>
              </a:rPr>
              <a:t>を使うことを勧めると思う</a:t>
            </a:r>
            <a:endParaRPr kumimoji="1" lang="en-US" altLang="ja-JP" sz="1400" b="1" dirty="0">
              <a:latin typeface="游ゴシック" panose="020B0400000000000000" pitchFamily="50" charset="-128"/>
            </a:endParaRPr>
          </a:p>
          <a:p>
            <a:pPr fontAlgn="t">
              <a:lnSpc>
                <a:spcPts val="2200"/>
              </a:lnSpc>
            </a:pPr>
            <a:r>
              <a:rPr kumimoji="1" lang="en-US" altLang="ja-JP" sz="1400" b="1" dirty="0">
                <a:solidFill>
                  <a:srgbClr val="FF0000"/>
                </a:solidFill>
                <a:latin typeface="游ゴシック" panose="020B0400000000000000" pitchFamily="50" charset="-128"/>
              </a:rPr>
              <a:t>Q19 AI </a:t>
            </a:r>
            <a:r>
              <a:rPr kumimoji="1" lang="ja-JP" altLang="en-US" sz="1400" b="1" dirty="0">
                <a:solidFill>
                  <a:srgbClr val="FF0000"/>
                </a:solidFill>
                <a:latin typeface="游ゴシック" panose="020B0400000000000000" pitchFamily="50" charset="-128"/>
              </a:rPr>
              <a:t>には感情がある</a:t>
            </a:r>
            <a:endParaRPr kumimoji="1" lang="ja-JP" altLang="en-US" sz="1400" b="1" i="0" u="none" strike="noStrike" kern="1200" dirty="0">
              <a:solidFill>
                <a:srgbClr val="FF0000"/>
              </a:solidFill>
              <a:effectLst/>
              <a:latin typeface="游ゴシック" panose="020B0400000000000000" pitchFamily="50" charset="-128"/>
              <a:ea typeface="游ゴシック" panose="020B0400000000000000" pitchFamily="50" charset="-128"/>
            </a:endParaRPr>
          </a:p>
        </p:txBody>
      </p:sp>
      <p:grpSp>
        <p:nvGrpSpPr>
          <p:cNvPr id="39" name="グループ化 38">
            <a:extLst>
              <a:ext uri="{FF2B5EF4-FFF2-40B4-BE49-F238E27FC236}">
                <a16:creationId xmlns:a16="http://schemas.microsoft.com/office/drawing/2014/main" id="{CAE95E9E-FEED-F583-07DA-AF571006E5EE}"/>
              </a:ext>
            </a:extLst>
          </p:cNvPr>
          <p:cNvGrpSpPr/>
          <p:nvPr/>
        </p:nvGrpSpPr>
        <p:grpSpPr>
          <a:xfrm>
            <a:off x="7045006" y="1192698"/>
            <a:ext cx="2035744" cy="1497844"/>
            <a:chOff x="7115473" y="4650382"/>
            <a:chExt cx="2035744" cy="1497844"/>
          </a:xfrm>
        </p:grpSpPr>
        <p:sp>
          <p:nvSpPr>
            <p:cNvPr id="32" name="テキスト ボックス 31">
              <a:extLst>
                <a:ext uri="{FF2B5EF4-FFF2-40B4-BE49-F238E27FC236}">
                  <a16:creationId xmlns:a16="http://schemas.microsoft.com/office/drawing/2014/main" id="{E6053EA4-605A-E2A2-6299-8C1739681EA0}"/>
                </a:ext>
              </a:extLst>
            </p:cNvPr>
            <p:cNvSpPr txBox="1"/>
            <p:nvPr/>
          </p:nvSpPr>
          <p:spPr>
            <a:xfrm>
              <a:off x="7115474" y="4650382"/>
              <a:ext cx="2035743" cy="374461"/>
            </a:xfrm>
            <a:prstGeom prst="rect">
              <a:avLst/>
            </a:prstGeom>
            <a:solidFill>
              <a:schemeClr val="accent1">
                <a:lumMod val="60000"/>
                <a:lumOff val="40000"/>
              </a:schemeClr>
            </a:solidFill>
          </p:spPr>
          <p:txBody>
            <a:bodyPr wrap="square">
              <a:spAutoFit/>
            </a:bodyPr>
            <a:lstStyle/>
            <a:p>
              <a:pPr fontAlgn="t">
                <a:lnSpc>
                  <a:spcPts val="2200"/>
                </a:lnSpc>
              </a:pPr>
              <a:r>
                <a:rPr kumimoji="1" lang="ja-JP" altLang="en-US" sz="1800" b="1" dirty="0">
                  <a:solidFill>
                    <a:schemeClr val="bg1"/>
                  </a:solidFill>
                  <a:latin typeface="游ゴシック" panose="020B0400000000000000" pitchFamily="50" charset="-128"/>
                </a:rPr>
                <a:t>固定・名乗りあり</a:t>
              </a:r>
              <a:endParaRPr kumimoji="1" lang="en-US" altLang="ja-JP" sz="1800" b="1" dirty="0">
                <a:solidFill>
                  <a:schemeClr val="bg1"/>
                </a:solidFill>
                <a:latin typeface="游ゴシック" panose="020B0400000000000000" pitchFamily="50" charset="-128"/>
              </a:endParaRPr>
            </a:p>
          </p:txBody>
        </p:sp>
        <p:sp>
          <p:nvSpPr>
            <p:cNvPr id="33" name="テキスト ボックス 32">
              <a:extLst>
                <a:ext uri="{FF2B5EF4-FFF2-40B4-BE49-F238E27FC236}">
                  <a16:creationId xmlns:a16="http://schemas.microsoft.com/office/drawing/2014/main" id="{7E11FBDA-F5D6-26B6-66E9-1807D52FC12A}"/>
                </a:ext>
              </a:extLst>
            </p:cNvPr>
            <p:cNvSpPr txBox="1"/>
            <p:nvPr/>
          </p:nvSpPr>
          <p:spPr>
            <a:xfrm>
              <a:off x="7115474" y="5024843"/>
              <a:ext cx="2035743" cy="374461"/>
            </a:xfrm>
            <a:prstGeom prst="rect">
              <a:avLst/>
            </a:prstGeom>
            <a:solidFill>
              <a:schemeClr val="accent6">
                <a:lumMod val="75000"/>
              </a:schemeClr>
            </a:solidFill>
          </p:spPr>
          <p:txBody>
            <a:bodyPr wrap="square">
              <a:spAutoFit/>
            </a:bodyPr>
            <a:lstStyle/>
            <a:p>
              <a:pPr fontAlgn="t">
                <a:lnSpc>
                  <a:spcPts val="2200"/>
                </a:lnSpc>
              </a:pPr>
              <a:r>
                <a:rPr kumimoji="1" lang="ja-JP" altLang="en-US" sz="1800" b="1" dirty="0">
                  <a:solidFill>
                    <a:schemeClr val="bg1"/>
                  </a:solidFill>
                  <a:latin typeface="游ゴシック" panose="020B0400000000000000" pitchFamily="50" charset="-128"/>
                </a:rPr>
                <a:t>固定・名乗りなし</a:t>
              </a:r>
              <a:endParaRPr kumimoji="1" lang="en-US" altLang="ja-JP" sz="1800" b="1" dirty="0">
                <a:solidFill>
                  <a:schemeClr val="bg1"/>
                </a:solidFill>
                <a:latin typeface="游ゴシック" panose="020B0400000000000000" pitchFamily="50" charset="-128"/>
              </a:endParaRPr>
            </a:p>
          </p:txBody>
        </p:sp>
        <p:sp>
          <p:nvSpPr>
            <p:cNvPr id="34" name="テキスト ボックス 33">
              <a:extLst>
                <a:ext uri="{FF2B5EF4-FFF2-40B4-BE49-F238E27FC236}">
                  <a16:creationId xmlns:a16="http://schemas.microsoft.com/office/drawing/2014/main" id="{276961A7-6457-9E64-4999-F91961D95C99}"/>
                </a:ext>
              </a:extLst>
            </p:cNvPr>
            <p:cNvSpPr txBox="1"/>
            <p:nvPr/>
          </p:nvSpPr>
          <p:spPr>
            <a:xfrm>
              <a:off x="7115473" y="5399304"/>
              <a:ext cx="2035743" cy="374461"/>
            </a:xfrm>
            <a:prstGeom prst="rect">
              <a:avLst/>
            </a:prstGeom>
            <a:solidFill>
              <a:schemeClr val="accent2"/>
            </a:solidFill>
          </p:spPr>
          <p:txBody>
            <a:bodyPr wrap="square">
              <a:spAutoFit/>
            </a:bodyPr>
            <a:lstStyle/>
            <a:p>
              <a:pPr fontAlgn="t">
                <a:lnSpc>
                  <a:spcPts val="2200"/>
                </a:lnSpc>
              </a:pPr>
              <a:r>
                <a:rPr kumimoji="1" lang="ja-JP" altLang="en-US" sz="1800" b="1" dirty="0">
                  <a:solidFill>
                    <a:schemeClr val="bg1"/>
                  </a:solidFill>
                  <a:latin typeface="游ゴシック" panose="020B0400000000000000" pitchFamily="50" charset="-128"/>
                </a:rPr>
                <a:t>切替・名乗りあり</a:t>
              </a:r>
              <a:endParaRPr kumimoji="1" lang="en-US" altLang="ja-JP" sz="1800" b="1" dirty="0">
                <a:solidFill>
                  <a:schemeClr val="bg1"/>
                </a:solidFill>
                <a:latin typeface="游ゴシック" panose="020B0400000000000000" pitchFamily="50" charset="-128"/>
              </a:endParaRPr>
            </a:p>
          </p:txBody>
        </p:sp>
        <p:sp>
          <p:nvSpPr>
            <p:cNvPr id="35" name="テキスト ボックス 34">
              <a:extLst>
                <a:ext uri="{FF2B5EF4-FFF2-40B4-BE49-F238E27FC236}">
                  <a16:creationId xmlns:a16="http://schemas.microsoft.com/office/drawing/2014/main" id="{07E9974C-E43D-5F65-078B-3E3A5748385D}"/>
                </a:ext>
              </a:extLst>
            </p:cNvPr>
            <p:cNvSpPr txBox="1"/>
            <p:nvPr/>
          </p:nvSpPr>
          <p:spPr>
            <a:xfrm>
              <a:off x="7115473" y="5773765"/>
              <a:ext cx="2035743" cy="374461"/>
            </a:xfrm>
            <a:prstGeom prst="rect">
              <a:avLst/>
            </a:prstGeom>
            <a:solidFill>
              <a:schemeClr val="tx2">
                <a:lumMod val="75000"/>
                <a:lumOff val="25000"/>
              </a:schemeClr>
            </a:solidFill>
          </p:spPr>
          <p:txBody>
            <a:bodyPr wrap="square">
              <a:spAutoFit/>
            </a:bodyPr>
            <a:lstStyle/>
            <a:p>
              <a:pPr fontAlgn="t">
                <a:lnSpc>
                  <a:spcPts val="2200"/>
                </a:lnSpc>
              </a:pPr>
              <a:r>
                <a:rPr kumimoji="1" lang="ja-JP" altLang="en-US" sz="1800" b="1" dirty="0">
                  <a:solidFill>
                    <a:schemeClr val="bg1"/>
                  </a:solidFill>
                  <a:latin typeface="游ゴシック" panose="020B0400000000000000" pitchFamily="50" charset="-128"/>
                </a:rPr>
                <a:t>切替・名乗りなし</a:t>
              </a:r>
              <a:endParaRPr kumimoji="1" lang="en-US" altLang="ja-JP" sz="1800" b="1" dirty="0">
                <a:solidFill>
                  <a:schemeClr val="bg1"/>
                </a:solidFill>
                <a:latin typeface="游ゴシック" panose="020B0400000000000000" pitchFamily="50" charset="-128"/>
              </a:endParaRPr>
            </a:p>
          </p:txBody>
        </p:sp>
      </p:grpSp>
      <p:sp>
        <p:nvSpPr>
          <p:cNvPr id="37" name="テキスト ボックス 36">
            <a:extLst>
              <a:ext uri="{FF2B5EF4-FFF2-40B4-BE49-F238E27FC236}">
                <a16:creationId xmlns:a16="http://schemas.microsoft.com/office/drawing/2014/main" id="{619CD917-D332-01CE-F2EB-8A7D37401491}"/>
              </a:ext>
            </a:extLst>
          </p:cNvPr>
          <p:cNvSpPr txBox="1"/>
          <p:nvPr/>
        </p:nvSpPr>
        <p:spPr>
          <a:xfrm>
            <a:off x="3013306" y="6558832"/>
            <a:ext cx="1266304" cy="283714"/>
          </a:xfrm>
          <a:prstGeom prst="rect">
            <a:avLst/>
          </a:prstGeom>
          <a:noFill/>
        </p:spPr>
        <p:txBody>
          <a:bodyPr wrap="square">
            <a:spAutoFit/>
          </a:bodyPr>
          <a:lstStyle/>
          <a:p>
            <a:r>
              <a:rPr kumimoji="1" lang="ja-JP" altLang="en-US" sz="1200" b="1" dirty="0">
                <a:latin typeface="游ゴシック" panose="020B0400000000000000" pitchFamily="50" charset="-128"/>
              </a:rPr>
              <a:t>あてはまらない</a:t>
            </a:r>
            <a:endParaRPr lang="ja-JP" altLang="en-US" sz="1200" dirty="0"/>
          </a:p>
        </p:txBody>
      </p:sp>
      <p:sp>
        <p:nvSpPr>
          <p:cNvPr id="38" name="テキスト ボックス 37">
            <a:extLst>
              <a:ext uri="{FF2B5EF4-FFF2-40B4-BE49-F238E27FC236}">
                <a16:creationId xmlns:a16="http://schemas.microsoft.com/office/drawing/2014/main" id="{554D269D-5CEB-ACB5-CA06-B23A45A3D5E6}"/>
              </a:ext>
            </a:extLst>
          </p:cNvPr>
          <p:cNvSpPr txBox="1"/>
          <p:nvPr/>
        </p:nvSpPr>
        <p:spPr>
          <a:xfrm>
            <a:off x="8256740" y="6558832"/>
            <a:ext cx="1266304" cy="283714"/>
          </a:xfrm>
          <a:prstGeom prst="rect">
            <a:avLst/>
          </a:prstGeom>
          <a:noFill/>
        </p:spPr>
        <p:txBody>
          <a:bodyPr wrap="square">
            <a:spAutoFit/>
          </a:bodyPr>
          <a:lstStyle/>
          <a:p>
            <a:r>
              <a:rPr kumimoji="1" lang="ja-JP" altLang="en-US" sz="1200" b="1" dirty="0">
                <a:latin typeface="游ゴシック" panose="020B0400000000000000" pitchFamily="50" charset="-128"/>
              </a:rPr>
              <a:t>あてはまる</a:t>
            </a:r>
            <a:endParaRPr lang="ja-JP" altLang="en-US" sz="1200" dirty="0"/>
          </a:p>
        </p:txBody>
      </p:sp>
      <p:sp>
        <p:nvSpPr>
          <p:cNvPr id="41" name="テキスト ボックス 40">
            <a:extLst>
              <a:ext uri="{FF2B5EF4-FFF2-40B4-BE49-F238E27FC236}">
                <a16:creationId xmlns:a16="http://schemas.microsoft.com/office/drawing/2014/main" id="{C6B07FDC-0594-111F-11BC-F66CD9D86E30}"/>
              </a:ext>
            </a:extLst>
          </p:cNvPr>
          <p:cNvSpPr txBox="1"/>
          <p:nvPr/>
        </p:nvSpPr>
        <p:spPr>
          <a:xfrm>
            <a:off x="6772271" y="2891442"/>
            <a:ext cx="2356618" cy="307777"/>
          </a:xfrm>
          <a:prstGeom prst="rect">
            <a:avLst/>
          </a:prstGeom>
          <a:noFill/>
          <a:ln>
            <a:solidFill>
              <a:srgbClr val="FF0000"/>
            </a:solidFill>
          </a:ln>
        </p:spPr>
        <p:txBody>
          <a:bodyPr wrap="square">
            <a:spAutoFit/>
          </a:bodyPr>
          <a:lstStyle/>
          <a:p>
            <a:r>
              <a:rPr kumimoji="1" lang="ja-JP" altLang="en-US" sz="1400" b="1" dirty="0">
                <a:solidFill>
                  <a:srgbClr val="FF0000"/>
                </a:solidFill>
                <a:latin typeface="游ゴシック" panose="020B0400000000000000" pitchFamily="50" charset="-128"/>
              </a:rPr>
              <a:t>人格設定要因で有意差</a:t>
            </a:r>
            <a:r>
              <a:rPr kumimoji="1" lang="en-US" altLang="ja-JP" sz="1400" b="1" dirty="0">
                <a:solidFill>
                  <a:srgbClr val="FF0000"/>
                </a:solidFill>
                <a:latin typeface="游ゴシック" panose="020B0400000000000000" pitchFamily="50" charset="-128"/>
              </a:rPr>
              <a:t>(Q7)</a:t>
            </a:r>
            <a:endParaRPr lang="ja-JP" altLang="en-US" sz="1400" dirty="0"/>
          </a:p>
        </p:txBody>
      </p:sp>
      <p:sp>
        <p:nvSpPr>
          <p:cNvPr id="43" name="テキスト ボックス 42">
            <a:extLst>
              <a:ext uri="{FF2B5EF4-FFF2-40B4-BE49-F238E27FC236}">
                <a16:creationId xmlns:a16="http://schemas.microsoft.com/office/drawing/2014/main" id="{9FFED2BF-1DCC-6731-BDF8-4FA07037CCF9}"/>
              </a:ext>
            </a:extLst>
          </p:cNvPr>
          <p:cNvSpPr txBox="1"/>
          <p:nvPr/>
        </p:nvSpPr>
        <p:spPr>
          <a:xfrm>
            <a:off x="6736167" y="3343153"/>
            <a:ext cx="2358851" cy="523220"/>
          </a:xfrm>
          <a:prstGeom prst="rect">
            <a:avLst/>
          </a:prstGeom>
          <a:noFill/>
          <a:ln>
            <a:solidFill>
              <a:srgbClr val="FF0000"/>
            </a:solidFill>
          </a:ln>
        </p:spPr>
        <p:txBody>
          <a:bodyPr wrap="square">
            <a:spAutoFit/>
          </a:bodyPr>
          <a:lstStyle/>
          <a:p>
            <a:r>
              <a:rPr kumimoji="1" lang="ja-JP" altLang="en-US" sz="1400" b="1" dirty="0">
                <a:solidFill>
                  <a:srgbClr val="FF0000"/>
                </a:solidFill>
                <a:latin typeface="游ゴシック" panose="020B0400000000000000" pitchFamily="50" charset="-128"/>
              </a:rPr>
              <a:t>名乗りなし水準の</a:t>
            </a:r>
            <a:endParaRPr kumimoji="1" lang="en-US" altLang="ja-JP" sz="1400" b="1" dirty="0">
              <a:solidFill>
                <a:srgbClr val="FF0000"/>
              </a:solidFill>
              <a:latin typeface="游ゴシック" panose="020B0400000000000000" pitchFamily="50" charset="-128"/>
            </a:endParaRPr>
          </a:p>
          <a:p>
            <a:r>
              <a:rPr kumimoji="1" lang="ja-JP" altLang="en-US" sz="1400" b="1" dirty="0">
                <a:solidFill>
                  <a:srgbClr val="FF0000"/>
                </a:solidFill>
                <a:latin typeface="游ゴシック" panose="020B0400000000000000" pitchFamily="50" charset="-128"/>
              </a:rPr>
              <a:t>人格設定要因で有意差</a:t>
            </a:r>
            <a:r>
              <a:rPr kumimoji="1" lang="en-US" altLang="ja-JP" sz="1400" b="1" dirty="0">
                <a:solidFill>
                  <a:srgbClr val="FF0000"/>
                </a:solidFill>
                <a:latin typeface="游ゴシック" panose="020B0400000000000000" pitchFamily="50" charset="-128"/>
              </a:rPr>
              <a:t>(Q9)</a:t>
            </a:r>
            <a:endParaRPr lang="ja-JP" altLang="en-US" sz="1400" dirty="0"/>
          </a:p>
        </p:txBody>
      </p:sp>
      <p:sp>
        <p:nvSpPr>
          <p:cNvPr id="45" name="テキスト ボックス 44">
            <a:extLst>
              <a:ext uri="{FF2B5EF4-FFF2-40B4-BE49-F238E27FC236}">
                <a16:creationId xmlns:a16="http://schemas.microsoft.com/office/drawing/2014/main" id="{40BD7D89-63BB-E383-4250-D0731C146632}"/>
              </a:ext>
            </a:extLst>
          </p:cNvPr>
          <p:cNvSpPr txBox="1"/>
          <p:nvPr/>
        </p:nvSpPr>
        <p:spPr>
          <a:xfrm>
            <a:off x="6806437" y="4250227"/>
            <a:ext cx="2297605" cy="523220"/>
          </a:xfrm>
          <a:prstGeom prst="rect">
            <a:avLst/>
          </a:prstGeom>
          <a:noFill/>
          <a:ln>
            <a:solidFill>
              <a:srgbClr val="FF0000"/>
            </a:solidFill>
          </a:ln>
        </p:spPr>
        <p:txBody>
          <a:bodyPr wrap="square">
            <a:spAutoFit/>
          </a:bodyPr>
          <a:lstStyle/>
          <a:p>
            <a:r>
              <a:rPr kumimoji="1" lang="ja-JP" altLang="en-US" sz="1400" b="1" dirty="0">
                <a:solidFill>
                  <a:srgbClr val="FF0000"/>
                </a:solidFill>
                <a:latin typeface="游ゴシック" panose="020B0400000000000000" pitchFamily="50" charset="-128"/>
              </a:rPr>
              <a:t>人格固定水準の</a:t>
            </a:r>
            <a:endParaRPr kumimoji="1" lang="en-US" altLang="ja-JP" sz="1400" b="1" dirty="0">
              <a:solidFill>
                <a:srgbClr val="FF0000"/>
              </a:solidFill>
              <a:latin typeface="游ゴシック" panose="020B0400000000000000" pitchFamily="50" charset="-128"/>
            </a:endParaRPr>
          </a:p>
          <a:p>
            <a:r>
              <a:rPr kumimoji="1" lang="ja-JP" altLang="en-US" sz="1400" b="1" dirty="0">
                <a:solidFill>
                  <a:srgbClr val="FF0000"/>
                </a:solidFill>
                <a:latin typeface="游ゴシック" panose="020B0400000000000000" pitchFamily="50" charset="-128"/>
              </a:rPr>
              <a:t>名乗り要因で有意差</a:t>
            </a:r>
            <a:r>
              <a:rPr kumimoji="1" lang="en-US" altLang="ja-JP" sz="1400" b="1" dirty="0">
                <a:solidFill>
                  <a:srgbClr val="FF0000"/>
                </a:solidFill>
                <a:latin typeface="游ゴシック" panose="020B0400000000000000" pitchFamily="50" charset="-128"/>
              </a:rPr>
              <a:t>(Q10)</a:t>
            </a:r>
            <a:endParaRPr lang="ja-JP" altLang="en-US" sz="1400" dirty="0"/>
          </a:p>
        </p:txBody>
      </p:sp>
      <p:sp>
        <p:nvSpPr>
          <p:cNvPr id="47" name="テキスト ボックス 46">
            <a:extLst>
              <a:ext uri="{FF2B5EF4-FFF2-40B4-BE49-F238E27FC236}">
                <a16:creationId xmlns:a16="http://schemas.microsoft.com/office/drawing/2014/main" id="{898A0177-C73A-4B9C-7B09-6CED2CE8D3D3}"/>
              </a:ext>
            </a:extLst>
          </p:cNvPr>
          <p:cNvSpPr txBox="1"/>
          <p:nvPr/>
        </p:nvSpPr>
        <p:spPr>
          <a:xfrm>
            <a:off x="6482934" y="5805478"/>
            <a:ext cx="2294132" cy="523220"/>
          </a:xfrm>
          <a:prstGeom prst="rect">
            <a:avLst/>
          </a:prstGeom>
          <a:noFill/>
          <a:ln>
            <a:solidFill>
              <a:srgbClr val="FF0000"/>
            </a:solidFill>
          </a:ln>
        </p:spPr>
        <p:txBody>
          <a:bodyPr wrap="square">
            <a:spAutoFit/>
          </a:bodyPr>
          <a:lstStyle/>
          <a:p>
            <a:r>
              <a:rPr kumimoji="1" lang="ja-JP" altLang="en-US" sz="1400" b="1" dirty="0">
                <a:solidFill>
                  <a:srgbClr val="FF0000"/>
                </a:solidFill>
                <a:latin typeface="游ゴシック" panose="020B0400000000000000" pitchFamily="50" charset="-128"/>
              </a:rPr>
              <a:t>人格固定水準の</a:t>
            </a:r>
            <a:endParaRPr kumimoji="1" lang="en-US" altLang="ja-JP" sz="1400" b="1" dirty="0">
              <a:solidFill>
                <a:srgbClr val="FF0000"/>
              </a:solidFill>
              <a:latin typeface="游ゴシック" panose="020B0400000000000000" pitchFamily="50" charset="-128"/>
            </a:endParaRPr>
          </a:p>
          <a:p>
            <a:r>
              <a:rPr kumimoji="1" lang="ja-JP" altLang="en-US" sz="1400" b="1" dirty="0">
                <a:solidFill>
                  <a:srgbClr val="FF0000"/>
                </a:solidFill>
                <a:latin typeface="游ゴシック" panose="020B0400000000000000" pitchFamily="50" charset="-128"/>
              </a:rPr>
              <a:t>名乗り要因で有意差</a:t>
            </a:r>
            <a:r>
              <a:rPr kumimoji="1" lang="en-US" altLang="ja-JP" sz="1400" b="1" dirty="0">
                <a:solidFill>
                  <a:srgbClr val="FF0000"/>
                </a:solidFill>
                <a:latin typeface="游ゴシック" panose="020B0400000000000000" pitchFamily="50" charset="-128"/>
              </a:rPr>
              <a:t>(Q19)</a:t>
            </a:r>
            <a:endParaRPr lang="ja-JP" altLang="en-US" sz="1400" dirty="0"/>
          </a:p>
        </p:txBody>
      </p:sp>
      <p:cxnSp>
        <p:nvCxnSpPr>
          <p:cNvPr id="49" name="直線矢印コネクタ 48">
            <a:extLst>
              <a:ext uri="{FF2B5EF4-FFF2-40B4-BE49-F238E27FC236}">
                <a16:creationId xmlns:a16="http://schemas.microsoft.com/office/drawing/2014/main" id="{ACEA9F32-0FE6-FBB7-7D22-BC4EF261CDEE}"/>
              </a:ext>
            </a:extLst>
          </p:cNvPr>
          <p:cNvCxnSpPr/>
          <p:nvPr/>
        </p:nvCxnSpPr>
        <p:spPr>
          <a:xfrm flipH="1">
            <a:off x="5507831" y="6067088"/>
            <a:ext cx="900000" cy="164379"/>
          </a:xfrm>
          <a:prstGeom prst="straightConnector1">
            <a:avLst/>
          </a:prstGeom>
          <a:ln w="635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0" name="直線矢印コネクタ 49">
            <a:extLst>
              <a:ext uri="{FF2B5EF4-FFF2-40B4-BE49-F238E27FC236}">
                <a16:creationId xmlns:a16="http://schemas.microsoft.com/office/drawing/2014/main" id="{CB4122B0-5967-8045-2248-0CEEABEFE8A0}"/>
              </a:ext>
            </a:extLst>
          </p:cNvPr>
          <p:cNvCxnSpPr>
            <a:cxnSpLocks/>
          </p:cNvCxnSpPr>
          <p:nvPr/>
        </p:nvCxnSpPr>
        <p:spPr>
          <a:xfrm flipH="1" flipV="1">
            <a:off x="6606879" y="3875765"/>
            <a:ext cx="438127" cy="306768"/>
          </a:xfrm>
          <a:prstGeom prst="straightConnector1">
            <a:avLst/>
          </a:prstGeom>
          <a:ln w="635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3" name="直線矢印コネクタ 52">
            <a:extLst>
              <a:ext uri="{FF2B5EF4-FFF2-40B4-BE49-F238E27FC236}">
                <a16:creationId xmlns:a16="http://schemas.microsoft.com/office/drawing/2014/main" id="{9A7A2033-4721-69D0-C5E0-6C3D57DC7CE0}"/>
              </a:ext>
            </a:extLst>
          </p:cNvPr>
          <p:cNvCxnSpPr>
            <a:cxnSpLocks/>
          </p:cNvCxnSpPr>
          <p:nvPr/>
        </p:nvCxnSpPr>
        <p:spPr>
          <a:xfrm flipH="1" flipV="1">
            <a:off x="6155195" y="3521215"/>
            <a:ext cx="522687" cy="62488"/>
          </a:xfrm>
          <a:prstGeom prst="straightConnector1">
            <a:avLst/>
          </a:prstGeom>
          <a:ln w="635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6" name="直線矢印コネクタ 55">
            <a:extLst>
              <a:ext uri="{FF2B5EF4-FFF2-40B4-BE49-F238E27FC236}">
                <a16:creationId xmlns:a16="http://schemas.microsoft.com/office/drawing/2014/main" id="{DCD2BC64-F998-94FB-5653-6CFD9CF1EFC1}"/>
              </a:ext>
            </a:extLst>
          </p:cNvPr>
          <p:cNvCxnSpPr>
            <a:cxnSpLocks/>
          </p:cNvCxnSpPr>
          <p:nvPr/>
        </p:nvCxnSpPr>
        <p:spPr>
          <a:xfrm flipH="1" flipV="1">
            <a:off x="6499868" y="2977595"/>
            <a:ext cx="253233" cy="134795"/>
          </a:xfrm>
          <a:prstGeom prst="straightConnector1">
            <a:avLst/>
          </a:prstGeom>
          <a:ln w="635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39760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2A96E819-E48A-DB64-0445-3797B39069EC}"/>
              </a:ext>
            </a:extLst>
          </p:cNvPr>
          <p:cNvSpPr/>
          <p:nvPr/>
        </p:nvSpPr>
        <p:spPr>
          <a:xfrm>
            <a:off x="266990" y="1105231"/>
            <a:ext cx="8610017" cy="4454155"/>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スライド番号プレースホルダー 1">
            <a:extLst>
              <a:ext uri="{FF2B5EF4-FFF2-40B4-BE49-F238E27FC236}">
                <a16:creationId xmlns:a16="http://schemas.microsoft.com/office/drawing/2014/main" id="{B3C221FF-4013-997A-B512-7BD5C28FC899}"/>
              </a:ext>
            </a:extLst>
          </p:cNvPr>
          <p:cNvSpPr>
            <a:spLocks noGrp="1"/>
          </p:cNvSpPr>
          <p:nvPr>
            <p:ph type="sldNum" sz="quarter" idx="12"/>
          </p:nvPr>
        </p:nvSpPr>
        <p:spPr/>
        <p:txBody>
          <a:bodyPr/>
          <a:lstStyle/>
          <a:p>
            <a:fld id="{18020408-E1FF-429E-A8D5-EB2A190A0D77}" type="slidenum">
              <a:rPr kumimoji="1" lang="ja-JP" altLang="en-US" smtClean="0"/>
              <a:pPr/>
              <a:t>69</a:t>
            </a:fld>
            <a:endParaRPr kumimoji="1" lang="ja-JP" altLang="en-US" sz="2400" dirty="0"/>
          </a:p>
        </p:txBody>
      </p:sp>
      <p:sp>
        <p:nvSpPr>
          <p:cNvPr id="3" name="タイトル 2">
            <a:extLst>
              <a:ext uri="{FF2B5EF4-FFF2-40B4-BE49-F238E27FC236}">
                <a16:creationId xmlns:a16="http://schemas.microsoft.com/office/drawing/2014/main" id="{67DEE413-B768-579D-D900-8FEEADC28A29}"/>
              </a:ext>
            </a:extLst>
          </p:cNvPr>
          <p:cNvSpPr>
            <a:spLocks noGrp="1"/>
          </p:cNvSpPr>
          <p:nvPr>
            <p:ph type="title"/>
          </p:nvPr>
        </p:nvSpPr>
        <p:spPr/>
        <p:txBody>
          <a:bodyPr/>
          <a:lstStyle/>
          <a:p>
            <a:r>
              <a:rPr kumimoji="1" lang="ja-JP" altLang="en-US" sz="3600" dirty="0"/>
              <a:t>考察：人格切り替え知覚について</a:t>
            </a:r>
          </a:p>
        </p:txBody>
      </p:sp>
      <p:sp>
        <p:nvSpPr>
          <p:cNvPr id="4" name="テキスト ボックス 3">
            <a:extLst>
              <a:ext uri="{FF2B5EF4-FFF2-40B4-BE49-F238E27FC236}">
                <a16:creationId xmlns:a16="http://schemas.microsoft.com/office/drawing/2014/main" id="{DD090D02-709A-8552-D4ED-B77792D51CAC}"/>
              </a:ext>
            </a:extLst>
          </p:cNvPr>
          <p:cNvSpPr txBox="1"/>
          <p:nvPr/>
        </p:nvSpPr>
        <p:spPr>
          <a:xfrm>
            <a:off x="577094" y="1097742"/>
            <a:ext cx="8610017" cy="4655027"/>
          </a:xfrm>
          <a:prstGeom prst="rect">
            <a:avLst/>
          </a:prstGeom>
          <a:noFill/>
        </p:spPr>
        <p:txBody>
          <a:bodyPr wrap="square">
            <a:noAutofit/>
          </a:bodyPr>
          <a:lstStyle/>
          <a:p>
            <a:pPr algn="l" rtl="0" fontAlgn="base">
              <a:lnSpc>
                <a:spcPct val="150000"/>
              </a:lnSpc>
              <a:buNone/>
            </a:pPr>
            <a:r>
              <a:rPr lang="ja-JP" altLang="en-US" b="1" dirty="0">
                <a:solidFill>
                  <a:schemeClr val="accent1"/>
                </a:solidFill>
                <a:latin typeface="Meiryo UI" panose="020B0604030504040204" pitchFamily="50" charset="-128"/>
                <a:ea typeface="Yu Gothic" panose="020B0400000000000000" pitchFamily="50" charset="-128"/>
              </a:rPr>
              <a:t>人格固定水準において</a:t>
            </a:r>
            <a:endParaRPr lang="en-US" altLang="ja-JP" b="1" dirty="0">
              <a:solidFill>
                <a:schemeClr val="accent1"/>
              </a:solidFill>
              <a:latin typeface="Meiryo UI" panose="020B0604030504040204" pitchFamily="50" charset="-128"/>
              <a:ea typeface="Yu Gothic" panose="020B0400000000000000" pitchFamily="50" charset="-128"/>
            </a:endParaRPr>
          </a:p>
          <a:p>
            <a:pPr marL="182563" indent="-182563" algn="l" rtl="0" fontAlgn="base">
              <a:lnSpc>
                <a:spcPct val="150000"/>
              </a:lnSpc>
              <a:buFont typeface="Arial" panose="020B0604020202020204" pitchFamily="34" charset="0"/>
              <a:buChar char="•"/>
            </a:pPr>
            <a:r>
              <a:rPr lang="ja-JP" altLang="en-US" b="1" dirty="0">
                <a:latin typeface="Meiryo UI" panose="020B0604030504040204" pitchFamily="50" charset="-128"/>
                <a:ea typeface="Yu Gothic" panose="020B0400000000000000" pitchFamily="50" charset="-128"/>
              </a:rPr>
              <a:t>名乗り</a:t>
            </a:r>
            <a:r>
              <a:rPr lang="ja-JP" altLang="en-US" b="1" dirty="0">
                <a:solidFill>
                  <a:srgbClr val="FF0000"/>
                </a:solidFill>
                <a:latin typeface="Meiryo UI" panose="020B0604030504040204" pitchFamily="50" charset="-128"/>
                <a:ea typeface="Yu Gothic" panose="020B0400000000000000" pitchFamily="50" charset="-128"/>
              </a:rPr>
              <a:t>あり</a:t>
            </a:r>
            <a:r>
              <a:rPr lang="ja-JP" altLang="en-US" b="1" dirty="0">
                <a:latin typeface="Meiryo UI" panose="020B0604030504040204" pitchFamily="50" charset="-128"/>
                <a:ea typeface="Yu Gothic" panose="020B0400000000000000" pitchFamily="50" charset="-128"/>
              </a:rPr>
              <a:t>水準</a:t>
            </a:r>
            <a:endParaRPr lang="en-US" altLang="ja-JP" b="1" dirty="0">
              <a:latin typeface="Meiryo UI" panose="020B0604030504040204" pitchFamily="50" charset="-128"/>
              <a:ea typeface="Yu Gothic" panose="020B0400000000000000" pitchFamily="50" charset="-128"/>
            </a:endParaRPr>
          </a:p>
          <a:p>
            <a:pPr algn="l" rtl="0" fontAlgn="base">
              <a:lnSpc>
                <a:spcPct val="150000"/>
              </a:lnSpc>
              <a:buNone/>
            </a:pPr>
            <a:r>
              <a:rPr lang="ja-JP" altLang="en-US" b="1" dirty="0">
                <a:solidFill>
                  <a:srgbClr val="000000"/>
                </a:solidFill>
                <a:latin typeface="+mn-ea"/>
              </a:rPr>
              <a:t>　「</a:t>
            </a:r>
            <a:r>
              <a:rPr lang="en-US" altLang="ja-JP" b="1" dirty="0">
                <a:solidFill>
                  <a:srgbClr val="000000"/>
                </a:solidFill>
                <a:latin typeface="+mn-ea"/>
              </a:rPr>
              <a:t>AI</a:t>
            </a:r>
            <a:r>
              <a:rPr lang="ja-JP" altLang="en-US" b="1" dirty="0">
                <a:solidFill>
                  <a:srgbClr val="000000"/>
                </a:solidFill>
                <a:latin typeface="+mn-ea"/>
              </a:rPr>
              <a:t>の性格は変わっていない」の回答割合：約</a:t>
            </a:r>
            <a:r>
              <a:rPr lang="en-US" altLang="ja-JP" b="1" dirty="0">
                <a:solidFill>
                  <a:srgbClr val="000000"/>
                </a:solidFill>
                <a:latin typeface="+mn-ea"/>
              </a:rPr>
              <a:t>95.9%</a:t>
            </a:r>
          </a:p>
          <a:p>
            <a:pPr marL="182563" indent="-182563" algn="l" rtl="0" fontAlgn="base">
              <a:lnSpc>
                <a:spcPct val="150000"/>
              </a:lnSpc>
              <a:buFont typeface="Arial" panose="020B0604020202020204" pitchFamily="34" charset="0"/>
              <a:buChar char="•"/>
            </a:pPr>
            <a:r>
              <a:rPr lang="ja-JP" altLang="en-US" b="1" dirty="0">
                <a:solidFill>
                  <a:srgbClr val="000000"/>
                </a:solidFill>
                <a:latin typeface="+mn-ea"/>
              </a:rPr>
              <a:t>名乗りなし水準</a:t>
            </a:r>
            <a:endParaRPr lang="en-US" altLang="ja-JP" b="1" dirty="0">
              <a:solidFill>
                <a:srgbClr val="000000"/>
              </a:solidFill>
              <a:latin typeface="+mn-ea"/>
            </a:endParaRPr>
          </a:p>
          <a:p>
            <a:pPr fontAlgn="base">
              <a:lnSpc>
                <a:spcPct val="150000"/>
              </a:lnSpc>
            </a:pPr>
            <a:r>
              <a:rPr lang="ja-JP" altLang="en-US" b="1" dirty="0">
                <a:solidFill>
                  <a:srgbClr val="000000"/>
                </a:solidFill>
                <a:latin typeface="+mn-ea"/>
              </a:rPr>
              <a:t>　「</a:t>
            </a:r>
            <a:r>
              <a:rPr lang="en-US" altLang="ja-JP" b="1" dirty="0">
                <a:solidFill>
                  <a:srgbClr val="000000"/>
                </a:solidFill>
                <a:latin typeface="+mn-ea"/>
              </a:rPr>
              <a:t>AI</a:t>
            </a:r>
            <a:r>
              <a:rPr lang="ja-JP" altLang="en-US" b="1" dirty="0">
                <a:solidFill>
                  <a:srgbClr val="000000"/>
                </a:solidFill>
                <a:latin typeface="+mn-ea"/>
              </a:rPr>
              <a:t>の性格は変わっていない」の回答割合：約</a:t>
            </a:r>
            <a:r>
              <a:rPr lang="en-US" altLang="ja-JP" b="1" dirty="0">
                <a:solidFill>
                  <a:srgbClr val="000000"/>
                </a:solidFill>
                <a:latin typeface="+mn-ea"/>
              </a:rPr>
              <a:t>78.9%</a:t>
            </a:r>
          </a:p>
          <a:p>
            <a:pPr fontAlgn="base">
              <a:lnSpc>
                <a:spcPct val="150000"/>
              </a:lnSpc>
            </a:pPr>
            <a:r>
              <a:rPr lang="ja-JP" altLang="en-US" b="1" dirty="0">
                <a:solidFill>
                  <a:schemeClr val="accent1"/>
                </a:solidFill>
                <a:latin typeface="+mn-ea"/>
              </a:rPr>
              <a:t>人格切り替え水準において</a:t>
            </a:r>
            <a:endParaRPr lang="en-US" altLang="ja-JP" b="1" dirty="0">
              <a:solidFill>
                <a:schemeClr val="accent1"/>
              </a:solidFill>
              <a:latin typeface="+mn-ea"/>
            </a:endParaRPr>
          </a:p>
          <a:p>
            <a:pPr marL="182563" indent="-182563" fontAlgn="base">
              <a:lnSpc>
                <a:spcPct val="150000"/>
              </a:lnSpc>
              <a:buFont typeface="Arial" panose="020B0604020202020204" pitchFamily="34" charset="0"/>
              <a:buChar char="•"/>
            </a:pPr>
            <a:r>
              <a:rPr lang="ja-JP" altLang="en-US" b="1" dirty="0">
                <a:latin typeface="Meiryo UI" panose="020B0604030504040204" pitchFamily="50" charset="-128"/>
                <a:ea typeface="Yu Gothic" panose="020B0400000000000000" pitchFamily="50" charset="-128"/>
              </a:rPr>
              <a:t>名乗り</a:t>
            </a:r>
            <a:r>
              <a:rPr lang="ja-JP" altLang="en-US" b="1" dirty="0">
                <a:solidFill>
                  <a:srgbClr val="FF0000"/>
                </a:solidFill>
                <a:latin typeface="Meiryo UI" panose="020B0604030504040204" pitchFamily="50" charset="-128"/>
                <a:ea typeface="Yu Gothic" panose="020B0400000000000000" pitchFamily="50" charset="-128"/>
              </a:rPr>
              <a:t>あり</a:t>
            </a:r>
            <a:r>
              <a:rPr lang="ja-JP" altLang="en-US" b="1" dirty="0">
                <a:latin typeface="Meiryo UI" panose="020B0604030504040204" pitchFamily="50" charset="-128"/>
                <a:ea typeface="Yu Gothic" panose="020B0400000000000000" pitchFamily="50" charset="-128"/>
              </a:rPr>
              <a:t>水準</a:t>
            </a:r>
            <a:endParaRPr lang="en-US" altLang="ja-JP" b="1" dirty="0">
              <a:latin typeface="Meiryo UI" panose="020B0604030504040204" pitchFamily="50" charset="-128"/>
              <a:ea typeface="Yu Gothic" panose="020B0400000000000000" pitchFamily="50" charset="-128"/>
            </a:endParaRPr>
          </a:p>
          <a:p>
            <a:pPr fontAlgn="base">
              <a:lnSpc>
                <a:spcPct val="150000"/>
              </a:lnSpc>
            </a:pPr>
            <a:r>
              <a:rPr lang="ja-JP" altLang="en-US" b="1" dirty="0">
                <a:solidFill>
                  <a:srgbClr val="000000"/>
                </a:solidFill>
                <a:latin typeface="+mn-ea"/>
              </a:rPr>
              <a:t>　いずれかのタイミングで性格が変わったと回答割合：</a:t>
            </a:r>
            <a:r>
              <a:rPr lang="en-US" altLang="ja-JP" b="1" dirty="0">
                <a:solidFill>
                  <a:srgbClr val="000000"/>
                </a:solidFill>
                <a:latin typeface="+mn-ea"/>
              </a:rPr>
              <a:t>62.5%</a:t>
            </a:r>
          </a:p>
          <a:p>
            <a:pPr marL="182563" indent="-182563" fontAlgn="base">
              <a:lnSpc>
                <a:spcPct val="150000"/>
              </a:lnSpc>
              <a:buFont typeface="Arial" panose="020B0604020202020204" pitchFamily="34" charset="0"/>
              <a:buChar char="•"/>
            </a:pPr>
            <a:r>
              <a:rPr lang="ja-JP" altLang="en-US" b="1" dirty="0">
                <a:solidFill>
                  <a:srgbClr val="000000"/>
                </a:solidFill>
                <a:latin typeface="+mn-ea"/>
              </a:rPr>
              <a:t>名乗りなし水準</a:t>
            </a:r>
            <a:endParaRPr lang="en-US" altLang="ja-JP" b="1" dirty="0">
              <a:solidFill>
                <a:srgbClr val="000000"/>
              </a:solidFill>
              <a:latin typeface="+mn-ea"/>
            </a:endParaRPr>
          </a:p>
          <a:p>
            <a:pPr fontAlgn="base">
              <a:lnSpc>
                <a:spcPct val="150000"/>
              </a:lnSpc>
            </a:pPr>
            <a:r>
              <a:rPr lang="ja-JP" altLang="en-US" b="1" dirty="0">
                <a:solidFill>
                  <a:srgbClr val="000000"/>
                </a:solidFill>
                <a:latin typeface="+mn-ea"/>
              </a:rPr>
              <a:t>　いずれかのタイミングで性格が変わったと回答割合：約</a:t>
            </a:r>
            <a:r>
              <a:rPr lang="en-US" altLang="ja-JP" b="1" dirty="0">
                <a:solidFill>
                  <a:srgbClr val="000000"/>
                </a:solidFill>
                <a:latin typeface="+mn-ea"/>
              </a:rPr>
              <a:t>54.8%</a:t>
            </a:r>
          </a:p>
          <a:p>
            <a:pPr algn="l" rtl="0" fontAlgn="base">
              <a:lnSpc>
                <a:spcPts val="2400"/>
              </a:lnSpc>
              <a:buNone/>
            </a:pPr>
            <a:endParaRPr lang="en-US" altLang="ja-JP" b="1" dirty="0">
              <a:solidFill>
                <a:srgbClr val="000000"/>
              </a:solidFill>
              <a:latin typeface="Meiryo UI" panose="020B0604030504040204" pitchFamily="50" charset="-128"/>
              <a:ea typeface="Yu Gothic" panose="020B0400000000000000" pitchFamily="50" charset="-128"/>
            </a:endParaRPr>
          </a:p>
          <a:p>
            <a:pPr algn="l" rtl="0" fontAlgn="base">
              <a:lnSpc>
                <a:spcPts val="2400"/>
              </a:lnSpc>
              <a:buNone/>
            </a:pPr>
            <a:endParaRPr lang="en-US" altLang="ja-JP" sz="2000" b="1" i="0" u="none" strike="noStrike" dirty="0">
              <a:solidFill>
                <a:srgbClr val="1F4E79"/>
              </a:solidFill>
              <a:effectLst/>
              <a:latin typeface="Meiryo UI" panose="020B0604030504040204" pitchFamily="50" charset="-128"/>
              <a:ea typeface="Yu Gothic" panose="020B0400000000000000" pitchFamily="50" charset="-128"/>
            </a:endParaRPr>
          </a:p>
        </p:txBody>
      </p:sp>
      <p:sp>
        <p:nvSpPr>
          <p:cNvPr id="7" name="テキスト ボックス 6">
            <a:extLst>
              <a:ext uri="{FF2B5EF4-FFF2-40B4-BE49-F238E27FC236}">
                <a16:creationId xmlns:a16="http://schemas.microsoft.com/office/drawing/2014/main" id="{4D6F674A-7DDC-047C-58F2-BF139A9DC133}"/>
              </a:ext>
            </a:extLst>
          </p:cNvPr>
          <p:cNvSpPr txBox="1"/>
          <p:nvPr/>
        </p:nvSpPr>
        <p:spPr>
          <a:xfrm>
            <a:off x="1015686" y="5288539"/>
            <a:ext cx="7112623" cy="464230"/>
          </a:xfrm>
          <a:prstGeom prst="rect">
            <a:avLst/>
          </a:prstGeom>
          <a:solidFill>
            <a:schemeClr val="bg1"/>
          </a:solidFill>
        </p:spPr>
        <p:txBody>
          <a:bodyPr wrap="square">
            <a:spAutoFit/>
          </a:bodyPr>
          <a:lstStyle/>
          <a:p>
            <a:pPr fontAlgn="base">
              <a:lnSpc>
                <a:spcPct val="150000"/>
              </a:lnSpc>
            </a:pPr>
            <a:r>
              <a:rPr lang="ja-JP" altLang="en-US" sz="1800" b="1" dirty="0">
                <a:solidFill>
                  <a:srgbClr val="000000"/>
                </a:solidFill>
                <a:latin typeface="+mn-ea"/>
                <a:ea typeface="Yu Gothic" panose="020B0400000000000000" pitchFamily="50" charset="-128"/>
                <a:sym typeface="Wingdings" panose="05000000000000000000" pitchFamily="2" charset="2"/>
              </a:rPr>
              <a:t>名乗りありの方が人格の切り替えを設定と同じ回答をする割合</a:t>
            </a:r>
            <a:r>
              <a:rPr lang="ja-JP" altLang="en-US" sz="1800" b="1" dirty="0">
                <a:solidFill>
                  <a:srgbClr val="FF0000"/>
                </a:solidFill>
                <a:latin typeface="+mn-ea"/>
                <a:ea typeface="Yu Gothic" panose="020B0400000000000000" pitchFamily="50" charset="-128"/>
                <a:sym typeface="Wingdings" panose="05000000000000000000" pitchFamily="2" charset="2"/>
              </a:rPr>
              <a:t>増加</a:t>
            </a:r>
            <a:endParaRPr lang="en-US" altLang="ja-JP" sz="1800" b="1" dirty="0">
              <a:solidFill>
                <a:srgbClr val="FF0000"/>
              </a:solidFill>
              <a:latin typeface="Meiryo UI" panose="020B0604030504040204" pitchFamily="50" charset="-128"/>
              <a:ea typeface="Yu Gothic" panose="020B0400000000000000" pitchFamily="50" charset="-128"/>
            </a:endParaRPr>
          </a:p>
        </p:txBody>
      </p:sp>
      <p:sp>
        <p:nvSpPr>
          <p:cNvPr id="9" name="テキスト ボックス 8">
            <a:extLst>
              <a:ext uri="{FF2B5EF4-FFF2-40B4-BE49-F238E27FC236}">
                <a16:creationId xmlns:a16="http://schemas.microsoft.com/office/drawing/2014/main" id="{2003457F-1BD0-F919-6246-77F641BBBD5F}"/>
              </a:ext>
            </a:extLst>
          </p:cNvPr>
          <p:cNvSpPr txBox="1"/>
          <p:nvPr/>
        </p:nvSpPr>
        <p:spPr>
          <a:xfrm>
            <a:off x="1087341" y="5855053"/>
            <a:ext cx="7112623" cy="830997"/>
          </a:xfrm>
          <a:prstGeom prst="rect">
            <a:avLst/>
          </a:prstGeom>
          <a:noFill/>
        </p:spPr>
        <p:txBody>
          <a:bodyPr wrap="square">
            <a:spAutoFit/>
          </a:bodyPr>
          <a:lstStyle/>
          <a:p>
            <a:r>
              <a:rPr lang="ja-JP" altLang="en-US" sz="2400" b="1" dirty="0"/>
              <a:t>名乗りは人格の切り替えを</a:t>
            </a:r>
            <a:r>
              <a:rPr lang="ja-JP" altLang="en-US" sz="2400" b="1" dirty="0">
                <a:solidFill>
                  <a:srgbClr val="FF0000"/>
                </a:solidFill>
              </a:rPr>
              <a:t>より明確に知覚</a:t>
            </a:r>
            <a:r>
              <a:rPr lang="ja-JP" altLang="en-US" sz="2400" b="1" dirty="0"/>
              <a:t>させる効果を持つ可能性</a:t>
            </a:r>
          </a:p>
        </p:txBody>
      </p:sp>
      <p:sp>
        <p:nvSpPr>
          <p:cNvPr id="10" name="矢印: 下 9">
            <a:extLst>
              <a:ext uri="{FF2B5EF4-FFF2-40B4-BE49-F238E27FC236}">
                <a16:creationId xmlns:a16="http://schemas.microsoft.com/office/drawing/2014/main" id="{AE28D023-0820-EC48-675F-B47F9A3B4BD8}"/>
              </a:ext>
            </a:extLst>
          </p:cNvPr>
          <p:cNvSpPr/>
          <p:nvPr/>
        </p:nvSpPr>
        <p:spPr>
          <a:xfrm rot="16200000">
            <a:off x="411073" y="6000056"/>
            <a:ext cx="524937" cy="540989"/>
          </a:xfrm>
          <a:prstGeom prst="down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68644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61C0835-F6FE-48E0-EDFB-97F363D731A7}"/>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1EE56936-A678-6A4D-A55E-5442C179E856}"/>
              </a:ext>
            </a:extLst>
          </p:cNvPr>
          <p:cNvSpPr>
            <a:spLocks noGrp="1"/>
          </p:cNvSpPr>
          <p:nvPr>
            <p:ph type="sldNum" sz="quarter" idx="12"/>
          </p:nvPr>
        </p:nvSpPr>
        <p:spPr/>
        <p:txBody>
          <a:bodyPr/>
          <a:lstStyle/>
          <a:p>
            <a:fld id="{18020408-E1FF-429E-A8D5-EB2A190A0D77}" type="slidenum">
              <a:rPr kumimoji="1" lang="ja-JP" altLang="en-US" smtClean="0"/>
              <a:pPr/>
              <a:t>70</a:t>
            </a:fld>
            <a:endParaRPr kumimoji="1" lang="ja-JP" altLang="en-US" sz="2400" dirty="0"/>
          </a:p>
        </p:txBody>
      </p:sp>
      <p:sp>
        <p:nvSpPr>
          <p:cNvPr id="3" name="タイトル 2">
            <a:extLst>
              <a:ext uri="{FF2B5EF4-FFF2-40B4-BE49-F238E27FC236}">
                <a16:creationId xmlns:a16="http://schemas.microsoft.com/office/drawing/2014/main" id="{834D41A6-7255-1104-CFF2-4691925D763C}"/>
              </a:ext>
            </a:extLst>
          </p:cNvPr>
          <p:cNvSpPr>
            <a:spLocks noGrp="1"/>
          </p:cNvSpPr>
          <p:nvPr>
            <p:ph type="title"/>
          </p:nvPr>
        </p:nvSpPr>
        <p:spPr/>
        <p:txBody>
          <a:bodyPr/>
          <a:lstStyle/>
          <a:p>
            <a:r>
              <a:rPr kumimoji="1" lang="ja-JP" altLang="en-US" sz="3600" dirty="0"/>
              <a:t>制約事項・今後の課題</a:t>
            </a:r>
          </a:p>
        </p:txBody>
      </p:sp>
      <p:pic>
        <p:nvPicPr>
          <p:cNvPr id="6" name="図 5"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5734EB7A-46F2-7728-A878-8A504AA46C80}"/>
              </a:ext>
            </a:extLst>
          </p:cNvPr>
          <p:cNvPicPr>
            <a:picLocks noChangeAspect="1"/>
          </p:cNvPicPr>
          <p:nvPr/>
        </p:nvPicPr>
        <p:blipFill>
          <a:blip r:embed="rId3"/>
          <a:srcRect l="464" t="247" r="1"/>
          <a:stretch>
            <a:fillRect/>
          </a:stretch>
        </p:blipFill>
        <p:spPr>
          <a:xfrm>
            <a:off x="6394905" y="1739451"/>
            <a:ext cx="2552622" cy="3036819"/>
          </a:xfrm>
          <a:prstGeom prst="rect">
            <a:avLst/>
          </a:prstGeom>
        </p:spPr>
      </p:pic>
      <p:sp>
        <p:nvSpPr>
          <p:cNvPr id="4" name="テキスト ボックス 4">
            <a:extLst>
              <a:ext uri="{FF2B5EF4-FFF2-40B4-BE49-F238E27FC236}">
                <a16:creationId xmlns:a16="http://schemas.microsoft.com/office/drawing/2014/main" id="{4B2D9C73-B57D-20FF-1009-9C9FD9A8D60D}"/>
              </a:ext>
            </a:extLst>
          </p:cNvPr>
          <p:cNvSpPr txBox="1"/>
          <p:nvPr/>
        </p:nvSpPr>
        <p:spPr>
          <a:xfrm>
            <a:off x="224361" y="1180354"/>
            <a:ext cx="7975603" cy="37387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77800" indent="-177800" algn="l" rtl="0" fontAlgn="base">
              <a:lnSpc>
                <a:spcPct val="150000"/>
              </a:lnSpc>
              <a:buFont typeface="Arial" panose="020B0604020202020204" pitchFamily="34" charset="0"/>
              <a:buChar char="•"/>
            </a:pPr>
            <a:r>
              <a:rPr lang="ja-JP" altLang="en-US" sz="2000" b="1" i="0" u="none" strike="noStrike" dirty="0">
                <a:effectLst/>
                <a:latin typeface="+mn-ea"/>
              </a:rPr>
              <a:t>参加者が</a:t>
            </a:r>
            <a:r>
              <a:rPr lang="en-US" altLang="ja-JP" sz="2000" b="1" i="0" u="none" strike="noStrike" dirty="0">
                <a:effectLst/>
                <a:latin typeface="+mn-ea"/>
              </a:rPr>
              <a:t>LLM</a:t>
            </a:r>
            <a:r>
              <a:rPr lang="ja-JP" altLang="en-US" sz="2000" b="1" i="0" u="none" strike="noStrike" dirty="0">
                <a:effectLst/>
                <a:latin typeface="+mn-ea"/>
              </a:rPr>
              <a:t>と実際に対話ができなかった</a:t>
            </a:r>
            <a:endParaRPr lang="en-US" altLang="ja-JP" sz="2000" b="1" dirty="0">
              <a:latin typeface="+mn-ea"/>
            </a:endParaRPr>
          </a:p>
          <a:p>
            <a:pPr algn="l" rtl="0" fontAlgn="base">
              <a:lnSpc>
                <a:spcPct val="150000"/>
              </a:lnSpc>
            </a:pPr>
            <a:r>
              <a:rPr lang="en-US" altLang="ja-JP" sz="2000" b="1" i="0" u="none" strike="noStrike" dirty="0">
                <a:effectLst/>
                <a:latin typeface="+mn-ea"/>
                <a:sym typeface="Wingdings" panose="05000000000000000000" pitchFamily="2" charset="2"/>
              </a:rPr>
              <a:t></a:t>
            </a:r>
            <a:r>
              <a:rPr lang="ja-JP" altLang="en-US" sz="2000" b="1" i="0" u="none" strike="noStrike" dirty="0">
                <a:effectLst/>
                <a:latin typeface="+mn-ea"/>
                <a:sym typeface="Wingdings" panose="05000000000000000000" pitchFamily="2" charset="2"/>
              </a:rPr>
              <a:t>参加者が</a:t>
            </a:r>
            <a:r>
              <a:rPr lang="ja-JP" altLang="en-US" sz="2000" b="1" i="0" u="none" strike="noStrike" dirty="0">
                <a:solidFill>
                  <a:srgbClr val="C00000"/>
                </a:solidFill>
                <a:effectLst/>
                <a:latin typeface="+mn-ea"/>
                <a:sym typeface="Wingdings" panose="05000000000000000000" pitchFamily="2" charset="2"/>
              </a:rPr>
              <a:t>実際に</a:t>
            </a:r>
            <a:r>
              <a:rPr lang="en-US" altLang="ja-JP" sz="2000" b="1" i="0" u="none" strike="noStrike" dirty="0">
                <a:solidFill>
                  <a:srgbClr val="C00000"/>
                </a:solidFill>
                <a:effectLst/>
                <a:latin typeface="+mn-ea"/>
                <a:sym typeface="Wingdings" panose="05000000000000000000" pitchFamily="2" charset="2"/>
              </a:rPr>
              <a:t>LLM</a:t>
            </a:r>
            <a:r>
              <a:rPr lang="ja-JP" altLang="en-US" sz="2000" b="1" i="0" u="none" strike="noStrike" dirty="0">
                <a:solidFill>
                  <a:srgbClr val="C00000"/>
                </a:solidFill>
                <a:effectLst/>
                <a:latin typeface="+mn-ea"/>
                <a:sym typeface="Wingdings" panose="05000000000000000000" pitchFamily="2" charset="2"/>
              </a:rPr>
              <a:t>と対話</a:t>
            </a:r>
            <a:r>
              <a:rPr lang="ja-JP" altLang="en-US" sz="2000" b="1" i="0" u="none" strike="noStrike" dirty="0">
                <a:effectLst/>
                <a:latin typeface="+mn-ea"/>
                <a:sym typeface="Wingdings" panose="05000000000000000000" pitchFamily="2" charset="2"/>
              </a:rPr>
              <a:t>した時の印象は未分析</a:t>
            </a:r>
            <a:endParaRPr lang="en-US" altLang="ja-JP" sz="2000" b="1" dirty="0">
              <a:latin typeface="+mn-ea"/>
            </a:endParaRPr>
          </a:p>
          <a:p>
            <a:pPr marL="177800" indent="-177800" algn="l" rtl="0" fontAlgn="base">
              <a:lnSpc>
                <a:spcPct val="150000"/>
              </a:lnSpc>
              <a:buFont typeface="Arial" panose="020B0604020202020204" pitchFamily="34" charset="0"/>
              <a:buChar char="•"/>
            </a:pPr>
            <a:r>
              <a:rPr lang="ja-JP" altLang="en-US" sz="2000" b="1" i="0" u="none" strike="noStrike" dirty="0">
                <a:effectLst/>
                <a:latin typeface="+mn-ea"/>
              </a:rPr>
              <a:t>採用した人格の制限</a:t>
            </a:r>
            <a:endParaRPr lang="en-US" altLang="ja-JP" sz="2000" b="1" i="0" u="none" strike="noStrike" dirty="0">
              <a:effectLst/>
              <a:latin typeface="+mn-ea"/>
            </a:endParaRPr>
          </a:p>
          <a:p>
            <a:pPr algn="l" rtl="0" fontAlgn="base">
              <a:lnSpc>
                <a:spcPct val="150000"/>
              </a:lnSpc>
            </a:pPr>
            <a:r>
              <a:rPr lang="en-US" altLang="ja-JP" sz="2000" b="1" dirty="0">
                <a:latin typeface="+mn-ea"/>
                <a:sym typeface="Wingdings" panose="05000000000000000000" pitchFamily="2" charset="2"/>
              </a:rPr>
              <a:t>INFJ</a:t>
            </a:r>
            <a:r>
              <a:rPr lang="ja-JP" altLang="en-US" sz="2000" b="1" dirty="0">
                <a:latin typeface="+mn-ea"/>
                <a:sym typeface="Wingdings" panose="05000000000000000000" pitchFamily="2" charset="2"/>
              </a:rPr>
              <a:t>，</a:t>
            </a:r>
            <a:r>
              <a:rPr lang="en-US" altLang="ja-JP" sz="2000" b="1" dirty="0">
                <a:latin typeface="+mn-ea"/>
                <a:sym typeface="Wingdings" panose="05000000000000000000" pitchFamily="2" charset="2"/>
              </a:rPr>
              <a:t>ESTP</a:t>
            </a:r>
            <a:r>
              <a:rPr lang="ja-JP" altLang="en-US" sz="2000" b="1" dirty="0">
                <a:latin typeface="+mn-ea"/>
                <a:sym typeface="Wingdings" panose="05000000000000000000" pitchFamily="2" charset="2"/>
              </a:rPr>
              <a:t>以外の</a:t>
            </a:r>
            <a:r>
              <a:rPr lang="en-US" altLang="ja-JP" sz="2000" b="1" dirty="0">
                <a:latin typeface="+mn-ea"/>
                <a:sym typeface="Wingdings" panose="05000000000000000000" pitchFamily="2" charset="2"/>
              </a:rPr>
              <a:t>MBTI</a:t>
            </a:r>
            <a:r>
              <a:rPr lang="ja-JP" altLang="en-US" sz="2000" b="1" dirty="0">
                <a:latin typeface="+mn-ea"/>
                <a:sym typeface="Wingdings" panose="05000000000000000000" pitchFamily="2" charset="2"/>
              </a:rPr>
              <a:t>タイプでの調査</a:t>
            </a:r>
            <a:endParaRPr lang="en-US" altLang="ja-JP" sz="2000" b="1" dirty="0">
              <a:latin typeface="+mn-ea"/>
            </a:endParaRPr>
          </a:p>
          <a:p>
            <a:pPr marL="177800" indent="-177800" algn="l" rtl="0" fontAlgn="base">
              <a:lnSpc>
                <a:spcPct val="150000"/>
              </a:lnSpc>
              <a:buFont typeface="Arial" panose="020B0604020202020204" pitchFamily="34" charset="0"/>
              <a:buChar char="•"/>
            </a:pPr>
            <a:r>
              <a:rPr lang="en-US" altLang="ja-JP" sz="2000" b="1" i="0" u="none" strike="noStrike" dirty="0">
                <a:effectLst/>
                <a:latin typeface="+mn-ea"/>
              </a:rPr>
              <a:t>ESTP</a:t>
            </a:r>
            <a:r>
              <a:rPr lang="ja-JP" altLang="en-US" sz="2000" b="1" i="0" u="none" strike="noStrike" dirty="0">
                <a:effectLst/>
                <a:latin typeface="+mn-ea"/>
              </a:rPr>
              <a:t>における口調を「フレンドリー」に制限</a:t>
            </a:r>
            <a:endParaRPr lang="en-US" altLang="ja-JP" sz="2000" b="1" i="0" u="none" strike="noStrike" dirty="0">
              <a:effectLst/>
              <a:latin typeface="+mn-ea"/>
            </a:endParaRPr>
          </a:p>
          <a:p>
            <a:pPr algn="l" rtl="0" fontAlgn="base">
              <a:lnSpc>
                <a:spcPct val="150000"/>
              </a:lnSpc>
            </a:pPr>
            <a:r>
              <a:rPr lang="en-US" altLang="ja-JP" sz="2000" b="1" dirty="0">
                <a:latin typeface="+mn-ea"/>
                <a:sym typeface="Wingdings" panose="05000000000000000000" pitchFamily="2" charset="2"/>
              </a:rPr>
              <a:t>MBTI</a:t>
            </a:r>
            <a:r>
              <a:rPr lang="ja-JP" altLang="en-US" sz="2000" b="1" dirty="0">
                <a:latin typeface="+mn-ea"/>
                <a:sym typeface="Wingdings" panose="05000000000000000000" pitchFamily="2" charset="2"/>
              </a:rPr>
              <a:t>タイプ</a:t>
            </a:r>
            <a:r>
              <a:rPr lang="ja-JP" altLang="en-US" sz="2000" b="1" dirty="0">
                <a:solidFill>
                  <a:srgbClr val="C00000"/>
                </a:solidFill>
                <a:latin typeface="+mn-ea"/>
                <a:sym typeface="Wingdings" panose="05000000000000000000" pitchFamily="2" charset="2"/>
              </a:rPr>
              <a:t>そのものの口調</a:t>
            </a:r>
            <a:r>
              <a:rPr lang="ja-JP" altLang="en-US" sz="2000" b="1" dirty="0">
                <a:latin typeface="+mn-ea"/>
                <a:sym typeface="Wingdings" panose="05000000000000000000" pitchFamily="2" charset="2"/>
              </a:rPr>
              <a:t>を採用</a:t>
            </a:r>
            <a:endParaRPr lang="en-US" altLang="ja-JP" sz="2000" b="1" dirty="0">
              <a:latin typeface="+mn-ea"/>
            </a:endParaRPr>
          </a:p>
          <a:p>
            <a:pPr marL="177800" indent="-177800" algn="l" rtl="0" fontAlgn="base">
              <a:lnSpc>
                <a:spcPct val="150000"/>
              </a:lnSpc>
              <a:buFont typeface="Arial" panose="020B0604020202020204" pitchFamily="34" charset="0"/>
              <a:buChar char="•"/>
            </a:pPr>
            <a:r>
              <a:rPr lang="ja-JP" altLang="en-US" sz="2000" b="1" i="0" u="none" strike="noStrike" dirty="0">
                <a:effectLst/>
                <a:latin typeface="+mn-ea"/>
              </a:rPr>
              <a:t>人格切り替えの制限</a:t>
            </a:r>
            <a:endParaRPr lang="en-US" altLang="ja-JP" sz="2000" b="1" i="0" u="none" strike="noStrike" dirty="0">
              <a:effectLst/>
              <a:latin typeface="+mn-ea"/>
            </a:endParaRPr>
          </a:p>
          <a:p>
            <a:pPr algn="l" rtl="0" fontAlgn="base">
              <a:lnSpc>
                <a:spcPct val="150000"/>
              </a:lnSpc>
            </a:pPr>
            <a:r>
              <a:rPr lang="en-US" altLang="ja-JP" sz="2000" b="1" dirty="0">
                <a:latin typeface="+mn-ea"/>
                <a:sym typeface="Wingdings" panose="05000000000000000000" pitchFamily="2" charset="2"/>
              </a:rPr>
              <a:t></a:t>
            </a:r>
            <a:r>
              <a:rPr lang="ja-JP" altLang="en-US" sz="2000" b="1" dirty="0">
                <a:solidFill>
                  <a:srgbClr val="C00000"/>
                </a:solidFill>
                <a:latin typeface="+mn-ea"/>
                <a:sym typeface="Wingdings" panose="05000000000000000000" pitchFamily="2" charset="2"/>
              </a:rPr>
              <a:t>逆方向に人格を切り替える</a:t>
            </a:r>
            <a:r>
              <a:rPr lang="ja-JP" altLang="en-US" sz="2000" b="1" dirty="0">
                <a:latin typeface="+mn-ea"/>
                <a:sym typeface="Wingdings" panose="05000000000000000000" pitchFamily="2" charset="2"/>
              </a:rPr>
              <a:t>ときの印象は未分析</a:t>
            </a:r>
            <a:endParaRPr lang="en-US" altLang="ja-JP" sz="2000" b="1" i="0" u="none" strike="noStrike" dirty="0">
              <a:effectLst/>
              <a:latin typeface="+mn-ea"/>
            </a:endParaRPr>
          </a:p>
        </p:txBody>
      </p:sp>
      <p:sp>
        <p:nvSpPr>
          <p:cNvPr id="9" name="四角形: 角を丸くする 8">
            <a:extLst>
              <a:ext uri="{FF2B5EF4-FFF2-40B4-BE49-F238E27FC236}">
                <a16:creationId xmlns:a16="http://schemas.microsoft.com/office/drawing/2014/main" id="{1D947EE4-7B94-C7AB-BFDD-350A1995FE5B}"/>
              </a:ext>
            </a:extLst>
          </p:cNvPr>
          <p:cNvSpPr/>
          <p:nvPr/>
        </p:nvSpPr>
        <p:spPr>
          <a:xfrm>
            <a:off x="1117600" y="5225807"/>
            <a:ext cx="6908800" cy="1275782"/>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ja-JP" altLang="en-US" dirty="0"/>
          </a:p>
        </p:txBody>
      </p:sp>
      <p:sp>
        <p:nvSpPr>
          <p:cNvPr id="10" name="テキスト ボックス 7">
            <a:extLst>
              <a:ext uri="{FF2B5EF4-FFF2-40B4-BE49-F238E27FC236}">
                <a16:creationId xmlns:a16="http://schemas.microsoft.com/office/drawing/2014/main" id="{2208AEDE-961F-54B0-85B4-A2D268476056}"/>
              </a:ext>
            </a:extLst>
          </p:cNvPr>
          <p:cNvSpPr txBox="1"/>
          <p:nvPr/>
        </p:nvSpPr>
        <p:spPr>
          <a:xfrm>
            <a:off x="1339849" y="5323209"/>
            <a:ext cx="6819901" cy="109260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77800" indent="-177800">
              <a:buFont typeface="Arial" panose="020B0604020202020204" pitchFamily="34" charset="0"/>
              <a:buChar char="•"/>
            </a:pPr>
            <a:r>
              <a:rPr lang="ja-JP" altLang="en-US" sz="2000" b="1" dirty="0">
                <a:latin typeface="+mn-ea"/>
              </a:rPr>
              <a:t>実際に</a:t>
            </a:r>
            <a:r>
              <a:rPr lang="en-US" altLang="ja-JP" sz="2000" b="1" dirty="0">
                <a:latin typeface="+mn-ea"/>
              </a:rPr>
              <a:t>LLM</a:t>
            </a:r>
            <a:r>
              <a:rPr lang="ja-JP" altLang="en-US" sz="2000" b="1" dirty="0">
                <a:latin typeface="+mn-ea"/>
              </a:rPr>
              <a:t>と対話した際はどのような影響を与えるか</a:t>
            </a:r>
            <a:endParaRPr lang="en-US" altLang="ja-JP" sz="2000" b="1" dirty="0">
              <a:latin typeface="+mn-ea"/>
            </a:endParaRPr>
          </a:p>
          <a:p>
            <a:pPr marL="177800" indent="-177800">
              <a:buFont typeface="Arial" panose="020B0604020202020204" pitchFamily="34" charset="0"/>
              <a:buChar char="•"/>
            </a:pPr>
            <a:r>
              <a:rPr lang="ja-JP" altLang="en-US" sz="2000" b="1" dirty="0">
                <a:latin typeface="+mn-ea"/>
              </a:rPr>
              <a:t>他の人格の組み合わせがどのような影響を与えるか</a:t>
            </a:r>
            <a:endParaRPr lang="en-US" altLang="ja-JP" sz="2000" b="1" dirty="0">
              <a:latin typeface="+mn-ea"/>
            </a:endParaRPr>
          </a:p>
          <a:p>
            <a:pPr>
              <a:spcBef>
                <a:spcPts val="600"/>
              </a:spcBef>
            </a:pPr>
            <a:r>
              <a:rPr lang="en-US" altLang="ja-JP" sz="2000" b="1" dirty="0">
                <a:latin typeface="+mn-ea"/>
                <a:sym typeface="Wingdings" panose="05000000000000000000" pitchFamily="2" charset="2"/>
              </a:rPr>
              <a:t></a:t>
            </a:r>
            <a:r>
              <a:rPr lang="ja-JP" altLang="en-US" sz="2000" b="1" dirty="0">
                <a:latin typeface="+mn-ea"/>
                <a:sym typeface="Wingdings" panose="05000000000000000000" pitchFamily="2" charset="2"/>
              </a:rPr>
              <a:t>更なる調査の必要</a:t>
            </a:r>
            <a:endParaRPr lang="en-US" altLang="ja-JP" sz="2000" b="1" dirty="0">
              <a:latin typeface="+mn-ea"/>
            </a:endParaRPr>
          </a:p>
        </p:txBody>
      </p:sp>
    </p:spTree>
    <p:extLst>
      <p:ext uri="{BB962C8B-B14F-4D97-AF65-F5344CB8AC3E}">
        <p14:creationId xmlns:p14="http://schemas.microsoft.com/office/powerpoint/2010/main" val="17413041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3D8B997-5554-124C-64A3-B9C3F6F0730D}"/>
            </a:ext>
          </a:extLst>
        </p:cNvPr>
        <p:cNvGrpSpPr/>
        <p:nvPr/>
      </p:nvGrpSpPr>
      <p:grpSpPr>
        <a:xfrm>
          <a:off x="0" y="0"/>
          <a:ext cx="0" cy="0"/>
          <a:chOff x="0" y="0"/>
          <a:chExt cx="0" cy="0"/>
        </a:xfrm>
      </p:grpSpPr>
      <p:sp>
        <p:nvSpPr>
          <p:cNvPr id="24" name="四角形: 角を丸くする 23">
            <a:extLst>
              <a:ext uri="{FF2B5EF4-FFF2-40B4-BE49-F238E27FC236}">
                <a16:creationId xmlns:a16="http://schemas.microsoft.com/office/drawing/2014/main" id="{12CE7C9B-DCF1-B9BE-0C08-0BF4DECF74B7}"/>
              </a:ext>
            </a:extLst>
          </p:cNvPr>
          <p:cNvSpPr/>
          <p:nvPr/>
        </p:nvSpPr>
        <p:spPr>
          <a:xfrm>
            <a:off x="2968042" y="4304252"/>
            <a:ext cx="2292747" cy="2289355"/>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スライド番号プレースホルダー 1">
            <a:extLst>
              <a:ext uri="{FF2B5EF4-FFF2-40B4-BE49-F238E27FC236}">
                <a16:creationId xmlns:a16="http://schemas.microsoft.com/office/drawing/2014/main" id="{E5D2CE6E-917F-4BBF-0858-50D07774C63B}"/>
              </a:ext>
            </a:extLst>
          </p:cNvPr>
          <p:cNvSpPr>
            <a:spLocks noGrp="1"/>
          </p:cNvSpPr>
          <p:nvPr>
            <p:ph type="sldNum" sz="quarter" idx="12"/>
          </p:nvPr>
        </p:nvSpPr>
        <p:spPr/>
        <p:txBody>
          <a:bodyPr/>
          <a:lstStyle/>
          <a:p>
            <a:fld id="{18020408-E1FF-429E-A8D5-EB2A190A0D77}" type="slidenum">
              <a:rPr kumimoji="1" lang="ja-JP" altLang="en-US" smtClean="0"/>
              <a:pPr/>
              <a:t>71</a:t>
            </a:fld>
            <a:endParaRPr kumimoji="1" lang="ja-JP" altLang="en-US" sz="2400" dirty="0"/>
          </a:p>
        </p:txBody>
      </p:sp>
      <p:sp>
        <p:nvSpPr>
          <p:cNvPr id="3" name="タイトル 2">
            <a:extLst>
              <a:ext uri="{FF2B5EF4-FFF2-40B4-BE49-F238E27FC236}">
                <a16:creationId xmlns:a16="http://schemas.microsoft.com/office/drawing/2014/main" id="{A7B1F36E-3714-3E20-7B70-E43C8098873B}"/>
              </a:ext>
            </a:extLst>
          </p:cNvPr>
          <p:cNvSpPr>
            <a:spLocks noGrp="1"/>
          </p:cNvSpPr>
          <p:nvPr>
            <p:ph type="title"/>
          </p:nvPr>
        </p:nvSpPr>
        <p:spPr/>
        <p:txBody>
          <a:bodyPr/>
          <a:lstStyle/>
          <a:p>
            <a:r>
              <a:rPr kumimoji="1" lang="ja-JP" altLang="en-US" sz="3600" dirty="0"/>
              <a:t>制約事項・今後の課題</a:t>
            </a:r>
          </a:p>
        </p:txBody>
      </p:sp>
      <p:pic>
        <p:nvPicPr>
          <p:cNvPr id="6" name="図 5"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0CDD559A-85CF-F50A-20F7-68767B66A6F5}"/>
              </a:ext>
            </a:extLst>
          </p:cNvPr>
          <p:cNvPicPr>
            <a:picLocks noChangeAspect="1"/>
          </p:cNvPicPr>
          <p:nvPr/>
        </p:nvPicPr>
        <p:blipFill>
          <a:blip r:embed="rId3"/>
          <a:srcRect l="464" t="247" r="1"/>
          <a:stretch>
            <a:fillRect/>
          </a:stretch>
        </p:blipFill>
        <p:spPr>
          <a:xfrm>
            <a:off x="405597" y="4107667"/>
            <a:ext cx="2157261" cy="2566464"/>
          </a:xfrm>
          <a:prstGeom prst="rect">
            <a:avLst/>
          </a:prstGeom>
        </p:spPr>
      </p:pic>
      <p:sp>
        <p:nvSpPr>
          <p:cNvPr id="4" name="テキスト ボックス 4">
            <a:extLst>
              <a:ext uri="{FF2B5EF4-FFF2-40B4-BE49-F238E27FC236}">
                <a16:creationId xmlns:a16="http://schemas.microsoft.com/office/drawing/2014/main" id="{7F40464B-3CEC-277E-A76A-A38966D498DC}"/>
              </a:ext>
            </a:extLst>
          </p:cNvPr>
          <p:cNvSpPr txBox="1"/>
          <p:nvPr/>
        </p:nvSpPr>
        <p:spPr>
          <a:xfrm>
            <a:off x="584198" y="1219361"/>
            <a:ext cx="7975603" cy="255454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77800" indent="-177800" algn="l" rtl="0" fontAlgn="base">
              <a:lnSpc>
                <a:spcPct val="150000"/>
              </a:lnSpc>
              <a:buFont typeface="Arial" panose="020B0604020202020204" pitchFamily="34" charset="0"/>
              <a:buChar char="•"/>
            </a:pPr>
            <a:r>
              <a:rPr lang="ja-JP" altLang="en-US" sz="2000" b="1" i="0" u="none" strike="noStrike" dirty="0">
                <a:effectLst/>
                <a:latin typeface="+mn-ea"/>
              </a:rPr>
              <a:t>参加者が</a:t>
            </a:r>
            <a:r>
              <a:rPr lang="en-US" altLang="ja-JP" sz="2000" b="1" i="0" u="none" strike="noStrike" dirty="0">
                <a:effectLst/>
                <a:latin typeface="+mn-ea"/>
              </a:rPr>
              <a:t>LLM</a:t>
            </a:r>
            <a:r>
              <a:rPr lang="ja-JP" altLang="en-US" sz="2000" b="1" i="0" u="none" strike="noStrike" dirty="0">
                <a:effectLst/>
                <a:latin typeface="+mn-ea"/>
              </a:rPr>
              <a:t>と実際に対話ができなかった</a:t>
            </a:r>
            <a:endParaRPr lang="en-US" altLang="ja-JP" sz="2000" b="1" dirty="0">
              <a:latin typeface="+mn-ea"/>
            </a:endParaRPr>
          </a:p>
          <a:p>
            <a:pPr algn="l" rtl="0" fontAlgn="base">
              <a:lnSpc>
                <a:spcPct val="150000"/>
              </a:lnSpc>
            </a:pPr>
            <a:r>
              <a:rPr lang="en-US" altLang="ja-JP" sz="2000" b="1" dirty="0">
                <a:latin typeface="+mn-ea"/>
                <a:sym typeface="Wingdings" panose="05000000000000000000" pitchFamily="2" charset="2"/>
              </a:rPr>
              <a:t>	</a:t>
            </a:r>
            <a:r>
              <a:rPr lang="ja-JP" altLang="en-US" sz="2000" b="1" i="0" u="none" strike="noStrike" dirty="0">
                <a:effectLst/>
                <a:latin typeface="+mn-ea"/>
                <a:sym typeface="Wingdings" panose="05000000000000000000" pitchFamily="2" charset="2"/>
              </a:rPr>
              <a:t>参加者が</a:t>
            </a:r>
            <a:r>
              <a:rPr lang="ja-JP" altLang="en-US" sz="2000" b="1" i="0" u="none" strike="noStrike" dirty="0">
                <a:solidFill>
                  <a:srgbClr val="C00000"/>
                </a:solidFill>
                <a:effectLst/>
                <a:latin typeface="+mn-ea"/>
                <a:sym typeface="Wingdings" panose="05000000000000000000" pitchFamily="2" charset="2"/>
              </a:rPr>
              <a:t>実際に</a:t>
            </a:r>
            <a:r>
              <a:rPr lang="en-US" altLang="ja-JP" sz="2000" b="1" i="0" u="none" strike="noStrike" dirty="0">
                <a:solidFill>
                  <a:srgbClr val="C00000"/>
                </a:solidFill>
                <a:effectLst/>
                <a:latin typeface="+mn-ea"/>
                <a:sym typeface="Wingdings" panose="05000000000000000000" pitchFamily="2" charset="2"/>
              </a:rPr>
              <a:t>LLM</a:t>
            </a:r>
            <a:r>
              <a:rPr lang="ja-JP" altLang="en-US" sz="2000" b="1" i="0" u="none" strike="noStrike" dirty="0">
                <a:solidFill>
                  <a:srgbClr val="C00000"/>
                </a:solidFill>
                <a:effectLst/>
                <a:latin typeface="+mn-ea"/>
                <a:sym typeface="Wingdings" panose="05000000000000000000" pitchFamily="2" charset="2"/>
              </a:rPr>
              <a:t>と対話</a:t>
            </a:r>
            <a:r>
              <a:rPr lang="ja-JP" altLang="en-US" sz="2000" b="1" i="0" u="none" strike="noStrike" dirty="0">
                <a:effectLst/>
                <a:latin typeface="+mn-ea"/>
                <a:sym typeface="Wingdings" panose="05000000000000000000" pitchFamily="2" charset="2"/>
              </a:rPr>
              <a:t>した時の印象は未分析</a:t>
            </a:r>
            <a:endParaRPr lang="en-US" altLang="ja-JP" sz="2000" b="1" dirty="0">
              <a:latin typeface="+mn-ea"/>
            </a:endParaRPr>
          </a:p>
          <a:p>
            <a:pPr marL="177800" indent="-177800" algn="l" rtl="0" fontAlgn="base">
              <a:lnSpc>
                <a:spcPct val="150000"/>
              </a:lnSpc>
              <a:buFont typeface="Arial" panose="020B0604020202020204" pitchFamily="34" charset="0"/>
              <a:buChar char="•"/>
            </a:pPr>
            <a:r>
              <a:rPr lang="ja-JP" altLang="en-US" sz="2000" b="1" dirty="0">
                <a:latin typeface="+mn-ea"/>
              </a:rPr>
              <a:t>人格設定について</a:t>
            </a:r>
            <a:endParaRPr lang="en-US" altLang="ja-JP" sz="2000" b="1" i="0" u="none" strike="noStrike" dirty="0">
              <a:effectLst/>
              <a:latin typeface="+mn-ea"/>
            </a:endParaRPr>
          </a:p>
          <a:p>
            <a:pPr algn="l" rtl="0" fontAlgn="base">
              <a:spcAft>
                <a:spcPts val="600"/>
              </a:spcAft>
            </a:pPr>
            <a:r>
              <a:rPr lang="en-US" altLang="ja-JP" sz="2000" b="1" dirty="0">
                <a:latin typeface="+mn-ea"/>
                <a:sym typeface="Wingdings" panose="05000000000000000000" pitchFamily="2" charset="2"/>
              </a:rPr>
              <a:t>	INFJ</a:t>
            </a:r>
            <a:r>
              <a:rPr lang="ja-JP" altLang="en-US" sz="2000" b="1" dirty="0">
                <a:latin typeface="+mn-ea"/>
                <a:sym typeface="Wingdings" panose="05000000000000000000" pitchFamily="2" charset="2"/>
              </a:rPr>
              <a:t>，</a:t>
            </a:r>
            <a:r>
              <a:rPr lang="en-US" altLang="ja-JP" sz="2000" b="1" dirty="0">
                <a:latin typeface="+mn-ea"/>
                <a:sym typeface="Wingdings" panose="05000000000000000000" pitchFamily="2" charset="2"/>
              </a:rPr>
              <a:t>ESTP</a:t>
            </a:r>
            <a:r>
              <a:rPr lang="ja-JP" altLang="en-US" sz="2000" b="1" dirty="0">
                <a:latin typeface="+mn-ea"/>
                <a:sym typeface="Wingdings" panose="05000000000000000000" pitchFamily="2" charset="2"/>
              </a:rPr>
              <a:t>以外の</a:t>
            </a:r>
            <a:r>
              <a:rPr lang="en-US" altLang="ja-JP" sz="2000" b="1" dirty="0">
                <a:latin typeface="+mn-ea"/>
                <a:sym typeface="Wingdings" panose="05000000000000000000" pitchFamily="2" charset="2"/>
              </a:rPr>
              <a:t>MBTI</a:t>
            </a:r>
            <a:r>
              <a:rPr lang="ja-JP" altLang="en-US" sz="2000" b="1" dirty="0">
                <a:latin typeface="+mn-ea"/>
                <a:sym typeface="Wingdings" panose="05000000000000000000" pitchFamily="2" charset="2"/>
              </a:rPr>
              <a:t>タイプでの調査</a:t>
            </a:r>
            <a:endParaRPr lang="en-US" altLang="ja-JP" sz="2000" b="1" dirty="0">
              <a:latin typeface="+mn-ea"/>
            </a:endParaRPr>
          </a:p>
          <a:p>
            <a:pPr algn="l" rtl="0" fontAlgn="base">
              <a:spcAft>
                <a:spcPts val="600"/>
              </a:spcAft>
            </a:pPr>
            <a:r>
              <a:rPr lang="en-US" altLang="ja-JP" sz="2000" b="1" i="0" u="none" strike="noStrike" dirty="0">
                <a:effectLst/>
                <a:latin typeface="+mn-ea"/>
              </a:rPr>
              <a:t>	ESTP</a:t>
            </a:r>
            <a:r>
              <a:rPr lang="ja-JP" altLang="en-US" sz="2000" b="1" i="0" u="none" strike="noStrike" dirty="0">
                <a:effectLst/>
                <a:latin typeface="+mn-ea"/>
              </a:rPr>
              <a:t>における口調を「フレンドリー」に制限</a:t>
            </a:r>
            <a:endParaRPr lang="en-US" altLang="ja-JP" sz="2000" b="1" i="0" u="none" strike="noStrike" dirty="0">
              <a:effectLst/>
              <a:latin typeface="+mn-ea"/>
            </a:endParaRPr>
          </a:p>
          <a:p>
            <a:pPr algn="l" rtl="0" fontAlgn="base">
              <a:spcAft>
                <a:spcPts val="600"/>
              </a:spcAft>
            </a:pPr>
            <a:r>
              <a:rPr lang="en-US" altLang="ja-JP" sz="2000" b="1" dirty="0">
                <a:solidFill>
                  <a:srgbClr val="C00000"/>
                </a:solidFill>
                <a:latin typeface="+mn-ea"/>
                <a:sym typeface="Wingdings" panose="05000000000000000000" pitchFamily="2" charset="2"/>
              </a:rPr>
              <a:t>	</a:t>
            </a:r>
            <a:r>
              <a:rPr lang="ja-JP" altLang="en-US" sz="2000" b="1" dirty="0">
                <a:solidFill>
                  <a:srgbClr val="C00000"/>
                </a:solidFill>
                <a:latin typeface="+mn-ea"/>
                <a:sym typeface="Wingdings" panose="05000000000000000000" pitchFamily="2" charset="2"/>
              </a:rPr>
              <a:t>人格を逆方向に人格を切り替える</a:t>
            </a:r>
            <a:r>
              <a:rPr lang="ja-JP" altLang="en-US" sz="2000" b="1" dirty="0">
                <a:latin typeface="+mn-ea"/>
                <a:sym typeface="Wingdings" panose="05000000000000000000" pitchFamily="2" charset="2"/>
              </a:rPr>
              <a:t>ときの印象は未分析</a:t>
            </a:r>
            <a:endParaRPr lang="en-US" altLang="ja-JP" sz="2000" b="1" i="0" u="none" strike="noStrike" dirty="0">
              <a:effectLst/>
              <a:latin typeface="+mn-ea"/>
            </a:endParaRPr>
          </a:p>
        </p:txBody>
      </p:sp>
      <p:sp>
        <p:nvSpPr>
          <p:cNvPr id="11" name="四角形: 角を丸くする 10">
            <a:extLst>
              <a:ext uri="{FF2B5EF4-FFF2-40B4-BE49-F238E27FC236}">
                <a16:creationId xmlns:a16="http://schemas.microsoft.com/office/drawing/2014/main" id="{889185D9-3C6E-FEED-FFD0-769FD807D890}"/>
              </a:ext>
            </a:extLst>
          </p:cNvPr>
          <p:cNvSpPr/>
          <p:nvPr/>
        </p:nvSpPr>
        <p:spPr>
          <a:xfrm>
            <a:off x="6702803" y="4337107"/>
            <a:ext cx="2292747" cy="2289355"/>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矢印: 右 12">
            <a:extLst>
              <a:ext uri="{FF2B5EF4-FFF2-40B4-BE49-F238E27FC236}">
                <a16:creationId xmlns:a16="http://schemas.microsoft.com/office/drawing/2014/main" id="{42C74932-56AD-CEC6-A629-46FE5662F8C9}"/>
              </a:ext>
            </a:extLst>
          </p:cNvPr>
          <p:cNvSpPr/>
          <p:nvPr/>
        </p:nvSpPr>
        <p:spPr>
          <a:xfrm>
            <a:off x="5452016" y="4965633"/>
            <a:ext cx="1099730" cy="953652"/>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kumimoji="1" lang="ja-JP" altLang="en-US" sz="1200" b="1" dirty="0"/>
              <a:t>人格切替</a:t>
            </a:r>
          </a:p>
        </p:txBody>
      </p:sp>
      <p:sp>
        <p:nvSpPr>
          <p:cNvPr id="14" name="テキスト ボックス 13">
            <a:extLst>
              <a:ext uri="{FF2B5EF4-FFF2-40B4-BE49-F238E27FC236}">
                <a16:creationId xmlns:a16="http://schemas.microsoft.com/office/drawing/2014/main" id="{B6265C24-B9CF-C6AA-382A-7FAB120EDDAB}"/>
              </a:ext>
            </a:extLst>
          </p:cNvPr>
          <p:cNvSpPr txBox="1"/>
          <p:nvPr/>
        </p:nvSpPr>
        <p:spPr>
          <a:xfrm>
            <a:off x="3708174" y="4445164"/>
            <a:ext cx="863826" cy="423502"/>
          </a:xfrm>
          <a:prstGeom prst="rect">
            <a:avLst/>
          </a:prstGeom>
          <a:noFill/>
        </p:spPr>
        <p:txBody>
          <a:bodyPr wrap="square">
            <a:noAutofit/>
          </a:bodyPr>
          <a:lstStyle/>
          <a:p>
            <a:r>
              <a:rPr lang="en-US" altLang="ja-JP" sz="2000" b="1" dirty="0">
                <a:solidFill>
                  <a:srgbClr val="000000"/>
                </a:solidFill>
                <a:latin typeface="+mn-ea"/>
              </a:rPr>
              <a:t>LLM</a:t>
            </a:r>
            <a:endParaRPr lang="ja-JP" altLang="en-US" sz="2000" dirty="0">
              <a:latin typeface="+mn-ea"/>
            </a:endParaRPr>
          </a:p>
        </p:txBody>
      </p:sp>
      <p:sp>
        <p:nvSpPr>
          <p:cNvPr id="15" name="テキスト ボックス 14">
            <a:extLst>
              <a:ext uri="{FF2B5EF4-FFF2-40B4-BE49-F238E27FC236}">
                <a16:creationId xmlns:a16="http://schemas.microsoft.com/office/drawing/2014/main" id="{AB2F15CB-FCCA-FDED-4A6F-8155331C0C1D}"/>
              </a:ext>
            </a:extLst>
          </p:cNvPr>
          <p:cNvSpPr txBox="1"/>
          <p:nvPr/>
        </p:nvSpPr>
        <p:spPr>
          <a:xfrm>
            <a:off x="7420828" y="4425892"/>
            <a:ext cx="1138973" cy="539741"/>
          </a:xfrm>
          <a:prstGeom prst="rect">
            <a:avLst/>
          </a:prstGeom>
          <a:noFill/>
        </p:spPr>
        <p:txBody>
          <a:bodyPr wrap="square">
            <a:noAutofit/>
          </a:bodyPr>
          <a:lstStyle/>
          <a:p>
            <a:r>
              <a:rPr lang="en-US" altLang="ja-JP" sz="2000" b="1" dirty="0">
                <a:solidFill>
                  <a:srgbClr val="000000"/>
                </a:solidFill>
                <a:latin typeface="+mn-ea"/>
              </a:rPr>
              <a:t>LLM</a:t>
            </a:r>
            <a:endParaRPr lang="ja-JP" altLang="en-US" sz="2000" dirty="0">
              <a:latin typeface="+mn-ea"/>
            </a:endParaRPr>
          </a:p>
        </p:txBody>
      </p:sp>
      <p:sp>
        <p:nvSpPr>
          <p:cNvPr id="16" name="テキスト ボックス 15">
            <a:extLst>
              <a:ext uri="{FF2B5EF4-FFF2-40B4-BE49-F238E27FC236}">
                <a16:creationId xmlns:a16="http://schemas.microsoft.com/office/drawing/2014/main" id="{A4425983-1C45-B73F-7C1A-A5C9651E31C4}"/>
              </a:ext>
            </a:extLst>
          </p:cNvPr>
          <p:cNvSpPr txBox="1"/>
          <p:nvPr/>
        </p:nvSpPr>
        <p:spPr>
          <a:xfrm>
            <a:off x="3353411" y="4119586"/>
            <a:ext cx="1472183" cy="369332"/>
          </a:xfrm>
          <a:prstGeom prst="rect">
            <a:avLst/>
          </a:prstGeom>
          <a:solidFill>
            <a:schemeClr val="bg1"/>
          </a:solidFill>
        </p:spPr>
        <p:txBody>
          <a:bodyPr wrap="square">
            <a:spAutoFit/>
          </a:bodyPr>
          <a:lstStyle/>
          <a:p>
            <a:r>
              <a:rPr lang="ja-JP" altLang="en-US" b="1" dirty="0">
                <a:solidFill>
                  <a:schemeClr val="accent1"/>
                </a:solidFill>
                <a:latin typeface="+mn-ea"/>
              </a:rPr>
              <a:t>セッション</a:t>
            </a:r>
            <a:r>
              <a:rPr lang="en-US" altLang="ja-JP" b="1" dirty="0">
                <a:solidFill>
                  <a:schemeClr val="accent1"/>
                </a:solidFill>
                <a:latin typeface="+mn-ea"/>
              </a:rPr>
              <a:t>1</a:t>
            </a:r>
            <a:endParaRPr lang="ja-JP" altLang="en-US" dirty="0">
              <a:solidFill>
                <a:schemeClr val="accent1"/>
              </a:solidFill>
              <a:latin typeface="+mn-ea"/>
            </a:endParaRPr>
          </a:p>
        </p:txBody>
      </p:sp>
      <p:sp>
        <p:nvSpPr>
          <p:cNvPr id="17" name="テキスト ボックス 16">
            <a:extLst>
              <a:ext uri="{FF2B5EF4-FFF2-40B4-BE49-F238E27FC236}">
                <a16:creationId xmlns:a16="http://schemas.microsoft.com/office/drawing/2014/main" id="{E5DD48CF-D1FA-4E22-CF1A-F894556F1815}"/>
              </a:ext>
            </a:extLst>
          </p:cNvPr>
          <p:cNvSpPr txBox="1"/>
          <p:nvPr/>
        </p:nvSpPr>
        <p:spPr>
          <a:xfrm>
            <a:off x="7127683" y="4119586"/>
            <a:ext cx="1472183" cy="369332"/>
          </a:xfrm>
          <a:prstGeom prst="rect">
            <a:avLst/>
          </a:prstGeom>
          <a:solidFill>
            <a:schemeClr val="bg1"/>
          </a:solidFill>
        </p:spPr>
        <p:txBody>
          <a:bodyPr wrap="square">
            <a:spAutoFit/>
          </a:bodyPr>
          <a:lstStyle/>
          <a:p>
            <a:r>
              <a:rPr lang="ja-JP" altLang="en-US" b="1" dirty="0">
                <a:solidFill>
                  <a:schemeClr val="accent1"/>
                </a:solidFill>
                <a:latin typeface="+mn-ea"/>
              </a:rPr>
              <a:t>セッション</a:t>
            </a:r>
            <a:r>
              <a:rPr lang="en-US" altLang="ja-JP" b="1" dirty="0">
                <a:solidFill>
                  <a:schemeClr val="accent1"/>
                </a:solidFill>
                <a:latin typeface="+mn-ea"/>
              </a:rPr>
              <a:t>2</a:t>
            </a:r>
            <a:endParaRPr lang="ja-JP" altLang="en-US" dirty="0">
              <a:solidFill>
                <a:schemeClr val="accent1"/>
              </a:solidFill>
              <a:latin typeface="+mn-ea"/>
            </a:endParaRPr>
          </a:p>
        </p:txBody>
      </p:sp>
      <p:grpSp>
        <p:nvGrpSpPr>
          <p:cNvPr id="18" name="グループ化 17">
            <a:extLst>
              <a:ext uri="{FF2B5EF4-FFF2-40B4-BE49-F238E27FC236}">
                <a16:creationId xmlns:a16="http://schemas.microsoft.com/office/drawing/2014/main" id="{44CF703B-E748-F044-7664-F74D3E19C8CB}"/>
              </a:ext>
            </a:extLst>
          </p:cNvPr>
          <p:cNvGrpSpPr/>
          <p:nvPr/>
        </p:nvGrpSpPr>
        <p:grpSpPr>
          <a:xfrm>
            <a:off x="6969531" y="4840628"/>
            <a:ext cx="1590270" cy="1651173"/>
            <a:chOff x="1050927" y="4273501"/>
            <a:chExt cx="1843348" cy="1919680"/>
          </a:xfrm>
        </p:grpSpPr>
        <p:sp>
          <p:nvSpPr>
            <p:cNvPr id="19" name="テキスト ボックス 18">
              <a:extLst>
                <a:ext uri="{FF2B5EF4-FFF2-40B4-BE49-F238E27FC236}">
                  <a16:creationId xmlns:a16="http://schemas.microsoft.com/office/drawing/2014/main" id="{36AB34F3-D85A-9D19-1F50-78B68945AEBE}"/>
                </a:ext>
              </a:extLst>
            </p:cNvPr>
            <p:cNvSpPr txBox="1"/>
            <p:nvPr/>
          </p:nvSpPr>
          <p:spPr>
            <a:xfrm>
              <a:off x="1619497" y="5812187"/>
              <a:ext cx="863510" cy="380994"/>
            </a:xfrm>
            <a:prstGeom prst="rect">
              <a:avLst/>
            </a:prstGeom>
            <a:noFill/>
          </p:spPr>
          <p:txBody>
            <a:bodyPr wrap="square">
              <a:noAutofit/>
            </a:bodyPr>
            <a:lstStyle/>
            <a:p>
              <a:r>
                <a:rPr lang="en-US" altLang="ja-JP" b="1" dirty="0">
                  <a:solidFill>
                    <a:srgbClr val="000000"/>
                  </a:solidFill>
                  <a:latin typeface="+mn-ea"/>
                </a:rPr>
                <a:t>INFJ</a:t>
              </a:r>
              <a:endParaRPr lang="ja-JP" altLang="en-US" dirty="0">
                <a:latin typeface="+mn-ea"/>
              </a:endParaRPr>
            </a:p>
          </p:txBody>
        </p:sp>
        <p:pic>
          <p:nvPicPr>
            <p:cNvPr id="20" name="図 19" descr="挿絵 が含まれている画像&#10;&#10;AI 生成コンテンツは誤りを含む可能性があります。">
              <a:extLst>
                <a:ext uri="{FF2B5EF4-FFF2-40B4-BE49-F238E27FC236}">
                  <a16:creationId xmlns:a16="http://schemas.microsoft.com/office/drawing/2014/main" id="{6D9C6A07-4B96-5206-1100-DB6E3E273D14}"/>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50927" y="4273501"/>
              <a:ext cx="1843348" cy="1563382"/>
            </a:xfrm>
            <a:prstGeom prst="rect">
              <a:avLst/>
            </a:prstGeom>
          </p:spPr>
        </p:pic>
      </p:grpSp>
      <p:grpSp>
        <p:nvGrpSpPr>
          <p:cNvPr id="21" name="グループ化 20">
            <a:extLst>
              <a:ext uri="{FF2B5EF4-FFF2-40B4-BE49-F238E27FC236}">
                <a16:creationId xmlns:a16="http://schemas.microsoft.com/office/drawing/2014/main" id="{B5DE2524-8D07-26DE-29F7-DA182CC1446C}"/>
              </a:ext>
            </a:extLst>
          </p:cNvPr>
          <p:cNvGrpSpPr/>
          <p:nvPr/>
        </p:nvGrpSpPr>
        <p:grpSpPr>
          <a:xfrm>
            <a:off x="3353571" y="4759515"/>
            <a:ext cx="1607134" cy="1813399"/>
            <a:chOff x="6114553" y="4056502"/>
            <a:chExt cx="1884459" cy="2196612"/>
          </a:xfrm>
        </p:grpSpPr>
        <p:sp>
          <p:nvSpPr>
            <p:cNvPr id="22" name="テキスト ボックス 21">
              <a:extLst>
                <a:ext uri="{FF2B5EF4-FFF2-40B4-BE49-F238E27FC236}">
                  <a16:creationId xmlns:a16="http://schemas.microsoft.com/office/drawing/2014/main" id="{C4C959C0-88F0-0E3D-87F0-299FA0FF9E04}"/>
                </a:ext>
              </a:extLst>
            </p:cNvPr>
            <p:cNvSpPr txBox="1"/>
            <p:nvPr/>
          </p:nvSpPr>
          <p:spPr>
            <a:xfrm>
              <a:off x="6527365" y="5827975"/>
              <a:ext cx="1038648" cy="425139"/>
            </a:xfrm>
            <a:prstGeom prst="rect">
              <a:avLst/>
            </a:prstGeom>
            <a:noFill/>
          </p:spPr>
          <p:txBody>
            <a:bodyPr wrap="square">
              <a:noAutofit/>
            </a:bodyPr>
            <a:lstStyle/>
            <a:p>
              <a:r>
                <a:rPr lang="en-US" altLang="ja-JP" b="1" dirty="0">
                  <a:solidFill>
                    <a:srgbClr val="000000"/>
                  </a:solidFill>
                  <a:latin typeface="+mn-ea"/>
                </a:rPr>
                <a:t>ESTP</a:t>
              </a:r>
              <a:endParaRPr lang="ja-JP" altLang="en-US" dirty="0">
                <a:latin typeface="+mn-ea"/>
              </a:endParaRPr>
            </a:p>
          </p:txBody>
        </p:sp>
        <p:pic>
          <p:nvPicPr>
            <p:cNvPr id="23" name="Picture 2" descr="画像">
              <a:extLst>
                <a:ext uri="{FF2B5EF4-FFF2-40B4-BE49-F238E27FC236}">
                  <a16:creationId xmlns:a16="http://schemas.microsoft.com/office/drawing/2014/main" id="{39D5252F-B38B-4F99-54D1-0620D4516274}"/>
                </a:ext>
              </a:extLst>
            </p:cNvPr>
            <p:cNvPicPr>
              <a:picLocks noChangeAspect="1" noChangeArrowheads="1"/>
            </p:cNvPicPr>
            <p:nvPr/>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18585" t="16857" r="15386" b="15594"/>
            <a:stretch>
              <a:fillRect/>
            </a:stretch>
          </p:blipFill>
          <p:spPr bwMode="auto">
            <a:xfrm>
              <a:off x="6114553" y="4056502"/>
              <a:ext cx="1884459" cy="192785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597268466"/>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22320</TotalTime>
  <Words>13973</Words>
  <Application>Microsoft Office PowerPoint</Application>
  <PresentationFormat>画面に合わせる (4:3)</PresentationFormat>
  <Paragraphs>2017</Paragraphs>
  <Slides>71</Slides>
  <Notes>70</Notes>
  <HiddenSlides>39</HiddenSlides>
  <MMClips>4</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71</vt:i4>
      </vt:variant>
    </vt:vector>
  </HeadingPairs>
  <TitlesOfParts>
    <vt:vector size="80" baseType="lpstr">
      <vt:lpstr>Meiryo UI</vt:lpstr>
      <vt:lpstr>Noto Sans JP</vt:lpstr>
      <vt:lpstr>游ゴシック</vt:lpstr>
      <vt:lpstr>游ゴシック</vt:lpstr>
      <vt:lpstr>Aptos</vt:lpstr>
      <vt:lpstr>Aptos Display</vt:lpstr>
      <vt:lpstr>Arial</vt:lpstr>
      <vt:lpstr>Wingdings</vt:lpstr>
      <vt:lpstr>Office テーマ</vt:lpstr>
      <vt:lpstr>大規模言語モデルにおける 人格切り替えがユーザの印象に与える影響</vt:lpstr>
      <vt:lpstr>概要</vt:lpstr>
      <vt:lpstr>背景</vt:lpstr>
      <vt:lpstr>関連研究</vt:lpstr>
      <vt:lpstr>目的</vt:lpstr>
      <vt:lpstr>人格切替システム</vt:lpstr>
      <vt:lpstr>MBTIとは</vt:lpstr>
      <vt:lpstr>採用する人格</vt:lpstr>
      <vt:lpstr>INFJとESTPの採用理由</vt:lpstr>
      <vt:lpstr>人格付与方法</vt:lpstr>
      <vt:lpstr>INFJ付与プロンプト</vt:lpstr>
      <vt:lpstr>ESTP付与プロンプト</vt:lpstr>
      <vt:lpstr>口調の変換方法</vt:lpstr>
      <vt:lpstr>出力結果の一例</vt:lpstr>
      <vt:lpstr>実験</vt:lpstr>
      <vt:lpstr>対話体験の提示</vt:lpstr>
      <vt:lpstr>参加者への教示内容</vt:lpstr>
      <vt:lpstr>実験条件・参加者</vt:lpstr>
      <vt:lpstr>要因と水準</vt:lpstr>
      <vt:lpstr>提示する対話の内容</vt:lpstr>
      <vt:lpstr>評価指標：人格切替の知覚について</vt:lpstr>
      <vt:lpstr>評価指標：LLMへの印象について</vt:lpstr>
      <vt:lpstr>実験結果：人格切替と名乗りの自覚</vt:lpstr>
      <vt:lpstr>実験結果：アンケート項目</vt:lpstr>
      <vt:lpstr>結果：LLMの認識について</vt:lpstr>
      <vt:lpstr>結果・考察：独自の個性について</vt:lpstr>
      <vt:lpstr>結果・考察：言動を見ていて楽しい</vt:lpstr>
      <vt:lpstr>結果・考察：やりとりへの注意</vt:lpstr>
      <vt:lpstr>結果・考察：LLMへの感情の知覚</vt:lpstr>
      <vt:lpstr>考察：まとめ</vt:lpstr>
      <vt:lpstr>制約事項・今後の課題</vt:lpstr>
      <vt:lpstr>まとめ</vt:lpstr>
      <vt:lpstr>概要</vt:lpstr>
      <vt:lpstr>概要</vt:lpstr>
      <vt:lpstr>概要</vt:lpstr>
      <vt:lpstr>LLMに人格付与する研究</vt:lpstr>
      <vt:lpstr>人格付与プロンプト</vt:lpstr>
      <vt:lpstr>ENFP付与プロンプト</vt:lpstr>
      <vt:lpstr>ISTJ付与プロンプト</vt:lpstr>
      <vt:lpstr>ENFP付与プロンプト</vt:lpstr>
      <vt:lpstr>口調の変換方法</vt:lpstr>
      <vt:lpstr>実験方法</vt:lpstr>
      <vt:lpstr>考察：人格切り替え知覚について</vt:lpstr>
      <vt:lpstr>考察：人格切り替え知覚について</vt:lpstr>
      <vt:lpstr>考察：LLMへの認識について</vt:lpstr>
      <vt:lpstr>考察：LLMへの認識について</vt:lpstr>
      <vt:lpstr>実験方法</vt:lpstr>
      <vt:lpstr>考察：人格切替の知覚</vt:lpstr>
      <vt:lpstr>実験結果：言動を見て楽しい</vt:lpstr>
      <vt:lpstr>結果・考察：言動を見ていて楽しい</vt:lpstr>
      <vt:lpstr>結果・考察：やりとりへの注意</vt:lpstr>
      <vt:lpstr>結果・考察：LLMへの感情の知覚</vt:lpstr>
      <vt:lpstr>実験結果：やりとりへの注意</vt:lpstr>
      <vt:lpstr>実験結果：LLMへの感情の知覚</vt:lpstr>
      <vt:lpstr>結果・考察：言動を見ていて楽しい</vt:lpstr>
      <vt:lpstr>結果・考察：やり取りへの注意</vt:lpstr>
      <vt:lpstr>結果・考察：LLMへの感情の知覚</vt:lpstr>
      <vt:lpstr>実験結果：人格切替の知覚</vt:lpstr>
      <vt:lpstr>考察：人格設定の影響</vt:lpstr>
      <vt:lpstr>考察</vt:lpstr>
      <vt:lpstr>考察</vt:lpstr>
      <vt:lpstr>提示する対話の内容</vt:lpstr>
      <vt:lpstr>実験方法</vt:lpstr>
      <vt:lpstr>ISTJ付与プロンプト</vt:lpstr>
      <vt:lpstr>口調の変換方法</vt:lpstr>
      <vt:lpstr>評価指標</vt:lpstr>
      <vt:lpstr>実験結果：人格切替の知覚</vt:lpstr>
      <vt:lpstr>実験結果：アンケート項目</vt:lpstr>
      <vt:lpstr>考察：人格切り替え知覚について</vt:lpstr>
      <vt:lpstr>制約事項・今後の課題</vt:lpstr>
      <vt:lpstr>制約事項・今後の課題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西澤　奏都</dc:creator>
  <cp:lastModifiedBy>西澤　奏都</cp:lastModifiedBy>
  <cp:revision>29</cp:revision>
  <dcterms:created xsi:type="dcterms:W3CDTF">2025-11-30T22:42:53Z</dcterms:created>
  <dcterms:modified xsi:type="dcterms:W3CDTF">2026-02-10T05:14:12Z</dcterms:modified>
</cp:coreProperties>
</file>